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8"/>
                </a:solidFill>
                <a:latin typeface="Calibri"/>
              </a:defRPr>
            </a:pPr>
            <a:r>
              <a:rPr sz="1400" b="0" i="0" u="none" strike="noStrike">
                <a:solidFill>
                  <a:srgbClr val="1B2A38"/>
                </a:solidFill>
                <a:latin typeface="Calibri"/>
              </a:rPr>
              <a:t>Số lần quay số theo khung giờ, 14 ngày</a:t>
            </a:r>
          </a:p>
        </c:rich>
      </c:tx>
      <c:layout/>
      <c:overlay val="0"/>
    </c:title>
    <c:autoTitleDeleted val="0"/>
    <c:plotArea>
      <c:layout/>
      <c:barChart>
        <c:barDir val="col"/>
        <c:grouping val="clustered"/>
        <c:varyColors val="0"/>
        <c:ser>
          <c:idx val="0"/>
          <c:order val="0"/>
          <c:tx>
            <c:strRef>
              <c:f>Sheet1!$B$1</c:f>
              <c:strCache>
                <c:ptCount val="1"/>
                <c:pt idx="0">
                  <c:v>Lần quay số (14 ngày)</c:v>
                </c:pt>
              </c:strCache>
            </c:strRef>
          </c:tx>
          <c:spPr>
            <a:solidFill>
              <a:srgbClr val="2B3E50"/>
            </a:solidFill>
            <a:effectLst/>
          </c:spPr>
          <c:invertIfNegative val="0"/>
          <c:dLbls>
            <c:numFmt formatCode="[&gt;=1000]#\.##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cat>
            <c:multiLvlStrRef>
              <c:f>Sheet1!$A$2:$A$15</c:f>
              <c:multiLvlStrCache>
                <c:ptCount val="14"/>
                <c:lvl>
                  <c:pt idx="0">
                    <c:v>8h</c:v>
                  </c:pt>
                  <c:pt idx="1">
                    <c:v>9h</c:v>
                  </c:pt>
                  <c:pt idx="2">
                    <c:v>10h</c:v>
                  </c:pt>
                  <c:pt idx="3">
                    <c:v>11h</c:v>
                  </c:pt>
                  <c:pt idx="4">
                    <c:v>12h</c:v>
                  </c:pt>
                  <c:pt idx="5">
                    <c:v>13h</c:v>
                  </c:pt>
                  <c:pt idx="6">
                    <c:v>14h</c:v>
                  </c:pt>
                  <c:pt idx="7">
                    <c:v>15h</c:v>
                  </c:pt>
                  <c:pt idx="8">
                    <c:v>16h</c:v>
                  </c:pt>
                  <c:pt idx="9">
                    <c:v>17h</c:v>
                  </c:pt>
                  <c:pt idx="10">
                    <c:v>18h</c:v>
                  </c:pt>
                  <c:pt idx="11">
                    <c:v>19h</c:v>
                  </c:pt>
                  <c:pt idx="12">
                    <c:v>20h</c:v>
                  </c:pt>
                  <c:pt idx="13">
                    <c:v>21h</c:v>
                  </c:pt>
                </c:lvl>
              </c:multiLvlStrCache>
            </c:multiLvlStrRef>
          </c:cat>
          <c:val>
            <c:numRef>
              <c:f>Sheet1!$B$2:$B$15</c:f>
              <c:numCache>
                <c:formatCode>General</c:formatCode>
                <c:ptCount val="14"/>
                <c:pt idx="0">
                  <c:v>1267</c:v>
                </c:pt>
                <c:pt idx="1">
                  <c:v>1620</c:v>
                </c:pt>
                <c:pt idx="2">
                  <c:v>1597</c:v>
                </c:pt>
                <c:pt idx="3">
                  <c:v>1484</c:v>
                </c:pt>
                <c:pt idx="4">
                  <c:v>0</c:v>
                </c:pt>
                <c:pt idx="5">
                  <c:v>3034</c:v>
                </c:pt>
                <c:pt idx="6">
                  <c:v>3125</c:v>
                </c:pt>
                <c:pt idx="7">
                  <c:v>2888</c:v>
                </c:pt>
                <c:pt idx="8">
                  <c:v>3005</c:v>
                </c:pt>
                <c:pt idx="9">
                  <c:v>263</c:v>
                </c:pt>
                <c:pt idx="10">
                  <c:v>2011</c:v>
                </c:pt>
                <c:pt idx="11">
                  <c:v>1872</c:v>
                </c:pt>
                <c:pt idx="12">
                  <c:v>1676</c:v>
                </c:pt>
                <c:pt idx="13">
                  <c:v>24</c:v>
                </c:pt>
              </c:numCache>
            </c:numRef>
          </c:val>
        </c:ser>
        <c:dLbls>
          <c:numFmt formatCode="[&gt;=1000]#\.##0;0" sourceLinked="0"/>
          <c:txPr>
            <a:bodyPr/>
            <a:lstStyle/>
            <a:p>
              <a:pPr>
                <a:defRPr b="0" i="0" strike="noStrike" sz="1000" u="none">
                  <a:solidFill>
                    <a:srgbClr val="1B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D"/>
              </a:solidFill>
              <a:prstDash val="solid"/>
              <a:round/>
            </a:ln>
          </c:spPr>
        </c:majorGridlines>
        <c:numFmt formatCode="[&gt;=10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1 phút. Buổi 1 ta đã biết dữ liệu bẩn ở đâu; buổi 2 biến call log thành sản lượng có định nghĩa, có quy tắc và có đối chiếu. Nhấn mạnh: con số quan trọng nhất hôm nay không phải 29.404 cuộc, mà là câu trả lời “vì sao lại là 29.404”. Ebook: Khóa học → Buổi 2 → Tổng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3 mục tiêu. Hỏi lớp: tuần trước báo cáo sản lượng của anh/chị mất bao lâu, và có ai hỏi “sao số này khác số tổng đài” không? Ba mục tiêu này trả lời đúng hai câu đó. Mọi sản phẩm hôm nay đều lưu vào Project “Vận hành &amp; Chấm công” đã tạo ở buổi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lý thuyết 30 phút đi nhanh, vì cả 3 lab đều quay lại từng khái niệm. Lab 2.3 là lab trung tâm — giữ đủ 30 phút. Lab 2.4 dành cho người làm IT, làm song song hoặc ở nhà; người không làm IT dùng thời gian đó hoàn thiện Lab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phút, gọi 2–3 học viên đọc kết quả của mình. Mọi con số buổi 2 đứng trên bảng nối mã và danh sách lỗi của buổi 1 — nếu bảng nối mã còn hở, sản lượng theo agent sai từ dòng đầu. Lỗi hay gặp: coi lượt quẹt 06:00 sáng của ca D là “thiếu lượt” vì đếm theo ngày lịch. Hỏi: ai đã có quyết định của quản lý cho EXT2099? Đáp án đầy đủ: ebook → Giải pháp → Buổi 1, mục 3.4 và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sáng thứ Hai: anh Phong hỏi “tuần trước làm được bao nhiêu cuộc?” — anh Tùng nói 2.000 cuộc/ngày, chị Hạnh nói “liên hệ được khoảng một nửa”, CS-VT nói “nghe máy hơn 90%”. Cả ba đều đúng, vì mỗi người đọc một tầng phễu. AHT chỉ tính cuộc xử lý thật: loại bỏ máy, 0 giây, treo line. Hỏi lớp: dự án của anh/chị đang báo tầng nào cho khách hàng? Ebook: Buổi 2 → Bài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 trên xuống: TS-BH quay 23.866 lần, chỉ một nửa liên hệ được, và cứ 100 cuộc liên hệ thì khoảng 11 cuộc thành công. Muốn tăng thành công thì xem tỷ lệ chuyển đổi trên liên hệ được, không phải ép agent quay số nhiều hơn. Với CS-VT, 537 cuộc bỏ máy vẫn là cuộc vào — chúng nằm trong mẫu số; loại ra là “làm đẹp” tỷ lệ nghe máy. Cuộc bỏ máy không có mã agent là hợp lệ (đã gặp ở Lab 1.2). Ebook: Buổi 2 → Bài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anh Khoa ra 5.586 cuộc CS-VT, bạn báo cáo ra 5.538 — không ai cộng sai, họ đếm hai thứ khác nhau mà không biết. Chặng chuyển tiếp: không đếm vào sản lượng cuộc nhưng vẫn giữ thời lượng cho agent nhận — xóa đi là “cướp công” của họ. “Thành công” có 7 cách viết; lọc đúng chữ chỉ ra 181/1.259 dòng. Hỏi lớp: tổng đài của mình có xuất giờ dạng UTC không? Ebook: Buổi 2 → Bài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Chữ T và Z cho biết định dạng UTC; giờ Việt Nam = UTC + 7. A: kỷ luật agent vì lỗi định dạng là hậu quả tệ nhất của lệch múi giờ. B: cuộc gọi là thật, xóa đi làm thiếu sản lượng. D chưa đủ: ngày đúng nhưng khung giờ sai 7 tiếng, làm sai bảng theo giờ và cảnh báo ngoài giờ.
Cho lớp 30 giây, giơ tay chọn. Nhắc mẹo: nếu Claude báo 0 dòng UTC, có thể nó đã tự đổi kiểu thời gian và “nuốt” chữ Z — yêu cầu đếm trên chuỗi gốc. Ebook: Buổi 2 → Kiểm tra nhanh 03, câu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nguyên tắc thiết kế: (1) loại trừ lẫn nhau — một cuộc khớp đúng một mã; (2) đủ — map được cả 48 ghi chú cũ; (3) có mã DNC — “khách chửi” 737 lần là 737 lần có thể bị gọi lại; (4) khớp trạng thái kết nối; (5) ít và rõ, 8–12 mã, mỗi mã có định nghĩa + ví dụ. Cạm bẫy: gộp “Đã có sản phẩm” vào “Từ chối” là mất tệp ~650 khách để bán nâng cấp — chỉ gộp khi hành động tiếp theo giống nhau. Inbound có bộ mã riêng vì câu hỏi nghiệp vụ khác hẳn. Ebook: Buổi 2 → Bài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tuần chị Hạnh nghỉ phép: bạn trợ lý làm báo cáo, sản lượng CS-VT “tăng” 1,5% vì không bỏ chặng chuyển tiếp và dòng trùng — quy tắc nằm trong đầu chị Hạnh, không nằm trên giấy. Quy tắc tốt trả lời đủ 4 câu: nhận diện thế nào, làm gì, vì sao, ảnh hưởng chỉ số nào. Số dòng mỗi quy tắc tác động là chuông báo động sớm: ngày 16/09 QT-08 nhảy từ 0 lên 57 dòng EXT2099. Cạm bẫy: “cuộc 0 giây thì đoán thời lượng theo trung bình” là bịa số. Ebook: Buổi 2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tháng 8 anh Tùng gõ nhầm 1.959 thành 1.995 trong bảng gõ tay: tổng lệch 36 cuộc, ba tuần sau mới thấy, không ai biết ô nào sai. Nguyên lý giống sổ kho: chỉ nhập ở một chỗ, mọi báo cáo đều đọc từ đó. Vì sao cờ ở cột riêng: sản lượng bỏ chặng chuyển, nhưng AHT vẫn tính chặng chuyển; phút đàm thoại bỏ treo line, nhưng số cuộc vẫn đếm. Cạm bẫy: ngày dạng chữ ở sheet này, dạng ngày ở sheet kia → COUNTIFS ra 0. Ebook: Buổi 2 → Bài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mạng: chạy thật prompt bên trái trong Project, rồi cùng lớp đánh dấu từng điều kiện — lọc cột nào, vì sao. Dùng cả cột ($D:$D) để ngày mới dán thêm vẫn được đếm. Outbound không có chặng chuyển tiếp nên điều kiện P = 0 không đổi kết quả TS-BH, nhưng nên giữ cho đúng khi dữ liệu thay đổi. Lỗi hay gặp: Claude viết COUNTIF (không S) với nhiều điều kiện → lỗi công thức. Trên Excel có thể dùng PivotTable để khám phá; sheet chính nên dùng COUNTIFS vì dễ kiểm từng ô. Ebook: Buổi 2 → Bài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B giữ nguyên tắc một nguồn: mọi thay đổi đi vào bảng sạch, có dấu vết, tổng kiểm tra vẫn đúng. A làm ô tổng hợp lệch tổng kiểm tra và không ai truy được 3 cuộc từ đâu — đúng cách file cũ của TS-B bị hỏng. C chưa hẳn: nếu 3 cuộc là thật và có bằng chứng, công ty có thể muốn tính — nhưng phải qua nguồn dữ liệu. D không giải quyết, con số vẫn thiếu.
Câu này chốt lại bài kiến trúc trước khi vào lab. Ebook: Buổi 2 → Kiểm tra nhanh 09, câu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tay việc này mất cả buổi chiều; với Claude phần gom nhóm vài phút, thời gian dồn vào việc đáng làm nhất là quyết các ca mơ hồ. Đi vòng lớp ở bước 2: ai chưa chéo với trạng thái sẽ để “Sai số” một mã duy nhất. Lỗi hay gặp: Claude gom “ok” và “ok chốt” cùng vào Thành công — nhắc “ghi chú mơ hồ phải để riêng”. Prompt bước 2–5 đầy đủ: ebook → Buổi 2 → Lab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mẫu của syllabus, thêm 2 dòng: bối cảnh và kiểm tra tổng. Cho học viên copy từ ebook (Lab 2.1, bước 1) thay vì gõ lại. Nếu Claude ra hơn 12 mã (tách “Hẹn tối”, “Hẹn mai”…), yêu cầu “gộp các mã có cùng hành động tiếp theo”. Nếu tổng ≠ 29.515, hỏi “ghi chú nào trong file gốc chưa có trong bảng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lần đếm trên file tần suất (file gốc 29.515 dòng). “Sai số” và “(trống)” được tách theo trạng thái nên bảng đầy đủ có 50 dòng cho 48 ghi chú. Inbound CS-VT: Giải quyết xong 2.258 · Tư vấn/tra cứu 1.076 · Hỗ trợ dịch vụ 1.144 · Khiếu nại 397 · Chuyển tiếp 48 · Rớt cuộc gọi 137 · Bỏ máy 539. Điểm nhấn: nếu chỉ lọc đúng chữ “Thành công”, TS-A còn 88 và TS-B 87 — so sánh giữa hai team vô nghĩa. Lời giải 50 dòng: ebook → Giải pháp → Buổi 2, mục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nháp của Claude là đề xuất; bước 2 mới là việc của người làm nghề. Ví dụ EXT2099 có tính vào sản lượng dự án không là quyết định của chị Hạnh, không phải của Claude. Chạy thử ngay: QT-09 mà bắt hơn 550 dòng “lỗi” tức là quên tách cuộc bỏ máy hợp lệ. Bản mẫu hoàn chỉnh để copy: ebook → Buổi 2 → Lab 2.2, mục Kết quả mong đợi.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bước 1 của Lab 2.2. Sau khi có bản nháp, sửa bằng prompt ngắn (bước 2) rồi chạy thử (bước 3): “Áp dụng Quy tắc v1 cho call_log_2026-09.csv bằng code, đúng thứ tự, báo Mã – Hành động – Số dòng – 2 ví dụ, cuối cùng in dòng tổng kiểm tra”. Lỗi hay gặp: QT-10 báo hàng trăm cuộc ngoài giờ vì chạy trước QT-02 hoặc áp nhầm cho CS-VT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QT-08 và QT-09 đếm sau QT-01 nên nhỏ hơn số Lab 1.2 một vài dòng: file gốc là 592 / 251 / 553 (= 539 + 14). Cả hai đều đúng nếu ghi rõ đếm trước hay sau QT-01 — đó là lý do quy tắc phải ghi thứ tự áp dụng. Điểm chấm quan trọng: chỉ QT-01 được Loại; QT-03 không xóa chặng chuyển; QT-09 không coi 539 cuộc bỏ máy là lỗi; EXT2099 gắn cờ chờ quản lý quyết. Lời giải: ebook → Giải pháp → Buổi 2, mục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trung tâm của buổi. Bước 1 ép thứ tự và kiểu cột vì công thức tham chiếu theo cột — ngày dạng chữ là COUNTIFS ra 0, lỗi phổ biến nhất của lab này. Nếu tổng Số cuộc ra 29.452: quên điều kiện la_chang_chuyen = 0. Nếu có cuộc outbound lúc 06h, 12h: chưa áp QT-02. Prompt từng bước: ebook → Buổi 2 → Lab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sẽ dùng mỗi sáng (bài về nhà) — giữ nguyên, chỉ đổi ngày. Thử với call_log_theo_ngay/call_log_2026-09-17.csv; 17/09 là ngày nhiều dòng trùng nhất kỳ (9 dòng). Nếu số dự án không khớp dòng 17/09 trong San_luong_ngay, một trong hai nơi đang áp quy tắc khác nhau. Prompt tạo Du_lieu_sach (bước 1) và đối chiếu tổng đài (bước 6): ebook → Buổi 2 → Lab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Tỷ lệ nghe 90,3% gồm 13 cuộc ANSWERED 0 giây; nếu lớp quyết định không tính chúng là “được nghe” thì ra 4.988 / 5.538 = 90,1% — chấp nhận cả hai khi ghi rõ vào quy tắc. Ngày dưới mục tiêu: 07, 08, 09, 11, 14, 19/09 — gợi ý thảo luận ở buổi 3–4: có trùng lịch ca ít người không? AHT TS-BH ra ~160 giây là đã tính cả cuộc 0 giây hoặc chia cho mọi lần quay số. Bảng 14 ngày đầy đủ: ebook → Giải pháp → Buổi 2, mục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biểu đồ cùng lớp: khối lượng không bằng hiệu quả. 14h có nhiều cuộc nhất nhưng tỷ lệ liên hệ chỉ 47,8%. Theo thành công/100 lần quay: 11h 5,86 · 14h 5,86 · 20h 5,85. Loại 17h vì mẫu nhỏ (263 cuộc), loại 21h vì toàn cuộc ngoài giờ bị gắn cờ. Hành động cho anh Tùng: thử tăng lượt gọi khung 19–20h trong 2 tuần, theo dõi cả tỷ lệ liên hệ và thành công/100 lần quay. Inbound: tỷ lệ nghe thấp ở 10h (72,1%), 22h (74,7%), 2h (71,2%) — đầu vào cho bài xếp ca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trả lời cho “sao số anh khác tổng đài?”: chênh 48 cuộc, đúng bằng 48 chặng chuyển tiếp — kèm danh sách. Tổng đài đếm mỗi chặng chuyển là một cuộc; bảng của ta đếm cuộc gốc (1 khách = 1 cuộc). UTC không làm lệch ngày tháng này (22 dòng đều trong 01:00Z–13:00Z) nhưng lệch khung giờ 7 tiếng; một dòng UTC sau 17:00Z sẽ lệch cả ngày. Nếu Claude giải thích “do độ trễ đồng bộ”: yêu cầu đếm số chặng chuyển theo ngày × dự án rồi so với cột chênh. Bảng 15 ngày đầy đủ: ebook → Giải pháp → Buổi 2, mục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cho anh Khoa (IT) hoặc ai quen dòng lệnh. Vì sao script: quy tắc làm sạch là logic cố định — code chạy 1.000 lần vẫn ra một kết quả; Claude viết script từ văn bản quy tắc và sửa khi quy tắc lên v2. Kết quả mong đợi: 15/09 có QT-02 = 2 và 187 dòng ext2005; 16/09 có 57 dòng EXT2099. Bảo mật bắt buộc: .gitignore chặn data/, output/, .env, *.json trước lần commit đầu; call log phải ẩn danh. Hướng dẫn đầy đủ: ebook → Buổi 2 → Lab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nhóm 3 phút, chọn một trong ba góc. Giảng viên chốt: chênh lệch “nhỏ” không có nghĩa là bỏ qua — không giải thích được 0,9% thì lần sau chênh 5% cũng không giải thích được. Nếu lớp dùng dữ liệu thật, khuyến khích so với file sản lượng cũ của team. Rubric phần trình bày: ebook → Buổi 2 → Lab 2.3, mục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bài 5 phút cuối. Ba ngày mẫu được chọn có chủ đích, mỗi ngày một “bất ngờ” mà quy tắc v1 có thể chưa xử lý trọn — bảng dưới để học viên tự kiểm. Học viên quên bỏ chặng chuyển sẽ ra CS-VT 337 / 436 / 439. Làm mỗi sáng khi có file, đừng dồn 3 ngày vào một tối — mục đích là trải nghiệm quy trình hằng ngày. Mẫu nhật ký lỗi, checklist và rubric (file 30% · nhật ký 20% · quy tắc v2 30% · chênh lệch 20%): ebook → Buổi 2 → Thực hành tại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đúng giờ. Nhắc: buổi 3 dùng lại gần như mọi thứ hôm nay — bảng nối mã nối sản lượng với công, cột ngay_ca gán ngày công cho ca D. Đọc trước noi_quy_cham_cong.md và đánh dấu 2–3 điều mơ hồ, nhất là ca qua đêm và OT không đăng ký. Ebook: Buổi 2 → Tổng kết.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3" name="Text 0"/>
          <p:cNvSpPr txBox="1"/>
          <p:nvPr/>
        </p:nvSpPr>
        <p:spPr>
          <a:xfrm>
            <a:off x="548640" y="640080"/>
            <a:ext cx="3657600" cy="365760"/>
          </a:xfrm>
          <a:prstGeom prst="rect">
            <a:avLst/>
          </a:prstGeom>
          <a:noFill/>
          <a:ln/>
        </p:spPr>
        <p:txBody>
          <a:bodyPr wrap="square" lIns="0" tIns="0" rIns="0" bIns="0" rtlCol="0" anchor="t"/>
          <a:lstStyle/>
          <a:p>
            <a:pPr indent="0" marL="0">
              <a:buNone/>
            </a:pPr>
            <a:r>
              <a:rPr lang="en-US" sz="1400" b="1" spc="300" kern="0" dirty="0">
                <a:solidFill>
                  <a:srgbClr val="D9773A"/>
                </a:solidFill>
                <a:latin typeface="Calibri" pitchFamily="34" charset="0"/>
                <a:ea typeface="Calibri" pitchFamily="34" charset="-122"/>
                <a:cs typeface="Calibri" pitchFamily="34" charset="-120"/>
              </a:rPr>
              <a:t>BUỔI 2 / 5</a:t>
            </a:r>
            <a:endParaRPr lang="en-US" sz="1400" dirty="0"/>
          </a:p>
        </p:txBody>
      </p:sp>
      <p:sp>
        <p:nvSpPr>
          <p:cNvPr id="4" name="Text 1"/>
          <p:cNvSpPr txBox="1"/>
          <p:nvPr/>
        </p:nvSpPr>
        <p:spPr>
          <a:xfrm>
            <a:off x="548640" y="1051560"/>
            <a:ext cx="7498080" cy="173736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Số hóa sản lượng</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cuộc gọi</a:t>
            </a:r>
            <a:endParaRPr lang="en-US" sz="4000" dirty="0"/>
          </a:p>
        </p:txBody>
      </p:sp>
      <p:sp>
        <p:nvSpPr>
          <p:cNvPr id="5" name="Text 2"/>
          <p:cNvSpPr txBox="1"/>
          <p:nvPr/>
        </p:nvSpPr>
        <p:spPr>
          <a:xfrm>
            <a:off x="548640" y="2880360"/>
            <a:ext cx="7132320" cy="822960"/>
          </a:xfrm>
          <a:prstGeom prst="rect">
            <a:avLst/>
          </a:prstGeom>
          <a:noFill/>
          <a:ln/>
        </p:spPr>
        <p:txBody>
          <a:bodyPr wrap="square" lIns="0" tIns="0" rIns="0" bIns="0" rtlCol="0" anchor="t"/>
          <a:lstStyle/>
          <a:p>
            <a:pPr indent="0" marL="0">
              <a:buNone/>
            </a:pPr>
            <a:r>
              <a:rPr lang="en-US" sz="1700" i="1" dirty="0">
                <a:solidFill>
                  <a:srgbClr val="C9D3DD"/>
                </a:solidFill>
                <a:latin typeface="Calibri" pitchFamily="34" charset="0"/>
                <a:ea typeface="Calibri" pitchFamily="34" charset="-122"/>
                <a:cs typeface="Calibri" pitchFamily="34" charset="-120"/>
              </a:rPr>
              <a:t>Từ 48 kiểu ghi chú tự do đến một con số ai cũng tin: có định nghĩa, có quy tắc, khớp với tổng đài.</a:t>
            </a:r>
            <a:endParaRPr lang="en-US" sz="1700" dirty="0"/>
          </a:p>
        </p:txBody>
      </p:sp>
      <p:sp>
        <p:nvSpPr>
          <p:cNvPr id="6" name="Text 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200" dirty="0">
                <a:solidFill>
                  <a:srgbClr val="9AA8B6"/>
                </a:solidFill>
                <a:latin typeface="Calibri" pitchFamily="34" charset="0"/>
                <a:ea typeface="Calibri" pitchFamily="34" charset="-122"/>
                <a:cs typeface="Calibri" pitchFamily="34" charset="-120"/>
              </a:rPr>
              <a:t>Claude cho Callcenter · Số hóa sản lượng cuộc gọi &amp; chấm công</a:t>
            </a:r>
            <a:endParaRPr lang="en-US" sz="1200" dirty="0"/>
          </a:p>
        </p:txBody>
      </p:sp>
      <p:sp>
        <p:nvSpPr>
          <p:cNvPr id="7" name="Text 4"/>
          <p:cNvSpPr txBox="1"/>
          <p:nvPr/>
        </p:nvSpPr>
        <p:spPr>
          <a:xfrm>
            <a:off x="548640" y="3886200"/>
            <a:ext cx="7132320" cy="320040"/>
          </a:xfrm>
          <a:prstGeom prst="rect">
            <a:avLst/>
          </a:prstGeom>
          <a:noFill/>
          <a:ln/>
        </p:spPr>
        <p:txBody>
          <a:bodyPr wrap="square" lIns="0" tIns="0" rIns="0" bIns="0" rtlCol="0" anchor="t"/>
          <a:lstStyle/>
          <a:p>
            <a:pPr indent="0" marL="0">
              <a:buNone/>
            </a:pPr>
            <a:r>
              <a:rPr lang="en-US" sz="1300" dirty="0">
                <a:solidFill>
                  <a:srgbClr val="D9773A"/>
                </a:solidFill>
                <a:latin typeface="Calibri" pitchFamily="34" charset="0"/>
                <a:ea typeface="Calibri" pitchFamily="34" charset="-122"/>
                <a:cs typeface="Calibri" pitchFamily="34" charset="-120"/>
              </a:rPr>
              <a:t>2 giờ trên lớp + 1 giờ thực hành tại nhà</a:t>
            </a:r>
            <a:endParaRPr lang="en-US" sz="1300" dirty="0"/>
          </a:p>
        </p:txBody>
      </p:sp>
      <p:sp>
        <p:nvSpPr>
          <p:cNvPr id="8" name="Shape 5"/>
          <p:cNvSpPr/>
          <p:nvPr/>
        </p:nvSpPr>
        <p:spPr>
          <a:xfrm>
            <a:off x="8001000" y="640080"/>
            <a:ext cx="3642055" cy="5486400"/>
          </a:xfrm>
          <a:prstGeom prst="roundRect">
            <a:avLst>
              <a:gd name="adj" fmla="val 3013"/>
            </a:avLst>
          </a:prstGeom>
          <a:solidFill>
            <a:srgbClr val="2B3E50"/>
          </a:solidFill>
          <a:ln w="12700">
            <a:solidFill>
              <a:srgbClr val="2B3E50"/>
            </a:solidFill>
            <a:prstDash val="solid"/>
          </a:ln>
        </p:spPr>
      </p:sp>
      <p:sp>
        <p:nvSpPr>
          <p:cNvPr id="9" name="Shape 6"/>
          <p:cNvSpPr/>
          <p:nvPr/>
        </p:nvSpPr>
        <p:spPr>
          <a:xfrm>
            <a:off x="8321040" y="914400"/>
            <a:ext cx="548640" cy="54864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52714" y="1046074"/>
            <a:ext cx="285293" cy="285293"/>
          </a:xfrm>
          <a:prstGeom prst="rect">
            <a:avLst/>
          </a:prstGeom>
        </p:spPr>
      </p:pic>
      <p:sp>
        <p:nvSpPr>
          <p:cNvPr id="11" name="Text 7"/>
          <p:cNvSpPr txBox="1"/>
          <p:nvPr/>
        </p:nvSpPr>
        <p:spPr>
          <a:xfrm>
            <a:off x="9006840" y="914400"/>
            <a:ext cx="245333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Sản phẩm mang về</a:t>
            </a:r>
            <a:endParaRPr lang="en-US" sz="1800" dirty="0"/>
          </a:p>
        </p:txBody>
      </p:sp>
      <p:sp>
        <p:nvSpPr>
          <p:cNvPr id="12" name="Text 8"/>
          <p:cNvSpPr txBox="1"/>
          <p:nvPr/>
        </p:nvSpPr>
        <p:spPr>
          <a:xfrm>
            <a:off x="8321040" y="1737360"/>
            <a:ext cx="3047695" cy="411480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Danh mục mã kết quả chuẩn 2 cấp</a:t>
            </a:r>
            <a:pPr indent="0" marL="0">
              <a:buNone/>
            </a:pPr>
            <a:r>
              <a:rPr lang="en-US" sz="1450" dirty="0">
                <a:solidFill>
                  <a:srgbClr val="E6ECF1"/>
                </a:solidFill>
                <a:latin typeface="Calibri" pitchFamily="34" charset="0"/>
                <a:ea typeface="Calibri" pitchFamily="34" charset="-122"/>
                <a:cs typeface="Calibri" pitchFamily="34" charset="-120"/>
              </a:rPr>
              <a:t> + bảng mapping 48 ghi chú cũ → mã mới</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Quy tắc làm sạch call log v1</a:t>
            </a:r>
            <a:pPr indent="0" marL="0">
              <a:buNone/>
            </a:pPr>
            <a:r>
              <a:rPr lang="en-US" sz="1450" dirty="0">
                <a:solidFill>
                  <a:srgbClr val="E6ECF1"/>
                </a:solidFill>
                <a:latin typeface="Calibri" pitchFamily="34" charset="0"/>
                <a:ea typeface="Calibri" pitchFamily="34" charset="-122"/>
                <a:cs typeface="Calibri" pitchFamily="34" charset="-120"/>
              </a:rPr>
              <a:t> (QT-01…QT-10) lưu trong Project</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File sản lượng 4 sheet</a:t>
            </a:r>
            <a:pPr indent="0" marL="0">
              <a:buNone/>
            </a:pPr>
            <a:r>
              <a:rPr lang="en-US" sz="1450" dirty="0">
                <a:solidFill>
                  <a:srgbClr val="E6ECF1"/>
                </a:solidFill>
                <a:latin typeface="Calibri" pitchFamily="34" charset="0"/>
                <a:ea typeface="Calibri" pitchFamily="34" charset="-122"/>
                <a:cs typeface="Calibri" pitchFamily="34" charset="-120"/>
              </a:rPr>
              <a:t> tự động: dữ liệu sạch, theo ngày, theo giờ, theo agent</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Bảng đối chiếu với tổng đài</a:t>
            </a:r>
            <a:pPr indent="0" marL="0">
              <a:buNone/>
            </a:pPr>
            <a:r>
              <a:rPr lang="en-US" sz="1450" dirty="0">
                <a:solidFill>
                  <a:srgbClr val="E6ECF1"/>
                </a:solidFill>
                <a:latin typeface="Calibri" pitchFamily="34" charset="0"/>
                <a:ea typeface="Calibri" pitchFamily="34" charset="-122"/>
                <a:cs typeface="Calibri" pitchFamily="34" charset="-120"/>
              </a:rPr>
              <a:t> — giải thích 100% chênh lệch</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Mục tiêu buổi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11094415" cy="1051560"/>
          </a:xfrm>
          <a:prstGeom prst="roundRect">
            <a:avLst>
              <a:gd name="adj" fmla="val 8696"/>
            </a:avLst>
          </a:prstGeom>
          <a:solidFill>
            <a:srgbClr val="F2F4F6"/>
          </a:solidFill>
          <a:ln w="12700">
            <a:solidFill>
              <a:srgbClr val="F2F4F6"/>
            </a:solidFill>
            <a:prstDash val="solid"/>
          </a:ln>
        </p:spPr>
      </p:sp>
      <p:sp>
        <p:nvSpPr>
          <p:cNvPr id="8" name="Shape 5"/>
          <p:cNvSpPr/>
          <p:nvPr/>
        </p:nvSpPr>
        <p:spPr>
          <a:xfrm>
            <a:off x="777240" y="1933956"/>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70019"/>
            <a:ext cx="294803" cy="294803"/>
          </a:xfrm>
          <a:prstGeom prst="rect">
            <a:avLst/>
          </a:prstGeom>
        </p:spPr>
      </p:pic>
      <p:sp>
        <p:nvSpPr>
          <p:cNvPr id="10" name="Text 6"/>
          <p:cNvSpPr txBox="1"/>
          <p:nvPr/>
        </p:nvSpPr>
        <p:spPr>
          <a:xfrm>
            <a:off x="1554480" y="181965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Chuẩn hóa mã kết quả cuộc gọi (disposition)</a:t>
            </a:r>
            <a:endParaRPr lang="en-US" sz="1800" dirty="0"/>
          </a:p>
        </p:txBody>
      </p:sp>
      <p:sp>
        <p:nvSpPr>
          <p:cNvPr id="11" name="Text 7"/>
          <p:cNvSpPr txBox="1"/>
          <p:nvPr/>
        </p:nvSpPr>
        <p:spPr>
          <a:xfrm>
            <a:off x="1554480" y="219456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48 kiểu ghi chú tự do → danh mục 2 cấp: Liên hệ được / Không liên hệ được → 8–12 mã con, đủ rõ để cài lại trên tổng đài/CRM.</a:t>
            </a:r>
            <a:endParaRPr lang="en-US" sz="1400" dirty="0"/>
          </a:p>
        </p:txBody>
      </p:sp>
      <p:sp>
        <p:nvSpPr>
          <p:cNvPr id="12" name="Shape 8"/>
          <p:cNvSpPr/>
          <p:nvPr/>
        </p:nvSpPr>
        <p:spPr>
          <a:xfrm>
            <a:off x="548640" y="2971800"/>
            <a:ext cx="11094415" cy="1051560"/>
          </a:xfrm>
          <a:prstGeom prst="roundRect">
            <a:avLst>
              <a:gd name="adj" fmla="val 8696"/>
            </a:avLst>
          </a:prstGeom>
          <a:solidFill>
            <a:srgbClr val="F2F4F6"/>
          </a:solidFill>
          <a:ln w="12700">
            <a:solidFill>
              <a:srgbClr val="F2F4F6"/>
            </a:solidFill>
            <a:prstDash val="solid"/>
          </a:ln>
        </p:spPr>
      </p:sp>
      <p:sp>
        <p:nvSpPr>
          <p:cNvPr id="13" name="Shape 9"/>
          <p:cNvSpPr/>
          <p:nvPr/>
        </p:nvSpPr>
        <p:spPr>
          <a:xfrm>
            <a:off x="777240" y="3214116"/>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913303" y="3350179"/>
            <a:ext cx="294803" cy="294803"/>
          </a:xfrm>
          <a:prstGeom prst="rect">
            <a:avLst/>
          </a:prstGeom>
        </p:spPr>
      </p:pic>
      <p:sp>
        <p:nvSpPr>
          <p:cNvPr id="15" name="Text 10"/>
          <p:cNvSpPr txBox="1"/>
          <p:nvPr/>
        </p:nvSpPr>
        <p:spPr>
          <a:xfrm>
            <a:off x="1554480" y="309981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Viết quy tắc làm sạch call log cố định, dùng lại hằng ngày</a:t>
            </a:r>
            <a:endParaRPr lang="en-US" sz="1800" dirty="0"/>
          </a:p>
        </p:txBody>
      </p:sp>
      <p:sp>
        <p:nvSpPr>
          <p:cNvPr id="16" name="Text 11"/>
          <p:cNvSpPr txBox="1"/>
          <p:nvPr/>
        </p:nvSpPr>
        <p:spPr>
          <a:xfrm>
            <a:off x="1554480" y="347472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QT-01…QT-10 lưu trong Project. Mỗi sáng chỉ cần upload file mới và gọi “áp dụng quy tắc làm sạch”.</a:t>
            </a:r>
            <a:endParaRPr lang="en-US" sz="1400" dirty="0"/>
          </a:p>
        </p:txBody>
      </p:sp>
      <p:sp>
        <p:nvSpPr>
          <p:cNvPr id="17" name="Shape 12"/>
          <p:cNvSpPr/>
          <p:nvPr/>
        </p:nvSpPr>
        <p:spPr>
          <a:xfrm>
            <a:off x="548640" y="4251960"/>
            <a:ext cx="11094415" cy="1051560"/>
          </a:xfrm>
          <a:prstGeom prst="roundRect">
            <a:avLst>
              <a:gd name="adj" fmla="val 8696"/>
            </a:avLst>
          </a:prstGeom>
          <a:solidFill>
            <a:srgbClr val="F2F4F6"/>
          </a:solidFill>
          <a:ln w="12700">
            <a:solidFill>
              <a:srgbClr val="F2F4F6"/>
            </a:solidFill>
            <a:prstDash val="solid"/>
          </a:ln>
        </p:spPr>
      </p:sp>
      <p:sp>
        <p:nvSpPr>
          <p:cNvPr id="18" name="Shape 13"/>
          <p:cNvSpPr/>
          <p:nvPr/>
        </p:nvSpPr>
        <p:spPr>
          <a:xfrm>
            <a:off x="777240" y="4494276"/>
            <a:ext cx="566928" cy="566928"/>
          </a:xfrm>
          <a:prstGeom prst="roundRect">
            <a:avLst>
              <a:gd name="adj" fmla="val 22000"/>
            </a:avLst>
          </a:prstGeom>
          <a:solidFill>
            <a:srgbClr val="D9773A"/>
          </a:solidFill>
          <a:ln w="12700">
            <a:solidFill>
              <a:srgbClr val="D9773A"/>
            </a:solidFill>
            <a:prstDash val="solid"/>
          </a:ln>
        </p:spPr>
      </p:sp>
      <p:pic>
        <p:nvPicPr>
          <p:cNvPr id="19" name="Image 2" descr="preencoded.png">    </p:cNvPr>
          <p:cNvPicPr>
            <a:picLocks noChangeAspect="1"/>
          </p:cNvPicPr>
          <p:nvPr/>
        </p:nvPicPr>
        <p:blipFill>
          <a:blip r:embed="rId3"/>
          <a:stretch>
            <a:fillRect/>
          </a:stretch>
        </p:blipFill>
        <p:spPr>
          <a:xfrm>
            <a:off x="913303" y="4630339"/>
            <a:ext cx="294803" cy="294803"/>
          </a:xfrm>
          <a:prstGeom prst="rect">
            <a:avLst/>
          </a:prstGeom>
        </p:spPr>
      </p:pic>
      <p:sp>
        <p:nvSpPr>
          <p:cNvPr id="20" name="Text 14"/>
          <p:cNvSpPr txBox="1"/>
          <p:nvPr/>
        </p:nvSpPr>
        <p:spPr>
          <a:xfrm>
            <a:off x="1554480" y="437997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Dựng bảng sản lượng tự động theo ngày × giờ × agent × dự án</a:t>
            </a:r>
            <a:endParaRPr lang="en-US" sz="1800" dirty="0"/>
          </a:p>
        </p:txBody>
      </p:sp>
      <p:sp>
        <p:nvSpPr>
          <p:cNvPr id="21" name="Text 15"/>
          <p:cNvSpPr txBox="1"/>
          <p:nvPr/>
        </p:nvSpPr>
        <p:spPr>
          <a:xfrm>
            <a:off x="1554480" y="475488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Một bảng dữ liệu sạch + các sheet công thức, không nhập tay — và giải thích được từng cuộc chênh với tổng đài.</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Lịch 120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783080"/>
            <a:ext cx="887959" cy="502920"/>
          </a:xfrm>
          <a:prstGeom prst="rect">
            <a:avLst/>
          </a:prstGeom>
          <a:solidFill>
            <a:srgbClr val="6E4E9E"/>
          </a:solidFill>
          <a:ln w="12700">
            <a:solidFill>
              <a:srgbClr val="6E4E9E"/>
            </a:solidFill>
            <a:prstDash val="solid"/>
          </a:ln>
        </p:spPr>
      </p:sp>
      <p:sp>
        <p:nvSpPr>
          <p:cNvPr id="8" name="Text 5"/>
          <p:cNvSpPr txBox="1"/>
          <p:nvPr/>
        </p:nvSpPr>
        <p:spPr>
          <a:xfrm>
            <a:off x="548640"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Shape 6"/>
          <p:cNvSpPr/>
          <p:nvPr/>
        </p:nvSpPr>
        <p:spPr>
          <a:xfrm>
            <a:off x="1473175" y="1783080"/>
            <a:ext cx="1350226" cy="502920"/>
          </a:xfrm>
          <a:prstGeom prst="rect">
            <a:avLst/>
          </a:prstGeom>
          <a:solidFill>
            <a:srgbClr val="D9773A"/>
          </a:solidFill>
          <a:ln w="12700">
            <a:solidFill>
              <a:srgbClr val="D9773A"/>
            </a:solidFill>
            <a:prstDash val="solid"/>
          </a:ln>
        </p:spPr>
      </p:sp>
      <p:sp>
        <p:nvSpPr>
          <p:cNvPr id="10" name="Text 7"/>
          <p:cNvSpPr txBox="1"/>
          <p:nvPr/>
        </p:nvSpPr>
        <p:spPr>
          <a:xfrm>
            <a:off x="1473175" y="1783080"/>
            <a:ext cx="1350226"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11" name="Shape 8"/>
          <p:cNvSpPr/>
          <p:nvPr/>
        </p:nvSpPr>
        <p:spPr>
          <a:xfrm>
            <a:off x="2859977" y="1783080"/>
            <a:ext cx="1350226" cy="502920"/>
          </a:xfrm>
          <a:prstGeom prst="rect">
            <a:avLst/>
          </a:prstGeom>
          <a:solidFill>
            <a:srgbClr val="D9773A"/>
          </a:solidFill>
          <a:ln w="12700">
            <a:solidFill>
              <a:srgbClr val="D9773A"/>
            </a:solidFill>
            <a:prstDash val="solid"/>
          </a:ln>
        </p:spPr>
      </p:sp>
      <p:sp>
        <p:nvSpPr>
          <p:cNvPr id="12" name="Text 9"/>
          <p:cNvSpPr txBox="1"/>
          <p:nvPr/>
        </p:nvSpPr>
        <p:spPr>
          <a:xfrm>
            <a:off x="2859977" y="1783080"/>
            <a:ext cx="1350226"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13" name="Shape 10"/>
          <p:cNvSpPr/>
          <p:nvPr/>
        </p:nvSpPr>
        <p:spPr>
          <a:xfrm>
            <a:off x="4246778" y="1783080"/>
            <a:ext cx="5972899" cy="502920"/>
          </a:xfrm>
          <a:prstGeom prst="rect">
            <a:avLst/>
          </a:prstGeom>
          <a:solidFill>
            <a:srgbClr val="2E7D7A"/>
          </a:solidFill>
          <a:ln w="12700">
            <a:solidFill>
              <a:srgbClr val="2E7D7A"/>
            </a:solidFill>
            <a:prstDash val="solid"/>
          </a:ln>
        </p:spPr>
      </p:sp>
      <p:sp>
        <p:nvSpPr>
          <p:cNvPr id="14" name="Text 11"/>
          <p:cNvSpPr txBox="1"/>
          <p:nvPr/>
        </p:nvSpPr>
        <p:spPr>
          <a:xfrm>
            <a:off x="4246778" y="1783080"/>
            <a:ext cx="597289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15" name="Shape 12"/>
          <p:cNvSpPr/>
          <p:nvPr/>
        </p:nvSpPr>
        <p:spPr>
          <a:xfrm>
            <a:off x="10256253" y="1783080"/>
            <a:ext cx="887959" cy="502920"/>
          </a:xfrm>
          <a:prstGeom prst="rect">
            <a:avLst/>
          </a:prstGeom>
          <a:solidFill>
            <a:srgbClr val="6E4E9E"/>
          </a:solidFill>
          <a:ln w="12700">
            <a:solidFill>
              <a:srgbClr val="6E4E9E"/>
            </a:solidFill>
            <a:prstDash val="solid"/>
          </a:ln>
        </p:spPr>
      </p:sp>
      <p:sp>
        <p:nvSpPr>
          <p:cNvPr id="16" name="Text 13"/>
          <p:cNvSpPr txBox="1"/>
          <p:nvPr/>
        </p:nvSpPr>
        <p:spPr>
          <a:xfrm>
            <a:off x="10256253"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7" name="Shape 14"/>
          <p:cNvSpPr/>
          <p:nvPr/>
        </p:nvSpPr>
        <p:spPr>
          <a:xfrm>
            <a:off x="11180788" y="1783080"/>
            <a:ext cx="425691" cy="502920"/>
          </a:xfrm>
          <a:prstGeom prst="rect">
            <a:avLst/>
          </a:prstGeom>
          <a:solidFill>
            <a:srgbClr val="D9773A"/>
          </a:solidFill>
          <a:ln w="12700">
            <a:solidFill>
              <a:srgbClr val="D9773A"/>
            </a:solidFill>
            <a:prstDash val="solid"/>
          </a:ln>
        </p:spPr>
      </p:sp>
      <p:sp>
        <p:nvSpPr>
          <p:cNvPr id="18" name="Shape 15"/>
          <p:cNvSpPr/>
          <p:nvPr/>
        </p:nvSpPr>
        <p:spPr>
          <a:xfrm>
            <a:off x="548640" y="2743200"/>
            <a:ext cx="201168" cy="201168"/>
          </a:xfrm>
          <a:prstGeom prst="ellipse">
            <a:avLst/>
          </a:prstGeom>
          <a:solidFill>
            <a:srgbClr val="6E4E9E"/>
          </a:solidFill>
          <a:ln w="12700">
            <a:solidFill>
              <a:srgbClr val="6E4E9E"/>
            </a:solidFill>
            <a:prstDash val="solid"/>
          </a:ln>
        </p:spPr>
      </p:sp>
      <p:sp>
        <p:nvSpPr>
          <p:cNvPr id="19" name="Text 16"/>
          <p:cNvSpPr txBox="1"/>
          <p:nvPr/>
        </p:nvSpPr>
        <p:spPr>
          <a:xfrm>
            <a:off x="914400" y="265176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0–10</a:t>
            </a:r>
            <a:endParaRPr lang="en-US" sz="1500" dirty="0"/>
          </a:p>
        </p:txBody>
      </p:sp>
      <p:sp>
        <p:nvSpPr>
          <p:cNvPr id="20" name="Text 17"/>
          <p:cNvSpPr txBox="1"/>
          <p:nvPr/>
        </p:nvSpPr>
        <p:spPr>
          <a:xfrm>
            <a:off x="2148840" y="265176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Review bài về nhà buổi 1: bảng nối mã 100%, lỗi chấm công, nhật ký dùng Claude</a:t>
            </a:r>
            <a:endParaRPr lang="en-US" sz="1500" dirty="0"/>
          </a:p>
        </p:txBody>
      </p:sp>
      <p:sp>
        <p:nvSpPr>
          <p:cNvPr id="21" name="Shape 18"/>
          <p:cNvSpPr/>
          <p:nvPr/>
        </p:nvSpPr>
        <p:spPr>
          <a:xfrm>
            <a:off x="548640" y="3345180"/>
            <a:ext cx="201168" cy="201168"/>
          </a:xfrm>
          <a:prstGeom prst="ellipse">
            <a:avLst/>
          </a:prstGeom>
          <a:solidFill>
            <a:srgbClr val="D9773A"/>
          </a:solidFill>
          <a:ln w="12700">
            <a:solidFill>
              <a:srgbClr val="D9773A"/>
            </a:solidFill>
            <a:prstDash val="solid"/>
          </a:ln>
        </p:spPr>
      </p:sp>
      <p:sp>
        <p:nvSpPr>
          <p:cNvPr id="22" name="Text 19"/>
          <p:cNvSpPr txBox="1"/>
          <p:nvPr/>
        </p:nvSpPr>
        <p:spPr>
          <a:xfrm>
            <a:off x="914400" y="325374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10–25</a:t>
            </a:r>
            <a:endParaRPr lang="en-US" sz="1500" dirty="0"/>
          </a:p>
        </p:txBody>
      </p:sp>
      <p:sp>
        <p:nvSpPr>
          <p:cNvPr id="23" name="Text 20"/>
          <p:cNvSpPr txBox="1"/>
          <p:nvPr/>
        </p:nvSpPr>
        <p:spPr>
          <a:xfrm>
            <a:off x="2148840" y="325374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Sản lượng gồm những gì: inbound, outbound, thời lượng, kết quả nghiệp vụ · 5 lỗi khi đếm</a:t>
            </a:r>
            <a:endParaRPr lang="en-US" sz="1500" dirty="0"/>
          </a:p>
        </p:txBody>
      </p:sp>
      <p:sp>
        <p:nvSpPr>
          <p:cNvPr id="24" name="Shape 21"/>
          <p:cNvSpPr/>
          <p:nvPr/>
        </p:nvSpPr>
        <p:spPr>
          <a:xfrm>
            <a:off x="548640" y="3947160"/>
            <a:ext cx="201168" cy="201168"/>
          </a:xfrm>
          <a:prstGeom prst="ellipse">
            <a:avLst/>
          </a:prstGeom>
          <a:solidFill>
            <a:srgbClr val="D9773A"/>
          </a:solidFill>
          <a:ln w="12700">
            <a:solidFill>
              <a:srgbClr val="D9773A"/>
            </a:solidFill>
            <a:prstDash val="solid"/>
          </a:ln>
        </p:spPr>
      </p:sp>
      <p:sp>
        <p:nvSpPr>
          <p:cNvPr id="25" name="Text 22"/>
          <p:cNvSpPr txBox="1"/>
          <p:nvPr/>
        </p:nvSpPr>
        <p:spPr>
          <a:xfrm>
            <a:off x="914400" y="385572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25–40</a:t>
            </a:r>
            <a:endParaRPr lang="en-US" sz="1500" dirty="0"/>
          </a:p>
        </p:txBody>
      </p:sp>
      <p:sp>
        <p:nvSpPr>
          <p:cNvPr id="26" name="Text 23"/>
          <p:cNvSpPr txBox="1"/>
          <p:nvPr/>
        </p:nvSpPr>
        <p:spPr>
          <a:xfrm>
            <a:off x="2148840" y="385572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Mã kết quả 2 cấp · Quy tắc làm sạch cố định · Bảng sản lượng chuẩn · Demo công thức</a:t>
            </a:r>
            <a:endParaRPr lang="en-US" sz="1500" dirty="0"/>
          </a:p>
        </p:txBody>
      </p:sp>
      <p:sp>
        <p:nvSpPr>
          <p:cNvPr id="27" name="Shape 24"/>
          <p:cNvSpPr/>
          <p:nvPr/>
        </p:nvSpPr>
        <p:spPr>
          <a:xfrm>
            <a:off x="548640" y="4549140"/>
            <a:ext cx="201168" cy="201168"/>
          </a:xfrm>
          <a:prstGeom prst="ellipse">
            <a:avLst/>
          </a:prstGeom>
          <a:solidFill>
            <a:srgbClr val="2E7D7A"/>
          </a:solidFill>
          <a:ln w="12700">
            <a:solidFill>
              <a:srgbClr val="2E7D7A"/>
            </a:solidFill>
            <a:prstDash val="solid"/>
          </a:ln>
        </p:spPr>
      </p:sp>
      <p:sp>
        <p:nvSpPr>
          <p:cNvPr id="28" name="Text 25"/>
          <p:cNvSpPr txBox="1"/>
          <p:nvPr/>
        </p:nvSpPr>
        <p:spPr>
          <a:xfrm>
            <a:off x="914400" y="4457700"/>
            <a:ext cx="1188720" cy="384048"/>
          </a:xfrm>
          <a:prstGeom prst="rect">
            <a:avLst/>
          </a:prstGeom>
          <a:noFill/>
          <a:ln/>
        </p:spPr>
        <p:txBody>
          <a:bodyPr wrap="square" lIns="0" tIns="0" rIns="0" bIns="0" rtlCol="0" anchor="t"/>
          <a:lstStyle/>
          <a:p>
            <a:pPr indent="0" marL="0">
              <a:buNone/>
            </a:pPr>
            <a:r>
              <a:rPr lang="en-US" sz="1500" b="1" dirty="0">
                <a:solidFill>
                  <a:srgbClr val="2E7D7A"/>
                </a:solidFill>
                <a:latin typeface="Calibri" pitchFamily="34" charset="0"/>
                <a:ea typeface="Calibri" pitchFamily="34" charset="-122"/>
                <a:cs typeface="Calibri" pitchFamily="34" charset="-120"/>
              </a:rPr>
              <a:t>40–105</a:t>
            </a:r>
            <a:endParaRPr lang="en-US" sz="1500" dirty="0"/>
          </a:p>
        </p:txBody>
      </p:sp>
      <p:sp>
        <p:nvSpPr>
          <p:cNvPr id="29" name="Text 26"/>
          <p:cNvSpPr txBox="1"/>
          <p:nvPr/>
        </p:nvSpPr>
        <p:spPr>
          <a:xfrm>
            <a:off x="2148840" y="445770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Lab 2.1 Mã kết quả (20’) · Lab 2.2 Quy tắc làm sạch (15’) · Lab 2.3 Bảng sản lượng (30’) · Lab 2.4 cho IT</a:t>
            </a:r>
            <a:endParaRPr lang="en-US" sz="1500" dirty="0"/>
          </a:p>
        </p:txBody>
      </p:sp>
      <p:sp>
        <p:nvSpPr>
          <p:cNvPr id="30" name="Shape 27"/>
          <p:cNvSpPr/>
          <p:nvPr/>
        </p:nvSpPr>
        <p:spPr>
          <a:xfrm>
            <a:off x="548640" y="5151120"/>
            <a:ext cx="201168" cy="201168"/>
          </a:xfrm>
          <a:prstGeom prst="ellipse">
            <a:avLst/>
          </a:prstGeom>
          <a:solidFill>
            <a:srgbClr val="6E4E9E"/>
          </a:solidFill>
          <a:ln w="12700">
            <a:solidFill>
              <a:srgbClr val="6E4E9E"/>
            </a:solidFill>
            <a:prstDash val="solid"/>
          </a:ln>
        </p:spPr>
      </p:sp>
      <p:sp>
        <p:nvSpPr>
          <p:cNvPr id="31" name="Text 28"/>
          <p:cNvSpPr txBox="1"/>
          <p:nvPr/>
        </p:nvSpPr>
        <p:spPr>
          <a:xfrm>
            <a:off x="914400" y="505968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105–115</a:t>
            </a:r>
            <a:endParaRPr lang="en-US" sz="1500" dirty="0"/>
          </a:p>
        </p:txBody>
      </p:sp>
      <p:sp>
        <p:nvSpPr>
          <p:cNvPr id="32" name="Text 29"/>
          <p:cNvSpPr txBox="1"/>
          <p:nvPr/>
        </p:nvSpPr>
        <p:spPr>
          <a:xfrm>
            <a:off x="2148840" y="505968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Trình bày bảng sản lượng: so với số liệu cũ, giải thích chênh lệch</a:t>
            </a:r>
            <a:endParaRPr lang="en-US" sz="1500" dirty="0"/>
          </a:p>
        </p:txBody>
      </p:sp>
      <p:sp>
        <p:nvSpPr>
          <p:cNvPr id="33" name="Shape 30"/>
          <p:cNvSpPr/>
          <p:nvPr/>
        </p:nvSpPr>
        <p:spPr>
          <a:xfrm>
            <a:off x="548640" y="5753100"/>
            <a:ext cx="201168" cy="201168"/>
          </a:xfrm>
          <a:prstGeom prst="ellipse">
            <a:avLst/>
          </a:prstGeom>
          <a:solidFill>
            <a:srgbClr val="D9773A"/>
          </a:solidFill>
          <a:ln w="12700">
            <a:solidFill>
              <a:srgbClr val="D9773A"/>
            </a:solidFill>
            <a:prstDash val="solid"/>
          </a:ln>
        </p:spPr>
      </p:sp>
      <p:sp>
        <p:nvSpPr>
          <p:cNvPr id="34" name="Text 31"/>
          <p:cNvSpPr txBox="1"/>
          <p:nvPr/>
        </p:nvSpPr>
        <p:spPr>
          <a:xfrm>
            <a:off x="914400" y="5661660"/>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115–120</a:t>
            </a:r>
            <a:endParaRPr lang="en-US" sz="1500" dirty="0"/>
          </a:p>
        </p:txBody>
      </p:sp>
      <p:sp>
        <p:nvSpPr>
          <p:cNvPr id="35" name="Text 32"/>
          <p:cNvSpPr txBox="1"/>
          <p:nvPr/>
        </p:nvSpPr>
        <p:spPr>
          <a:xfrm>
            <a:off x="2148840" y="5661660"/>
            <a:ext cx="9418320" cy="556260"/>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Giao bài thực hành tại nhà</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REVIEW BÀI VỀ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Review bài về nhà buổi 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8856"/>
                <a:gridCol w="3117439"/>
                <a:gridCol w="5868120"/>
              </a:tblGrid>
              <a:tr h="474345">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Bài đã nộp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Câu hỏi review</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Điều cần thấy trên dữ liệu mẫu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Lỗi chấm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Lỗi nào call log không có?</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Máy không phân vào/ra · 17 lượt quẹt đúp cách nhau 7–35 giây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Ca không có lượt quẹt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Lỗi hay đã có đơn phép?</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3 ca: NV0104 phép đã duyệt · NV0107 chờ duyệt · NV0110 không đơn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Ca đêm D</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Lượt 06:05 sáng là lỗi?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18 ca D vắt 2 ngày: hợp lệ khi ghép lịch ca · NV0116 thiếu 2 lượt thật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Đối chiếu tổng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Số lượt có khớp không?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432 = 449 − 17 quẹt đúp = 440 lượt kỳ vọng − 8 lượt thiếu</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Bảng nối mã</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Đã khớp 100% chưa?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EXT2018 → NV0118 (vào làm 14/09) · ext2005, EXT 2007 → chuẩn hóa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Mã “mồ côi”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Ai quyết EXT2099?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Thực tập sinh 16–19/09, 251 cuộc — quản lý quyết, không tự loại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4345">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Nhật ký 3 lần dùng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Việc nào tiết kiệm nhiều nhất?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Mỗi dòng: prompt – kết quả – số phút tiết kiệm – đã đối chiếu tổng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Vì sao review trước: thiếu một dòng EXT2018 → NV0118 là 357 cuộc “mất chủ” trong bảng sản lượng theo agent.</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Sản lượng cuộc gọi = phễu 4 lớp</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5410048" cy="2148840"/>
          </a:xfrm>
          <a:prstGeom prst="roundRect">
            <a:avLst>
              <a:gd name="adj" fmla="val 4255"/>
            </a:avLst>
          </a:prstGeom>
          <a:solidFill>
            <a:srgbClr val="DDEFEE"/>
          </a:solidFill>
          <a:ln w="12700">
            <a:solidFill>
              <a:srgbClr val="DDEFEE"/>
            </a:solidFill>
            <a:prstDash val="solid"/>
          </a:ln>
        </p:spPr>
      </p:sp>
      <p:sp>
        <p:nvSpPr>
          <p:cNvPr id="8" name="Shape 5"/>
          <p:cNvSpPr/>
          <p:nvPr/>
        </p:nvSpPr>
        <p:spPr>
          <a:xfrm>
            <a:off x="777240" y="1920240"/>
            <a:ext cx="566928" cy="566928"/>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Inbound — CS-VT (khách gọi vào)</a:t>
            </a:r>
            <a:endParaRPr lang="en-US" sz="1800" dirty="0"/>
          </a:p>
        </p:txBody>
      </p:sp>
      <p:sp>
        <p:nvSpPr>
          <p:cNvPr id="11" name="Text 7"/>
          <p:cNvSpPr txBox="1"/>
          <p:nvPr/>
        </p:nvSpPr>
        <p:spPr>
          <a:xfrm>
            <a:off x="777240" y="2651760"/>
            <a:ext cx="495284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Cuộc vào · được nghe · bỏ máy · thời gian chờ</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Tỷ lệ nghe = được nghe / cuộc vào (mục tiêu ≥ 90%)</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Bỏ máy: chờ TB ~131 giây; được nghe: ~39 giây</a:t>
            </a:r>
            <a:endParaRPr lang="en-US" sz="1550" dirty="0"/>
          </a:p>
        </p:txBody>
      </p:sp>
      <p:sp>
        <p:nvSpPr>
          <p:cNvPr id="12" name="Shape 8"/>
          <p:cNvSpPr/>
          <p:nvPr/>
        </p:nvSpPr>
        <p:spPr>
          <a:xfrm>
            <a:off x="6233008" y="1691640"/>
            <a:ext cx="5410048" cy="2148840"/>
          </a:xfrm>
          <a:prstGeom prst="roundRect">
            <a:avLst>
              <a:gd name="adj" fmla="val 4255"/>
            </a:avLst>
          </a:prstGeom>
          <a:solidFill>
            <a:srgbClr val="FBE7DA"/>
          </a:solidFill>
          <a:ln w="12700">
            <a:solidFill>
              <a:srgbClr val="FBE7DA"/>
            </a:solidFill>
            <a:prstDash val="solid"/>
          </a:ln>
        </p:spPr>
      </p:sp>
      <p:sp>
        <p:nvSpPr>
          <p:cNvPr id="13" name="Shape 9"/>
          <p:cNvSpPr/>
          <p:nvPr/>
        </p:nvSpPr>
        <p:spPr>
          <a:xfrm>
            <a:off x="6461608" y="1920240"/>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6597670" y="2056303"/>
            <a:ext cx="294803" cy="294803"/>
          </a:xfrm>
          <a:prstGeom prst="rect">
            <a:avLst/>
          </a:prstGeom>
        </p:spPr>
      </p:pic>
      <p:sp>
        <p:nvSpPr>
          <p:cNvPr id="15" name="Text 10"/>
          <p:cNvSpPr txBox="1"/>
          <p:nvPr/>
        </p:nvSpPr>
        <p:spPr>
          <a:xfrm>
            <a:off x="7211416" y="192024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Outbound — TS-BH (mình gọi ra)</a:t>
            </a:r>
            <a:endParaRPr lang="en-US" sz="1800" dirty="0"/>
          </a:p>
        </p:txBody>
      </p:sp>
      <p:sp>
        <p:nvSpPr>
          <p:cNvPr id="16" name="Text 11"/>
          <p:cNvSpPr txBox="1"/>
          <p:nvPr/>
        </p:nvSpPr>
        <p:spPr>
          <a:xfrm>
            <a:off x="6461608" y="2651760"/>
            <a:ext cx="495284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Quay số → kết nối → đúng người → thành công</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Sai người nhiều là lỗi data, không phải lỗi agent</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Liên hệ được 48,1% · thành công/liên hệ ≈ 10,9%</a:t>
            </a:r>
            <a:endParaRPr lang="en-US" sz="1550" dirty="0"/>
          </a:p>
        </p:txBody>
      </p:sp>
      <p:sp>
        <p:nvSpPr>
          <p:cNvPr id="17" name="Shape 12"/>
          <p:cNvSpPr/>
          <p:nvPr/>
        </p:nvSpPr>
        <p:spPr>
          <a:xfrm>
            <a:off x="548640" y="4114800"/>
            <a:ext cx="5410048" cy="2148840"/>
          </a:xfrm>
          <a:prstGeom prst="roundRect">
            <a:avLst>
              <a:gd name="adj" fmla="val 4255"/>
            </a:avLst>
          </a:prstGeom>
          <a:solidFill>
            <a:srgbClr val="F2F4F6"/>
          </a:solidFill>
          <a:ln w="12700">
            <a:solidFill>
              <a:srgbClr val="F2F4F6"/>
            </a:solidFill>
            <a:prstDash val="solid"/>
          </a:ln>
        </p:spPr>
      </p:sp>
      <p:sp>
        <p:nvSpPr>
          <p:cNvPr id="18" name="Shape 13"/>
          <p:cNvSpPr/>
          <p:nvPr/>
        </p:nvSpPr>
        <p:spPr>
          <a:xfrm>
            <a:off x="777240" y="4343400"/>
            <a:ext cx="566928" cy="566928"/>
          </a:xfrm>
          <a:prstGeom prst="roundRect">
            <a:avLst>
              <a:gd name="adj" fmla="val 22000"/>
            </a:avLst>
          </a:prstGeom>
          <a:solidFill>
            <a:srgbClr val="2B3E50"/>
          </a:solidFill>
          <a:ln w="12700">
            <a:solidFill>
              <a:srgbClr val="2B3E50"/>
            </a:solidFill>
            <a:prstDash val="solid"/>
          </a:ln>
        </p:spPr>
      </p:sp>
      <p:pic>
        <p:nvPicPr>
          <p:cNvPr id="19" name="Image 2" descr="preencoded.png">    </p:cNvPr>
          <p:cNvPicPr>
            <a:picLocks noChangeAspect="1"/>
          </p:cNvPicPr>
          <p:nvPr/>
        </p:nvPicPr>
        <p:blipFill>
          <a:blip r:embed="rId3"/>
          <a:stretch>
            <a:fillRect/>
          </a:stretch>
        </p:blipFill>
        <p:spPr>
          <a:xfrm>
            <a:off x="913303" y="4479463"/>
            <a:ext cx="294803" cy="294803"/>
          </a:xfrm>
          <a:prstGeom prst="rect">
            <a:avLst/>
          </a:prstGeom>
        </p:spPr>
      </p:pic>
      <p:sp>
        <p:nvSpPr>
          <p:cNvPr id="20" name="Text 14"/>
          <p:cNvSpPr txBox="1"/>
          <p:nvPr/>
        </p:nvSpPr>
        <p:spPr>
          <a:xfrm>
            <a:off x="1527048" y="434340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Thời lượng — mỗi cuộc tốn bao nhiêu công</a:t>
            </a:r>
            <a:endParaRPr lang="en-US" sz="1800" dirty="0"/>
          </a:p>
        </p:txBody>
      </p:sp>
      <p:sp>
        <p:nvSpPr>
          <p:cNvPr id="21" name="Text 15"/>
          <p:cNvSpPr txBox="1"/>
          <p:nvPr/>
        </p:nvSpPr>
        <p:spPr>
          <a:xfrm>
            <a:off x="777240" y="5074920"/>
            <a:ext cx="495284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Đàm thoại · giữ máy · ACW (việc sau cuộc gọi)</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AHT = (đàm thoại + giữ + ACW) / cuộc xử lý</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CS-VT ≈ 322 giây (mục tiêu ≤ 360) · TS-BH ≈ 186 giây</a:t>
            </a:r>
            <a:endParaRPr lang="en-US" sz="1550" dirty="0"/>
          </a:p>
        </p:txBody>
      </p:sp>
      <p:sp>
        <p:nvSpPr>
          <p:cNvPr id="22" name="Shape 16"/>
          <p:cNvSpPr/>
          <p:nvPr/>
        </p:nvSpPr>
        <p:spPr>
          <a:xfrm>
            <a:off x="6233008" y="4114800"/>
            <a:ext cx="5410048" cy="2148840"/>
          </a:xfrm>
          <a:prstGeom prst="roundRect">
            <a:avLst>
              <a:gd name="adj" fmla="val 4255"/>
            </a:avLst>
          </a:prstGeom>
          <a:solidFill>
            <a:srgbClr val="F2F4F6"/>
          </a:solidFill>
          <a:ln w="12700">
            <a:solidFill>
              <a:srgbClr val="F2F4F6"/>
            </a:solidFill>
            <a:prstDash val="solid"/>
          </a:ln>
        </p:spPr>
      </p:sp>
      <p:sp>
        <p:nvSpPr>
          <p:cNvPr id="23" name="Shape 17"/>
          <p:cNvSpPr/>
          <p:nvPr/>
        </p:nvSpPr>
        <p:spPr>
          <a:xfrm>
            <a:off x="6461608" y="4343400"/>
            <a:ext cx="566928" cy="566928"/>
          </a:xfrm>
          <a:prstGeom prst="roundRect">
            <a:avLst>
              <a:gd name="adj" fmla="val 22000"/>
            </a:avLst>
          </a:prstGeom>
          <a:solidFill>
            <a:srgbClr val="2B3E50"/>
          </a:solidFill>
          <a:ln w="12700">
            <a:solidFill>
              <a:srgbClr val="2B3E50"/>
            </a:solidFill>
            <a:prstDash val="solid"/>
          </a:ln>
        </p:spPr>
      </p:sp>
      <p:pic>
        <p:nvPicPr>
          <p:cNvPr id="24" name="Image 3" descr="preencoded.png">    </p:cNvPr>
          <p:cNvPicPr>
            <a:picLocks noChangeAspect="1"/>
          </p:cNvPicPr>
          <p:nvPr/>
        </p:nvPicPr>
        <p:blipFill>
          <a:blip r:embed="rId4"/>
          <a:stretch>
            <a:fillRect/>
          </a:stretch>
        </p:blipFill>
        <p:spPr>
          <a:xfrm>
            <a:off x="6597670" y="4479463"/>
            <a:ext cx="294803" cy="294803"/>
          </a:xfrm>
          <a:prstGeom prst="rect">
            <a:avLst/>
          </a:prstGeom>
        </p:spPr>
      </p:pic>
      <p:sp>
        <p:nvSpPr>
          <p:cNvPr id="25" name="Text 18"/>
          <p:cNvSpPr txBox="1"/>
          <p:nvPr/>
        </p:nvSpPr>
        <p:spPr>
          <a:xfrm>
            <a:off x="7211416" y="4343400"/>
            <a:ext cx="4203040" cy="566928"/>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Kết quả nghiệp vụ — cuộc gọi mang lại gì</a:t>
            </a:r>
            <a:endParaRPr lang="en-US" sz="1800" dirty="0"/>
          </a:p>
        </p:txBody>
      </p:sp>
      <p:sp>
        <p:nvSpPr>
          <p:cNvPr id="26" name="Text 19"/>
          <p:cNvSpPr txBox="1"/>
          <p:nvPr/>
        </p:nvSpPr>
        <p:spPr>
          <a:xfrm>
            <a:off x="6461608" y="5074920"/>
            <a:ext cx="495284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TS-BH: thành công, hẹn gọi lại, từ chối, thuê bao…</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CS-VT: giải quyết xong, tư vấn, hỗ trợ, khiếu nại…</a:t>
            </a:r>
            <a:endParaRPr lang="en-US" sz="1550" dirty="0"/>
          </a:p>
          <a:p>
            <a:pPr marL="228600" indent="-228600">
              <a:spcAft>
                <a:spcPts val="500"/>
              </a:spcAft>
              <a:buSzPct val="100000"/>
              <a:buChar char="•"/>
            </a:pPr>
            <a:r>
              <a:rPr lang="en-US" sz="1550" dirty="0">
                <a:solidFill>
                  <a:srgbClr val="1B2A38"/>
                </a:solidFill>
                <a:latin typeface="Calibri" pitchFamily="34" charset="0"/>
                <a:ea typeface="Calibri" pitchFamily="34" charset="-122"/>
                <a:cs typeface="Calibri" pitchFamily="34" charset="-120"/>
              </a:rPr>
              <a:t>Gõ tự do: 48 biến thể cho ~15 ý nghĩa thật</a:t>
            </a:r>
            <a:endParaRPr lang="en-US" sz="15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Mỗi người đọc một tầng phễu khác nhau</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14 ngày (07–21/09), cuộc gốc sau làm sạch. Báo cáo luôn ghi rõ: tầng nào, mẫu số nào.</a:t>
            </a:r>
            <a:endParaRPr lang="en-US" sz="1600" dirty="0"/>
          </a:p>
        </p:txBody>
      </p:sp>
      <p:sp>
        <p:nvSpPr>
          <p:cNvPr id="8" name="Text 5"/>
          <p:cNvSpPr txBox="1"/>
          <p:nvPr/>
        </p:nvSpPr>
        <p:spPr>
          <a:xfrm>
            <a:off x="548640" y="233172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TS-BH · Quay số</a:t>
            </a:r>
            <a:endParaRPr lang="en-US" sz="1500" dirty="0"/>
          </a:p>
        </p:txBody>
      </p:sp>
      <p:sp>
        <p:nvSpPr>
          <p:cNvPr id="9" name="Text 6"/>
          <p:cNvSpPr txBox="1"/>
          <p:nvPr/>
        </p:nvSpPr>
        <p:spPr>
          <a:xfrm>
            <a:off x="548640" y="269214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mọi cuộc OUT</a:t>
            </a:r>
            <a:endParaRPr lang="en-US" sz="1100" dirty="0"/>
          </a:p>
        </p:txBody>
      </p:sp>
      <p:sp>
        <p:nvSpPr>
          <p:cNvPr id="10" name="Shape 7"/>
          <p:cNvSpPr/>
          <p:nvPr/>
        </p:nvSpPr>
        <p:spPr>
          <a:xfrm>
            <a:off x="2926080" y="2430018"/>
            <a:ext cx="7436815" cy="327660"/>
          </a:xfrm>
          <a:prstGeom prst="rect">
            <a:avLst/>
          </a:prstGeom>
          <a:solidFill>
            <a:srgbClr val="F2F4F6"/>
          </a:solidFill>
          <a:ln w="12700">
            <a:solidFill>
              <a:srgbClr val="F2F4F6"/>
            </a:solidFill>
            <a:prstDash val="solid"/>
          </a:ln>
        </p:spPr>
      </p:sp>
      <p:sp>
        <p:nvSpPr>
          <p:cNvPr id="11" name="Shape 8"/>
          <p:cNvSpPr/>
          <p:nvPr/>
        </p:nvSpPr>
        <p:spPr>
          <a:xfrm>
            <a:off x="2926080" y="2430018"/>
            <a:ext cx="7436815" cy="327660"/>
          </a:xfrm>
          <a:prstGeom prst="rect">
            <a:avLst/>
          </a:prstGeom>
          <a:solidFill>
            <a:srgbClr val="2B3E50"/>
          </a:solidFill>
          <a:ln w="12700">
            <a:solidFill>
              <a:srgbClr val="2B3E50"/>
            </a:solidFill>
            <a:prstDash val="solid"/>
          </a:ln>
        </p:spPr>
      </p:sp>
      <p:sp>
        <p:nvSpPr>
          <p:cNvPr id="12" name="Text 9"/>
          <p:cNvSpPr txBox="1"/>
          <p:nvPr/>
        </p:nvSpPr>
        <p:spPr>
          <a:xfrm>
            <a:off x="10500055" y="2397252"/>
            <a:ext cx="1188720" cy="393192"/>
          </a:xfrm>
          <a:prstGeom prst="rect">
            <a:avLst/>
          </a:prstGeom>
          <a:noFill/>
          <a:ln/>
        </p:spPr>
        <p:txBody>
          <a:bodyPr wrap="square" lIns="0" tIns="0" rIns="0" bIns="0" rtlCol="0" anchor="ctr"/>
          <a:lstStyle/>
          <a:p>
            <a:pPr indent="0" marL="0">
              <a:buNone/>
            </a:pPr>
            <a:r>
              <a:rPr lang="en-US" sz="1500" b="1" dirty="0">
                <a:solidFill>
                  <a:srgbClr val="2B3E50"/>
                </a:solidFill>
                <a:latin typeface="Calibri" pitchFamily="34" charset="0"/>
                <a:ea typeface="Calibri" pitchFamily="34" charset="-122"/>
                <a:cs typeface="Calibri" pitchFamily="34" charset="-120"/>
              </a:rPr>
              <a:t>23.866</a:t>
            </a:r>
            <a:endParaRPr lang="en-US" sz="1500" dirty="0"/>
          </a:p>
        </p:txBody>
      </p:sp>
      <p:sp>
        <p:nvSpPr>
          <p:cNvPr id="13" name="Text 10"/>
          <p:cNvSpPr txBox="1"/>
          <p:nvPr/>
        </p:nvSpPr>
        <p:spPr>
          <a:xfrm>
            <a:off x="548640" y="298704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TS-BH · Liên hệ được</a:t>
            </a:r>
            <a:endParaRPr lang="en-US" sz="1500" dirty="0"/>
          </a:p>
        </p:txBody>
      </p:sp>
      <p:sp>
        <p:nvSpPr>
          <p:cNvPr id="14" name="Text 11"/>
          <p:cNvSpPr txBox="1"/>
          <p:nvPr/>
        </p:nvSpPr>
        <p:spPr>
          <a:xfrm>
            <a:off x="548640" y="334746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48,1% số lần quay số</a:t>
            </a:r>
            <a:endParaRPr lang="en-US" sz="1100" dirty="0"/>
          </a:p>
        </p:txBody>
      </p:sp>
      <p:sp>
        <p:nvSpPr>
          <p:cNvPr id="15" name="Shape 12"/>
          <p:cNvSpPr/>
          <p:nvPr/>
        </p:nvSpPr>
        <p:spPr>
          <a:xfrm>
            <a:off x="2926080" y="3085338"/>
            <a:ext cx="7436815" cy="327660"/>
          </a:xfrm>
          <a:prstGeom prst="rect">
            <a:avLst/>
          </a:prstGeom>
          <a:solidFill>
            <a:srgbClr val="F2F4F6"/>
          </a:solidFill>
          <a:ln w="12700">
            <a:solidFill>
              <a:srgbClr val="F2F4F6"/>
            </a:solidFill>
            <a:prstDash val="solid"/>
          </a:ln>
        </p:spPr>
      </p:sp>
      <p:sp>
        <p:nvSpPr>
          <p:cNvPr id="16" name="Shape 13"/>
          <p:cNvSpPr/>
          <p:nvPr/>
        </p:nvSpPr>
        <p:spPr>
          <a:xfrm>
            <a:off x="2926080" y="3085338"/>
            <a:ext cx="3577561" cy="327660"/>
          </a:xfrm>
          <a:prstGeom prst="rect">
            <a:avLst/>
          </a:prstGeom>
          <a:solidFill>
            <a:srgbClr val="D9773A"/>
          </a:solidFill>
          <a:ln w="12700">
            <a:solidFill>
              <a:srgbClr val="D9773A"/>
            </a:solidFill>
            <a:prstDash val="solid"/>
          </a:ln>
        </p:spPr>
      </p:sp>
      <p:sp>
        <p:nvSpPr>
          <p:cNvPr id="17" name="Text 14"/>
          <p:cNvSpPr txBox="1"/>
          <p:nvPr/>
        </p:nvSpPr>
        <p:spPr>
          <a:xfrm>
            <a:off x="10500055" y="3052572"/>
            <a:ext cx="1188720" cy="393192"/>
          </a:xfrm>
          <a:prstGeom prst="rect">
            <a:avLst/>
          </a:prstGeom>
          <a:noFill/>
          <a:ln/>
        </p:spPr>
        <p:txBody>
          <a:bodyPr wrap="square" lIns="0" tIns="0" rIns="0" bIns="0" rtlCol="0" anchor="ctr"/>
          <a:lstStyle/>
          <a:p>
            <a:pPr indent="0" marL="0">
              <a:buNone/>
            </a:pPr>
            <a:r>
              <a:rPr lang="en-US" sz="1500" b="1" dirty="0">
                <a:solidFill>
                  <a:srgbClr val="D9773A"/>
                </a:solidFill>
                <a:latin typeface="Calibri" pitchFamily="34" charset="0"/>
                <a:ea typeface="Calibri" pitchFamily="34" charset="-122"/>
                <a:cs typeface="Calibri" pitchFamily="34" charset="-120"/>
              </a:rPr>
              <a:t>11.481</a:t>
            </a:r>
            <a:endParaRPr lang="en-US" sz="1500" dirty="0"/>
          </a:p>
        </p:txBody>
      </p:sp>
      <p:sp>
        <p:nvSpPr>
          <p:cNvPr id="18" name="Text 15"/>
          <p:cNvSpPr txBox="1"/>
          <p:nvPr/>
        </p:nvSpPr>
        <p:spPr>
          <a:xfrm>
            <a:off x="548640" y="364236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TS-BH · Thành công</a:t>
            </a:r>
            <a:endParaRPr lang="en-US" sz="1500" dirty="0"/>
          </a:p>
        </p:txBody>
      </p:sp>
      <p:sp>
        <p:nvSpPr>
          <p:cNvPr id="19" name="Text 16"/>
          <p:cNvSpPr txBox="1"/>
          <p:nvPr/>
        </p:nvSpPr>
        <p:spPr>
          <a:xfrm>
            <a:off x="548640" y="400278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10,9% số liên hệ được</a:t>
            </a:r>
            <a:endParaRPr lang="en-US" sz="1100" dirty="0"/>
          </a:p>
        </p:txBody>
      </p:sp>
      <p:sp>
        <p:nvSpPr>
          <p:cNvPr id="20" name="Shape 17"/>
          <p:cNvSpPr/>
          <p:nvPr/>
        </p:nvSpPr>
        <p:spPr>
          <a:xfrm>
            <a:off x="2926080" y="3740658"/>
            <a:ext cx="7436815" cy="327660"/>
          </a:xfrm>
          <a:prstGeom prst="rect">
            <a:avLst/>
          </a:prstGeom>
          <a:solidFill>
            <a:srgbClr val="F2F4F6"/>
          </a:solidFill>
          <a:ln w="12700">
            <a:solidFill>
              <a:srgbClr val="F2F4F6"/>
            </a:solidFill>
            <a:prstDash val="solid"/>
          </a:ln>
        </p:spPr>
      </p:sp>
      <p:sp>
        <p:nvSpPr>
          <p:cNvPr id="21" name="Shape 18"/>
          <p:cNvSpPr/>
          <p:nvPr/>
        </p:nvSpPr>
        <p:spPr>
          <a:xfrm>
            <a:off x="2926080" y="3740658"/>
            <a:ext cx="391067" cy="327660"/>
          </a:xfrm>
          <a:prstGeom prst="rect">
            <a:avLst/>
          </a:prstGeom>
          <a:solidFill>
            <a:srgbClr val="2E8B57"/>
          </a:solidFill>
          <a:ln w="12700">
            <a:solidFill>
              <a:srgbClr val="2E8B57"/>
            </a:solidFill>
            <a:prstDash val="solid"/>
          </a:ln>
        </p:spPr>
      </p:sp>
      <p:sp>
        <p:nvSpPr>
          <p:cNvPr id="22" name="Text 19"/>
          <p:cNvSpPr txBox="1"/>
          <p:nvPr/>
        </p:nvSpPr>
        <p:spPr>
          <a:xfrm>
            <a:off x="10500055" y="3707892"/>
            <a:ext cx="1188720" cy="393192"/>
          </a:xfrm>
          <a:prstGeom prst="rect">
            <a:avLst/>
          </a:prstGeom>
          <a:noFill/>
          <a:ln/>
        </p:spPr>
        <p:txBody>
          <a:bodyPr wrap="square" lIns="0" tIns="0" rIns="0" bIns="0" rtlCol="0" anchor="ctr"/>
          <a:lstStyle/>
          <a:p>
            <a:pPr indent="0" marL="0">
              <a:buNone/>
            </a:pPr>
            <a:r>
              <a:rPr lang="en-US" sz="1500" b="1" dirty="0">
                <a:solidFill>
                  <a:srgbClr val="2E8B57"/>
                </a:solidFill>
                <a:latin typeface="Calibri" pitchFamily="34" charset="0"/>
                <a:ea typeface="Calibri" pitchFamily="34" charset="-122"/>
                <a:cs typeface="Calibri" pitchFamily="34" charset="-120"/>
              </a:rPr>
              <a:t>1.255</a:t>
            </a:r>
            <a:endParaRPr lang="en-US" sz="1500" dirty="0"/>
          </a:p>
        </p:txBody>
      </p:sp>
      <p:sp>
        <p:nvSpPr>
          <p:cNvPr id="23" name="Text 20"/>
          <p:cNvSpPr txBox="1"/>
          <p:nvPr/>
        </p:nvSpPr>
        <p:spPr>
          <a:xfrm>
            <a:off x="548640" y="429768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CS-VT · Cuộc vào</a:t>
            </a:r>
            <a:endParaRPr lang="en-US" sz="1500" dirty="0"/>
          </a:p>
        </p:txBody>
      </p:sp>
      <p:sp>
        <p:nvSpPr>
          <p:cNvPr id="24" name="Text 21"/>
          <p:cNvSpPr txBox="1"/>
          <p:nvPr/>
        </p:nvSpPr>
        <p:spPr>
          <a:xfrm>
            <a:off x="548640" y="465810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mẫu số của tỷ lệ nghe</a:t>
            </a:r>
            <a:endParaRPr lang="en-US" sz="1100" dirty="0"/>
          </a:p>
        </p:txBody>
      </p:sp>
      <p:sp>
        <p:nvSpPr>
          <p:cNvPr id="25" name="Shape 22"/>
          <p:cNvSpPr/>
          <p:nvPr/>
        </p:nvSpPr>
        <p:spPr>
          <a:xfrm>
            <a:off x="2926080" y="4395978"/>
            <a:ext cx="7436815" cy="327660"/>
          </a:xfrm>
          <a:prstGeom prst="rect">
            <a:avLst/>
          </a:prstGeom>
          <a:solidFill>
            <a:srgbClr val="F2F4F6"/>
          </a:solidFill>
          <a:ln w="12700">
            <a:solidFill>
              <a:srgbClr val="F2F4F6"/>
            </a:solidFill>
            <a:prstDash val="solid"/>
          </a:ln>
        </p:spPr>
      </p:sp>
      <p:sp>
        <p:nvSpPr>
          <p:cNvPr id="26" name="Shape 23"/>
          <p:cNvSpPr/>
          <p:nvPr/>
        </p:nvSpPr>
        <p:spPr>
          <a:xfrm>
            <a:off x="2926080" y="4395978"/>
            <a:ext cx="1725680" cy="327660"/>
          </a:xfrm>
          <a:prstGeom prst="rect">
            <a:avLst/>
          </a:prstGeom>
          <a:solidFill>
            <a:srgbClr val="2B3E50"/>
          </a:solidFill>
          <a:ln w="12700">
            <a:solidFill>
              <a:srgbClr val="2B3E50"/>
            </a:solidFill>
            <a:prstDash val="solid"/>
          </a:ln>
        </p:spPr>
      </p:sp>
      <p:sp>
        <p:nvSpPr>
          <p:cNvPr id="27" name="Text 24"/>
          <p:cNvSpPr txBox="1"/>
          <p:nvPr/>
        </p:nvSpPr>
        <p:spPr>
          <a:xfrm>
            <a:off x="10500055" y="4363212"/>
            <a:ext cx="1188720" cy="393192"/>
          </a:xfrm>
          <a:prstGeom prst="rect">
            <a:avLst/>
          </a:prstGeom>
          <a:noFill/>
          <a:ln/>
        </p:spPr>
        <p:txBody>
          <a:bodyPr wrap="square" lIns="0" tIns="0" rIns="0" bIns="0" rtlCol="0" anchor="ctr"/>
          <a:lstStyle/>
          <a:p>
            <a:pPr indent="0" marL="0">
              <a:buNone/>
            </a:pPr>
            <a:r>
              <a:rPr lang="en-US" sz="1500" b="1" dirty="0">
                <a:solidFill>
                  <a:srgbClr val="2B3E50"/>
                </a:solidFill>
                <a:latin typeface="Calibri" pitchFamily="34" charset="0"/>
                <a:ea typeface="Calibri" pitchFamily="34" charset="-122"/>
                <a:cs typeface="Calibri" pitchFamily="34" charset="-120"/>
              </a:rPr>
              <a:t>5.538</a:t>
            </a:r>
            <a:endParaRPr lang="en-US" sz="1500" dirty="0"/>
          </a:p>
        </p:txBody>
      </p:sp>
      <p:sp>
        <p:nvSpPr>
          <p:cNvPr id="28" name="Text 25"/>
          <p:cNvSpPr txBox="1"/>
          <p:nvPr/>
        </p:nvSpPr>
        <p:spPr>
          <a:xfrm>
            <a:off x="548640" y="495300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CS-VT · Được nghe</a:t>
            </a:r>
            <a:endParaRPr lang="en-US" sz="1500" dirty="0"/>
          </a:p>
        </p:txBody>
      </p:sp>
      <p:sp>
        <p:nvSpPr>
          <p:cNvPr id="29" name="Text 26"/>
          <p:cNvSpPr txBox="1"/>
          <p:nvPr/>
        </p:nvSpPr>
        <p:spPr>
          <a:xfrm>
            <a:off x="548640" y="531342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90,3% — đạt mục tiêu ≥ 90%</a:t>
            </a:r>
            <a:endParaRPr lang="en-US" sz="1100" dirty="0"/>
          </a:p>
        </p:txBody>
      </p:sp>
      <p:sp>
        <p:nvSpPr>
          <p:cNvPr id="30" name="Shape 27"/>
          <p:cNvSpPr/>
          <p:nvPr/>
        </p:nvSpPr>
        <p:spPr>
          <a:xfrm>
            <a:off x="2926080" y="5051298"/>
            <a:ext cx="7436815" cy="327660"/>
          </a:xfrm>
          <a:prstGeom prst="rect">
            <a:avLst/>
          </a:prstGeom>
          <a:solidFill>
            <a:srgbClr val="F2F4F6"/>
          </a:solidFill>
          <a:ln w="12700">
            <a:solidFill>
              <a:srgbClr val="F2F4F6"/>
            </a:solidFill>
            <a:prstDash val="solid"/>
          </a:ln>
        </p:spPr>
      </p:sp>
      <p:sp>
        <p:nvSpPr>
          <p:cNvPr id="31" name="Shape 28"/>
          <p:cNvSpPr/>
          <p:nvPr/>
        </p:nvSpPr>
        <p:spPr>
          <a:xfrm>
            <a:off x="2926080" y="5051298"/>
            <a:ext cx="1558347" cy="327660"/>
          </a:xfrm>
          <a:prstGeom prst="rect">
            <a:avLst/>
          </a:prstGeom>
          <a:solidFill>
            <a:srgbClr val="2E7D7A"/>
          </a:solidFill>
          <a:ln w="12700">
            <a:solidFill>
              <a:srgbClr val="2E7D7A"/>
            </a:solidFill>
            <a:prstDash val="solid"/>
          </a:ln>
        </p:spPr>
      </p:sp>
      <p:sp>
        <p:nvSpPr>
          <p:cNvPr id="32" name="Text 29"/>
          <p:cNvSpPr txBox="1"/>
          <p:nvPr/>
        </p:nvSpPr>
        <p:spPr>
          <a:xfrm>
            <a:off x="10500055" y="5018532"/>
            <a:ext cx="1188720" cy="393192"/>
          </a:xfrm>
          <a:prstGeom prst="rect">
            <a:avLst/>
          </a:prstGeom>
          <a:noFill/>
          <a:ln/>
        </p:spPr>
        <p:txBody>
          <a:bodyPr wrap="square" lIns="0" tIns="0" rIns="0" bIns="0" rtlCol="0" anchor="ctr"/>
          <a:lstStyle/>
          <a:p>
            <a:pPr indent="0" marL="0">
              <a:buNone/>
            </a:pPr>
            <a:r>
              <a:rPr lang="en-US" sz="1500" b="1" dirty="0">
                <a:solidFill>
                  <a:srgbClr val="2E7D7A"/>
                </a:solidFill>
                <a:latin typeface="Calibri" pitchFamily="34" charset="0"/>
                <a:ea typeface="Calibri" pitchFamily="34" charset="-122"/>
                <a:cs typeface="Calibri" pitchFamily="34" charset="-120"/>
              </a:rPr>
              <a:t>5.001</a:t>
            </a:r>
            <a:endParaRPr lang="en-US" sz="1500" dirty="0"/>
          </a:p>
        </p:txBody>
      </p:sp>
      <p:sp>
        <p:nvSpPr>
          <p:cNvPr id="33" name="Text 30"/>
          <p:cNvSpPr txBox="1"/>
          <p:nvPr/>
        </p:nvSpPr>
        <p:spPr>
          <a:xfrm>
            <a:off x="548640" y="5608320"/>
            <a:ext cx="2377440" cy="458724"/>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CS-VT · Bỏ máy</a:t>
            </a:r>
            <a:endParaRPr lang="en-US" sz="1500" dirty="0"/>
          </a:p>
        </p:txBody>
      </p:sp>
      <p:sp>
        <p:nvSpPr>
          <p:cNvPr id="34" name="Text 31"/>
          <p:cNvSpPr txBox="1"/>
          <p:nvPr/>
        </p:nvSpPr>
        <p:spPr>
          <a:xfrm>
            <a:off x="548640" y="5968746"/>
            <a:ext cx="2377440" cy="262128"/>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khách gác máy khi đang chờ</a:t>
            </a:r>
            <a:endParaRPr lang="en-US" sz="1100" dirty="0"/>
          </a:p>
        </p:txBody>
      </p:sp>
      <p:sp>
        <p:nvSpPr>
          <p:cNvPr id="35" name="Shape 32"/>
          <p:cNvSpPr/>
          <p:nvPr/>
        </p:nvSpPr>
        <p:spPr>
          <a:xfrm>
            <a:off x="2926080" y="5706618"/>
            <a:ext cx="7436815" cy="327660"/>
          </a:xfrm>
          <a:prstGeom prst="rect">
            <a:avLst/>
          </a:prstGeom>
          <a:solidFill>
            <a:srgbClr val="F2F4F6"/>
          </a:solidFill>
          <a:ln w="12700">
            <a:solidFill>
              <a:srgbClr val="F2F4F6"/>
            </a:solidFill>
            <a:prstDash val="solid"/>
          </a:ln>
        </p:spPr>
      </p:sp>
      <p:sp>
        <p:nvSpPr>
          <p:cNvPr id="36" name="Shape 33"/>
          <p:cNvSpPr/>
          <p:nvPr/>
        </p:nvSpPr>
        <p:spPr>
          <a:xfrm>
            <a:off x="2926080" y="5706618"/>
            <a:ext cx="167333" cy="327660"/>
          </a:xfrm>
          <a:prstGeom prst="rect">
            <a:avLst/>
          </a:prstGeom>
          <a:solidFill>
            <a:srgbClr val="C0392B"/>
          </a:solidFill>
          <a:ln w="12700">
            <a:solidFill>
              <a:srgbClr val="C0392B"/>
            </a:solidFill>
            <a:prstDash val="solid"/>
          </a:ln>
        </p:spPr>
      </p:sp>
      <p:sp>
        <p:nvSpPr>
          <p:cNvPr id="37" name="Text 34"/>
          <p:cNvSpPr txBox="1"/>
          <p:nvPr/>
        </p:nvSpPr>
        <p:spPr>
          <a:xfrm>
            <a:off x="10500055" y="5673852"/>
            <a:ext cx="1188720" cy="393192"/>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537</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5 lỗi kinh điển khi đếm sản lượng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Sai lẻ tẻ vài cuộc mỗi ngày nên con số vẫn “trông hợp lý” — phải chủ động đếm từng loại.</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475613"/>
                <a:gridCol w="2750681"/>
                <a:gridCol w="3209128"/>
                <a:gridCol w="2658992"/>
              </a:tblGrid>
              <a:tr h="54102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Lỗi</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Trên bộ mẫu</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Sai ở đâu nếu bỏ qua</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Dấu hiệu phát hiện</a:t>
                      </a:r>
                      <a:endParaRPr lang="en-US" sz="14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102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Chuyển tiếp đếm 2 lần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48 chặng (toàn CS-VT)</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+48 cuộc CS-VT, sai tỷ lệ nghe</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ma_cuoc_goi_goc khác trống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102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Qua nửa đêm (ca D)</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11 cuộc vắt 0h · 78 cuộc ngày 21/09</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Sai ngày, chẻ đôi năng suất ca D</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CS-VT giờ 0–5; file ngày cuối kỳ</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102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Ghi chú kết quả tự do</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48 biến thể</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Lọc chữ “Thành công”: thiếu 86%</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Tần suất ghi chú × trạng thái</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102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Lệch múi giờ (UTC)</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22 dòng TS-BH</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Lệch khung giờ 7 tiếng, báo ngoài giờ giả</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Chuỗi dạng …T…Z</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1020">
                <a:tc>
                  <a:txBody>
                    <a:bodyPr/>
                    <a:lstStyle/>
                    <a:p>
                      <a:pPr indent="0" marL="0">
                        <a:buNone/>
                      </a:pPr>
                      <a:r>
                        <a:rPr lang="en-US" sz="1400" b="1" dirty="0">
                          <a:solidFill>
                            <a:srgbClr val="1B2A38"/>
                          </a:solidFill>
                          <a:latin typeface="Calibri" pitchFamily="34" charset="0"/>
                          <a:ea typeface="Calibri" pitchFamily="34" charset="-122"/>
                          <a:cs typeface="Calibri" pitchFamily="34" charset="-120"/>
                        </a:rPr>
                        <a:t>Trùng dòng khi xuất file</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63 dòng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“Tặng” cuộc cho agent; +63 nếu đếm dòng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400" dirty="0">
                          <a:solidFill>
                            <a:srgbClr val="1B2A38"/>
                          </a:solidFill>
                          <a:latin typeface="Calibri" pitchFamily="34" charset="0"/>
                          <a:ea typeface="Calibri" pitchFamily="34" charset="-122"/>
                          <a:cs typeface="Calibri" pitchFamily="34" charset="-120"/>
                        </a:rPr>
                        <a:t>ma_cuoc_goi lặp lại</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Đừng sửa tay từng lỗi trong Excel — mai file mới lại có đúng lỗi đó. Lỗi lặp lại phải chặn bằng quy tắc viết thành văn bản.</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Dòng TS-BH có thoi_diem_bat_dau = 2026-09-18T01:12:00Z. Hệ thống cảnh báo “gọi ngoài giờ lúc 01:12 sáng”. Bạn xử lý thế nào?</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Gắn cờ agent gọi ngoài giờ, báo trưởng ca.</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Xóa dòng vì chắc chắn là lỗi.</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Nhận ra giờ UTC, cộng 7 tiếng → 08:12, trong giờ hoạt động — cảnh báo là giả.</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Để nguyên, vì cuộc vẫn được đếm vào sản lượng ngày 18/09.</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Mã kết quả chuẩn 2 cấp</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Cấp 1: có nói chuyện được không? · Cấp 2: kết quả là gì, hoặc vì sao không. TS-BH dùng 11 mã con.</a:t>
            </a:r>
            <a:endParaRPr lang="en-US" sz="1600" dirty="0"/>
          </a:p>
        </p:txBody>
      </p:sp>
      <p:sp>
        <p:nvSpPr>
          <p:cNvPr id="8" name="Shape 5"/>
          <p:cNvSpPr/>
          <p:nvPr/>
        </p:nvSpPr>
        <p:spPr>
          <a:xfrm>
            <a:off x="548640" y="2240280"/>
            <a:ext cx="3515258" cy="4023360"/>
          </a:xfrm>
          <a:prstGeom prst="roundRect">
            <a:avLst>
              <a:gd name="adj" fmla="val 2601"/>
            </a:avLst>
          </a:prstGeom>
          <a:solidFill>
            <a:srgbClr val="DDF1E5"/>
          </a:solidFill>
          <a:ln w="12700">
            <a:solidFill>
              <a:srgbClr val="DDF1E5"/>
            </a:solidFill>
            <a:prstDash val="solid"/>
          </a:ln>
        </p:spPr>
      </p:sp>
      <p:sp>
        <p:nvSpPr>
          <p:cNvPr id="9" name="Shape 6"/>
          <p:cNvSpPr/>
          <p:nvPr/>
        </p:nvSpPr>
        <p:spPr>
          <a:xfrm>
            <a:off x="777240" y="2468880"/>
            <a:ext cx="566928" cy="566928"/>
          </a:xfrm>
          <a:prstGeom prst="roundRect">
            <a:avLst>
              <a:gd name="adj" fmla="val 22000"/>
            </a:avLst>
          </a:prstGeom>
          <a:solidFill>
            <a:srgbClr val="2E8B57"/>
          </a:solidFill>
          <a:ln w="12700">
            <a:solidFill>
              <a:srgbClr val="2E8B57"/>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Liên hệ được</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Thành công</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Hẹn gọi lại</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Đang cân nhắc</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Từ chối</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Đã có sản phẩm</a:t>
            </a:r>
            <a:endParaRPr lang="en-US" sz="1500" dirty="0"/>
          </a:p>
          <a:p>
            <a:pPr marL="228600" indent="-228600">
              <a:spcAft>
                <a:spcPts val="500"/>
              </a:spcAft>
              <a:buSzPct val="100000"/>
              <a:buChar char="•"/>
            </a:pPr>
            <a:r>
              <a:rPr lang="en-US" sz="1500" b="1" dirty="0">
                <a:solidFill>
                  <a:srgbClr val="1B2A38"/>
                </a:solidFill>
                <a:latin typeface="Calibri" pitchFamily="34" charset="0"/>
                <a:ea typeface="Calibri" pitchFamily="34" charset="-122"/>
                <a:cs typeface="Calibri" pitchFamily="34" charset="-120"/>
              </a:rPr>
              <a:t>Không gọi lại (DNC)</a:t>
            </a:r>
            <a:pPr indent="0" marL="0">
              <a:buNone/>
            </a:pPr>
            <a:r>
              <a:rPr lang="en-US" sz="1500" dirty="0">
                <a:solidFill>
                  <a:srgbClr val="1B2A38"/>
                </a:solidFill>
                <a:latin typeface="Calibri" pitchFamily="34" charset="0"/>
                <a:ea typeface="Calibri" pitchFamily="34" charset="-122"/>
                <a:cs typeface="Calibri" pitchFamily="34" charset="-120"/>
              </a:rPr>
              <a:t> — bắt buộc</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Sai người</a:t>
            </a:r>
            <a:endParaRPr lang="en-US" sz="1500" dirty="0"/>
          </a:p>
        </p:txBody>
      </p:sp>
      <p:sp>
        <p:nvSpPr>
          <p:cNvPr id="13" name="Shape 9"/>
          <p:cNvSpPr/>
          <p:nvPr/>
        </p:nvSpPr>
        <p:spPr>
          <a:xfrm>
            <a:off x="4338218" y="2240280"/>
            <a:ext cx="3515258" cy="4023360"/>
          </a:xfrm>
          <a:prstGeom prst="roundRect">
            <a:avLst>
              <a:gd name="adj" fmla="val 2601"/>
            </a:avLst>
          </a:prstGeom>
          <a:solidFill>
            <a:srgbClr val="F8E1DE"/>
          </a:solidFill>
          <a:ln w="12700">
            <a:solidFill>
              <a:srgbClr val="F8E1DE"/>
            </a:solidFill>
            <a:prstDash val="solid"/>
          </a:ln>
        </p:spPr>
      </p:sp>
      <p:sp>
        <p:nvSpPr>
          <p:cNvPr id="14" name="Shape 10"/>
          <p:cNvSpPr/>
          <p:nvPr/>
        </p:nvSpPr>
        <p:spPr>
          <a:xfrm>
            <a:off x="4566818" y="2468880"/>
            <a:ext cx="566928" cy="566928"/>
          </a:xfrm>
          <a:prstGeom prst="roundRect">
            <a:avLst>
              <a:gd name="adj" fmla="val 22000"/>
            </a:avLst>
          </a:prstGeom>
          <a:solidFill>
            <a:srgbClr val="C0392B"/>
          </a:solidFill>
          <a:ln w="12700">
            <a:solidFill>
              <a:srgbClr val="C0392B"/>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Không liên hệ được</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Không nghe máy</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Máy bận</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Thuê bao</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Sai số</a:t>
            </a:r>
            <a:endParaRPr lang="en-US" sz="1500" dirty="0"/>
          </a:p>
          <a:p>
            <a:pPr marL="228600" indent="-228600">
              <a:spcAft>
                <a:spcPts val="500"/>
              </a:spcAft>
              <a:buSzPct val="100000"/>
              <a:buChar char="•"/>
            </a:pPr>
            <a:r>
              <a:rPr lang="en-US" sz="1500" b="1" dirty="0">
                <a:solidFill>
                  <a:srgbClr val="1B2A38"/>
                </a:solidFill>
                <a:latin typeface="Calibri" pitchFamily="34" charset="0"/>
                <a:ea typeface="Calibri" pitchFamily="34" charset="-122"/>
                <a:cs typeface="Calibri" pitchFamily="34" charset="-120"/>
              </a:rPr>
              <a:t>Khớp trạng thái:</a:t>
            </a:r>
            <a:pPr indent="0" marL="0">
              <a:buNone/>
            </a:pPr>
            <a:r>
              <a:rPr lang="en-US" sz="1500" dirty="0">
                <a:solidFill>
                  <a:srgbClr val="1B2A38"/>
                </a:solidFill>
                <a:latin typeface="Calibri" pitchFamily="34" charset="0"/>
                <a:ea typeface="Calibri" pitchFamily="34" charset="-122"/>
                <a:cs typeface="Calibri" pitchFamily="34" charset="-120"/>
              </a:rPr>
              <a:t> CONNECTED → Liên hệ được; NO_ANSWER, BUSY, FAILED → Không liên hệ được</a:t>
            </a:r>
            <a:endParaRPr lang="en-US" sz="1500" dirty="0"/>
          </a:p>
        </p:txBody>
      </p:sp>
      <p:sp>
        <p:nvSpPr>
          <p:cNvPr id="18" name="Shape 13"/>
          <p:cNvSpPr/>
          <p:nvPr/>
        </p:nvSpPr>
        <p:spPr>
          <a:xfrm>
            <a:off x="8127797" y="2240280"/>
            <a:ext cx="3515258" cy="4023360"/>
          </a:xfrm>
          <a:prstGeom prst="roundRect">
            <a:avLst>
              <a:gd name="adj" fmla="val 2601"/>
            </a:avLst>
          </a:prstGeom>
          <a:solidFill>
            <a:srgbClr val="DDEFEE"/>
          </a:solidFill>
          <a:ln w="12700">
            <a:solidFill>
              <a:srgbClr val="DDEFEE"/>
            </a:solidFill>
            <a:prstDash val="solid"/>
          </a:ln>
        </p:spPr>
      </p:sp>
      <p:sp>
        <p:nvSpPr>
          <p:cNvPr id="19" name="Shape 14"/>
          <p:cNvSpPr/>
          <p:nvPr/>
        </p:nvSpPr>
        <p:spPr>
          <a:xfrm>
            <a:off x="8356397" y="2468880"/>
            <a:ext cx="566928" cy="566928"/>
          </a:xfrm>
          <a:prstGeom prst="roundRect">
            <a:avLst>
              <a:gd name="adj" fmla="val 22000"/>
            </a:avLst>
          </a:prstGeom>
          <a:solidFill>
            <a:srgbClr val="2E7D7A"/>
          </a:solidFill>
          <a:ln w="12700">
            <a:solidFill>
              <a:srgbClr val="2E7D7A"/>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CS-VT · mã inbound</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Giải quyết xong</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Tư vấn / tra cứu</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Hỗ trợ dịch vụ</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Khiếu nại – chuyển cấp 2</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Chuyển tiếp (kỹ thuật)</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Rớt cuộc gọi</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Khách bỏ máy</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Quy tắc làm sạch cố định: viết một lần, dùng mỗi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2485568" cy="3657600"/>
          </a:xfrm>
          <a:prstGeom prst="roundRect">
            <a:avLst>
              <a:gd name="adj" fmla="val 3679"/>
            </a:avLst>
          </a:prstGeom>
          <a:solidFill>
            <a:srgbClr val="F2F4F6"/>
          </a:solidFill>
          <a:ln w="12700">
            <a:solidFill>
              <a:srgbClr val="F2F4F6"/>
            </a:solidFill>
            <a:prstDash val="solid"/>
          </a:ln>
        </p:spPr>
      </p:sp>
      <p:sp>
        <p:nvSpPr>
          <p:cNvPr id="8" name="Shape 5"/>
          <p:cNvSpPr/>
          <p:nvPr/>
        </p:nvSpPr>
        <p:spPr>
          <a:xfrm>
            <a:off x="749808" y="1892808"/>
            <a:ext cx="548640" cy="548640"/>
          </a:xfrm>
          <a:prstGeom prst="ellipse">
            <a:avLst/>
          </a:prstGeom>
          <a:solidFill>
            <a:srgbClr val="2B3E50"/>
          </a:solidFill>
          <a:ln w="12700">
            <a:solidFill>
              <a:srgbClr val="2B3E50"/>
            </a:solidFill>
            <a:prstDash val="solid"/>
          </a:ln>
        </p:spPr>
      </p:sp>
      <p:sp>
        <p:nvSpPr>
          <p:cNvPr id="9" name="Text 6"/>
          <p:cNvSpPr txBox="1"/>
          <p:nvPr/>
        </p:nvSpPr>
        <p:spPr>
          <a:xfrm>
            <a:off x="749808"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749808"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Viết thành văn bản</a:t>
            </a:r>
            <a:endParaRPr lang="en-US" sz="1700" dirty="0"/>
          </a:p>
        </p:txBody>
      </p:sp>
      <p:sp>
        <p:nvSpPr>
          <p:cNvPr id="11" name="Text 8"/>
          <p:cNvSpPr txBox="1"/>
          <p:nvPr/>
        </p:nvSpPr>
        <p:spPr>
          <a:xfrm>
            <a:off x="749808"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Mỗi quy tắc có mã riêng</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Điều kiện máy kiểm tra được, đúng tên cột</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Loại / gắn cờ / sửa trên cột mới</a:t>
            </a:r>
            <a:endParaRPr lang="en-US" sz="1500" dirty="0"/>
          </a:p>
        </p:txBody>
      </p:sp>
      <p:pic>
        <p:nvPicPr>
          <p:cNvPr id="12" name="Image 0" descr="preencoded.png">    </p:cNvPr>
          <p:cNvPicPr>
            <a:picLocks noChangeAspect="1"/>
          </p:cNvPicPr>
          <p:nvPr/>
        </p:nvPicPr>
        <p:blipFill>
          <a:blip r:embed="rId1"/>
          <a:stretch>
            <a:fillRect/>
          </a:stretch>
        </p:blipFill>
        <p:spPr>
          <a:xfrm>
            <a:off x="3116504" y="3410712"/>
            <a:ext cx="219456" cy="219456"/>
          </a:xfrm>
          <a:prstGeom prst="rect">
            <a:avLst/>
          </a:prstGeom>
        </p:spPr>
      </p:pic>
      <p:sp>
        <p:nvSpPr>
          <p:cNvPr id="13" name="Shape 9"/>
          <p:cNvSpPr/>
          <p:nvPr/>
        </p:nvSpPr>
        <p:spPr>
          <a:xfrm>
            <a:off x="3418256" y="1691640"/>
            <a:ext cx="2485568" cy="3657600"/>
          </a:xfrm>
          <a:prstGeom prst="roundRect">
            <a:avLst>
              <a:gd name="adj" fmla="val 3679"/>
            </a:avLst>
          </a:prstGeom>
          <a:solidFill>
            <a:srgbClr val="F2F4F6"/>
          </a:solidFill>
          <a:ln w="12700">
            <a:solidFill>
              <a:srgbClr val="F2F4F6"/>
            </a:solidFill>
            <a:prstDash val="solid"/>
          </a:ln>
        </p:spPr>
      </p:sp>
      <p:sp>
        <p:nvSpPr>
          <p:cNvPr id="14" name="Shape 10"/>
          <p:cNvSpPr/>
          <p:nvPr/>
        </p:nvSpPr>
        <p:spPr>
          <a:xfrm>
            <a:off x="3619424" y="1892808"/>
            <a:ext cx="548640" cy="548640"/>
          </a:xfrm>
          <a:prstGeom prst="ellipse">
            <a:avLst/>
          </a:prstGeom>
          <a:solidFill>
            <a:srgbClr val="2B3E50"/>
          </a:solidFill>
          <a:ln w="12700">
            <a:solidFill>
              <a:srgbClr val="2B3E50"/>
            </a:solidFill>
            <a:prstDash val="solid"/>
          </a:ln>
        </p:spPr>
      </p:sp>
      <p:sp>
        <p:nvSpPr>
          <p:cNvPr id="15" name="Text 11"/>
          <p:cNvSpPr txBox="1"/>
          <p:nvPr/>
        </p:nvSpPr>
        <p:spPr>
          <a:xfrm>
            <a:off x="3619424"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2"/>
          <p:cNvSpPr txBox="1"/>
          <p:nvPr/>
        </p:nvSpPr>
        <p:spPr>
          <a:xfrm>
            <a:off x="3619424"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Lưu vào Project</a:t>
            </a:r>
            <a:endParaRPr lang="en-US" sz="1700" dirty="0"/>
          </a:p>
        </p:txBody>
      </p:sp>
      <p:sp>
        <p:nvSpPr>
          <p:cNvPr id="17" name="Text 13"/>
          <p:cNvSpPr txBox="1"/>
          <p:nvPr/>
        </p:nvSpPr>
        <p:spPr>
          <a:xfrm>
            <a:off x="3619424"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Một file có phiên bản: Quy tắc v1</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Tài liệu nền dùng chung, không dán tay</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Ghi ngày hiệu lực, người duyệt</a:t>
            </a:r>
            <a:endParaRPr lang="en-US" sz="1500" dirty="0"/>
          </a:p>
        </p:txBody>
      </p:sp>
      <p:pic>
        <p:nvPicPr>
          <p:cNvPr id="18" name="Image 1" descr="preencoded.png">    </p:cNvPr>
          <p:cNvPicPr>
            <a:picLocks noChangeAspect="1"/>
          </p:cNvPicPr>
          <p:nvPr/>
        </p:nvPicPr>
        <p:blipFill>
          <a:blip r:embed="rId2"/>
          <a:stretch>
            <a:fillRect/>
          </a:stretch>
        </p:blipFill>
        <p:spPr>
          <a:xfrm>
            <a:off x="5986120" y="3410712"/>
            <a:ext cx="219456" cy="219456"/>
          </a:xfrm>
          <a:prstGeom prst="rect">
            <a:avLst/>
          </a:prstGeom>
        </p:spPr>
      </p:pic>
      <p:sp>
        <p:nvSpPr>
          <p:cNvPr id="19" name="Shape 14"/>
          <p:cNvSpPr/>
          <p:nvPr/>
        </p:nvSpPr>
        <p:spPr>
          <a:xfrm>
            <a:off x="6287872" y="1691640"/>
            <a:ext cx="2485568" cy="3657600"/>
          </a:xfrm>
          <a:prstGeom prst="roundRect">
            <a:avLst>
              <a:gd name="adj" fmla="val 3679"/>
            </a:avLst>
          </a:prstGeom>
          <a:solidFill>
            <a:srgbClr val="F2F4F6"/>
          </a:solidFill>
          <a:ln w="12700">
            <a:solidFill>
              <a:srgbClr val="F2F4F6"/>
            </a:solidFill>
            <a:prstDash val="solid"/>
          </a:ln>
        </p:spPr>
      </p:sp>
      <p:sp>
        <p:nvSpPr>
          <p:cNvPr id="20" name="Shape 15"/>
          <p:cNvSpPr/>
          <p:nvPr/>
        </p:nvSpPr>
        <p:spPr>
          <a:xfrm>
            <a:off x="6489040" y="1892808"/>
            <a:ext cx="548640" cy="548640"/>
          </a:xfrm>
          <a:prstGeom prst="ellipse">
            <a:avLst/>
          </a:prstGeom>
          <a:solidFill>
            <a:srgbClr val="2B3E50"/>
          </a:solidFill>
          <a:ln w="12700">
            <a:solidFill>
              <a:srgbClr val="2B3E50"/>
            </a:solidFill>
            <a:prstDash val="solid"/>
          </a:ln>
        </p:spPr>
      </p:sp>
      <p:sp>
        <p:nvSpPr>
          <p:cNvPr id="21" name="Text 16"/>
          <p:cNvSpPr txBox="1"/>
          <p:nvPr/>
        </p:nvSpPr>
        <p:spPr>
          <a:xfrm>
            <a:off x="648904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7"/>
          <p:cNvSpPr txBox="1"/>
          <p:nvPr/>
        </p:nvSpPr>
        <p:spPr>
          <a:xfrm>
            <a:off x="6489040"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Mỗi sáng: 1 câu lệnh</a:t>
            </a:r>
            <a:endParaRPr lang="en-US" sz="1700" dirty="0"/>
          </a:p>
        </p:txBody>
      </p:sp>
      <p:sp>
        <p:nvSpPr>
          <p:cNvPr id="23" name="Text 18"/>
          <p:cNvSpPr txBox="1"/>
          <p:nvPr/>
        </p:nvSpPr>
        <p:spPr>
          <a:xfrm>
            <a:off x="6489040"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Upload call log hôm qua</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“Áp dụng Quy tắc làm sạch call log v1”</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Đọc số dòng bị tác động theo mã QT</a:t>
            </a:r>
            <a:endParaRPr lang="en-US" sz="1500" dirty="0"/>
          </a:p>
        </p:txBody>
      </p:sp>
      <p:pic>
        <p:nvPicPr>
          <p:cNvPr id="24" name="Image 2" descr="preencoded.png">    </p:cNvPr>
          <p:cNvPicPr>
            <a:picLocks noChangeAspect="1"/>
          </p:cNvPicPr>
          <p:nvPr/>
        </p:nvPicPr>
        <p:blipFill>
          <a:blip r:embed="rId3"/>
          <a:stretch>
            <a:fillRect/>
          </a:stretch>
        </p:blipFill>
        <p:spPr>
          <a:xfrm>
            <a:off x="8855735" y="3410712"/>
            <a:ext cx="219456" cy="219456"/>
          </a:xfrm>
          <a:prstGeom prst="rect">
            <a:avLst/>
          </a:prstGeom>
        </p:spPr>
      </p:pic>
      <p:sp>
        <p:nvSpPr>
          <p:cNvPr id="25" name="Shape 19"/>
          <p:cNvSpPr/>
          <p:nvPr/>
        </p:nvSpPr>
        <p:spPr>
          <a:xfrm>
            <a:off x="9157487" y="1691640"/>
            <a:ext cx="2485568" cy="3657600"/>
          </a:xfrm>
          <a:prstGeom prst="roundRect">
            <a:avLst>
              <a:gd name="adj" fmla="val 3679"/>
            </a:avLst>
          </a:prstGeom>
          <a:solidFill>
            <a:srgbClr val="F2F4F6"/>
          </a:solidFill>
          <a:ln w="12700">
            <a:solidFill>
              <a:srgbClr val="F2F4F6"/>
            </a:solidFill>
            <a:prstDash val="solid"/>
          </a:ln>
        </p:spPr>
      </p:sp>
      <p:sp>
        <p:nvSpPr>
          <p:cNvPr id="26" name="Shape 20"/>
          <p:cNvSpPr/>
          <p:nvPr/>
        </p:nvSpPr>
        <p:spPr>
          <a:xfrm>
            <a:off x="9358655" y="1892808"/>
            <a:ext cx="548640" cy="548640"/>
          </a:xfrm>
          <a:prstGeom prst="ellipse">
            <a:avLst/>
          </a:prstGeom>
          <a:solidFill>
            <a:srgbClr val="D9773A"/>
          </a:solidFill>
          <a:ln w="12700">
            <a:solidFill>
              <a:srgbClr val="D9773A"/>
            </a:solidFill>
            <a:prstDash val="solid"/>
          </a:ln>
        </p:spPr>
      </p:sp>
      <p:sp>
        <p:nvSpPr>
          <p:cNvPr id="27" name="Text 21"/>
          <p:cNvSpPr txBox="1"/>
          <p:nvPr/>
        </p:nvSpPr>
        <p:spPr>
          <a:xfrm>
            <a:off x="9358655"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2"/>
          <p:cNvSpPr txBox="1"/>
          <p:nvPr/>
        </p:nvSpPr>
        <p:spPr>
          <a:xfrm>
            <a:off x="9358655"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Gặp ca mới → v2</a:t>
            </a:r>
            <a:endParaRPr lang="en-US" sz="1700" dirty="0"/>
          </a:p>
        </p:txBody>
      </p:sp>
      <p:sp>
        <p:nvSpPr>
          <p:cNvPr id="29" name="Text 23"/>
          <p:cNvSpPr txBox="1"/>
          <p:nvPr/>
        </p:nvSpPr>
        <p:spPr>
          <a:xfrm>
            <a:off x="9358655"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Không sửa tay trong Excel</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Ghi nhật ký, nâng quy tắc lên v2</a:t>
            </a:r>
            <a:endParaRPr lang="en-US" sz="1500" dirty="0"/>
          </a:p>
          <a:p>
            <a:pPr marL="228600" indent="-228600">
              <a:spcAft>
                <a:spcPts val="500"/>
              </a:spcAft>
              <a:buSzPct val="100000"/>
              <a:buChar char="•"/>
            </a:pPr>
            <a:r>
              <a:rPr lang="en-US" sz="1500" dirty="0">
                <a:solidFill>
                  <a:srgbClr val="1B2A38"/>
                </a:solidFill>
                <a:latin typeface="Calibri" pitchFamily="34" charset="0"/>
                <a:ea typeface="Calibri" pitchFamily="34" charset="-122"/>
                <a:cs typeface="Calibri" pitchFamily="34" charset="-120"/>
              </a:rPr>
              <a:t>Ghi ngày, lý do thay đổi</a:t>
            </a:r>
            <a:endParaRPr lang="en-US" sz="1500" dirty="0"/>
          </a:p>
        </p:txBody>
      </p:sp>
      <p:sp>
        <p:nvSpPr>
          <p:cNvPr id="30" name="Shape 24"/>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1" name="Text 25"/>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Không sửa file gốc · ưu tiên gắn cờ hơn loại · tổng kiểm tra: 29.515 = 29.452 + 63 trùng → cuộc gốc = 29.452 − 48 chặng = 29.404</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Bảng sản lượng chuẩn: một nguồn, nhiều góc nhìn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4572000" cy="3657600"/>
          </a:xfrm>
          <a:prstGeom prst="roundRect">
            <a:avLst>
              <a:gd name="adj" fmla="val 2500"/>
            </a:avLst>
          </a:prstGeom>
          <a:solidFill>
            <a:srgbClr val="1B2A38"/>
          </a:solidFill>
          <a:ln w="12700">
            <a:solidFill>
              <a:srgbClr val="1B2A38"/>
            </a:solidFill>
            <a:prstDash val="solid"/>
          </a:ln>
        </p:spPr>
      </p:sp>
      <p:sp>
        <p:nvSpPr>
          <p:cNvPr id="8" name="Shape 5"/>
          <p:cNvSpPr/>
          <p:nvPr/>
        </p:nvSpPr>
        <p:spPr>
          <a:xfrm>
            <a:off x="822960" y="1965960"/>
            <a:ext cx="548640" cy="548640"/>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54634" y="2097634"/>
            <a:ext cx="285293" cy="285293"/>
          </a:xfrm>
          <a:prstGeom prst="rect">
            <a:avLst/>
          </a:prstGeom>
        </p:spPr>
      </p:pic>
      <p:sp>
        <p:nvSpPr>
          <p:cNvPr id="10" name="Text 6"/>
          <p:cNvSpPr txBox="1"/>
          <p:nvPr/>
        </p:nvSpPr>
        <p:spPr>
          <a:xfrm>
            <a:off x="1554480" y="1947672"/>
            <a:ext cx="3383280" cy="347472"/>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Du_lieu_sach</a:t>
            </a:r>
            <a:endParaRPr lang="en-US" sz="2000" dirty="0"/>
          </a:p>
        </p:txBody>
      </p:sp>
      <p:sp>
        <p:nvSpPr>
          <p:cNvPr id="11" name="Text 7"/>
          <p:cNvSpPr txBox="1"/>
          <p:nvPr/>
        </p:nvSpPr>
        <p:spPr>
          <a:xfrm>
            <a:off x="1554480" y="2295144"/>
            <a:ext cx="3383280" cy="274320"/>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Mỗi dòng = 1 cuộc gọi · tháng 9: 29.452 dòng</a:t>
            </a:r>
            <a:endParaRPr lang="en-US" sz="1300" dirty="0"/>
          </a:p>
        </p:txBody>
      </p:sp>
      <p:sp>
        <p:nvSpPr>
          <p:cNvPr id="12" name="Text 8"/>
          <p:cNvSpPr txBox="1"/>
          <p:nvPr/>
        </p:nvSpPr>
        <p:spPr>
          <a:xfrm>
            <a:off x="822960" y="2743200"/>
            <a:ext cx="4023360" cy="274320"/>
          </a:xfrm>
          <a:prstGeom prst="rect">
            <a:avLst/>
          </a:prstGeom>
          <a:noFill/>
          <a:ln/>
        </p:spPr>
        <p:txBody>
          <a:bodyPr wrap="square" lIns="0" tIns="0" rIns="0" bIns="0" rtlCol="0" anchor="t"/>
          <a:lstStyle/>
          <a:p>
            <a:pPr indent="0" marL="0">
              <a:buNone/>
            </a:pPr>
            <a:r>
              <a:rPr lang="en-US" sz="1200" b="1" spc="100" kern="0" dirty="0">
                <a:solidFill>
                  <a:srgbClr val="D9773A"/>
                </a:solidFill>
                <a:latin typeface="Calibri" pitchFamily="34" charset="0"/>
                <a:ea typeface="Calibri" pitchFamily="34" charset="-122"/>
                <a:cs typeface="Calibri" pitchFamily="34" charset="-120"/>
              </a:rPr>
              <a:t>Cột chính</a:t>
            </a:r>
            <a:endParaRPr lang="en-US" sz="1200" dirty="0"/>
          </a:p>
        </p:txBody>
      </p:sp>
      <p:sp>
        <p:nvSpPr>
          <p:cNvPr id="13" name="Text 9"/>
          <p:cNvSpPr txBox="1"/>
          <p:nvPr/>
        </p:nvSpPr>
        <p:spPr>
          <a:xfrm>
            <a:off x="822960" y="3044952"/>
            <a:ext cx="4023360" cy="1645920"/>
          </a:xfrm>
          <a:prstGeom prst="rect">
            <a:avLst/>
          </a:prstGeom>
          <a:noFill/>
          <a:ln/>
        </p:spPr>
        <p:txBody>
          <a:bodyPr wrap="square" lIns="0" tIns="0" rIns="0" bIns="0" rtlCol="0" anchor="t"/>
          <a:lstStyle/>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ngay · gio · huong · du_an</a:t>
            </a:r>
            <a:endParaRPr lang="en-US" sz="1350" dirty="0"/>
          </a:p>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ma_agent_chuan · ma_nv</a:t>
            </a:r>
            <a:endParaRPr lang="en-US" sz="1350" dirty="0"/>
          </a:p>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trang_thai_ket_noi · cap1 · cap2</a:t>
            </a:r>
            <a:endParaRPr lang="en-US" sz="1350" dirty="0"/>
          </a:p>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dam_thoai · giu_may · acw · cho</a:t>
            </a:r>
            <a:endParaRPr lang="en-US" sz="1350" dirty="0"/>
          </a:p>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la_chang_chuyen · co_treo_line</a:t>
            </a:r>
            <a:endParaRPr lang="en-US" sz="1350" dirty="0"/>
          </a:p>
          <a:p>
            <a:pPr indent="0" marL="0">
              <a:spcAft>
                <a:spcPts val="500"/>
              </a:spcAft>
              <a:buNone/>
            </a:pPr>
            <a:r>
              <a:rPr lang="en-US" sz="1350" dirty="0">
                <a:solidFill>
                  <a:srgbClr val="E6ECF1"/>
                </a:solidFill>
                <a:latin typeface="Courier New" pitchFamily="34" charset="0"/>
                <a:ea typeface="Courier New" pitchFamily="34" charset="-122"/>
                <a:cs typeface="Courier New" pitchFamily="34" charset="-120"/>
              </a:rPr>
              <a:t>tinh_aht · ma_qt</a:t>
            </a:r>
            <a:endParaRPr lang="en-US" sz="1350" dirty="0"/>
          </a:p>
        </p:txBody>
      </p:sp>
      <p:sp>
        <p:nvSpPr>
          <p:cNvPr id="14" name="Text 10"/>
          <p:cNvSpPr txBox="1"/>
          <p:nvPr/>
        </p:nvSpPr>
        <p:spPr>
          <a:xfrm>
            <a:off x="822960" y="4782312"/>
            <a:ext cx="4023360" cy="411480"/>
          </a:xfrm>
          <a:prstGeom prst="rect">
            <a:avLst/>
          </a:prstGeom>
          <a:noFill/>
          <a:ln/>
        </p:spPr>
        <p:txBody>
          <a:bodyPr wrap="square" lIns="0" tIns="0" rIns="0" bIns="0" rtlCol="0" anchor="b"/>
          <a:lstStyle/>
          <a:p>
            <a:pPr indent="0" marL="0">
              <a:buNone/>
            </a:pPr>
            <a:r>
              <a:rPr lang="en-US" sz="1300" i="1" dirty="0">
                <a:solidFill>
                  <a:srgbClr val="FBE7DA"/>
                </a:solidFill>
                <a:latin typeface="Calibri" pitchFamily="34" charset="0"/>
                <a:ea typeface="Calibri" pitchFamily="34" charset="-122"/>
                <a:cs typeface="Calibri" pitchFamily="34" charset="-120"/>
              </a:rPr>
              <a:t>Cờ nằm ở cột riêng → mỗi chỉ số tự chọn tập dữ liệu</a:t>
            </a:r>
            <a:endParaRPr lang="en-US" sz="1300" dirty="0"/>
          </a:p>
        </p:txBody>
      </p:sp>
      <p:sp>
        <p:nvSpPr>
          <p:cNvPr id="15" name="Shape 11"/>
          <p:cNvSpPr/>
          <p:nvPr/>
        </p:nvSpPr>
        <p:spPr>
          <a:xfrm>
            <a:off x="5120640" y="3520440"/>
            <a:ext cx="365760" cy="0"/>
          </a:xfrm>
          <a:prstGeom prst="line">
            <a:avLst/>
          </a:prstGeom>
          <a:noFill/>
          <a:ln w="25400">
            <a:solidFill>
              <a:srgbClr val="D9773A"/>
            </a:solidFill>
            <a:prstDash val="solid"/>
          </a:ln>
        </p:spPr>
      </p:sp>
      <p:sp>
        <p:nvSpPr>
          <p:cNvPr id="16" name="Shape 12"/>
          <p:cNvSpPr/>
          <p:nvPr/>
        </p:nvSpPr>
        <p:spPr>
          <a:xfrm>
            <a:off x="5486400" y="2240280"/>
            <a:ext cx="0" cy="2560320"/>
          </a:xfrm>
          <a:prstGeom prst="line">
            <a:avLst/>
          </a:prstGeom>
          <a:noFill/>
          <a:ln w="25400">
            <a:solidFill>
              <a:srgbClr val="D9773A"/>
            </a:solidFill>
            <a:prstDash val="solid"/>
          </a:ln>
        </p:spPr>
      </p:sp>
      <p:sp>
        <p:nvSpPr>
          <p:cNvPr id="17" name="Shape 13"/>
          <p:cNvSpPr/>
          <p:nvPr/>
        </p:nvSpPr>
        <p:spPr>
          <a:xfrm>
            <a:off x="5486400" y="2240280"/>
            <a:ext cx="365760" cy="0"/>
          </a:xfrm>
          <a:prstGeom prst="line">
            <a:avLst/>
          </a:prstGeom>
          <a:noFill/>
          <a:ln w="25400">
            <a:solidFill>
              <a:srgbClr val="D9773A"/>
            </a:solidFill>
            <a:prstDash val="solid"/>
            <a:tailEnd type="triangle"/>
          </a:ln>
        </p:spPr>
      </p:sp>
      <p:sp>
        <p:nvSpPr>
          <p:cNvPr id="18" name="Shape 14"/>
          <p:cNvSpPr/>
          <p:nvPr/>
        </p:nvSpPr>
        <p:spPr>
          <a:xfrm>
            <a:off x="5897880" y="1691640"/>
            <a:ext cx="5745175" cy="1097280"/>
          </a:xfrm>
          <a:prstGeom prst="roundRect">
            <a:avLst>
              <a:gd name="adj" fmla="val 8333"/>
            </a:avLst>
          </a:prstGeom>
          <a:solidFill>
            <a:srgbClr val="F2F4F6"/>
          </a:solidFill>
          <a:ln w="12700">
            <a:solidFill>
              <a:srgbClr val="F2F4F6"/>
            </a:solidFill>
            <a:prstDash val="solid"/>
          </a:ln>
        </p:spPr>
      </p:sp>
      <p:sp>
        <p:nvSpPr>
          <p:cNvPr id="19" name="Shape 15"/>
          <p:cNvSpPr/>
          <p:nvPr/>
        </p:nvSpPr>
        <p:spPr>
          <a:xfrm>
            <a:off x="6126480" y="1892808"/>
            <a:ext cx="457200" cy="457200"/>
          </a:xfrm>
          <a:prstGeom prst="roundRect">
            <a:avLst>
              <a:gd name="adj" fmla="val 22000"/>
            </a:avLst>
          </a:prstGeom>
          <a:solidFill>
            <a:srgbClr val="2B3E50"/>
          </a:solidFill>
          <a:ln w="12700">
            <a:solidFill>
              <a:srgbClr val="2B3E50"/>
            </a:solidFill>
            <a:prstDash val="solid"/>
          </a:ln>
        </p:spPr>
      </p:sp>
      <p:pic>
        <p:nvPicPr>
          <p:cNvPr id="20" name="Image 1" descr="preencoded.png">    </p:cNvPr>
          <p:cNvPicPr>
            <a:picLocks noChangeAspect="1"/>
          </p:cNvPicPr>
          <p:nvPr/>
        </p:nvPicPr>
        <p:blipFill>
          <a:blip r:embed="rId2"/>
          <a:stretch>
            <a:fillRect/>
          </a:stretch>
        </p:blipFill>
        <p:spPr>
          <a:xfrm>
            <a:off x="6236208" y="2002536"/>
            <a:ext cx="237744" cy="237744"/>
          </a:xfrm>
          <a:prstGeom prst="rect">
            <a:avLst/>
          </a:prstGeom>
        </p:spPr>
      </p:pic>
      <p:sp>
        <p:nvSpPr>
          <p:cNvPr id="21" name="Text 16"/>
          <p:cNvSpPr txBox="1"/>
          <p:nvPr/>
        </p:nvSpPr>
        <p:spPr>
          <a:xfrm>
            <a:off x="6720840" y="1856232"/>
            <a:ext cx="4739335" cy="329184"/>
          </a:xfrm>
          <a:prstGeom prst="rect">
            <a:avLst/>
          </a:prstGeom>
          <a:noFill/>
          <a:ln/>
        </p:spPr>
        <p:txBody>
          <a:bodyPr wrap="square" lIns="0" tIns="0" rIns="0" bIns="0" rtlCol="0" anchor="ctr"/>
          <a:lstStyle/>
          <a:p>
            <a:pPr indent="0" marL="0">
              <a:buNone/>
            </a:pPr>
            <a:r>
              <a:rPr lang="en-US" sz="1600" b="1" dirty="0">
                <a:solidFill>
                  <a:srgbClr val="1B2A38"/>
                </a:solidFill>
                <a:latin typeface="Courier New" pitchFamily="34" charset="0"/>
                <a:ea typeface="Courier New" pitchFamily="34" charset="-122"/>
                <a:cs typeface="Courier New" pitchFamily="34" charset="-120"/>
              </a:rPr>
              <a:t>San_luong_ngay</a:t>
            </a:r>
            <a:endParaRPr lang="en-US" sz="1600" dirty="0"/>
          </a:p>
        </p:txBody>
      </p:sp>
      <p:sp>
        <p:nvSpPr>
          <p:cNvPr id="22" name="Text 17"/>
          <p:cNvSpPr txBox="1"/>
          <p:nvPr/>
        </p:nvSpPr>
        <p:spPr>
          <a:xfrm>
            <a:off x="6720840" y="2194560"/>
            <a:ext cx="4739335" cy="27432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Ngày × dự án: số cuộc, nghe/liên hệ, thành công, phút, AHT</a:t>
            </a:r>
            <a:endParaRPr lang="en-US" sz="1350" dirty="0"/>
          </a:p>
        </p:txBody>
      </p:sp>
      <p:sp>
        <p:nvSpPr>
          <p:cNvPr id="23" name="Text 18"/>
          <p:cNvSpPr txBox="1"/>
          <p:nvPr/>
        </p:nvSpPr>
        <p:spPr>
          <a:xfrm>
            <a:off x="6720840" y="2468880"/>
            <a:ext cx="4739335" cy="256032"/>
          </a:xfrm>
          <a:prstGeom prst="rect">
            <a:avLst/>
          </a:prstGeom>
          <a:noFill/>
          <a:ln/>
        </p:spPr>
        <p:txBody>
          <a:bodyPr wrap="square" lIns="0" tIns="0" rIns="0" bIns="0" rtlCol="0" anchor="ctr"/>
          <a:lstStyle/>
          <a:p>
            <a:pPr indent="0" marL="0">
              <a:buNone/>
            </a:pPr>
            <a:r>
              <a:rPr lang="en-US" sz="1250" dirty="0">
                <a:solidFill>
                  <a:srgbClr val="6B7785"/>
                </a:solidFill>
                <a:latin typeface="Calibri" pitchFamily="34" charset="0"/>
                <a:ea typeface="Calibri" pitchFamily="34" charset="-122"/>
                <a:cs typeface="Calibri" pitchFamily="34" charset="-120"/>
              </a:rPr>
              <a:t>Ô tổng kiểm tra: tổng Số cuộc = 29.404 cuộc gốc</a:t>
            </a:r>
            <a:endParaRPr lang="en-US" sz="1250" dirty="0"/>
          </a:p>
        </p:txBody>
      </p:sp>
      <p:sp>
        <p:nvSpPr>
          <p:cNvPr id="24" name="Shape 19"/>
          <p:cNvSpPr/>
          <p:nvPr/>
        </p:nvSpPr>
        <p:spPr>
          <a:xfrm>
            <a:off x="5486400" y="3520440"/>
            <a:ext cx="365760" cy="0"/>
          </a:xfrm>
          <a:prstGeom prst="line">
            <a:avLst/>
          </a:prstGeom>
          <a:noFill/>
          <a:ln w="25400">
            <a:solidFill>
              <a:srgbClr val="D9773A"/>
            </a:solidFill>
            <a:prstDash val="solid"/>
            <a:tailEnd type="triangle"/>
          </a:ln>
        </p:spPr>
      </p:sp>
      <p:sp>
        <p:nvSpPr>
          <p:cNvPr id="25" name="Shape 20"/>
          <p:cNvSpPr/>
          <p:nvPr/>
        </p:nvSpPr>
        <p:spPr>
          <a:xfrm>
            <a:off x="5897880" y="2971800"/>
            <a:ext cx="5745175" cy="1097280"/>
          </a:xfrm>
          <a:prstGeom prst="roundRect">
            <a:avLst>
              <a:gd name="adj" fmla="val 8333"/>
            </a:avLst>
          </a:prstGeom>
          <a:solidFill>
            <a:srgbClr val="F2F4F6"/>
          </a:solidFill>
          <a:ln w="12700">
            <a:solidFill>
              <a:srgbClr val="F2F4F6"/>
            </a:solidFill>
            <a:prstDash val="solid"/>
          </a:ln>
        </p:spPr>
      </p:sp>
      <p:sp>
        <p:nvSpPr>
          <p:cNvPr id="26" name="Shape 21"/>
          <p:cNvSpPr/>
          <p:nvPr/>
        </p:nvSpPr>
        <p:spPr>
          <a:xfrm>
            <a:off x="6126480" y="3172968"/>
            <a:ext cx="457200" cy="457200"/>
          </a:xfrm>
          <a:prstGeom prst="roundRect">
            <a:avLst>
              <a:gd name="adj" fmla="val 22000"/>
            </a:avLst>
          </a:prstGeom>
          <a:solidFill>
            <a:srgbClr val="2B3E50"/>
          </a:solidFill>
          <a:ln w="12700">
            <a:solidFill>
              <a:srgbClr val="2B3E50"/>
            </a:solidFill>
            <a:prstDash val="solid"/>
          </a:ln>
        </p:spPr>
      </p:sp>
      <p:pic>
        <p:nvPicPr>
          <p:cNvPr id="27" name="Image 2" descr="preencoded.png">    </p:cNvPr>
          <p:cNvPicPr>
            <a:picLocks noChangeAspect="1"/>
          </p:cNvPicPr>
          <p:nvPr/>
        </p:nvPicPr>
        <p:blipFill>
          <a:blip r:embed="rId3"/>
          <a:stretch>
            <a:fillRect/>
          </a:stretch>
        </p:blipFill>
        <p:spPr>
          <a:xfrm>
            <a:off x="6236208" y="3282696"/>
            <a:ext cx="237744" cy="237744"/>
          </a:xfrm>
          <a:prstGeom prst="rect">
            <a:avLst/>
          </a:prstGeom>
        </p:spPr>
      </p:pic>
      <p:sp>
        <p:nvSpPr>
          <p:cNvPr id="28" name="Text 22"/>
          <p:cNvSpPr txBox="1"/>
          <p:nvPr/>
        </p:nvSpPr>
        <p:spPr>
          <a:xfrm>
            <a:off x="6720840" y="3136392"/>
            <a:ext cx="4739335" cy="329184"/>
          </a:xfrm>
          <a:prstGeom prst="rect">
            <a:avLst/>
          </a:prstGeom>
          <a:noFill/>
          <a:ln/>
        </p:spPr>
        <p:txBody>
          <a:bodyPr wrap="square" lIns="0" tIns="0" rIns="0" bIns="0" rtlCol="0" anchor="ctr"/>
          <a:lstStyle/>
          <a:p>
            <a:pPr indent="0" marL="0">
              <a:buNone/>
            </a:pPr>
            <a:r>
              <a:rPr lang="en-US" sz="1600" b="1" dirty="0">
                <a:solidFill>
                  <a:srgbClr val="1B2A38"/>
                </a:solidFill>
                <a:latin typeface="Courier New" pitchFamily="34" charset="0"/>
                <a:ea typeface="Courier New" pitchFamily="34" charset="-122"/>
                <a:cs typeface="Courier New" pitchFamily="34" charset="-120"/>
              </a:rPr>
              <a:t>San_luong_gio</a:t>
            </a:r>
            <a:endParaRPr lang="en-US" sz="1600" dirty="0"/>
          </a:p>
        </p:txBody>
      </p:sp>
      <p:sp>
        <p:nvSpPr>
          <p:cNvPr id="29" name="Text 23"/>
          <p:cNvSpPr txBox="1"/>
          <p:nvPr/>
        </p:nvSpPr>
        <p:spPr>
          <a:xfrm>
            <a:off x="6720840" y="3474720"/>
            <a:ext cx="4739335" cy="27432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Khung 1 giờ: giờ cao điểm, giờ gọi hiệu quả</a:t>
            </a:r>
            <a:endParaRPr lang="en-US" sz="1350" dirty="0"/>
          </a:p>
        </p:txBody>
      </p:sp>
      <p:sp>
        <p:nvSpPr>
          <p:cNvPr id="30" name="Text 24"/>
          <p:cNvSpPr txBox="1"/>
          <p:nvPr/>
        </p:nvSpPr>
        <p:spPr>
          <a:xfrm>
            <a:off x="6720840" y="3749040"/>
            <a:ext cx="4739335" cy="256032"/>
          </a:xfrm>
          <a:prstGeom prst="rect">
            <a:avLst/>
          </a:prstGeom>
          <a:noFill/>
          <a:ln/>
        </p:spPr>
        <p:txBody>
          <a:bodyPr wrap="square" lIns="0" tIns="0" rIns="0" bIns="0" rtlCol="0" anchor="ctr"/>
          <a:lstStyle/>
          <a:p>
            <a:pPr indent="0" marL="0">
              <a:buNone/>
            </a:pPr>
            <a:r>
              <a:rPr lang="en-US" sz="1250" dirty="0">
                <a:solidFill>
                  <a:srgbClr val="6B7785"/>
                </a:solidFill>
                <a:latin typeface="Calibri" pitchFamily="34" charset="0"/>
                <a:ea typeface="Calibri" pitchFamily="34" charset="-122"/>
                <a:cs typeface="Calibri" pitchFamily="34" charset="-120"/>
              </a:rPr>
              <a:t>12h = 0 (nghỉ trưa) · 13–16h cao điểm khối lượng</a:t>
            </a:r>
            <a:endParaRPr lang="en-US" sz="1250" dirty="0"/>
          </a:p>
        </p:txBody>
      </p:sp>
      <p:sp>
        <p:nvSpPr>
          <p:cNvPr id="31" name="Shape 25"/>
          <p:cNvSpPr/>
          <p:nvPr/>
        </p:nvSpPr>
        <p:spPr>
          <a:xfrm>
            <a:off x="5486400" y="4800600"/>
            <a:ext cx="365760" cy="0"/>
          </a:xfrm>
          <a:prstGeom prst="line">
            <a:avLst/>
          </a:prstGeom>
          <a:noFill/>
          <a:ln w="25400">
            <a:solidFill>
              <a:srgbClr val="D9773A"/>
            </a:solidFill>
            <a:prstDash val="solid"/>
            <a:tailEnd type="triangle"/>
          </a:ln>
        </p:spPr>
      </p:sp>
      <p:sp>
        <p:nvSpPr>
          <p:cNvPr id="32" name="Shape 26"/>
          <p:cNvSpPr/>
          <p:nvPr/>
        </p:nvSpPr>
        <p:spPr>
          <a:xfrm>
            <a:off x="5897880" y="4251960"/>
            <a:ext cx="5745175" cy="1097280"/>
          </a:xfrm>
          <a:prstGeom prst="roundRect">
            <a:avLst>
              <a:gd name="adj" fmla="val 8333"/>
            </a:avLst>
          </a:prstGeom>
          <a:solidFill>
            <a:srgbClr val="F2F4F6"/>
          </a:solidFill>
          <a:ln w="12700">
            <a:solidFill>
              <a:srgbClr val="F2F4F6"/>
            </a:solidFill>
            <a:prstDash val="solid"/>
          </a:ln>
        </p:spPr>
      </p:sp>
      <p:sp>
        <p:nvSpPr>
          <p:cNvPr id="33" name="Shape 27"/>
          <p:cNvSpPr/>
          <p:nvPr/>
        </p:nvSpPr>
        <p:spPr>
          <a:xfrm>
            <a:off x="6126480" y="4453128"/>
            <a:ext cx="457200" cy="457200"/>
          </a:xfrm>
          <a:prstGeom prst="roundRect">
            <a:avLst>
              <a:gd name="adj" fmla="val 22000"/>
            </a:avLst>
          </a:prstGeom>
          <a:solidFill>
            <a:srgbClr val="2B3E50"/>
          </a:solidFill>
          <a:ln w="12700">
            <a:solidFill>
              <a:srgbClr val="2B3E50"/>
            </a:solidFill>
            <a:prstDash val="solid"/>
          </a:ln>
        </p:spPr>
      </p:sp>
      <p:pic>
        <p:nvPicPr>
          <p:cNvPr id="34" name="Image 3" descr="preencoded.png">    </p:cNvPr>
          <p:cNvPicPr>
            <a:picLocks noChangeAspect="1"/>
          </p:cNvPicPr>
          <p:nvPr/>
        </p:nvPicPr>
        <p:blipFill>
          <a:blip r:embed="rId4"/>
          <a:stretch>
            <a:fillRect/>
          </a:stretch>
        </p:blipFill>
        <p:spPr>
          <a:xfrm>
            <a:off x="6236208" y="4562856"/>
            <a:ext cx="237744" cy="237744"/>
          </a:xfrm>
          <a:prstGeom prst="rect">
            <a:avLst/>
          </a:prstGeom>
        </p:spPr>
      </p:pic>
      <p:sp>
        <p:nvSpPr>
          <p:cNvPr id="35" name="Text 28"/>
          <p:cNvSpPr txBox="1"/>
          <p:nvPr/>
        </p:nvSpPr>
        <p:spPr>
          <a:xfrm>
            <a:off x="6720840" y="4416552"/>
            <a:ext cx="4739335" cy="329184"/>
          </a:xfrm>
          <a:prstGeom prst="rect">
            <a:avLst/>
          </a:prstGeom>
          <a:noFill/>
          <a:ln/>
        </p:spPr>
        <p:txBody>
          <a:bodyPr wrap="square" lIns="0" tIns="0" rIns="0" bIns="0" rtlCol="0" anchor="ctr"/>
          <a:lstStyle/>
          <a:p>
            <a:pPr indent="0" marL="0">
              <a:buNone/>
            </a:pPr>
            <a:r>
              <a:rPr lang="en-US" sz="1600" b="1" dirty="0">
                <a:solidFill>
                  <a:srgbClr val="1B2A38"/>
                </a:solidFill>
                <a:latin typeface="Courier New" pitchFamily="34" charset="0"/>
                <a:ea typeface="Courier New" pitchFamily="34" charset="-122"/>
                <a:cs typeface="Courier New" pitchFamily="34" charset="-120"/>
              </a:rPr>
              <a:t>San_luong_agent</a:t>
            </a:r>
            <a:endParaRPr lang="en-US" sz="1600" dirty="0"/>
          </a:p>
        </p:txBody>
      </p:sp>
      <p:sp>
        <p:nvSpPr>
          <p:cNvPr id="36" name="Text 29"/>
          <p:cNvSpPr txBox="1"/>
          <p:nvPr/>
        </p:nvSpPr>
        <p:spPr>
          <a:xfrm>
            <a:off x="6720840" y="4754880"/>
            <a:ext cx="4739335" cy="27432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Agent × ngày: số cuộc, liên hệ được, thành công</a:t>
            </a:r>
            <a:endParaRPr lang="en-US" sz="1350" dirty="0"/>
          </a:p>
        </p:txBody>
      </p:sp>
      <p:sp>
        <p:nvSpPr>
          <p:cNvPr id="37" name="Text 30"/>
          <p:cNvSpPr txBox="1"/>
          <p:nvPr/>
        </p:nvSpPr>
        <p:spPr>
          <a:xfrm>
            <a:off x="6720840" y="5029200"/>
            <a:ext cx="4739335" cy="256032"/>
          </a:xfrm>
          <a:prstGeom prst="rect">
            <a:avLst/>
          </a:prstGeom>
          <a:noFill/>
          <a:ln/>
        </p:spPr>
        <p:txBody>
          <a:bodyPr wrap="square" lIns="0" tIns="0" rIns="0" bIns="0" rtlCol="0" anchor="ctr"/>
          <a:lstStyle/>
          <a:p>
            <a:pPr indent="0" marL="0">
              <a:buNone/>
            </a:pPr>
            <a:r>
              <a:rPr lang="en-US" sz="1250" dirty="0">
                <a:solidFill>
                  <a:srgbClr val="6B7785"/>
                </a:solidFill>
                <a:latin typeface="Calibri" pitchFamily="34" charset="0"/>
                <a:ea typeface="Calibri" pitchFamily="34" charset="-122"/>
                <a:cs typeface="Calibri" pitchFamily="34" charset="-120"/>
              </a:rPr>
              <a:t>19 nhân viên + dòng EXT2099 + dòng “không có agent”</a:t>
            </a:r>
            <a:endParaRPr lang="en-US" sz="1250" dirty="0"/>
          </a:p>
        </p:txBody>
      </p:sp>
      <p:sp>
        <p:nvSpPr>
          <p:cNvPr id="38" name="Shape 31"/>
          <p:cNvSpPr/>
          <p:nvPr/>
        </p:nvSpPr>
        <p:spPr>
          <a:xfrm>
            <a:off x="548640" y="5577840"/>
            <a:ext cx="11094415" cy="685800"/>
          </a:xfrm>
          <a:prstGeom prst="roundRect">
            <a:avLst>
              <a:gd name="adj" fmla="val 10667"/>
            </a:avLst>
          </a:prstGeom>
          <a:solidFill>
            <a:srgbClr val="F8E1DE"/>
          </a:solidFill>
          <a:ln w="12700">
            <a:solidFill>
              <a:srgbClr val="F8E1DE"/>
            </a:solidFill>
            <a:prstDash val="solid"/>
          </a:ln>
        </p:spPr>
      </p:sp>
      <p:sp>
        <p:nvSpPr>
          <p:cNvPr id="39" name="Shape 32"/>
          <p:cNvSpPr/>
          <p:nvPr/>
        </p:nvSpPr>
        <p:spPr>
          <a:xfrm>
            <a:off x="731520" y="5715000"/>
            <a:ext cx="411480" cy="411480"/>
          </a:xfrm>
          <a:prstGeom prst="roundRect">
            <a:avLst>
              <a:gd name="adj" fmla="val 22000"/>
            </a:avLst>
          </a:prstGeom>
          <a:solidFill>
            <a:srgbClr val="C0392B"/>
          </a:solidFill>
          <a:ln w="12700">
            <a:solidFill>
              <a:srgbClr val="C0392B"/>
            </a:solidFill>
            <a:prstDash val="solid"/>
          </a:ln>
        </p:spPr>
      </p:sp>
      <p:pic>
        <p:nvPicPr>
          <p:cNvPr id="40" name="Image 4" descr="preencoded.png">    </p:cNvPr>
          <p:cNvPicPr>
            <a:picLocks noChangeAspect="1"/>
          </p:cNvPicPr>
          <p:nvPr/>
        </p:nvPicPr>
        <p:blipFill>
          <a:blip r:embed="rId5"/>
          <a:stretch>
            <a:fillRect/>
          </a:stretch>
        </p:blipFill>
        <p:spPr>
          <a:xfrm>
            <a:off x="830275" y="5813755"/>
            <a:ext cx="213970" cy="213970"/>
          </a:xfrm>
          <a:prstGeom prst="rect">
            <a:avLst/>
          </a:prstGeom>
        </p:spPr>
      </p:pic>
      <p:sp>
        <p:nvSpPr>
          <p:cNvPr id="41" name="Text 33"/>
          <p:cNvSpPr txBox="1"/>
          <p:nvPr/>
        </p:nvSpPr>
        <p:spPr>
          <a:xfrm>
            <a:off x="1325880" y="5577840"/>
            <a:ext cx="10088575" cy="685800"/>
          </a:xfrm>
          <a:prstGeom prst="rect">
            <a:avLst/>
          </a:prstGeom>
          <a:noFill/>
          <a:ln/>
        </p:spPr>
        <p:txBody>
          <a:bodyPr wrap="square" lIns="0" tIns="0" rIns="0" bIns="0" rtlCol="0" anchor="ctr"/>
          <a:lstStyle/>
          <a:p>
            <a:pPr indent="0" marL="0">
              <a:buNone/>
            </a:pPr>
            <a:r>
              <a:rPr lang="en-US" sz="1400" dirty="0">
                <a:solidFill>
                  <a:srgbClr val="1B2A38"/>
                </a:solidFill>
                <a:latin typeface="Calibri" pitchFamily="34" charset="0"/>
                <a:ea typeface="Calibri" pitchFamily="34" charset="-122"/>
                <a:cs typeface="Calibri" pitchFamily="34" charset="-120"/>
              </a:rPr>
              <a:t>Không nhập tay vào bảng tổng hợp — 3 sheet bên phải chỉ có nhãn và công thức. Số lạ thì sửa ở quy tắc, không sửa ở ô.</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Demo: nhờ Claude viết công thức, rồi tự kiểm từng điều kiện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4740725" cy="4572000"/>
          </a:xfrm>
          <a:prstGeom prst="roundRect">
            <a:avLst>
              <a:gd name="adj" fmla="val 2000"/>
            </a:avLst>
          </a:prstGeom>
          <a:solidFill>
            <a:srgbClr val="F2F4F6"/>
          </a:solidFill>
          <a:ln w="12700">
            <a:solidFill>
              <a:srgbClr val="F2F4F6"/>
            </a:solidFill>
            <a:prstDash val="solid"/>
          </a:ln>
        </p:spPr>
      </p:sp>
      <p:sp>
        <p:nvSpPr>
          <p:cNvPr id="8" name="Shape 5"/>
          <p:cNvSpPr/>
          <p:nvPr/>
        </p:nvSpPr>
        <p:spPr>
          <a:xfrm>
            <a:off x="777240" y="1920240"/>
            <a:ext cx="457200" cy="457200"/>
          </a:xfrm>
          <a:prstGeom prst="roundRect">
            <a:avLst>
              <a:gd name="adj" fmla="val 22000"/>
            </a:avLst>
          </a:prstGeom>
          <a:solidFill>
            <a:srgbClr val="2B3E50"/>
          </a:solidFill>
          <a:ln w="12700">
            <a:solidFill>
              <a:srgbClr val="2B3E50"/>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3643445" cy="457200"/>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Hỏi Claude</a:t>
            </a:r>
            <a:endParaRPr lang="en-US" sz="1800" dirty="0"/>
          </a:p>
        </p:txBody>
      </p:sp>
      <p:sp>
        <p:nvSpPr>
          <p:cNvPr id="11" name="Text 7"/>
          <p:cNvSpPr txBox="1"/>
          <p:nvPr/>
        </p:nvSpPr>
        <p:spPr>
          <a:xfrm>
            <a:off x="822960" y="2560320"/>
            <a:ext cx="4192085" cy="3520440"/>
          </a:xfrm>
          <a:prstGeom prst="rect">
            <a:avLst/>
          </a:prstGeom>
          <a:noFill/>
          <a:ln/>
        </p:spPr>
        <p:txBody>
          <a:bodyPr wrap="square" lIns="0" tIns="0" rIns="0" bIns="0" rtlCol="0" anchor="t">
            <a:normAutofit/>
          </a:bodyPr>
          <a:lstStyle/>
          <a:p>
            <a:pPr indent="0" marL="0">
              <a:buNone/>
            </a:pPr>
            <a:r>
              <a:rPr lang="en-US" sz="1350" dirty="0">
                <a:solidFill>
                  <a:srgbClr val="1B2A38"/>
                </a:solidFill>
                <a:latin typeface="Courier New" pitchFamily="34" charset="0"/>
                <a:ea typeface="Courier New" pitchFamily="34" charset="-122"/>
                <a:cs typeface="Courier New" pitchFamily="34" charset="-120"/>
              </a:rPr>
              <a:t>Sheet Du_lieu_sach có cột:</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C = ngay, D = gio (0–23), E = huong,</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F = du_an, J = cap1,</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P = la_chang_chuyen (1/0).</a:t>
            </a:r>
            <a:endParaRPr lang="en-US" sz="1350" dirty="0"/>
          </a:p>
          <a:p>
            <a:pPr indent="0" marL="0">
              <a:buNone/>
            </a:pP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Viết công thức Google Sheets cho sheet</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San_luong_gio: A = giờ (8..21),</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B = số lần quay số outbound,</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C = số liên hệ được, D = tỷ lệ liên hệ.</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Giải thích từng điều kiện và thêm</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ô tổng kiểm tra.</a:t>
            </a:r>
            <a:endParaRPr lang="en-US" sz="1350" dirty="0"/>
          </a:p>
        </p:txBody>
      </p:sp>
      <p:sp>
        <p:nvSpPr>
          <p:cNvPr id="12" name="Shape 8"/>
          <p:cNvSpPr/>
          <p:nvPr/>
        </p:nvSpPr>
        <p:spPr>
          <a:xfrm>
            <a:off x="5609405" y="1691640"/>
            <a:ext cx="6033650" cy="4572000"/>
          </a:xfrm>
          <a:prstGeom prst="roundRect">
            <a:avLst>
              <a:gd name="adj" fmla="val 2000"/>
            </a:avLst>
          </a:prstGeom>
          <a:solidFill>
            <a:srgbClr val="DDF1E5"/>
          </a:solidFill>
          <a:ln w="12700">
            <a:solidFill>
              <a:srgbClr val="DDF1E5"/>
            </a:solidFill>
            <a:prstDash val="solid"/>
          </a:ln>
        </p:spPr>
      </p:sp>
      <p:sp>
        <p:nvSpPr>
          <p:cNvPr id="13" name="Shape 9"/>
          <p:cNvSpPr/>
          <p:nvPr/>
        </p:nvSpPr>
        <p:spPr>
          <a:xfrm>
            <a:off x="5838005" y="1920240"/>
            <a:ext cx="457200" cy="457200"/>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5947733" y="2029968"/>
            <a:ext cx="237744" cy="237744"/>
          </a:xfrm>
          <a:prstGeom prst="rect">
            <a:avLst/>
          </a:prstGeom>
        </p:spPr>
      </p:pic>
      <p:sp>
        <p:nvSpPr>
          <p:cNvPr id="15" name="Text 10"/>
          <p:cNvSpPr txBox="1"/>
          <p:nvPr/>
        </p:nvSpPr>
        <p:spPr>
          <a:xfrm>
            <a:off x="6478085" y="1920240"/>
            <a:ext cx="4936370" cy="4572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Claude trả về — bạn kiểm</a:t>
            </a:r>
            <a:endParaRPr lang="en-US" sz="1800" dirty="0"/>
          </a:p>
        </p:txBody>
      </p:sp>
      <p:sp>
        <p:nvSpPr>
          <p:cNvPr id="16" name="Text 11"/>
          <p:cNvSpPr txBox="1"/>
          <p:nvPr/>
        </p:nvSpPr>
        <p:spPr>
          <a:xfrm>
            <a:off x="5883725" y="2560320"/>
            <a:ext cx="5485010" cy="3520440"/>
          </a:xfrm>
          <a:prstGeom prst="rect">
            <a:avLst/>
          </a:prstGeom>
          <a:noFill/>
          <a:ln/>
        </p:spPr>
        <p:txBody>
          <a:bodyPr wrap="square" lIns="0" tIns="0" rIns="0" bIns="0" rtlCol="0" anchor="t">
            <a:normAutofit/>
          </a:bodyPr>
          <a:lstStyle/>
          <a:p>
            <a:pPr indent="0" marL="0">
              <a:buNone/>
            </a:pPr>
            <a:r>
              <a:rPr lang="en-US" sz="1350" dirty="0">
                <a:solidFill>
                  <a:srgbClr val="1B2A38"/>
                </a:solidFill>
                <a:latin typeface="Courier New" pitchFamily="34" charset="0"/>
                <a:ea typeface="Courier New" pitchFamily="34" charset="-122"/>
                <a:cs typeface="Courier New" pitchFamily="34" charset="-120"/>
              </a:rPr>
              <a:t>B2 =COUNTIFS(Du_lieu_sach!$D:$D,$A2,</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             Du_lieu_sach!$E:$E,"OUT")</a:t>
            </a:r>
            <a:endParaRPr lang="en-US" sz="1350" dirty="0"/>
          </a:p>
          <a:p>
            <a:pPr indent="0" marL="0">
              <a:buNone/>
            </a:pP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C2 =COUNTIFS(Du_lieu_sach!$D:$D,$A2,</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             Du_lieu_sach!$E:$E,"OUT",</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             Du_lieu_sach!$J:$J,"Liên hệ được")</a:t>
            </a:r>
            <a:endParaRPr lang="en-US" sz="1350" dirty="0"/>
          </a:p>
          <a:p>
            <a:pPr indent="0" marL="0">
              <a:buNone/>
            </a:pP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D2 =IFERROR(C2/B2,0)</a:t>
            </a:r>
            <a:endParaRPr lang="en-US" sz="1350" dirty="0"/>
          </a:p>
          <a:p>
            <a:pPr indent="0" marL="0">
              <a:buNone/>
            </a:pP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Kiểm tra: =SUM(B2:B15)</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        = COUNTIFS(Du_lieu_sach!$E:$E,"OUT")</a:t>
            </a:r>
            <a:endParaRPr lang="en-US" sz="1350" dirty="0"/>
          </a:p>
          <a:p>
            <a:pPr indent="0" marL="0">
              <a:buNone/>
            </a:pPr>
            <a:r>
              <a:rPr lang="en-US" sz="1350" dirty="0">
                <a:solidFill>
                  <a:srgbClr val="1B2A38"/>
                </a:solidFill>
                <a:latin typeface="Courier New" pitchFamily="34" charset="0"/>
                <a:ea typeface="Courier New" pitchFamily="34" charset="-122"/>
                <a:cs typeface="Courier New" pitchFamily="34" charset="-120"/>
              </a:rPr>
              <a:t>→ tháng 9 phải ra 23.866</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Anh Tùng muốn “sửa nhanh” ô TS-BH ngày 14/09 từ 1.959 thành 1.962 vì 3 cuộc gọi bằng máy lẻ không lên tổng đài. Cách đúng?</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Sửa thẳng vào ô ở San_luong_ngay cho nhanh.</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Thêm 3 dòng vào Du_lieu_sach, ghi nguồn “nhập tay – máy lẻ” và mã quy tắc riêng; ô tổng hợp tự cập nhật.</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Bỏ qua, vì tổng đài mới là nguồn chính thức.</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Ghi chú bên cạnh ô, không sửa gì.</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2.1 · Danh mục mã kết quả chuẩn 2 cấp</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Biến 48 ghi chú tự do thành danh mục 2 cấp + bảng mapping, kèm danh sách ghi chú mơ hồ để trưởng ca quyết.</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603504"/>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ghi_chu_ket_qua_tan_suat.csv (48 dòng)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a:t>
            </a:r>
            <a:endParaRPr lang="en-US" sz="1050" dirty="0"/>
          </a:p>
        </p:txBody>
      </p:sp>
      <p:sp>
        <p:nvSpPr>
          <p:cNvPr id="14" name="Text 10"/>
          <p:cNvSpPr txBox="1"/>
          <p:nvPr/>
        </p:nvSpPr>
        <p:spPr>
          <a:xfrm>
            <a:off x="777240" y="4946904"/>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248656"/>
            <a:ext cx="3474720" cy="859536"/>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Mapping 48 ghi chú → 11 mã outbound + bộ mã inbound; tổng số lần = 29.515.</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prompt chuẩn hóa</a:t>
            </a:r>
            <a:pPr indent="0" marL="0">
              <a:buNone/>
            </a:pPr>
            <a:r>
              <a:rPr lang="en-US" sz="1450" dirty="0">
                <a:solidFill>
                  <a:srgbClr val="1B2A38"/>
                </a:solidFill>
                <a:latin typeface="Calibri" pitchFamily="34" charset="0"/>
                <a:ea typeface="Calibri" pitchFamily="34" charset="-122"/>
                <a:cs typeface="Calibri" pitchFamily="34" charset="-120"/>
              </a:rPr>
              <a:t> — với file tần suất — có dòng bối cảnh 2 dự án và dòng kiểm tra tổng.</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Chéo ghi chú × trạng thái kết nối</a:t>
            </a:r>
            <a:pPr indent="0" marL="0">
              <a:buNone/>
            </a:pPr>
            <a:r>
              <a:rPr lang="en-US" sz="1450" dirty="0">
                <a:solidFill>
                  <a:srgbClr val="1B2A38"/>
                </a:solidFill>
                <a:latin typeface="Calibri" pitchFamily="34" charset="0"/>
                <a:ea typeface="Calibri" pitchFamily="34" charset="-122"/>
                <a:cs typeface="Calibri" pitchFamily="34" charset="-120"/>
              </a:rPr>
              <a:t> — “Sai số” có 261 lần CONNECTED (thực chất sai người), 395 lần FAILED.</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Tách 2 danh mục</a:t>
            </a:r>
            <a:pPr indent="0" marL="0">
              <a:buNone/>
            </a:pPr>
            <a:r>
              <a:rPr lang="en-US" sz="1450" dirty="0">
                <a:solidFill>
                  <a:srgbClr val="1B2A38"/>
                </a:solidFill>
                <a:latin typeface="Calibri" pitchFamily="34" charset="0"/>
                <a:ea typeface="Calibri" pitchFamily="34" charset="-122"/>
                <a:cs typeface="Calibri" pitchFamily="34" charset="-120"/>
              </a:rPr>
              <a:t> — outbound TS-BH 8–12 mã (bắt buộc có DNC) và inbound CS-VT riêng.</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Quyết ghi chú mơ hồ</a:t>
            </a:r>
            <a:pPr indent="0" marL="0">
              <a:buNone/>
            </a:pPr>
            <a:r>
              <a:rPr lang="en-US" sz="1450" dirty="0">
                <a:solidFill>
                  <a:srgbClr val="1B2A38"/>
                </a:solidFill>
                <a:latin typeface="Calibri" pitchFamily="34" charset="0"/>
                <a:ea typeface="Calibri" pitchFamily="34" charset="-122"/>
                <a:cs typeface="Calibri" pitchFamily="34" charset="-120"/>
              </a:rPr>
              <a:t> — bạn đóng vai trưởng ca: “ok”, “khách chửi”, ô trống… Claude không tự quyết.</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Áp lên call log sạch, lưu vào Project</a:t>
            </a:r>
            <a:pPr indent="0" marL="0">
              <a:buNone/>
            </a:pPr>
            <a:r>
              <a:rPr lang="en-US" sz="1450" dirty="0">
                <a:solidFill>
                  <a:srgbClr val="1B2A38"/>
                </a:solidFill>
                <a:latin typeface="Calibri" pitchFamily="34" charset="0"/>
                <a:ea typeface="Calibri" pitchFamily="34" charset="-122"/>
                <a:cs typeface="Calibri" pitchFamily="34" charset="-120"/>
              </a:rPr>
              <a:t> — tên Mapping_ma_ket_qua_v1, ghi ngày tạo và người duyệt.</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Chuẩn hóa mã kết quả</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Đây là danh sách ghi chú kết quả cuộc gọi agent đang nhập tay,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kèm số lần xuất hiện: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[file ghi_chu_ket_qua_tan_suat.csv đính kèm — 48 dòng]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Bối cảnh: callcenter có 2 dự án — TS-BH (telesales bảo hiểm,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outbound) và CS-VT (CSKH nhà mạng, inbound).</a:t>
            </a:r>
            <a:endParaRPr lang="en-US" sz="1250" dirty="0"/>
          </a:p>
          <a:p>
            <a:pPr indent="0" marL="0">
              <a:spcAft>
                <a:spcPts val="200"/>
              </a:spcAft>
              <a:buNone/>
            </a:pP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Gom thành danh mục chuẩn 2 cấp:</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Cấp 1: Liên hệ được / Không liên hệ được</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Cấp 2: tối đa 12 mã (vd: Thành công, Hẹn gọi lại, Từ chối,</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Sai số, Thuê bao, Không nghe máy...)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Xuất bảng mapping: ghi chú gốc → cấp 1 → cấp 2 → số lần.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Liệt kê riêng các ghi chú mơ hồ cần người quyết định.</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Kiểm tra: tổng cột số lần trong bảng mapping phải bằng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tổng số lần trong file.</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Dòng bối cảnh 2 dự án:</a:t>
            </a:r>
            <a:pPr indent="0" marL="0">
              <a:buNone/>
            </a:pPr>
            <a:r>
              <a:rPr lang="en-US" sz="1400" dirty="0">
                <a:solidFill>
                  <a:srgbClr val="1B2A38"/>
                </a:solidFill>
                <a:latin typeface="Calibri" pitchFamily="34" charset="0"/>
                <a:ea typeface="Calibri" pitchFamily="34" charset="-122"/>
                <a:cs typeface="Calibri" pitchFamily="34" charset="-120"/>
              </a:rPr>
              <a:t> thiếu nó, “tra cứu cước” bị ép vào mã telesales.</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Tối đa 12 mã:</a:t>
            </a:r>
            <a:pPr indent="0" marL="0">
              <a:buNone/>
            </a:pPr>
            <a:r>
              <a:rPr lang="en-US" sz="1400" dirty="0">
                <a:solidFill>
                  <a:srgbClr val="1B2A38"/>
                </a:solidFill>
                <a:latin typeface="Calibri" pitchFamily="34" charset="0"/>
                <a:ea typeface="Calibri" pitchFamily="34" charset="-122"/>
                <a:cs typeface="Calibri" pitchFamily="34" charset="-120"/>
              </a:rPr>
              <a:t> danh sách 25 mã thì agent chỉ dùng 5 mã đầu.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Mơ hồ để riêng:</a:t>
            </a:r>
            <a:pPr indent="0" marL="0">
              <a:buNone/>
            </a:pPr>
            <a:r>
              <a:rPr lang="en-US" sz="1400" dirty="0">
                <a:solidFill>
                  <a:srgbClr val="1B2A38"/>
                </a:solidFill>
                <a:latin typeface="Calibri" pitchFamily="34" charset="0"/>
                <a:ea typeface="Calibri" pitchFamily="34" charset="-122"/>
                <a:cs typeface="Calibri" pitchFamily="34" charset="-120"/>
              </a:rPr>
              <a:t> AI đề xuất, người quyết.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Kiểm tra tổng:</a:t>
            </a:r>
            <a:pPr indent="0" marL="0">
              <a:buNone/>
            </a:pPr>
            <a:r>
              <a:rPr lang="en-US" sz="1400" dirty="0">
                <a:solidFill>
                  <a:srgbClr val="1B2A38"/>
                </a:solidFill>
                <a:latin typeface="Calibri" pitchFamily="34" charset="0"/>
                <a:ea typeface="Calibri" pitchFamily="34" charset="-122"/>
                <a:cs typeface="Calibri" pitchFamily="34" charset="-120"/>
              </a:rPr>
              <a:t> sót dòng “ko nghe” là mất 1.582 cuộc.</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2.1 — 48 ghi chú → 11 mã outbound</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5477"/>
                <a:gridCol w="2108856"/>
                <a:gridCol w="5501363"/>
                <a:gridCol w="1558719"/>
              </a:tblGrid>
              <a:tr h="34497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Cấp 1</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Mã cấp 2</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Ghi chú gốc gom vào (ví dụ)</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Số lần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Thành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Thành công, thanh cong, TC, chốt đơn, ok chốt, đồng ý mua…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1.259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Hẹn gọi lại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Hẹn gọi lại, HGL, hen goi lai, khách bận hẹn mai…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2.830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Đang cân nhắc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để suy nghĩ, cân nhắc thêm, gửi thông tin qua zalo</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1.150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Từ chối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Từ chối, ko quan tâm, không có nhu cầu, KH từ chối…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3.493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Đã có SP · DNC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đã mua rồi · khách chửi (DNC: ngừng gọi số này)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651 · 737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Sai người</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sai người, trẻ con nghe máy, nhầm số, “Sai số” khi CONNECTED</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1.056</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Không 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Không nghe máy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KNM, ko nghe, không bắt máy, ô trống khi NO_ANSWER</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8.392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Không 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Máy bận · Thuê bao</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bận, thuê bao bận… · tạm khóa, tb không liên lạc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1.888 · 1.302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Không liên hệ được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Sai số</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số không tồn tại, “Sai số” khi FAILED</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801</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Chờ quyết định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Chưa xác định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“ok” — không tự gom vào Thành công (gom vào là +28%)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D9773A"/>
                          </a:solidFill>
                          <a:latin typeface="Calibri" pitchFamily="34" charset="0"/>
                          <a:ea typeface="Calibri" pitchFamily="34" charset="-122"/>
                          <a:cs typeface="Calibri" pitchFamily="34" charset="-120"/>
                        </a:rPr>
                        <a:t>357</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Tổng kiểm tra 23.916 + 5.599 = 29.515 ✔ · Áp lên call log sạch: liên hệ được 11.481 / 23.866 = 48,1% · thành công/LH ≈ 10,9%</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2.2 · Quy tắc làm sạch call log v1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15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Project có file Quy_tac_lam_sach_call_log_v1: 10 quy tắc có mã, điều kiện, hành động, lý do. Từ mai làm sạch chỉ còn một câu lệnh.</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Danh sách lỗi (Lab 1.2), bảng nối mã</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danh_sach_du_an.csv, danh_muc_ca.csv</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Quy tắc v1 QT-01…QT-10 — chỉ QT-01 được “Loại”; tổng kiểm tra khớp.</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Nhờ Claude soạn bản nháp</a:t>
            </a:r>
            <a:pPr indent="0" marL="0">
              <a:buNone/>
            </a:pPr>
            <a:r>
              <a:rPr lang="en-US" sz="1450" dirty="0">
                <a:solidFill>
                  <a:srgbClr val="1B2A38"/>
                </a:solidFill>
                <a:latin typeface="Calibri" pitchFamily="34" charset="0"/>
                <a:ea typeface="Calibri" pitchFamily="34" charset="-122"/>
                <a:cs typeface="Calibri" pitchFamily="34" charset="-120"/>
              </a:rPr>
              <a:t> — từ danh sách lỗi buổi 1 + giờ hoạt động + ca D — prompt ở slide sau.</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Duyệt từng quy tắc bằng 3 câu hỏi</a:t>
            </a:r>
            <a:pPr indent="0" marL="0">
              <a:buNone/>
            </a:pPr>
            <a:r>
              <a:rPr lang="en-US" sz="1450" dirty="0">
                <a:solidFill>
                  <a:srgbClr val="1B2A38"/>
                </a:solidFill>
                <a:latin typeface="Calibri" pitchFamily="34" charset="0"/>
                <a:ea typeface="Calibri" pitchFamily="34" charset="-122"/>
                <a:cs typeface="Calibri" pitchFamily="34" charset="-120"/>
              </a:rPr>
              <a:t> — máy kiểm tra được không? có làm mất thông tin? khớp quyết định công ty?</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Sửa bằng prompt</a:t>
            </a:r>
            <a:pPr indent="0" marL="0">
              <a:buNone/>
            </a:pPr>
            <a:r>
              <a:rPr lang="en-US" sz="1450" dirty="0">
                <a:solidFill>
                  <a:srgbClr val="1B2A38"/>
                </a:solidFill>
                <a:latin typeface="Calibri" pitchFamily="34" charset="0"/>
                <a:ea typeface="Calibri" pitchFamily="34" charset="-122"/>
                <a:cs typeface="Calibri" pitchFamily="34" charset="-120"/>
              </a:rPr>
              <a:t> — QT-03 không loại chặng chuyển tiếp; QT-09: ABANDONED trống mã là hợp lệ.</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thử trên tháng 9</a:t>
            </a:r>
            <a:pPr indent="0" marL="0">
              <a:buNone/>
            </a:pPr>
            <a:r>
              <a:rPr lang="en-US" sz="1450" dirty="0">
                <a:solidFill>
                  <a:srgbClr val="1B2A38"/>
                </a:solidFill>
                <a:latin typeface="Calibri" pitchFamily="34" charset="0"/>
                <a:ea typeface="Calibri" pitchFamily="34" charset="-122"/>
                <a:cs typeface="Calibri" pitchFamily="34" charset="-120"/>
              </a:rPr>
              <a:t> — đúng thứ tự, báo số dòng theo từng mã QT và dòng tổng kiểm tra.</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Lưu vào Project</a:t>
            </a:r>
            <a:pPr indent="0" marL="0">
              <a:buNone/>
            </a:pPr>
            <a:r>
              <a:rPr lang="en-US" sz="1450" dirty="0">
                <a:solidFill>
                  <a:srgbClr val="1B2A38"/>
                </a:solidFill>
                <a:latin typeface="Calibri" pitchFamily="34" charset="0"/>
                <a:ea typeface="Calibri" pitchFamily="34" charset="-122"/>
                <a:cs typeface="Calibri" pitchFamily="34" charset="-120"/>
              </a:rPr>
              <a:t> — kèm phiên bản, ngày hiệu lực, người duyệt, câu lệnh dùng hằng ngày.</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Soạn Quy tắc làm sạch call log v1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Dựa trên danh sách lỗi call log đã tìm ở buổi 1 (trong Project)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và các file danh_sach_du_an.csv, danh_muc_ca.csv, bảng nối mã,</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hãy soạn "Quy tắc làm sạch call log v1". Yêu cầu:</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Mỗi quy tắc có: Mã (QT-01...), Tên, Điều kiện nhận diện (máy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kiểm tra được, dùng đúng tên cột), Hành động (Loại / Gắn cờ /</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Sửa trên cột mới), Lý do, Chỉ số bị ảnh hưởng.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Phải gồm: trùng mã cuộc gọi, giờ UTC, chặng chuyển tiếp,</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nghe máy 0 giây, thời lượng âm, đàm thoại &gt; 7200 giây,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qua nửa đêm/ca đêm, chuẩn hóa mã agent, trống mã agent,</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outbound ngoài giờ.</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Không sửa dữ liệu gốc; ưu tiên gắn cờ hơn loại;</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không đoán giá trị thay thế.</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Ghi rõ thứ tự áp dụng và dòng tổng kiểm tra.</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Xuất dạng bảng markdown.</a:t>
            </a:r>
            <a:endParaRPr lang="en-US" sz="125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“Máy kiểm tra được”:</a:t>
            </a:r>
            <a:pPr indent="0" marL="0">
              <a:buNone/>
            </a:pPr>
            <a:r>
              <a:rPr lang="en-US" sz="1400" dirty="0">
                <a:solidFill>
                  <a:srgbClr val="1B2A38"/>
                </a:solidFill>
                <a:latin typeface="Calibri" pitchFamily="34" charset="0"/>
                <a:ea typeface="Calibri" pitchFamily="34" charset="-122"/>
                <a:cs typeface="Calibri" pitchFamily="34" charset="-120"/>
              </a:rPr>
              <a:t> “cuộc bất thường” là không được; “&gt; 7200 giây” là được.</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Nêu đủ 10 loại lỗi:</a:t>
            </a:r>
            <a:pPr indent="0" marL="0">
              <a:buNone/>
            </a:pPr>
            <a:r>
              <a:rPr lang="en-US" sz="1400" dirty="0">
                <a:solidFill>
                  <a:srgbClr val="1B2A38"/>
                </a:solidFill>
                <a:latin typeface="Calibri" pitchFamily="34" charset="0"/>
                <a:ea typeface="Calibri" pitchFamily="34" charset="-122"/>
                <a:cs typeface="Calibri" pitchFamily="34" charset="-120"/>
              </a:rPr>
              <a:t> Claude chỉ viết quy tắc cho cái bạn nêu.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Gắn cờ hơn loại:</a:t>
            </a:r>
            <a:pPr indent="0" marL="0">
              <a:buNone/>
            </a:pPr>
            <a:r>
              <a:rPr lang="en-US" sz="1400" dirty="0">
                <a:solidFill>
                  <a:srgbClr val="1B2A38"/>
                </a:solidFill>
                <a:latin typeface="Calibri" pitchFamily="34" charset="0"/>
                <a:ea typeface="Calibri" pitchFamily="34" charset="-122"/>
                <a:cs typeface="Calibri" pitchFamily="34" charset="-120"/>
              </a:rPr>
              <a:t> loại là mất thông tin; cờ để mỗi chỉ số tự chọn.</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Thứ tự áp dụng:</a:t>
            </a:r>
            <a:pPr indent="0" marL="0">
              <a:buNone/>
            </a:pPr>
            <a:r>
              <a:rPr lang="en-US" sz="1400" dirty="0">
                <a:solidFill>
                  <a:srgbClr val="1B2A38"/>
                </a:solidFill>
                <a:latin typeface="Calibri" pitchFamily="34" charset="0"/>
                <a:ea typeface="Calibri" pitchFamily="34" charset="-122"/>
                <a:cs typeface="Calibri" pitchFamily="34" charset="-120"/>
              </a:rPr>
              <a:t> QT-02 (UTC) phải chạy trước QT-07 và QT-10.</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Bản nháp là đề xuất:</a:t>
            </a:r>
            <a:pPr indent="0" marL="0">
              <a:buNone/>
            </a:pPr>
            <a:r>
              <a:rPr lang="en-US" sz="1400" dirty="0">
                <a:solidFill>
                  <a:srgbClr val="1B2A38"/>
                </a:solidFill>
                <a:latin typeface="Calibri" pitchFamily="34" charset="0"/>
                <a:ea typeface="Calibri" pitchFamily="34" charset="-122"/>
                <a:cs typeface="Calibri" pitchFamily="34" charset="-120"/>
              </a:rPr>
              <a:t> duyệt từng dòng trước khi lưu.</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2.2 — chạy thử v1 trên tháng 9</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825204"/>
                <a:gridCol w="2658992"/>
                <a:gridCol w="3300818"/>
                <a:gridCol w="4309401"/>
              </a:tblGrid>
              <a:tr h="34497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Mã</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Quy tắc</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Hành động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Số dòng bị tác động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QT-01</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Trùng mã cuộc gọi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LOẠI — giữ dòng đầu tiên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63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QT-02</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Giờ UTC → +7 tiếng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Sửa trên cột mới thoi_diem_vn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22 (toàn TS-BH, không dòng nào đổi ngày)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Chặng chuyển tiếp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Gắn cờ, không đếm sản lượng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48 (toàn 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QT-04</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Nghe/kết nối 0 giây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Gắn cờ, loại khỏi AHT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41 (13 IN · 28 OUT)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Thời lượng âm</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Sửa về 0 + gắn cờ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QT-06</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Treo line &gt; 7.200 giây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Gắn cờ, loại khỏi AHT và phút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7 (CS-VT, dài nhất 13.972 giây)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Qua nửa đêm / ca D</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Thêm cột ngay_ca</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11 cuộc vắt 0h · 78 cuộc ngày 21/09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Chuẩn hóa &amp; nối mã agent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Sửa, nối, gắn cờ ngoài danh sách</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590 sai định dạng · 357 EXT2018 · 250 EXT2099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Trống mã agent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ABANDONED hợp lệ, còn lại gắn cờ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551 = 537 hợp lệ + 14 gắn cờ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44978">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QT-10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Outbound ngoài giờ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Gắn cờ, báo trưởng ca</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b="1" dirty="0">
                          <a:solidFill>
                            <a:srgbClr val="D9773A"/>
                          </a:solidFill>
                          <a:latin typeface="Calibri" pitchFamily="34" charset="0"/>
                          <a:ea typeface="Calibri" pitchFamily="34" charset="-122"/>
                          <a:cs typeface="Calibri" pitchFamily="34" charset="-120"/>
                        </a:rPr>
                        <a:t>24 (21:00–21:45; 3 cuộc vào CN 13/09)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Tổng kiểm tra: 29.515 = 29.452 + 63 · cuộc gốc = 29.452 − 48 = 29.404 (TS-BH 23.866 · CS-VT 5.538)</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2.3 · Bảng sản lượng 4 sheet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30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File sản lượng chạy bằng công thức trên dữ liệu sạch, và bảng đối chiếu giải thích từng cuộc chênh với tổng đài.</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 (29.515 dòng)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bao_cao_tong_dai_2026-09.csv</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Quy tắc v1 + Mapping v1 (Project)</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4 sheet không ô gõ tay, tổng kiểm tra 29.404 + bảng đối chiếu tổng đài.</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Tạo Du_lieu_sach</a:t>
            </a:r>
            <a:pPr indent="0" marL="0">
              <a:buNone/>
            </a:pPr>
            <a:r>
              <a:rPr lang="en-US" sz="1450" dirty="0">
                <a:solidFill>
                  <a:srgbClr val="1B2A38"/>
                </a:solidFill>
                <a:latin typeface="Calibri" pitchFamily="34" charset="0"/>
                <a:ea typeface="Calibri" pitchFamily="34" charset="-122"/>
                <a:cs typeface="Calibri" pitchFamily="34" charset="-120"/>
              </a:rPr>
              <a:t> — áp quy tắc + mapping, xuất CSV đúng thứ tự cột; kiểm tra 29.452 dòng.</a:t>
            </a:r>
            <a:endParaRPr lang="en-US" sz="1450" dirty="0"/>
          </a:p>
        </p:txBody>
      </p:sp>
      <p:sp>
        <p:nvSpPr>
          <p:cNvPr id="19" name="Shape 15"/>
          <p:cNvSpPr/>
          <p:nvPr/>
        </p:nvSpPr>
        <p:spPr>
          <a:xfrm>
            <a:off x="4800600" y="2520696"/>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5206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474976"/>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San_luong_ngay</a:t>
            </a:r>
            <a:pPr indent="0" marL="0">
              <a:buNone/>
            </a:pPr>
            <a:r>
              <a:rPr lang="en-US" sz="1450" dirty="0">
                <a:solidFill>
                  <a:srgbClr val="1B2A38"/>
                </a:solidFill>
                <a:latin typeface="Calibri" pitchFamily="34" charset="0"/>
                <a:ea typeface="Calibri" pitchFamily="34" charset="-122"/>
                <a:cs typeface="Calibri" pitchFamily="34" charset="-120"/>
              </a:rPr>
              <a:t> — ngày × dự án: số cuộc (P = 0), nghe/liên hệ, thành công, phút, AHT.</a:t>
            </a:r>
            <a:endParaRPr lang="en-US" sz="1450" dirty="0"/>
          </a:p>
        </p:txBody>
      </p:sp>
      <p:sp>
        <p:nvSpPr>
          <p:cNvPr id="22" name="Shape 18"/>
          <p:cNvSpPr/>
          <p:nvPr/>
        </p:nvSpPr>
        <p:spPr>
          <a:xfrm>
            <a:off x="4800600" y="3304032"/>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3040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258312"/>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San_luong_gio</a:t>
            </a:r>
            <a:pPr indent="0" marL="0">
              <a:buNone/>
            </a:pPr>
            <a:r>
              <a:rPr lang="en-US" sz="1450" dirty="0">
                <a:solidFill>
                  <a:srgbClr val="1B2A38"/>
                </a:solidFill>
                <a:latin typeface="Calibri" pitchFamily="34" charset="0"/>
                <a:ea typeface="Calibri" pitchFamily="34" charset="-122"/>
                <a:cs typeface="Calibri" pitchFamily="34" charset="-120"/>
              </a:rPr>
              <a:t> — khung 0–23h cho outbound và inbound — chỉ ra 3 giờ hiệu quả nhất.</a:t>
            </a:r>
            <a:endParaRPr lang="en-US" sz="1450" dirty="0"/>
          </a:p>
        </p:txBody>
      </p:sp>
      <p:sp>
        <p:nvSpPr>
          <p:cNvPr id="25" name="Shape 21"/>
          <p:cNvSpPr/>
          <p:nvPr/>
        </p:nvSpPr>
        <p:spPr>
          <a:xfrm>
            <a:off x="4800600" y="4087368"/>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0873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041648"/>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San_luong_agent</a:t>
            </a:r>
            <a:pPr indent="0" marL="0">
              <a:buNone/>
            </a:pPr>
            <a:r>
              <a:rPr lang="en-US" sz="1450" dirty="0">
                <a:solidFill>
                  <a:srgbClr val="1B2A38"/>
                </a:solidFill>
                <a:latin typeface="Calibri" pitchFamily="34" charset="0"/>
                <a:ea typeface="Calibri" pitchFamily="34" charset="-122"/>
                <a:cs typeface="Calibri" pitchFamily="34" charset="-120"/>
              </a:rPr>
              <a:t> — agent × ngày; thêm dòng EXT2099 và “không có agent” để tổng khớp.</a:t>
            </a:r>
            <a:endParaRPr lang="en-US" sz="1450" dirty="0"/>
          </a:p>
        </p:txBody>
      </p:sp>
      <p:sp>
        <p:nvSpPr>
          <p:cNvPr id="28" name="Shape 24"/>
          <p:cNvSpPr/>
          <p:nvPr/>
        </p:nvSpPr>
        <p:spPr>
          <a:xfrm>
            <a:off x="4800600" y="4870704"/>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48707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4824984"/>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prompt hằng ngày cho 17/09</a:t>
            </a:r>
            <a:pPr indent="0" marL="0">
              <a:buNone/>
            </a:pPr>
            <a:r>
              <a:rPr lang="en-US" sz="1450" dirty="0">
                <a:solidFill>
                  <a:srgbClr val="1B2A38"/>
                </a:solidFill>
                <a:latin typeface="Calibri" pitchFamily="34" charset="0"/>
                <a:ea typeface="Calibri" pitchFamily="34" charset="-122"/>
                <a:cs typeface="Calibri" pitchFamily="34" charset="-120"/>
              </a:rPr>
              <a:t> — số dự án phải khớp dòng 17/09 trong sheet.</a:t>
            </a:r>
            <a:endParaRPr lang="en-US" sz="1450" dirty="0"/>
          </a:p>
        </p:txBody>
      </p:sp>
      <p:sp>
        <p:nvSpPr>
          <p:cNvPr id="31" name="Shape 27"/>
          <p:cNvSpPr/>
          <p:nvPr/>
        </p:nvSpPr>
        <p:spPr>
          <a:xfrm>
            <a:off x="4800600" y="5654040"/>
            <a:ext cx="438912" cy="438912"/>
          </a:xfrm>
          <a:prstGeom prst="ellipse">
            <a:avLst/>
          </a:prstGeom>
          <a:solidFill>
            <a:srgbClr val="2E7D7A"/>
          </a:solidFill>
          <a:ln w="12700">
            <a:solidFill>
              <a:srgbClr val="2E7D7A"/>
            </a:solidFill>
            <a:prstDash val="solid"/>
          </a:ln>
        </p:spPr>
      </p:sp>
      <p:sp>
        <p:nvSpPr>
          <p:cNvPr id="32" name="Text 28"/>
          <p:cNvSpPr txBox="1"/>
          <p:nvPr/>
        </p:nvSpPr>
        <p:spPr>
          <a:xfrm>
            <a:off x="4800600" y="56540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29"/>
          <p:cNvSpPr txBox="1"/>
          <p:nvPr/>
        </p:nvSpPr>
        <p:spPr>
          <a:xfrm>
            <a:off x="5394960" y="5608320"/>
            <a:ext cx="6248095" cy="6553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Đối chiếu báo cáo tổng đài</a:t>
            </a:r>
            <a:pPr indent="0" marL="0">
              <a:buNone/>
            </a:pPr>
            <a:r>
              <a:rPr lang="en-US" sz="1450" dirty="0">
                <a:solidFill>
                  <a:srgbClr val="1B2A38"/>
                </a:solidFill>
                <a:latin typeface="Calibri" pitchFamily="34" charset="0"/>
                <a:ea typeface="Calibri" pitchFamily="34" charset="-122"/>
                <a:cs typeface="Calibri" pitchFamily="34" charset="-120"/>
              </a:rPr>
              <a:t> — theo ngày × dự án — giải thích 100%, không dùng từ “khoảng”.</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Tổng hợp sản lượng hằng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File đính kèm là call log ngày 17/09/2026.</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1. Áp dụng "Quy tắc làm sạch call log v1" và</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"Mapping mã kết quả" trong Project.</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Báo cáo số dòng bị loại/gắn cờ theo từng quy tắc.</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2. Tổng hợp theo dự án và theo agent: số cuộc gọi, cuộc được</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nghe/kết nối, cuộc thành công, tổng phút đàm thoại, AHT,</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tỷ lệ thành công.</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3. Tổng hợp theo khung 1 giờ: số cuộc gọi và tỷ lệ kết nối —</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chỉ ra 3 khung giờ hiệu quả nhất.</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4. Kiểm tra: tổng số cuộc sau làm sạch + số dòng bị loại</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 tổng số dòng gốc.</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Xuất dạng bảng để dán vào Sheets.</a:t>
            </a:r>
            <a:endParaRPr lang="en-US" sz="13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Gọi tên file trong Project:</a:t>
            </a:r>
            <a:pPr indent="0" marL="0">
              <a:buNone/>
            </a:pPr>
            <a:r>
              <a:rPr lang="en-US" sz="1400" dirty="0">
                <a:solidFill>
                  <a:srgbClr val="1B2A38"/>
                </a:solidFill>
                <a:latin typeface="Calibri" pitchFamily="34" charset="0"/>
                <a:ea typeface="Calibri" pitchFamily="34" charset="-122"/>
                <a:cs typeface="Calibri" pitchFamily="34" charset="-120"/>
              </a:rPr>
              <a:t> không dán lại quy tắc mỗi lần.</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Số dòng theo quy tắc:</a:t>
            </a:r>
            <a:pPr indent="0" marL="0">
              <a:buNone/>
            </a:pPr>
            <a:r>
              <a:rPr lang="en-US" sz="1400" dirty="0">
                <a:solidFill>
                  <a:srgbClr val="1B2A38"/>
                </a:solidFill>
                <a:latin typeface="Calibri" pitchFamily="34" charset="0"/>
                <a:ea typeface="Calibri" pitchFamily="34" charset="-122"/>
                <a:cs typeface="Calibri" pitchFamily="34" charset="-120"/>
              </a:rPr>
              <a:t> chuông báo động sớm — 16/09 QT-08 nhảy lên 57 dòng EXT2099.</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Dự án · agent · giờ:</a:t>
            </a:r>
            <a:pPr indent="0" marL="0">
              <a:buNone/>
            </a:pPr>
            <a:r>
              <a:rPr lang="en-US" sz="1400" dirty="0">
                <a:solidFill>
                  <a:srgbClr val="1B2A38"/>
                </a:solidFill>
                <a:latin typeface="Calibri" pitchFamily="34" charset="0"/>
                <a:ea typeface="Calibri" pitchFamily="34" charset="-122"/>
                <a:cs typeface="Calibri" pitchFamily="34" charset="-120"/>
              </a:rPr>
              <a:t> đúng 3 góc nhìn của file sản lượng.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Tổng kiểm tra 17/09:</a:t>
            </a:r>
            <a:pPr indent="0" marL="0">
              <a:buNone/>
            </a:pPr>
            <a:r>
              <a:rPr lang="en-US" sz="1400" dirty="0">
                <a:solidFill>
                  <a:srgbClr val="1B2A38"/>
                </a:solidFill>
                <a:latin typeface="Calibri" pitchFamily="34" charset="0"/>
                <a:ea typeface="Calibri" pitchFamily="34" charset="-122"/>
                <a:cs typeface="Calibri" pitchFamily="34" charset="-120"/>
              </a:rPr>
              <a:t> 2.581 = 2.572 + 9 dòng trùng.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Phải khớp sheet:</a:t>
            </a:r>
            <a:pPr indent="0" marL="0">
              <a:buNone/>
            </a:pPr>
            <a:r>
              <a:rPr lang="en-US" sz="1400" dirty="0">
                <a:solidFill>
                  <a:srgbClr val="1B2A38"/>
                </a:solidFill>
                <a:latin typeface="Calibri" pitchFamily="34" charset="0"/>
                <a:ea typeface="Calibri" pitchFamily="34" charset="-122"/>
                <a:cs typeface="Calibri" pitchFamily="34" charset="-120"/>
              </a:rPr>
              <a:t> TS-BH 2.085 · CS-VT 482.</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2.3 — San_luong_ngay, 14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Tổng 14 ngày (07–21/09) trên cuộc gốc — tỷ lệ nào cũng phải kèm tử số và mẫu số.</a:t>
            </a:r>
            <a:endParaRPr lang="en-US" sz="1600" dirty="0"/>
          </a:p>
        </p:txBody>
      </p:sp>
      <p:sp>
        <p:nvSpPr>
          <p:cNvPr id="8" name="Shape 5"/>
          <p:cNvSpPr/>
          <p:nvPr/>
        </p:nvSpPr>
        <p:spPr>
          <a:xfrm>
            <a:off x="548640" y="2286000"/>
            <a:ext cx="2567864" cy="3200400"/>
          </a:xfrm>
          <a:prstGeom prst="roundRect">
            <a:avLst>
              <a:gd name="adj" fmla="val 3561"/>
            </a:avLst>
          </a:prstGeom>
          <a:solidFill>
            <a:srgbClr val="F2F4F6"/>
          </a:solidFill>
          <a:ln w="12700">
            <a:solidFill>
              <a:srgbClr val="F2F4F6"/>
            </a:solidFill>
            <a:prstDash val="solid"/>
          </a:ln>
        </p:spPr>
      </p:sp>
      <p:sp>
        <p:nvSpPr>
          <p:cNvPr id="9" name="Text 6"/>
          <p:cNvSpPr txBox="1"/>
          <p:nvPr/>
        </p:nvSpPr>
        <p:spPr>
          <a:xfrm>
            <a:off x="777240" y="2468880"/>
            <a:ext cx="2110664" cy="1005840"/>
          </a:xfrm>
          <a:prstGeom prst="rect">
            <a:avLst/>
          </a:prstGeom>
          <a:noFill/>
          <a:ln/>
        </p:spPr>
        <p:txBody>
          <a:bodyPr wrap="square" lIns="0" tIns="0" rIns="0" bIns="0" rtlCol="0" anchor="ctr"/>
          <a:lstStyle/>
          <a:p>
            <a:pPr indent="0" marL="0">
              <a:buNone/>
            </a:pPr>
            <a:r>
              <a:rPr lang="en-US" sz="3800" b="1" dirty="0">
                <a:solidFill>
                  <a:srgbClr val="D9773A"/>
                </a:solidFill>
                <a:latin typeface="Cambria" pitchFamily="34" charset="0"/>
                <a:ea typeface="Cambria" pitchFamily="34" charset="-122"/>
                <a:cs typeface="Cambria" pitchFamily="34" charset="-120"/>
              </a:rPr>
              <a:t>29.404</a:t>
            </a:r>
            <a:endParaRPr lang="en-US" sz="3800" dirty="0"/>
          </a:p>
        </p:txBody>
      </p:sp>
      <p:sp>
        <p:nvSpPr>
          <p:cNvPr id="10" name="Text 7"/>
          <p:cNvSpPr txBox="1"/>
          <p:nvPr/>
        </p:nvSpPr>
        <p:spPr>
          <a:xfrm>
            <a:off x="777240"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cuộc gốc = tổng kiểm tra</a:t>
            </a:r>
            <a:endParaRPr lang="en-US" sz="1550" dirty="0"/>
          </a:p>
        </p:txBody>
      </p:sp>
      <p:sp>
        <p:nvSpPr>
          <p:cNvPr id="11" name="Text 8"/>
          <p:cNvSpPr txBox="1"/>
          <p:nvPr/>
        </p:nvSpPr>
        <p:spPr>
          <a:xfrm>
            <a:off x="777240"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29.452 dòng sạch − 48 chặng chuyển tiếp. TS-BH 23.866 · CS-VT 5.538.</a:t>
            </a:r>
            <a:endParaRPr lang="en-US" sz="1250" dirty="0"/>
          </a:p>
        </p:txBody>
      </p:sp>
      <p:sp>
        <p:nvSpPr>
          <p:cNvPr id="12" name="Shape 9"/>
          <p:cNvSpPr/>
          <p:nvPr/>
        </p:nvSpPr>
        <p:spPr>
          <a:xfrm>
            <a:off x="3390824" y="2286000"/>
            <a:ext cx="2567864" cy="3200400"/>
          </a:xfrm>
          <a:prstGeom prst="roundRect">
            <a:avLst>
              <a:gd name="adj" fmla="val 3561"/>
            </a:avLst>
          </a:prstGeom>
          <a:solidFill>
            <a:srgbClr val="FBE7DA"/>
          </a:solidFill>
          <a:ln w="12700">
            <a:solidFill>
              <a:srgbClr val="FBE7DA"/>
            </a:solidFill>
            <a:prstDash val="solid"/>
          </a:ln>
        </p:spPr>
      </p:sp>
      <p:sp>
        <p:nvSpPr>
          <p:cNvPr id="13" name="Text 10"/>
          <p:cNvSpPr txBox="1"/>
          <p:nvPr/>
        </p:nvSpPr>
        <p:spPr>
          <a:xfrm>
            <a:off x="3619424" y="2468880"/>
            <a:ext cx="2110664" cy="1005840"/>
          </a:xfrm>
          <a:prstGeom prst="rect">
            <a:avLst/>
          </a:prstGeom>
          <a:noFill/>
          <a:ln/>
        </p:spPr>
        <p:txBody>
          <a:bodyPr wrap="square" lIns="0" tIns="0" rIns="0" bIns="0" rtlCol="0" anchor="ctr"/>
          <a:lstStyle/>
          <a:p>
            <a:pPr indent="0" marL="0">
              <a:buNone/>
            </a:pPr>
            <a:r>
              <a:rPr lang="en-US" sz="4400" b="1" dirty="0">
                <a:solidFill>
                  <a:srgbClr val="D9773A"/>
                </a:solidFill>
                <a:latin typeface="Cambria" pitchFamily="34" charset="0"/>
                <a:ea typeface="Cambria" pitchFamily="34" charset="-122"/>
                <a:cs typeface="Cambria" pitchFamily="34" charset="-120"/>
              </a:rPr>
              <a:t>48,1%</a:t>
            </a:r>
            <a:endParaRPr lang="en-US" sz="4400" dirty="0"/>
          </a:p>
        </p:txBody>
      </p:sp>
      <p:sp>
        <p:nvSpPr>
          <p:cNvPr id="14" name="Text 11"/>
          <p:cNvSpPr txBox="1"/>
          <p:nvPr/>
        </p:nvSpPr>
        <p:spPr>
          <a:xfrm>
            <a:off x="3619424"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liên hệ được TS-BH</a:t>
            </a:r>
            <a:endParaRPr lang="en-US" sz="1550" dirty="0"/>
          </a:p>
        </p:txBody>
      </p:sp>
      <p:sp>
        <p:nvSpPr>
          <p:cNvPr id="15" name="Text 12"/>
          <p:cNvSpPr txBox="1"/>
          <p:nvPr/>
        </p:nvSpPr>
        <p:spPr>
          <a:xfrm>
            <a:off x="3619424"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11.481 / 23.866 lần quay số.</a:t>
            </a:r>
            <a:endParaRPr lang="en-US" sz="1250" dirty="0"/>
          </a:p>
        </p:txBody>
      </p:sp>
      <p:sp>
        <p:nvSpPr>
          <p:cNvPr id="16" name="Shape 13"/>
          <p:cNvSpPr/>
          <p:nvPr/>
        </p:nvSpPr>
        <p:spPr>
          <a:xfrm>
            <a:off x="6233008" y="2286000"/>
            <a:ext cx="2567864" cy="3200400"/>
          </a:xfrm>
          <a:prstGeom prst="roundRect">
            <a:avLst>
              <a:gd name="adj" fmla="val 3561"/>
            </a:avLst>
          </a:prstGeom>
          <a:solidFill>
            <a:srgbClr val="DDEFEE"/>
          </a:solidFill>
          <a:ln w="12700">
            <a:solidFill>
              <a:srgbClr val="DDEFEE"/>
            </a:solidFill>
            <a:prstDash val="solid"/>
          </a:ln>
        </p:spPr>
      </p:sp>
      <p:sp>
        <p:nvSpPr>
          <p:cNvPr id="17" name="Text 14"/>
          <p:cNvSpPr txBox="1"/>
          <p:nvPr/>
        </p:nvSpPr>
        <p:spPr>
          <a:xfrm>
            <a:off x="6461608" y="2468880"/>
            <a:ext cx="2110664" cy="1005840"/>
          </a:xfrm>
          <a:prstGeom prst="rect">
            <a:avLst/>
          </a:prstGeom>
          <a:noFill/>
          <a:ln/>
        </p:spPr>
        <p:txBody>
          <a:bodyPr wrap="square" lIns="0" tIns="0" rIns="0" bIns="0" rtlCol="0" anchor="ctr"/>
          <a:lstStyle/>
          <a:p>
            <a:pPr indent="0" marL="0">
              <a:buNone/>
            </a:pPr>
            <a:r>
              <a:rPr lang="en-US" sz="4400" b="1" dirty="0">
                <a:solidFill>
                  <a:srgbClr val="2E7D7A"/>
                </a:solidFill>
                <a:latin typeface="Cambria" pitchFamily="34" charset="0"/>
                <a:ea typeface="Cambria" pitchFamily="34" charset="-122"/>
                <a:cs typeface="Cambria" pitchFamily="34" charset="-120"/>
              </a:rPr>
              <a:t>10,9%</a:t>
            </a:r>
            <a:endParaRPr lang="en-US" sz="4400" dirty="0"/>
          </a:p>
        </p:txBody>
      </p:sp>
      <p:sp>
        <p:nvSpPr>
          <p:cNvPr id="18" name="Text 15"/>
          <p:cNvSpPr txBox="1"/>
          <p:nvPr/>
        </p:nvSpPr>
        <p:spPr>
          <a:xfrm>
            <a:off x="6461608"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thành công / liên hệ được</a:t>
            </a:r>
            <a:endParaRPr lang="en-US" sz="1550" dirty="0"/>
          </a:p>
        </p:txBody>
      </p:sp>
      <p:sp>
        <p:nvSpPr>
          <p:cNvPr id="19" name="Text 16"/>
          <p:cNvSpPr txBox="1"/>
          <p:nvPr/>
        </p:nvSpPr>
        <p:spPr>
          <a:xfrm>
            <a:off x="6461608"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1.255 thành công (đã tách 2 cuộc 0 giây). TS-A 9,8% · TS-B 12,1%.</a:t>
            </a:r>
            <a:endParaRPr lang="en-US" sz="1250" dirty="0"/>
          </a:p>
        </p:txBody>
      </p:sp>
      <p:sp>
        <p:nvSpPr>
          <p:cNvPr id="20" name="Shape 17"/>
          <p:cNvSpPr/>
          <p:nvPr/>
        </p:nvSpPr>
        <p:spPr>
          <a:xfrm>
            <a:off x="9075191" y="2286000"/>
            <a:ext cx="2567864" cy="3200400"/>
          </a:xfrm>
          <a:prstGeom prst="roundRect">
            <a:avLst>
              <a:gd name="adj" fmla="val 3561"/>
            </a:avLst>
          </a:prstGeom>
          <a:solidFill>
            <a:srgbClr val="DDF1E5"/>
          </a:solidFill>
          <a:ln w="12700">
            <a:solidFill>
              <a:srgbClr val="DDF1E5"/>
            </a:solidFill>
            <a:prstDash val="solid"/>
          </a:ln>
        </p:spPr>
      </p:sp>
      <p:sp>
        <p:nvSpPr>
          <p:cNvPr id="21" name="Text 18"/>
          <p:cNvSpPr txBox="1"/>
          <p:nvPr/>
        </p:nvSpPr>
        <p:spPr>
          <a:xfrm>
            <a:off x="9303791" y="2468880"/>
            <a:ext cx="2110664" cy="1005840"/>
          </a:xfrm>
          <a:prstGeom prst="rect">
            <a:avLst/>
          </a:prstGeom>
          <a:noFill/>
          <a:ln/>
        </p:spPr>
        <p:txBody>
          <a:bodyPr wrap="square" lIns="0" tIns="0" rIns="0" bIns="0" rtlCol="0" anchor="ctr"/>
          <a:lstStyle/>
          <a:p>
            <a:pPr indent="0" marL="0">
              <a:buNone/>
            </a:pPr>
            <a:r>
              <a:rPr lang="en-US" sz="4400" b="1" dirty="0">
                <a:solidFill>
                  <a:srgbClr val="2E8B57"/>
                </a:solidFill>
                <a:latin typeface="Cambria" pitchFamily="34" charset="0"/>
                <a:ea typeface="Cambria" pitchFamily="34" charset="-122"/>
                <a:cs typeface="Cambria" pitchFamily="34" charset="-120"/>
              </a:rPr>
              <a:t>90,3%</a:t>
            </a:r>
            <a:endParaRPr lang="en-US" sz="4400" dirty="0"/>
          </a:p>
        </p:txBody>
      </p:sp>
      <p:sp>
        <p:nvSpPr>
          <p:cNvPr id="22" name="Text 19"/>
          <p:cNvSpPr txBox="1"/>
          <p:nvPr/>
        </p:nvSpPr>
        <p:spPr>
          <a:xfrm>
            <a:off x="9303791" y="3520440"/>
            <a:ext cx="2110664" cy="658368"/>
          </a:xfrm>
          <a:prstGeom prst="rect">
            <a:avLst/>
          </a:prstGeom>
          <a:noFill/>
          <a:ln/>
        </p:spPr>
        <p:txBody>
          <a:bodyPr wrap="square" lIns="0" tIns="0" rIns="0" bIns="0" rtlCol="0" anchor="t"/>
          <a:lstStyle/>
          <a:p>
            <a:pPr indent="0" marL="0">
              <a:buNone/>
            </a:pPr>
            <a:r>
              <a:rPr lang="en-US" sz="1550" b="1" dirty="0">
                <a:solidFill>
                  <a:srgbClr val="1B2A38"/>
                </a:solidFill>
                <a:latin typeface="Calibri" pitchFamily="34" charset="0"/>
                <a:ea typeface="Calibri" pitchFamily="34" charset="-122"/>
                <a:cs typeface="Calibri" pitchFamily="34" charset="-120"/>
              </a:rPr>
              <a:t>tỷ lệ nghe máy CS-VT</a:t>
            </a:r>
            <a:endParaRPr lang="en-US" sz="1550" dirty="0"/>
          </a:p>
        </p:txBody>
      </p:sp>
      <p:sp>
        <p:nvSpPr>
          <p:cNvPr id="23" name="Text 20"/>
          <p:cNvSpPr txBox="1"/>
          <p:nvPr/>
        </p:nvSpPr>
        <p:spPr>
          <a:xfrm>
            <a:off x="9303791" y="4233672"/>
            <a:ext cx="2110664" cy="1143000"/>
          </a:xfrm>
          <a:prstGeom prst="rect">
            <a:avLst/>
          </a:prstGeom>
          <a:noFill/>
          <a:ln/>
        </p:spPr>
        <p:txBody>
          <a:bodyPr wrap="square" lIns="0" tIns="0" rIns="0" bIns="0" rtlCol="0" anchor="t"/>
          <a:lstStyle/>
          <a:p>
            <a:pPr indent="0" marL="0">
              <a:buNone/>
            </a:pPr>
            <a:r>
              <a:rPr lang="en-US" sz="1250" dirty="0">
                <a:solidFill>
                  <a:srgbClr val="6B7785"/>
                </a:solidFill>
                <a:latin typeface="Calibri" pitchFamily="34" charset="0"/>
                <a:ea typeface="Calibri" pitchFamily="34" charset="-122"/>
                <a:cs typeface="Calibri" pitchFamily="34" charset="-120"/>
              </a:rPr>
              <a:t>5.001 / 5.538 — đạt mục tiêu ≥ 90%. 6 ngày dưới 90%.</a:t>
            </a:r>
            <a:endParaRPr lang="en-US" sz="1250" dirty="0"/>
          </a:p>
        </p:txBody>
      </p:sp>
      <p:sp>
        <p:nvSpPr>
          <p:cNvPr id="24" name="Shape 21"/>
          <p:cNvSpPr/>
          <p:nvPr/>
        </p:nvSpPr>
        <p:spPr>
          <a:xfrm>
            <a:off x="548640" y="5669280"/>
            <a:ext cx="11094415" cy="594360"/>
          </a:xfrm>
          <a:prstGeom prst="roundRect">
            <a:avLst>
              <a:gd name="adj" fmla="val 12308"/>
            </a:avLst>
          </a:prstGeom>
          <a:solidFill>
            <a:srgbClr val="F2F4F6"/>
          </a:solidFill>
          <a:ln w="12700">
            <a:solidFill>
              <a:srgbClr val="F2F4F6"/>
            </a:solidFill>
            <a:prstDash val="solid"/>
          </a:ln>
        </p:spPr>
      </p:sp>
      <p:sp>
        <p:nvSpPr>
          <p:cNvPr id="25" name="Text 22"/>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AHT: CS-VT ≈ 322 giây (mục tiêu ≤ 360) · TS-BH ≈ 186 giây. Để ý 13/09 (CN): TS-BH có 3 cuộc ngoài giờ; 21/09: 78 cuộc ca D.</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2.3 — outbound TS-BH theo giờ</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7" name="Chart 0" descr=""/>
          <p:cNvGraphicFramePr/>
          <p:nvPr/>
        </p:nvGraphicFramePr>
        <p:xfrm>
          <a:off x="548640" y="169164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183880" y="1691640"/>
            <a:ext cx="3459175" cy="4572000"/>
          </a:xfrm>
          <a:prstGeom prst="roundRect">
            <a:avLst>
              <a:gd name="adj" fmla="val 2643"/>
            </a:avLst>
          </a:prstGeom>
          <a:solidFill>
            <a:srgbClr val="F2F4F6"/>
          </a:solidFill>
          <a:ln w="12700">
            <a:solidFill>
              <a:srgbClr val="F2F4F6"/>
            </a:solidFill>
            <a:prstDash val="solid"/>
          </a:ln>
        </p:spPr>
      </p:sp>
      <p:sp>
        <p:nvSpPr>
          <p:cNvPr id="9" name="Shape 5"/>
          <p:cNvSpPr/>
          <p:nvPr/>
        </p:nvSpPr>
        <p:spPr>
          <a:xfrm>
            <a:off x="841248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2"/>
          <a:stretch>
            <a:fillRect/>
          </a:stretch>
        </p:blipFill>
        <p:spPr>
          <a:xfrm>
            <a:off x="8522208" y="2029968"/>
            <a:ext cx="237744" cy="237744"/>
          </a:xfrm>
          <a:prstGeom prst="rect">
            <a:avLst/>
          </a:prstGeom>
        </p:spPr>
      </p:pic>
      <p:sp>
        <p:nvSpPr>
          <p:cNvPr id="11" name="Text 6"/>
          <p:cNvSpPr txBox="1"/>
          <p:nvPr/>
        </p:nvSpPr>
        <p:spPr>
          <a:xfrm>
            <a:off x="9006840" y="1920240"/>
            <a:ext cx="2453335"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Đọc biểu đồ</a:t>
            </a:r>
            <a:endParaRPr lang="en-US" sz="1700" dirty="0"/>
          </a:p>
        </p:txBody>
      </p:sp>
      <p:sp>
        <p:nvSpPr>
          <p:cNvPr id="12" name="Text 7"/>
          <p:cNvSpPr txBox="1"/>
          <p:nvPr/>
        </p:nvSpPr>
        <p:spPr>
          <a:xfrm>
            <a:off x="8412480" y="2560320"/>
            <a:ext cx="3001975" cy="352044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Cao điểm 13–16h</a:t>
            </a:r>
            <a:pPr indent="0" marL="0">
              <a:buNone/>
            </a:pPr>
            <a:r>
              <a:rPr lang="en-US" sz="1400" dirty="0">
                <a:solidFill>
                  <a:srgbClr val="1B2A38"/>
                </a:solidFill>
                <a:latin typeface="Calibri" pitchFamily="34" charset="0"/>
                <a:ea typeface="Calibri" pitchFamily="34" charset="-122"/>
                <a:cs typeface="Calibri" pitchFamily="34" charset="-120"/>
              </a:rPr>
              <a:t> (2.888–3.125 lần/giờ): hai team chồng ca.</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12h = 0</a:t>
            </a:r>
            <a:pPr indent="0" marL="0">
              <a:buNone/>
            </a:pPr>
            <a:r>
              <a:rPr lang="en-US" sz="1400" dirty="0">
                <a:solidFill>
                  <a:srgbClr val="1B2A38"/>
                </a:solidFill>
                <a:latin typeface="Calibri" pitchFamily="34" charset="0"/>
                <a:ea typeface="Calibri" pitchFamily="34" charset="-122"/>
                <a:cs typeface="Calibri" pitchFamily="34" charset="-120"/>
              </a:rPr>
              <a:t> (nghỉ trưa) · 17h chỉ 263 (giao ca).</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Liên hệ tốt nhất:</a:t>
            </a:r>
            <a:pPr indent="0" marL="0">
              <a:buNone/>
            </a:pPr>
            <a:r>
              <a:rPr lang="en-US" sz="1400" dirty="0">
                <a:solidFill>
                  <a:srgbClr val="1B2A38"/>
                </a:solidFill>
                <a:latin typeface="Calibri" pitchFamily="34" charset="0"/>
                <a:ea typeface="Calibri" pitchFamily="34" charset="-122"/>
                <a:cs typeface="Calibri" pitchFamily="34" charset="-120"/>
              </a:rPr>
              <a:t> 20h 50,4% · 15h 48,9% · 19h 48,7%.</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Loại 21h:</a:t>
            </a:r>
            <a:pPr indent="0" marL="0">
              <a:buNone/>
            </a:pPr>
            <a:r>
              <a:rPr lang="en-US" sz="1400" dirty="0">
                <a:solidFill>
                  <a:srgbClr val="1B2A38"/>
                </a:solidFill>
                <a:latin typeface="Calibri" pitchFamily="34" charset="0"/>
                <a:ea typeface="Calibri" pitchFamily="34" charset="-122"/>
                <a:cs typeface="Calibri" pitchFamily="34" charset="-120"/>
              </a:rPr>
              <a:t> 24 cuộc ngoài giờ (QT-10), “100%” chỉ do mẫu nhỏ.</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Gợi ý:</a:t>
            </a:r>
            <a:pPr indent="0" marL="0">
              <a:buNone/>
            </a:pPr>
            <a:r>
              <a:rPr lang="en-US" sz="1400" dirty="0">
                <a:solidFill>
                  <a:srgbClr val="1B2A38"/>
                </a:solidFill>
                <a:latin typeface="Calibri" pitchFamily="34" charset="0"/>
                <a:ea typeface="Calibri" pitchFamily="34" charset="-122"/>
                <a:cs typeface="Calibri" pitchFamily="34" charset="-120"/>
              </a:rPr>
              <a:t> 19–20h liên hệ tốt nhưng gọi ít hơn chiều ~40%.</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2.3 — đối chiếu với báo cáo tổng đài</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100273"/>
                <a:gridCol w="1833788"/>
                <a:gridCol w="1191962"/>
                <a:gridCol w="1191962"/>
                <a:gridCol w="1008583"/>
                <a:gridCol w="1467030"/>
                <a:gridCol w="3300818"/>
              </a:tblGrid>
              <a:tr h="37947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Dự án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Ngày</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Của bạn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Tổng đài</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Chênh</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Chặng chuyển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Giải thích</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TS-BH</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07–19/09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23.866</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23.866</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Khớp từng ngày (UTC không đổi ngày)</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07/09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329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329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Khớp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08/09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344</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347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Chặng chuyển tiếp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09/09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357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362</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Chặng chuyển tiếp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16/09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431</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439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Chặng chuyển tiếp (nhiều nhất)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17/09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482</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487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Chặng chuyển tiếp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21/09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78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78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Khớp (ca D đêm 20/09)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79476">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9 ngày còn lại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3.517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3.544</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+27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A38"/>
                          </a:solidFill>
                          <a:latin typeface="Calibri" pitchFamily="34" charset="0"/>
                          <a:ea typeface="Calibri" pitchFamily="34" charset="-122"/>
                          <a:cs typeface="Calibri" pitchFamily="34" charset="-120"/>
                        </a:rPr>
                        <a:t>27</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Mỗi ngày chênh = số chặng ngày đó</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79476">
                <a:tc>
                  <a:txBody>
                    <a:bodyPr/>
                    <a:lstStyle/>
                    <a:p>
                      <a:pPr algn="l" indent="0" marL="0">
                        <a:buNone/>
                      </a:pPr>
                      <a:r>
                        <a:rPr lang="en-US" sz="1350" b="1" dirty="0">
                          <a:solidFill>
                            <a:srgbClr val="1B2A38"/>
                          </a:solidFill>
                          <a:latin typeface="Calibri" pitchFamily="34" charset="0"/>
                          <a:ea typeface="Calibri" pitchFamily="34" charset="-122"/>
                          <a:cs typeface="Calibri" pitchFamily="34" charset="-120"/>
                        </a:rPr>
                        <a:t>CS-VT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l" indent="0" marL="0">
                        <a:buNone/>
                      </a:pPr>
                      <a:r>
                        <a:rPr lang="en-US" sz="1350" b="1" dirty="0">
                          <a:solidFill>
                            <a:srgbClr val="1B2A38"/>
                          </a:solidFill>
                          <a:latin typeface="Calibri" pitchFamily="34" charset="0"/>
                          <a:ea typeface="Calibri" pitchFamily="34" charset="-122"/>
                          <a:cs typeface="Calibri" pitchFamily="34" charset="-120"/>
                        </a:rPr>
                        <a:t>07–21/09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ctr" indent="0" marL="0">
                        <a:buNone/>
                      </a:pPr>
                      <a:r>
                        <a:rPr lang="en-US" sz="1350" b="1" dirty="0">
                          <a:solidFill>
                            <a:srgbClr val="1B2A38"/>
                          </a:solidFill>
                          <a:latin typeface="Calibri" pitchFamily="34" charset="0"/>
                          <a:ea typeface="Calibri" pitchFamily="34" charset="-122"/>
                          <a:cs typeface="Calibri" pitchFamily="34" charset="-120"/>
                        </a:rPr>
                        <a:t>5.538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ctr" indent="0" marL="0">
                        <a:buNone/>
                      </a:pPr>
                      <a:r>
                        <a:rPr lang="en-US" sz="1350" b="1" dirty="0">
                          <a:solidFill>
                            <a:srgbClr val="1B2A38"/>
                          </a:solidFill>
                          <a:latin typeface="Calibri" pitchFamily="34" charset="0"/>
                          <a:ea typeface="Calibri" pitchFamily="34" charset="-122"/>
                          <a:cs typeface="Calibri" pitchFamily="34" charset="-120"/>
                        </a:rPr>
                        <a:t>5.586</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ctr" indent="0" marL="0">
                        <a:buNone/>
                      </a:pPr>
                      <a:r>
                        <a:rPr lang="en-US" sz="1350" b="1" dirty="0">
                          <a:solidFill>
                            <a:srgbClr val="D9773A"/>
                          </a:solidFill>
                          <a:latin typeface="Calibri" pitchFamily="34" charset="0"/>
                          <a:ea typeface="Calibri" pitchFamily="34" charset="-122"/>
                          <a:cs typeface="Calibri" pitchFamily="34" charset="-120"/>
                        </a:rPr>
                        <a:t>+48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ctr" indent="0" marL="0">
                        <a:buNone/>
                      </a:pPr>
                      <a:r>
                        <a:rPr lang="en-US" sz="1350" b="1" dirty="0">
                          <a:solidFill>
                            <a:srgbClr val="1B2A38"/>
                          </a:solidFill>
                          <a:latin typeface="Calibri" pitchFamily="34" charset="0"/>
                          <a:ea typeface="Calibri" pitchFamily="34" charset="-122"/>
                          <a:cs typeface="Calibri" pitchFamily="34" charset="-120"/>
                        </a:rPr>
                        <a:t>48</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c>
                  <a:txBody>
                    <a:bodyPr/>
                    <a:lstStyle/>
                    <a:p>
                      <a:pPr algn="l" indent="0" marL="0">
                        <a:buNone/>
                      </a:pPr>
                      <a:r>
                        <a:rPr lang="en-US" sz="1350" b="1" dirty="0">
                          <a:solidFill>
                            <a:srgbClr val="1B2A38"/>
                          </a:solidFill>
                          <a:latin typeface="Calibri" pitchFamily="34" charset="0"/>
                          <a:ea typeface="Calibri" pitchFamily="34" charset="-122"/>
                          <a:cs typeface="Calibri" pitchFamily="34" charset="-120"/>
                        </a:rPr>
                        <a:t>Giải thích 100%</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BE7DA"/>
                    </a:solidFill>
                  </a:tcPr>
                </a:tc>
              </a:tr>
            </a:tbl>
          </a:graphicData>
        </a:graphic>
      </p:graphicFrame>
      <p:sp>
        <p:nvSpPr>
          <p:cNvPr id="8" name="Shape 4"/>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9" name="Text 5"/>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63 dòng trùng không gây chênh — tổng đài đếm mã cuộc gọi duy nhất. Chỉ lệch khi ai đó đếm số dòng file thô (29.515).</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2.4 · (Tùy chọn, IT) Tự động hóa bằng Claude Code</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Script Python tự áp Quy tắc v1 + Mapping v1 cho call log mỗi ngày, xuất CSV (hoặc đẩy lên Sheets), chạy 06:30 sau ca D.</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call_log_theo_ngay/ (14–16/09)</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rules/: Quy tắc v1, Mapping v1</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ref/bang_noi_ma.csv</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Mỗi sáng có du_lieu_sach_&lt;ngày&gt;.csv + báo cáo quy tắc, không cần người upload.</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Viết CLAUDE.md</a:t>
            </a:r>
            <a:pPr indent="0" marL="0">
              <a:buNone/>
            </a:pPr>
            <a:r>
              <a:rPr lang="en-US" sz="1450" dirty="0">
                <a:solidFill>
                  <a:srgbClr val="1B2A38"/>
                </a:solidFill>
                <a:latin typeface="Calibri" pitchFamily="34" charset="0"/>
                <a:ea typeface="Calibri" pitchFamily="34" charset="-122"/>
                <a:cs typeface="Calibri" pitchFamily="34" charset="-120"/>
              </a:rPr>
              <a:t> — chỉ dùng quy tắc trong rules/, không sửa data/, có test bắt buộc ngày 14/09.</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Claude Code viết lam_sach.py</a:t>
            </a:r>
            <a:pPr indent="0" marL="0">
              <a:buNone/>
            </a:pPr>
            <a:r>
              <a:rPr lang="en-US" sz="1450" dirty="0">
                <a:solidFill>
                  <a:srgbClr val="1B2A38"/>
                </a:solidFill>
                <a:latin typeface="Calibri" pitchFamily="34" charset="0"/>
                <a:ea typeface="Calibri" pitchFamily="34" charset="-122"/>
                <a:cs typeface="Calibri" pitchFamily="34" charset="-120"/>
              </a:rPr>
              <a:t> — QT-01→QT-10 đúng thứ tự, cột ma_qt, báo cáo + tổng kiểm tra. Đọc code trước khi đồng ý.</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3 ngày 14–16/09</a:t>
            </a:r>
            <a:pPr indent="0" marL="0">
              <a:buNone/>
            </a:pPr>
            <a:r>
              <a:rPr lang="en-US" sz="1450" dirty="0">
                <a:solidFill>
                  <a:srgbClr val="1B2A38"/>
                </a:solidFill>
                <a:latin typeface="Calibri" pitchFamily="34" charset="0"/>
                <a:ea typeface="Calibri" pitchFamily="34" charset="-122"/>
                <a:cs typeface="Calibri" pitchFamily="34" charset="-120"/>
              </a:rPr>
              <a:t> — 14/09: 2.302 dòng gốc, QT-01 = 6, CS-VT 332, TS-BH 1.959 — test phải xanh.</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(Tùy chọn) Đẩy lên Google Sheets</a:t>
            </a:r>
            <a:pPr indent="0" marL="0">
              <a:buNone/>
            </a:pPr>
            <a:r>
              <a:rPr lang="en-US" sz="1450" dirty="0">
                <a:solidFill>
                  <a:srgbClr val="1B2A38"/>
                </a:solidFill>
                <a:latin typeface="Calibri" pitchFamily="34" charset="0"/>
                <a:ea typeface="Calibri" pitchFamily="34" charset="-122"/>
                <a:cs typeface="Calibri" pitchFamily="34" charset="-120"/>
              </a:rPr>
              <a:t> — chỉ dán khi tổng kiểm tra OK, không dán trùng ngày; quyền tối thiểu.</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Lên lịch 06:30</a:t>
            </a:r>
            <a:pPr indent="0" marL="0">
              <a:buNone/>
            </a:pPr>
            <a:r>
              <a:rPr lang="en-US" sz="1450" dirty="0">
                <a:solidFill>
                  <a:srgbClr val="1B2A38"/>
                </a:solidFill>
                <a:latin typeface="Calibri" pitchFamily="34" charset="0"/>
                <a:ea typeface="Calibri" pitchFamily="34" charset="-122"/>
                <a:cs typeface="Calibri" pitchFamily="34" charset="-120"/>
              </a:rPr>
              <a:t> — Task Scheduler / cron. Không commit data/, output/, .env, file khóa.</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Trình bày: bảng sản lượng của nhóm (10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Mỗi nhóm 3 phút, chọn một góc. Cả lớp hỏi lại một câu: “con số này đếm trên tập nào?”</a:t>
            </a:r>
            <a:endParaRPr lang="en-US" sz="1600" dirty="0"/>
          </a:p>
        </p:txBody>
      </p:sp>
      <p:sp>
        <p:nvSpPr>
          <p:cNvPr id="8" name="Shape 5"/>
          <p:cNvSpPr/>
          <p:nvPr/>
        </p:nvSpPr>
        <p:spPr>
          <a:xfrm>
            <a:off x="548640" y="2240280"/>
            <a:ext cx="3515258" cy="4023360"/>
          </a:xfrm>
          <a:prstGeom prst="roundRect">
            <a:avLst>
              <a:gd name="adj" fmla="val 2601"/>
            </a:avLst>
          </a:prstGeom>
          <a:solidFill>
            <a:srgbClr val="F2F4F6"/>
          </a:solidFill>
          <a:ln w="12700">
            <a:solidFill>
              <a:srgbClr val="F2F4F6"/>
            </a:solidFill>
            <a:prstDash val="solid"/>
          </a:ln>
        </p:spPr>
      </p:sp>
      <p:sp>
        <p:nvSpPr>
          <p:cNvPr id="9" name="Shape 6"/>
          <p:cNvSpPr/>
          <p:nvPr/>
        </p:nvSpPr>
        <p:spPr>
          <a:xfrm>
            <a:off x="777240" y="2468880"/>
            <a:ext cx="566928" cy="566928"/>
          </a:xfrm>
          <a:prstGeom prst="roundRect">
            <a:avLst>
              <a:gd name="adj" fmla="val 22000"/>
            </a:avLst>
          </a:prstGeom>
          <a:solidFill>
            <a:srgbClr val="2B3E50"/>
          </a:solidFill>
          <a:ln w="12700">
            <a:solidFill>
              <a:srgbClr val="2B3E50"/>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Số của nhóm</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Tổng kiểm tra có ra 29.404?</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Ô tổng kiểm tra đều TRUE?</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Tỷ lệ nghe CS-VT, liên hệ TS-BH</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3 khung giờ hiệu quả + vì sao loại 17h, 21h</a:t>
            </a:r>
            <a:endParaRPr lang="en-US" sz="1700" dirty="0"/>
          </a:p>
        </p:txBody>
      </p:sp>
      <p:sp>
        <p:nvSpPr>
          <p:cNvPr id="13" name="Shape 9"/>
          <p:cNvSpPr/>
          <p:nvPr/>
        </p:nvSpPr>
        <p:spPr>
          <a:xfrm>
            <a:off x="4338218" y="2240280"/>
            <a:ext cx="3515258" cy="4023360"/>
          </a:xfrm>
          <a:prstGeom prst="roundRect">
            <a:avLst>
              <a:gd name="adj" fmla="val 2601"/>
            </a:avLst>
          </a:prstGeom>
          <a:solidFill>
            <a:srgbClr val="F2F4F6"/>
          </a:solidFill>
          <a:ln w="12700">
            <a:solidFill>
              <a:srgbClr val="F2F4F6"/>
            </a:solidFill>
            <a:prstDash val="solid"/>
          </a:ln>
        </p:spPr>
      </p:sp>
      <p:sp>
        <p:nvSpPr>
          <p:cNvPr id="14" name="Shape 10"/>
          <p:cNvSpPr/>
          <p:nvPr/>
        </p:nvSpPr>
        <p:spPr>
          <a:xfrm>
            <a:off x="4566818" y="2468880"/>
            <a:ext cx="566928" cy="566928"/>
          </a:xfrm>
          <a:prstGeom prst="roundRect">
            <a:avLst>
              <a:gd name="adj" fmla="val 22000"/>
            </a:avLst>
          </a:prstGeom>
          <a:solidFill>
            <a:srgbClr val="2B3E50"/>
          </a:solidFill>
          <a:ln w="12700">
            <a:solidFill>
              <a:srgbClr val="2B3E50"/>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So với số liệu cũ</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Số cũ của team (gõ tay) là bao nhiêu?</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Anh Tùng báo “hơn 180 thành công”, lọc chữ ra 90 — vì sao?</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Chênh do định nghĩa hay do dữ liệu?</a:t>
            </a:r>
            <a:endParaRPr lang="en-US" sz="1700" dirty="0"/>
          </a:p>
        </p:txBody>
      </p:sp>
      <p:sp>
        <p:nvSpPr>
          <p:cNvPr id="18" name="Shape 13"/>
          <p:cNvSpPr/>
          <p:nvPr/>
        </p:nvSpPr>
        <p:spPr>
          <a:xfrm>
            <a:off x="8127797" y="2240280"/>
            <a:ext cx="3515258" cy="4023360"/>
          </a:xfrm>
          <a:prstGeom prst="roundRect">
            <a:avLst>
              <a:gd name="adj" fmla="val 2601"/>
            </a:avLst>
          </a:prstGeom>
          <a:solidFill>
            <a:srgbClr val="F2F4F6"/>
          </a:solidFill>
          <a:ln w="12700">
            <a:solidFill>
              <a:srgbClr val="F2F4F6"/>
            </a:solidFill>
            <a:prstDash val="solid"/>
          </a:ln>
        </p:spPr>
      </p:sp>
      <p:sp>
        <p:nvSpPr>
          <p:cNvPr id="19" name="Shape 14"/>
          <p:cNvSpPr/>
          <p:nvPr/>
        </p:nvSpPr>
        <p:spPr>
          <a:xfrm>
            <a:off x="8356397" y="2468880"/>
            <a:ext cx="566928" cy="566928"/>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Giải thích chênh lệch</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CS-VT +48 = 48 chặng chuyển tiếp</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TS-BH 0: vì sao UTC không đổi ngày?</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Mỗi cuộc chênh có số đếm làm bằng chứng</a:t>
            </a:r>
            <a:endParaRPr lang="en-US" sz="1700" dirty="0"/>
          </a:p>
          <a:p>
            <a:pPr marL="228600" indent="-228600">
              <a:spcAft>
                <a:spcPts val="500"/>
              </a:spcAft>
              <a:buSzPct val="100000"/>
              <a:buChar char="•"/>
            </a:pPr>
            <a:r>
              <a:rPr lang="en-US" sz="1700" dirty="0">
                <a:solidFill>
                  <a:srgbClr val="1B2A38"/>
                </a:solidFill>
                <a:latin typeface="Calibri" pitchFamily="34" charset="0"/>
                <a:ea typeface="Calibri" pitchFamily="34" charset="-122"/>
                <a:cs typeface="Calibri" pitchFamily="34" charset="-120"/>
              </a:rPr>
              <a:t>Phần chưa giải thích: cách kiểm tra tiếp</a:t>
            </a:r>
            <a:endParaRPr lang="en-US" sz="17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THỰC HÀNH TẠI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Thực hành tại nhà (1 giờ, chia 3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2 · Số hóa sản lượng cuộc gọi</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731520"/>
                <a:gridCol w="5303520"/>
                <a:gridCol w="11887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làm</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gian</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3 ngày liên tiếp: upload call log ngày hôm trước → chạy prompt tổng hợp → dán vào file sản lượng</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3 × 10’</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Ghi nhật ký mọi trường hợp Claude xử lý sai hoặc quy tắc chưa bao quát → cập nhật Quy tắc làm sạch v2</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Đối chiếu tổng sản lượng 3 ngày với báo cáo tổng đài, giải thích chênh lệch</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8" name="Shape 4"/>
          <p:cNvSpPr/>
          <p:nvPr/>
        </p:nvSpPr>
        <p:spPr>
          <a:xfrm>
            <a:off x="8092440" y="1691640"/>
            <a:ext cx="3550615" cy="2240280"/>
          </a:xfrm>
          <a:prstGeom prst="roundRect">
            <a:avLst>
              <a:gd name="adj" fmla="val 4082"/>
            </a:avLst>
          </a:prstGeom>
          <a:solidFill>
            <a:srgbClr val="1B2A38"/>
          </a:solidFill>
          <a:ln w="12700">
            <a:solidFill>
              <a:srgbClr val="1B2A38"/>
            </a:solidFill>
            <a:prstDash val="solid"/>
          </a:ln>
        </p:spPr>
      </p:sp>
      <p:sp>
        <p:nvSpPr>
          <p:cNvPr id="9" name="Shape 5"/>
          <p:cNvSpPr/>
          <p:nvPr/>
        </p:nvSpPr>
        <p:spPr>
          <a:xfrm>
            <a:off x="832104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30768" y="2029968"/>
            <a:ext cx="237744" cy="237744"/>
          </a:xfrm>
          <a:prstGeom prst="rect">
            <a:avLst/>
          </a:prstGeom>
        </p:spPr>
      </p:pic>
      <p:sp>
        <p:nvSpPr>
          <p:cNvPr id="11" name="Text 6"/>
          <p:cNvSpPr txBox="1"/>
          <p:nvPr/>
        </p:nvSpPr>
        <p:spPr>
          <a:xfrm>
            <a:off x="8915400" y="1920240"/>
            <a:ext cx="254477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Nộp bài</a:t>
            </a:r>
            <a:endParaRPr lang="en-US" sz="1800" dirty="0"/>
          </a:p>
        </p:txBody>
      </p:sp>
      <p:sp>
        <p:nvSpPr>
          <p:cNvPr id="12" name="Text 7"/>
          <p:cNvSpPr txBox="1"/>
          <p:nvPr/>
        </p:nvSpPr>
        <p:spPr>
          <a:xfrm>
            <a:off x="8321040" y="2514600"/>
            <a:ext cx="3093415" cy="1325880"/>
          </a:xfrm>
          <a:prstGeom prst="rect">
            <a:avLst/>
          </a:prstGeom>
          <a:noFill/>
          <a:ln/>
        </p:spPr>
        <p:txBody>
          <a:bodyPr wrap="square" lIns="0" tIns="0" rIns="0" bIns="0" rtlCol="0" anchor="t">
            <a:normAutofit/>
          </a:bodyPr>
          <a:lstStyle/>
          <a:p>
            <a:pPr indent="0" marL="0">
              <a:buNone/>
            </a:pPr>
            <a:r>
              <a:rPr lang="en-US" sz="1400" dirty="0">
                <a:solidFill>
                  <a:srgbClr val="E6ECF1"/>
                </a:solidFill>
                <a:latin typeface="Calibri" pitchFamily="34" charset="0"/>
                <a:ea typeface="Calibri" pitchFamily="34" charset="-122"/>
                <a:cs typeface="Calibri" pitchFamily="34" charset="-120"/>
              </a:rPr>
              <a:t>File sản lượng 3 ngày (4 sheet + Nhat_ky_loi) + Quy tắc làm sạch v2 + bảng giải thích chênh lệch.</a:t>
            </a:r>
            <a:endParaRPr lang="en-US" sz="1400" dirty="0"/>
          </a:p>
        </p:txBody>
      </p:sp>
      <p:sp>
        <p:nvSpPr>
          <p:cNvPr id="13" name="Shape 8"/>
          <p:cNvSpPr/>
          <p:nvPr/>
        </p:nvSpPr>
        <p:spPr>
          <a:xfrm>
            <a:off x="8092440" y="4160520"/>
            <a:ext cx="3550615" cy="2103120"/>
          </a:xfrm>
          <a:prstGeom prst="roundRect">
            <a:avLst>
              <a:gd name="adj" fmla="val 4348"/>
            </a:avLst>
          </a:prstGeom>
          <a:solidFill>
            <a:srgbClr val="FBE7DA"/>
          </a:solidFill>
          <a:ln w="12700">
            <a:solidFill>
              <a:srgbClr val="FBE7DA"/>
            </a:solidFill>
            <a:prstDash val="solid"/>
          </a:ln>
        </p:spPr>
      </p:sp>
      <p:sp>
        <p:nvSpPr>
          <p:cNvPr id="14" name="Text 9"/>
          <p:cNvSpPr txBox="1"/>
          <p:nvPr/>
        </p:nvSpPr>
        <p:spPr>
          <a:xfrm>
            <a:off x="8321040" y="4343400"/>
            <a:ext cx="3093415" cy="173736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Chưa có dữ liệu thật?</a:t>
            </a:r>
            <a:pPr indent="0" marL="0">
              <a:buNone/>
            </a:pPr>
            <a:r>
              <a:rPr lang="en-US" sz="1300" dirty="0">
                <a:solidFill>
                  <a:srgbClr val="1B2A38"/>
                </a:solidFill>
                <a:latin typeface="Calibri" pitchFamily="34" charset="0"/>
                <a:ea typeface="Calibri" pitchFamily="34" charset="-122"/>
                <a:cs typeface="Calibri" pitchFamily="34" charset="-120"/>
              </a:rPr>
              <a:t> Dùng file 14, 15, 16/09 trong call_log_theo_ngay/.</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Thêm vào prompt:</a:t>
            </a:r>
            <a:pPr indent="0" marL="0">
              <a:buNone/>
            </a:pPr>
            <a:r>
              <a:rPr lang="en-US" sz="1300" dirty="0">
                <a:solidFill>
                  <a:srgbClr val="1B2A38"/>
                </a:solidFill>
                <a:latin typeface="Calibri" pitchFamily="34" charset="0"/>
                <a:ea typeface="Calibri" pitchFamily="34" charset="-122"/>
                <a:cs typeface="Calibri" pitchFamily="34" charset="-120"/>
              </a:rPr>
              <a:t> ca v1 chưa quy định → liệt kê “Chưa có quy tắc”, không tự xử lý.</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Chênh tổng đài 3 ngày:</a:t>
            </a:r>
            <a:pPr indent="0" marL="0">
              <a:buNone/>
            </a:pPr>
            <a:r>
              <a:rPr lang="en-US" sz="1300" dirty="0">
                <a:solidFill>
                  <a:srgbClr val="1B2A38"/>
                </a:solidFill>
                <a:latin typeface="Calibri" pitchFamily="34" charset="0"/>
                <a:ea typeface="Calibri" pitchFamily="34" charset="-122"/>
                <a:cs typeface="Calibri" pitchFamily="34" charset="-120"/>
              </a:rPr>
              <a:t> +5 / +4 / +8 = 17 chặng chuyển tiếp.</a:t>
            </a:r>
            <a:endParaRPr lang="en-US" sz="1300" dirty="0"/>
          </a:p>
        </p:txBody>
      </p:sp>
      <p:sp>
        <p:nvSpPr>
          <p:cNvPr id="15" name="Text 10"/>
          <p:cNvSpPr txBox="1"/>
          <p:nvPr/>
        </p:nvSpPr>
        <p:spPr>
          <a:xfrm>
            <a:off x="548640" y="4041648"/>
            <a:ext cx="7223760" cy="310896"/>
          </a:xfrm>
          <a:prstGeom prst="rect">
            <a:avLst/>
          </a:prstGeom>
          <a:noFill/>
          <a:ln/>
        </p:spPr>
        <p:txBody>
          <a:bodyPr wrap="square" lIns="0" tIns="0" rIns="0" bIns="0" rtlCol="0" anchor="ctr"/>
          <a:lstStyle/>
          <a:p>
            <a:pPr indent="0" marL="0">
              <a:buNone/>
            </a:pPr>
            <a:r>
              <a:rPr lang="en-US" sz="1400" b="1" dirty="0">
                <a:solidFill>
                  <a:srgbClr val="D9773A"/>
                </a:solidFill>
                <a:latin typeface="Calibri" pitchFamily="34" charset="0"/>
                <a:ea typeface="Calibri" pitchFamily="34" charset="-122"/>
                <a:cs typeface="Calibri" pitchFamily="34" charset="-120"/>
              </a:rPr>
              <a:t>Số liệu tự kiểm — dữ liệu mẫu 14–16/09</a:t>
            </a:r>
            <a:endParaRPr lang="en-US" sz="14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48640" y="4407408"/>
          <a:ext cx="7223760" cy="914400"/>
        </p:xfrm>
        <a:graphic>
          <a:graphicData uri="http://schemas.openxmlformats.org/drawingml/2006/table">
            <a:tbl>
              <a:tblPr/>
              <a:tblGrid>
                <a:gridCol w="685800"/>
                <a:gridCol w="1600200"/>
                <a:gridCol w="685800"/>
                <a:gridCol w="1188720"/>
                <a:gridCol w="731520"/>
                <a:gridCol w="233172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Ngày</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Gốc = sạch + trùng</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Chặng</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CS-VT (nghe)</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TS-BH</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Bất ngờ của ngày</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365760">
                <a:tc>
                  <a:txBody>
                    <a:bodyPr/>
                    <a:lstStyle/>
                    <a:p>
                      <a:pPr algn="l" indent="0" marL="0">
                        <a:buNone/>
                      </a:pPr>
                      <a:r>
                        <a:rPr lang="en-US" sz="1250" b="1" dirty="0">
                          <a:solidFill>
                            <a:srgbClr val="1B2A38"/>
                          </a:solidFill>
                          <a:latin typeface="Calibri" pitchFamily="34" charset="0"/>
                          <a:ea typeface="Calibri" pitchFamily="34" charset="-122"/>
                          <a:cs typeface="Calibri" pitchFamily="34" charset="-120"/>
                        </a:rPr>
                        <a:t>14/09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2.302 = 2.296 + 6</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250" dirty="0">
                          <a:solidFill>
                            <a:srgbClr val="1B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332 (88,9%)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1.959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EXT2018 lần đầu (63 dòng)</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365760">
                <a:tc>
                  <a:txBody>
                    <a:bodyPr/>
                    <a:lstStyle/>
                    <a:p>
                      <a:pPr algn="l" indent="0" marL="0">
                        <a:buNone/>
                      </a:pPr>
                      <a:r>
                        <a:rPr lang="en-US" sz="1250" b="1" dirty="0">
                          <a:solidFill>
                            <a:srgbClr val="1B2A38"/>
                          </a:solidFill>
                          <a:latin typeface="Calibri" pitchFamily="34" charset="0"/>
                          <a:ea typeface="Calibri" pitchFamily="34" charset="-122"/>
                          <a:cs typeface="Calibri" pitchFamily="34" charset="-120"/>
                        </a:rPr>
                        <a:t>15/09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2.462 = 2.457 + 5</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432 (91,9%)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2 UTC · 1 âm · ext2005</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5760">
                <a:tc>
                  <a:txBody>
                    <a:bodyPr/>
                    <a:lstStyle/>
                    <a:p>
                      <a:pPr algn="l" indent="0" marL="0">
                        <a:buNone/>
                      </a:pPr>
                      <a:r>
                        <a:rPr lang="en-US" sz="1250" b="1" dirty="0">
                          <a:solidFill>
                            <a:srgbClr val="1B2A38"/>
                          </a:solidFill>
                          <a:latin typeface="Calibri" pitchFamily="34" charset="0"/>
                          <a:ea typeface="Calibri" pitchFamily="34" charset="-122"/>
                          <a:cs typeface="Calibri" pitchFamily="34" charset="-120"/>
                        </a:rPr>
                        <a:t>16/09</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2.310 = 2.305 + 5</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250" dirty="0">
                          <a:solidFill>
                            <a:srgbClr val="1B2A38"/>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431 (90,5%)</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1.866</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l" indent="0" marL="0">
                        <a:buNone/>
                      </a:pPr>
                      <a:r>
                        <a:rPr lang="en-US" sz="1250" dirty="0">
                          <a:solidFill>
                            <a:srgbClr val="1B2A38"/>
                          </a:solidFill>
                          <a:latin typeface="Calibri" pitchFamily="34" charset="0"/>
                          <a:ea typeface="Calibri" pitchFamily="34" charset="-122"/>
                          <a:cs typeface="Calibri" pitchFamily="34" charset="-120"/>
                        </a:rPr>
                        <a:t>EXT2099 lần đầu (57 dòng)</a:t>
                      </a:r>
                      <a:endParaRPr lang="en-US" sz="1250" dirty="0">
                        <a:latin typeface="Calibri" charset="0"/>
                        <a:ea typeface="Calibri" charset="0"/>
                        <a:cs typeface="Calibri" charset="0"/>
                      </a:endParaRPr>
                    </a:p>
                  </a:txBody>
                  <a:tcPr marL="76200" marR="762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Tổng kết buổi học</a:t>
            </a:r>
            <a:endParaRPr lang="en-US" sz="3000" dirty="0"/>
          </a:p>
        </p:txBody>
      </p:sp>
      <p:sp>
        <p:nvSpPr>
          <p:cNvPr id="4" name="Text 1"/>
          <p:cNvSpPr txBox="1"/>
          <p:nvPr/>
        </p:nvSpPr>
        <p:spPr>
          <a:xfrm>
            <a:off x="548640" y="1417320"/>
            <a:ext cx="6766560" cy="411480"/>
          </a:xfrm>
          <a:prstGeom prst="rect">
            <a:avLst/>
          </a:prstGeom>
          <a:noFill/>
          <a:ln/>
        </p:spPr>
        <p:txBody>
          <a:bodyPr wrap="square" lIns="0" tIns="0" rIns="0" bIns="0" rtlCol="0" anchor="t"/>
          <a:lstStyle/>
          <a:p>
            <a:pPr indent="0" marL="0">
              <a:buNone/>
            </a:pPr>
            <a:r>
              <a:rPr lang="en-US" sz="1500" b="1" spc="100" kern="0" dirty="0">
                <a:solidFill>
                  <a:srgbClr val="D9773A"/>
                </a:solidFill>
                <a:latin typeface="Calibri" pitchFamily="34" charset="0"/>
                <a:ea typeface="Calibri" pitchFamily="34" charset="-122"/>
                <a:cs typeface="Calibri" pitchFamily="34" charset="-120"/>
              </a:rPr>
              <a:t>Hôm nay bạn đã làm được</a:t>
            </a:r>
            <a:endParaRPr lang="en-US" sz="1500" dirty="0"/>
          </a:p>
        </p:txBody>
      </p:sp>
      <p:sp>
        <p:nvSpPr>
          <p:cNvPr id="5" name="Text 2"/>
          <p:cNvSpPr txBox="1"/>
          <p:nvPr/>
        </p:nvSpPr>
        <p:spPr>
          <a:xfrm>
            <a:off x="548640" y="1920240"/>
            <a:ext cx="6766560" cy="42062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Sản lượng là phễu 4 lớp — mỗi con số phải kèm tầng phễu và mẫu số</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Đếm được 5 lỗi kinh điển: chuyển tiếp, qua đêm, ghi chú tự do, UTC, trùng dòng</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Danh mục mã 2 cấp: 48 ghi chú → 11 mã outbound + bộ mã inbound, có DNC</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Quy tắc làm sạch v1 (QT-01…QT-10) trong Project — 29.515 = 29.452 + 63</a:t>
            </a:r>
            <a:endParaRPr lang="en-US" sz="1550" dirty="0"/>
          </a:p>
          <a:p>
            <a:pPr marL="228600" indent="-228600">
              <a:spcAft>
                <a:spcPts val="900"/>
              </a:spcAft>
              <a:buSzPct val="100000"/>
              <a:buChar char="•"/>
            </a:pPr>
            <a:r>
              <a:rPr lang="en-US" sz="1550" dirty="0">
                <a:solidFill>
                  <a:srgbClr val="E6ECF1"/>
                </a:solidFill>
                <a:latin typeface="Calibri" pitchFamily="34" charset="0"/>
                <a:ea typeface="Calibri" pitchFamily="34" charset="-122"/>
                <a:cs typeface="Calibri" pitchFamily="34" charset="-120"/>
              </a:rPr>
              <a:t>File sản lượng 4 sheet bằng công thức; chênh +48 với tổng đài giải thích 100%</a:t>
            </a:r>
            <a:endParaRPr lang="en-US" sz="1550" dirty="0"/>
          </a:p>
        </p:txBody>
      </p:sp>
      <p:sp>
        <p:nvSpPr>
          <p:cNvPr id="6" name="Shape 3"/>
          <p:cNvSpPr/>
          <p:nvPr/>
        </p:nvSpPr>
        <p:spPr>
          <a:xfrm>
            <a:off x="7680960" y="1417320"/>
            <a:ext cx="3962095" cy="4709160"/>
          </a:xfrm>
          <a:prstGeom prst="roundRect">
            <a:avLst>
              <a:gd name="adj" fmla="val 2769"/>
            </a:avLst>
          </a:prstGeom>
          <a:solidFill>
            <a:srgbClr val="2B3E50"/>
          </a:solidFill>
          <a:ln w="12700">
            <a:solidFill>
              <a:srgbClr val="2B3E50"/>
            </a:solidFill>
            <a:prstDash val="solid"/>
          </a:ln>
        </p:spPr>
      </p:sp>
      <p:sp>
        <p:nvSpPr>
          <p:cNvPr id="7" name="Shape 4"/>
          <p:cNvSpPr/>
          <p:nvPr/>
        </p:nvSpPr>
        <p:spPr>
          <a:xfrm>
            <a:off x="7955280" y="1691640"/>
            <a:ext cx="502920" cy="502920"/>
          </a:xfrm>
          <a:prstGeom prst="roundRect">
            <a:avLst>
              <a:gd name="adj" fmla="val 22000"/>
            </a:avLst>
          </a:prstGeom>
          <a:solidFill>
            <a:srgbClr val="D9773A"/>
          </a:solidFill>
          <a:ln w="12700">
            <a:solidFill>
              <a:srgbClr val="D9773A"/>
            </a:solidFill>
            <a:prstDash val="solid"/>
          </a:ln>
        </p:spPr>
      </p:sp>
      <p:pic>
        <p:nvPicPr>
          <p:cNvPr id="8" name="Image 0" descr="preencoded.png">    </p:cNvPr>
          <p:cNvPicPr>
            <a:picLocks noChangeAspect="1"/>
          </p:cNvPicPr>
          <p:nvPr/>
        </p:nvPicPr>
        <p:blipFill>
          <a:blip r:embed="rId1"/>
          <a:stretch>
            <a:fillRect/>
          </a:stretch>
        </p:blipFill>
        <p:spPr>
          <a:xfrm>
            <a:off x="8075981" y="1812341"/>
            <a:ext cx="261518" cy="261518"/>
          </a:xfrm>
          <a:prstGeom prst="rect">
            <a:avLst/>
          </a:prstGeom>
        </p:spPr>
      </p:pic>
      <p:sp>
        <p:nvSpPr>
          <p:cNvPr id="9" name="Text 5"/>
          <p:cNvSpPr txBox="1"/>
          <p:nvPr/>
        </p:nvSpPr>
        <p:spPr>
          <a:xfrm>
            <a:off x="8595360" y="1691640"/>
            <a:ext cx="2864815"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Buổi 3 · Chấm công</a:t>
            </a:r>
            <a:endParaRPr lang="en-US" sz="1800" dirty="0"/>
          </a:p>
        </p:txBody>
      </p:sp>
      <p:sp>
        <p:nvSpPr>
          <p:cNvPr id="10" name="Text 6"/>
          <p:cNvSpPr txBox="1"/>
          <p:nvPr/>
        </p:nvSpPr>
        <p:spPr>
          <a:xfrm>
            <a:off x="7955280" y="2423160"/>
            <a:ext cx="3413455" cy="3520440"/>
          </a:xfrm>
          <a:prstGeom prst="rect">
            <a:avLst/>
          </a:prstGeom>
          <a:noFill/>
          <a:ln/>
        </p:spPr>
        <p:txBody>
          <a:bodyPr wrap="square" lIns="0" tIns="0" rIns="0" bIns="0" rtlCol="0" anchor="t">
            <a:normAutofit/>
          </a:bodyPr>
          <a:lstStyle/>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Biến nội quy chấm công thành bảng quy tắc “Nếu… thì…”</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File công 4 sheet: lịch ca, chấm công gốc, công ngày, công tháng</a:t>
            </a:r>
            <a:endParaRPr lang="en-US" sz="1450" dirty="0"/>
          </a:p>
          <a:p>
            <a:pPr marL="228600" indent="-228600">
              <a:spcAft>
                <a:spcPts val="900"/>
              </a:spcAft>
              <a:buSzPct val="100000"/>
              <a:buChar char="•"/>
            </a:pPr>
            <a:r>
              <a:rPr lang="en-US" sz="1450" dirty="0">
                <a:solidFill>
                  <a:srgbClr val="E6ECF1"/>
                </a:solidFill>
                <a:latin typeface="Calibri" pitchFamily="34" charset="0"/>
                <a:ea typeface="Calibri" pitchFamily="34" charset="-122"/>
                <a:cs typeface="Calibri" pitchFamily="34" charset="-120"/>
              </a:rPr>
              <a:t>Đối soát 3 lớp thời gian: có mặt ≥ đăng nhập ≥ sản xuất</a:t>
            </a:r>
            <a:endParaRPr lang="en-US" sz="1450" dirty="0"/>
          </a:p>
          <a:p>
            <a:pPr marL="228600" indent="-228600">
              <a:spcAft>
                <a:spcPts val="900"/>
              </a:spcAft>
              <a:buSzPct val="100000"/>
              <a:buChar char="•"/>
            </a:pPr>
            <a:r>
              <a:rPr lang="en-US" sz="1450" b="1" dirty="0">
                <a:solidFill>
                  <a:srgbClr val="E6ECF1"/>
                </a:solidFill>
                <a:latin typeface="Calibri" pitchFamily="34" charset="0"/>
                <a:ea typeface="Calibri" pitchFamily="34" charset="-122"/>
                <a:cs typeface="Calibri" pitchFamily="34" charset="-120"/>
              </a:rPr>
              <a:t>Mang theo:</a:t>
            </a:r>
            <a:pPr indent="0" marL="0">
              <a:buNone/>
            </a:pPr>
            <a:r>
              <a:rPr lang="en-US" sz="1450" dirty="0">
                <a:solidFill>
                  <a:srgbClr val="E6ECF1"/>
                </a:solidFill>
                <a:latin typeface="Calibri" pitchFamily="34" charset="0"/>
                <a:ea typeface="Calibri" pitchFamily="34" charset="-122"/>
                <a:cs typeface="Calibri" pitchFamily="34" charset="-120"/>
              </a:rPr>
              <a:t> bài 3 ngày + Quy tắc v2, quyết định cho EXT2099, cột ngay_ca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Sao Việt Contact Center (hư cấu)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2 — Số hóa sản lượng cuộc gọi</dc:title>
  <dc:subject>PptxGenJS Presentation</dc:subject>
  <dc:creator>Claude cho Callcenter</dc:creator>
  <cp:lastModifiedBy>Claude cho Callcenter</cp:lastModifiedBy>
  <cp:revision>1</cp:revision>
  <dcterms:created xsi:type="dcterms:W3CDTF">2026-10-01T07:27:05Z</dcterms:created>
  <dcterms:modified xsi:type="dcterms:W3CDTF">2026-10-01T07:27:05Z</dcterms:modified>
</cp:coreProperties>
</file>