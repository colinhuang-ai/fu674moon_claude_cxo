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1 phút bằng câu chuyện: thứ Hai tuần trước chị Hạnh nghỉ phép, anh Tùng dán prompt nhưng quên quy giờ UTC và quên loại chặng chuyển tiếp — số gửi đi lệch 5 cuộc, anh Phong hỏi lại “Số nào đúng?”. Đó là dấu hiệu quy trình vẫn nằm trong đầu một người. Buổi 5 không dạy kỹ thuật dữ liệu mới: nó đóng gói mọi thứ đã làm ở buổi 1–4. Ebook: Buổi 5 → Tổng quan.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nhanh 3 mục tiêu. Hỏi lớp: nếu ngày mai người làm báo cáo của bạn nghỉ, ai làm thay — và có ra cùng con số không? Nhắc điều kiện tiên quyết: quy tắc làm sạch v2, danh mục mã kết quả, bảng quy tắc công, từ điển chỉ số. Ai còn thiếu thì lấy bản tham chiếu ở trang Giải pháp buổi 2–4, đừng bỏ buổi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phút lab là phần chính: 4 lab nối nhau, sản phẩm của lab trước là đầu vào của lab sau (Skill → SOP trỏ tới Skill → kế hoạch giao người giữ Skill và SOP). Phần kiến thức 30 phút chủ yếu cho xem mẫu. Phần trình bày cuối khóa giữ đúng giờ. Kết thúc bằng việc chỉ định AI Champion ngay trên lớp, không để “về bàn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1 trưởng ca và HR kể nhanh, mỗi người 2 phút, từ nhật ký 3 ca. Bài tốt có ít nhất 1 dòng dashboard giúp hành động sớm hơn và 1 dòng dashboard không giúp được (kèm lý do). Học viên dùng dữ liệu mẫu 17–19/09 phải tự thấy ít nhất 4 sự kiện ở thẻ trái. Chốt: những gì “chưa giúp được” — nhất là phải có người mở file, dán prompt mỗi sáng — chính là việc của buổi hôm nay. Đáp số: ebook → Giải pháp → Buổi 4, mục 5 và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câu chuyện 16/09: cả hai đều dán “cái prompt trong nhóm Zalo”. Chị Hạnh nhớ dặn bỏ 57 cuộc của EXT2099 khỏi năng suất agent (vẫn tính sản lượng dự án); anh Tùng dán bản cũ, không có dòng đó và quên bỏ chặng chuyển. Không ai làm sai prompt — cái sai là quy trình nằm rải rác, nửa trong prompt, nửa trong đầu người chạy. Hỏi lớp: công ty bạn đang lưu prompt ở đâu, ai biết bản nào là mới nhất? Buổi này là lắp ráp và chuẩn hóa, không phải sáng tác. Ebook: Buổi 5 → Bài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qua thư mục từ trên xuống: SKILL.md ngắn (các bước + quy tắc bắt buộc), chi tiết để trong references/, script tùy chọn để tính đúng từng số thay vì để mô hình tự đếm. Chỉ vào description: viết “Báo cáo KPI” thì khi anh Tùng gõ “làm báo cáo sáng cho sếp”, Skill sẽ bị bỏ qua. Ba cạm bẫy: nhồi mọi thứ vào SKILL.md, không ghi phiên bản cho file tham chiếu, không có mẫu đầu ra. Nơi bật và tải Skill khác nhau theo gói (Claude Code: thư mục .claude/skills/) — mô tả theo chức năng, không theo vị trí nút. Ebook: Buổi 5 → Bài 01 (có bài thực hành 5 phút viết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 giải quyết chuyện “ra cùng một kết quả”; tự động hóa giải quyết chuyện “ra đúng giờ, không cần ai nhớ”. Ba tầng: (1) một lệnh — từ 6 giờ/tuần còn ~8 phút/ngày; (2) lịch chạy 07:15 lưu bản nháp; (3) IT dùng Claude Code viết script lấy dữ liệu, ghi nhật ký chạy. Đi từng tầng vì mỗi tầng phơi ra lỗi của tầng dưới. Hỏi lớp: vì sao lấy chấm công đến 08:00? (ca D 17/09 kết thúc 06:00 ngày 18/09 — lấy đến 23:59 thì cả ca D “thiếu quẹt ra”). Cạm bẫy: máy chủ đặt giờ UTC thì 07:15 “trên máy” là 14:15 giờ Việt Nam. Ebook: Buổi 5 → Bài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C. Tử số có 3,75 giờ sản xuất của NV0116 nhưng mẫu số thiếu giờ có mặt → chỉ số bị thổi lên 71,4%. Loại cả hai phía cho ra 64,2%, so sánh được với các ngày khác; ghi chú để người đọc biết vì sao. A đúng số học nhưng sai ý nghĩa (CEO khen nhầm). B vi phạm nguyên tắc “thiếu dữ liệu ghi chưa có dữ liệu, không ước lượng” — giờ có mặt là căn cứ tính công. D quá tay: chỉ số vẫn dùng được khi xử lý đúng.
Cùng logic: mã agent lạ EXT2099 (62 cuộc ngày 17/09) tính vào sản lượng dự án nhưng không vào năng suất agent. Ebook: Buổi 5 → Kiểm tra nhanh (bài 03), câu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Tài liệu cũ viết “đối chiếu dữ liệu chấm công với tổng đài, xử lý các trường hợp bất thường theo quy định” — không nói mở file nào, nhìn cột nào, thế nào là bất thường, bất thường thì hỏi ai. Ví dụ tệ: “Kiểm tra dữ liệu và làm sạch theo quy tắc, sau đó tạo báo cáo gửi lãnh đạo nếu số liệu hợp lý” — 3 hành động, 2 từ mơ hồ, không có điểm kiểm tra. Ví dụ tốt: “Bước 4. Tìm dòng ĐỐI CHIẾU TỔNG, kiểm tra 2.581 = 2.567 + 9 + 5. Bước 5. Hai vế không bằng nhau → dừng, chụp màn hình, nhắn anh Khoa.” Skill lo phần máy làm, SOP lo phần người làm. Ebook: Buổi 5 → Bài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làm giỏi nhất thường viết SOP tệ nhất — không phải vì lười, mà vì đã quen tới mức không nhận ra mình đang làm những bước nào. Cách lấy kiến thức ngầm ra là đảo vai: Claude hỏi, người giỏi trả lời. Nếu Claude hỏi dồn nhiều câu, nhắc “Hỏi từng câu một thôi”. Khi câu trả lời chung chung (“kiểm tra các trường hợp bất thường”), Claude phải hỏi lại: chị mở file nào, nhìn cột nào? Prompt của syllabus; bản mở rộng (thêm “hỏi lại khi trả lời chung chung”, chỗ đặt ảnh) dùng ở Lab 5.3. Ebook: Buổi 5 → Bài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vòng lớp ở bước 2: SKILL.md phải có ba quy tắc Chủ nhật, NV0116, EXT2099 trong phần Quy tắc bắt buộc. Vì sao yêu cầu “CẦN QUYẾT ĐỊNH”? Skill sẽ chạy hàng trăm lần — một giả định sai do AI tự chọn (vd ngưỡng 🔴) sẽ bị nhân lên hàng trăm lần mà không ai để ý. Ngưỡng 🟡 “giảm &gt; 5%” là ví dụ CẦN QUYẾT ĐỊNH, tạm dùng đến khi chị Hạnh chốt. Thiếu sản phẩm buổi trước thì lấy bản tham chiếu ở Giải pháp buổi 2–4. Ebook: Buổi 5 → Lab 5.1; SKILL.md và script tham chiếu ở Giải pháp buổi 5, mục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prompt của syllabus, chỉ thay ngày. Dùng nguyên văn để kiểm Skill: nếu Skill hoạt động, Claude tự áp quy tắc Chủ nhật, NV0116, EXT2099 mà prompt không hề nhắc tới. Sau đó thử “làm báo cáo sáng 16/09” (tải file 09–16/09). Lỗi hay gặp: Skill không được gọi → thêm cách nói của người dùng vào description; mỗi lần chạy ra số hơi khác → thêm “mọi con số tính bằng code” hoặc dùng scripts/tinh_kpi_ngay.py; Top 3 kết luận “NV0106 lười” → thêm quy tắc giọng văn “nguyên nhân khả dĩ, không kết luận”.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 lệch ±1 do làm tròn là chấp nhận được. Ba bẫy: tổng cuộc +25% (trung bình tính cả CN 13/09), CS-VT 487 cuộc (đếm cả 5 chặng chuyển), tỷ lệ sản xuất CS-VT 71,4% (giữ giờ sản xuất NV0116 nhưng bỏ giờ có mặt). Top 3 cần thấy: (1) TS-BH năng suất −6,0% dù sản lượng +7,4% — tỷ lệ chốt/liên hệ giảm 11,5% → 10,4%, rõ ở TS-A (40 thành công, TB 47,8); (2) CS-VT cuộc vào +24,2%, NV0112 và NV0113 ở lại 90–118’ — khả dĩ do sự cố mạng, cần nhà mạng xác nhận; (3) NV0106 có mặt chưa đăng nhập 84’ — cần trao đổi 1-1, không kết luận. Báo cáo đầy đủ: ebook → Giải pháp → Buổi 5, mục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buổi 3 bảng công và đối soát mất cả buổi với nhiều prompt nối tiếp; cuối tháng chị Mai phải làm lại chuỗi đó dưới áp lực hạn chốt lương — lúc dễ quên bước nhất. File tạo giá trị lớn nhất là nhom-xac-minh.md: chị Mai không phải đọc lại 40 dòng cờ để tự phân loại. Hỏi lớp: vì sao tách nhóm E? (có mặt nhưng không đăng nhập là chuyện quản lý năng suất, không phải sai công — trộn vào sẽ giữ công của người đi làm đủ giờ). Mục tiêu 30 ngày: chốt công từ 3 ngày xuống ≤ 1,5 ngày. Ebook: Buổi 5 → Lab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tạo khung lấy từ ebook Lab 5.2 bước 1; prompt chạy ở bước 3. Nhấn mạnh thứ tự: đối chiếu đơn phép/OT TRƯỚC khi gắn cờ vắng/OT — nếu không, NV0113 ngày 09/09 (nghỉ nửa ngày sáng) bị báo “thiếu lượt quẹt vào”. Nếu Claude tự tính tiền OT với hệ số 150% → xóa mọi con số hệ số khỏi Skill; hệ số do HR xác nhận theo pháp luật hiện hành. Nếu số cờ &gt; 40 vì có 17 dòng “quẹt đúp” → ghi rõ quẹt đúp là quy tắc ghép (lấy lượt đầu/cuối), không phải cờ. SKILL.md mẫu: ebook → Giải pháp → Buổi 5, mục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Kiểm 3 thứ trước khi tin: dòng đối chiếu 214 + 6 = 220; nhóm E không lẫn vào B/C; phép và OT đã duyệt (NV0104, NV0113 09/09, NV0102) nằm ở nhóm A. 6 ca thiếu: NV0104 10/09 phép; NV0107 18/09 phép chờ duyệt; NV0110 16/09 vắng; NV0113 09/09 nghỉ nửa ngày sáng; NV0116 09/09 và 17/09 thiếu lượt quẹt. Không có câu nào kết luận “chấm công hộ” với NV0114 — chỉ “cần xác minh”. NV0116 có giờ đăng nhập (93,58) lớn hơn giờ có mặt (79,63): dấu hiệu dữ liệu chấm công thiếu, không phải làm nhiều.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Làm SOP ngay hôm nay vì đây là lúc nhớ rõ nhất mọi ngoại lệ vừa gặp ở Lab 5.1–5.2; một tuần sau chúng thành kiến thức ngầm và biến mất khỏi SOP. Dùng prompt phỏng vấn bản mở rộng trong ebook Lab 5.3: thêm “chỉ hỏi 1 câu mỗi lượt và đợi tôi trả lời” và “khi tôi trả lời chung chung, hỏi lại để lấy ví dụ cụ thể (tên file, cột, con số)”. Đi vòng lớp: nghe một cặp — có kể bằng ví dụ thật không? “Tôi kiểm tra số” phải thành “tôi xem dòng đối chiếu, 2.581 = 2.567 + 9 + 5”. Ebook: Buổi 5 → Lab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này mô phỏng điều bài về nhà sẽ làm thật: một người chưa từng làm đọc SOP. Phải dán vào cuộc trò chuyện MỚI vì trong cuộc cũ Claude đã biết mọi câu trả lời phỏng vấn nên không thấy chỗ thiếu. Bản mẫu điển hình sẽ tìm ra khoảng 5–6 chỗ mơ hồ ở lần kiểm đầu tiên — đó là tín hiệu tốt, không phải thất bại. Ghi các chỗ này thành danh sách sửa ở bước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SOP của học viên với mẫu: không cần giống từng chữ, cần đủ 7 phần và đủ ngoại lệ thật (Chủ nhật, ca D, mã lạ, thiếu dữ liệu). Checklist: mỗi bước bắt đầu bằng động từ và chỉ 1 hành động; ít nhất 1 bước có prompt Claude; ít nhất 3 chỗ đặt ảnh; điểm kiểm tra có con số; Liên hệ nói rõ khi nào dừng. Skill báo “Thiếu dữ liệu” thì không tự làm tay — gửi anh Phong “Báo cáo hôm nay trễ, đang bổ sung dữ liệu”. SOP-VH-01 đầy đủ 10 bước ở ebook Lab 5.3; SOP-HR-01 Chốt công tháng (13 bước) ở Giải pháp buổi 5, mục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chuyện phần mềm báo cáo tổng đài một năm trước: tuần 3 lệch số vì chưa ai cập nhật danh sách agent, không ai được giao sửa; tuần 6 mọi người quay lại Excel cũ, phần mềm vẫn trả phí thêm 11 tháng. Công cụ chết vì không có người chịu trách nhiệm và không có số chứng minh — kế hoạch 30 ngày chặn cả hai. 30 ngày đủ một chu kỳ chốt công trọn vẹn; mỗi tuần đưa vào đúng một thói quen. Vì sao không chọn chị Hạnh làm Champion Vận hành? Chị là người duyệt — tách hai vai để có kiểm soát chéo và để chị không thành “điểm hỏng duy nhất” lần nữa. Ebook: Buổi 5 → Bài 08, Phụ lục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B. Champion cần thói quen và quyền chạm vào quy trình mỗi ngày, đồng thời tách khỏi người duyệt để có kiểm soát chéo. A sai: anh Khoa không ngồi ca, không dùng báo cáo — hợp vai hỗ trợ kỹ thuật. C sai: chị Hạnh đã là người duyệt; gộp hai vai khiến chị lại thành điểm hỏng duy nhất. D sai: việc của mọi người là việc của không ai.
Hỏi tiếp lớp: ở công ty bạn, ai là “anh Tùng”, ai là “chị Mai”? Ghi tên ngay vào Lab 5.4. Ebook: Buổi 5 → Kiểm tra nhanh (bài 09), câu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10 phút vì khung 4 tuần đã có ở Phụ lục D.2 — việc của bạn là gắn tên người, ngày cụ thể và chỉ số đo được. Nếu 10 phút không đủ để điền một ô “người chịu trách nhiệm”, đó là dấu hiệu công ty chưa có người sẵn sàng — nói ra ngay bây giờ, không phải sau 30 ngày. Cột “Trước” của D.3 phải điền hôm nay: sau 30 ngày không ai nhớ trước đây mất bao lâu. Ebook: Buổi 5 → Lab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Thay ngày bắt đầu và danh sách vướng mắc theo công ty bạn. Lỗi hay gặp: Claude tự điền tên người chưa được đưa → nhắc “chỉ dùng tên tôi đã cho, còn lại ghi CHƯA CÓ NGƯỜI”; chỉ số kiểu “nâng cao hiệu quả” → yêu cầu con số và nguồn đo từ dữ liệu hiện có; dồn 10 việc vào tuần 1 → tối đa 5 việc mỗi tuần, ưu tiên việc tạo nhịp hằng ngày; hạn rơi vào Chủ nhật → dời về ngày làm việc gần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Mẫu điền sẵn cho Sao Việt. Kỳ chốt công tháng 9 rơi vào đầu tháng 10, sớm hơn “tuần 4” trong khung D.2 — mẫu giữ đúng ngày thật, tuần 4 dùng cho lần kiểm tra bằng người mới; lịch thật mới quyết định, khung chỉ định hướng. Bản đầy đủ 13 dòng (thêm: chạy song song Excel cũ tối đa 5 ngày rồi khóa file, chốt ngưỡng 🟡, HR dùng tab HR, SOP v3): ebook → Lab 5.4. Lỗi hay gặp khi chấm: một dòng có 2–3 người, hạn “cuối tuần”, chỉ số “tăng hiệu quả”, thiếu việc dọn nợ, không có buổi xem lại hằng tuần.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Giảng viên bấm giờ đúng 5 phút + 3 phút hỏi đáp. Nhắc: tiêu đề là câu kết luận — “Tổng hợp sản lượng từ 6 giờ còn 40 phút mỗi tuần”, không phải “Thời gian tổng hợp sản lượng”. Phát hiện đắt giá gợi ý cho Sao Việt: báo cáo tổng đài và file tay lệch nhau không phải vì ai sai — tổng đài đếm cả 48 chặng chuyển tiếp, 22 dòng giờ UTC nằm sai khung giờ; hoặc NV0103 gọi nhiều nhất (28,4 cuộc/giờ) nhưng thành công thấp nhất (0,54/giờ) — thưởng theo số cuộc là thưởng sai người. Ebook: Buổi 5 → Trình bày cuối khóa (trang 16), có prompt soạn khung 5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dùng kết quả chạy trên bộ dữ liệu mẫu 07–20/09; ô ghi ước tính hoặc giả định phải thay bằng số thật của công ty. Giờ công lãng phí: 21,8 giờ vượt ngưỡng 30’/ca trong 14 ngày, quy 30 ngày ≈ 47 giờ; × chi phí giờ giả định 45.000 đ ≈ 2,1 triệu đ/tháng, trong đó phần đã rõ (NV0106) chỉ ≈ 0,6 triệu — phần còn lại chờ xác minh NV0114. Trung thực về độ tin cậy làm bài trình bày mạnh hơn, không yếu hơn. Nhắc cơ cấu điểm: 40% bài về nhà 5 buổi, 30% sản phẩm được dùng thật (nhật ký, phản hồi CEO/trưởng ca), 30%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chạy trong tuần sau khóa học và là số liệu đầu vào cho bài trình bày Trước / Sau. Chạy theo đúng SOP v1, không theo trí nhớ — vì đang kiểm cả Skill lẫn SOP. Chỉ số ổn định: số ngày “đúng ngay lần đầu”; mục tiêu 5/5 trước khi lên lịch tự động. Người thử SOP phải thật sự chưa từng làm; chỉ giao SOP + thư mục dữ liệu, không giải thích thêm — mỗi câu bạn nói thêm là một câu SOP đang thiếu. Dấu hiệu bài tốt ngày 16/09: báo cáo nhắc năng suất +14,2% một phần do NV0110 vắng và 57 cuộc EXT2099 không có giờ công. Đáp số 14–18/09: ebook → Buổi 5 → Thực hành tại nhà.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Quay lại câu chuyện mở đầu: từ sáng mai báo cáo có bản nháp lúc 07:15, anh Tùng duyệt theo SOP, con số giống hệt dù ai chạy — quy trình không còn nằm trong đầu một người. Chỉ định AI Champion Vận hành và HR ngay trên lớp, ghi tên vào kế hoạch 30 ngày. Mục tiêu nào trong 5 mục tiêu của khóa công ty bạn chưa đạt — đưa vào kế hoạch. Mời lớp điền feedback (ebook → Buổi 5 → Feedback). Khóa mở rộng 10 buổi (QA, tính lương, tuyển dụng, đào tạo) chỉ nên đăng ký khi bảng D.3 đã có cột “Sau 30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8"/>
        </a:solidFill>
      </p:bgPr>
    </p:bg>
    <p:spTree>
      <p:nvGrpSpPr>
        <p:cNvPr id="1" name=""/>
        <p:cNvGrpSpPr/>
        <p:nvPr/>
      </p:nvGrpSpPr>
      <p:grpSpPr>
        <a:xfrm>
          <a:off x="0" y="0"/>
          <a:ext cx="0" cy="0"/>
          <a:chOff x="0" y="0"/>
          <a:chExt cx="0" cy="0"/>
        </a:xfrm>
      </p:grpSpPr>
      <p:sp>
        <p:nvSpPr>
          <p:cNvPr id="3" name="Text 0"/>
          <p:cNvSpPr txBox="1"/>
          <p:nvPr/>
        </p:nvSpPr>
        <p:spPr>
          <a:xfrm>
            <a:off x="548640" y="640080"/>
            <a:ext cx="3657600" cy="365760"/>
          </a:xfrm>
          <a:prstGeom prst="rect">
            <a:avLst/>
          </a:prstGeom>
          <a:noFill/>
          <a:ln/>
        </p:spPr>
        <p:txBody>
          <a:bodyPr wrap="square" lIns="0" tIns="0" rIns="0" bIns="0" rtlCol="0" anchor="t"/>
          <a:lstStyle/>
          <a:p>
            <a:pPr indent="0" marL="0">
              <a:buNone/>
            </a:pPr>
            <a:r>
              <a:rPr lang="en-US" sz="1400" b="1" spc="300" kern="0" dirty="0">
                <a:solidFill>
                  <a:srgbClr val="D9773A"/>
                </a:solidFill>
                <a:latin typeface="Calibri" pitchFamily="34" charset="0"/>
                <a:ea typeface="Calibri" pitchFamily="34" charset="-122"/>
                <a:cs typeface="Calibri" pitchFamily="34" charset="-120"/>
              </a:rPr>
              <a:t>BUỔI 5 / 5</a:t>
            </a:r>
            <a:endParaRPr lang="en-US" sz="1400" dirty="0"/>
          </a:p>
        </p:txBody>
      </p:sp>
      <p:sp>
        <p:nvSpPr>
          <p:cNvPr id="4" name="Text 1"/>
          <p:cNvSpPr txBox="1"/>
          <p:nvPr/>
        </p:nvSpPr>
        <p:spPr>
          <a:xfrm>
            <a:off x="548640" y="1051560"/>
            <a:ext cx="7498080" cy="1737360"/>
          </a:xfrm>
          <a:prstGeom prst="rect">
            <a:avLst/>
          </a:prstGeom>
          <a:noFill/>
          <a:ln/>
        </p:spPr>
        <p:txBody>
          <a:bodyPr wrap="square" lIns="0" tIns="0" rIns="0" bIns="0" rtlCol="0" anchor="t">
            <a:normAutofit/>
          </a:bodyPr>
          <a:lstStyle/>
          <a:p>
            <a:pPr indent="0" marL="0">
              <a:buNone/>
            </a:pPr>
            <a:r>
              <a:rPr lang="en-US" sz="4000" b="1" dirty="0">
                <a:solidFill>
                  <a:srgbClr val="FFFFFF"/>
                </a:solidFill>
                <a:latin typeface="Cambria" pitchFamily="34" charset="0"/>
                <a:ea typeface="Cambria" pitchFamily="34" charset="-122"/>
                <a:cs typeface="Cambria" pitchFamily="34" charset="-120"/>
              </a:rPr>
              <a:t>Báo cáo tự động,</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SOP &amp; bàn giao</a:t>
            </a:r>
            <a:endParaRPr lang="en-US" sz="4000" dirty="0"/>
          </a:p>
        </p:txBody>
      </p:sp>
      <p:sp>
        <p:nvSpPr>
          <p:cNvPr id="5" name="Text 2"/>
          <p:cNvSpPr txBox="1"/>
          <p:nvPr/>
        </p:nvSpPr>
        <p:spPr>
          <a:xfrm>
            <a:off x="548640" y="2880360"/>
            <a:ext cx="7132320" cy="822960"/>
          </a:xfrm>
          <a:prstGeom prst="rect">
            <a:avLst/>
          </a:prstGeom>
          <a:noFill/>
          <a:ln/>
        </p:spPr>
        <p:txBody>
          <a:bodyPr wrap="square" lIns="0" tIns="0" rIns="0" bIns="0" rtlCol="0" anchor="t"/>
          <a:lstStyle/>
          <a:p>
            <a:pPr indent="0" marL="0">
              <a:buNone/>
            </a:pPr>
            <a:r>
              <a:rPr lang="en-US" sz="1700" i="1" dirty="0">
                <a:solidFill>
                  <a:srgbClr val="C9D3DD"/>
                </a:solidFill>
                <a:latin typeface="Calibri" pitchFamily="34" charset="0"/>
                <a:ea typeface="Calibri" pitchFamily="34" charset="-122"/>
                <a:cs typeface="Calibri" pitchFamily="34" charset="-120"/>
              </a:rPr>
              <a:t>Ngày chị Hạnh nghỉ phép, CEO không có báo cáo. Hôm nay ta đưa quy trình ra khỏi đầu một người.</a:t>
            </a:r>
            <a:endParaRPr lang="en-US" sz="1700" dirty="0"/>
          </a:p>
        </p:txBody>
      </p:sp>
      <p:sp>
        <p:nvSpPr>
          <p:cNvPr id="6" name="Text 3"/>
          <p:cNvSpPr txBox="1"/>
          <p:nvPr/>
        </p:nvSpPr>
        <p:spPr>
          <a:xfrm>
            <a:off x="548640" y="5989320"/>
            <a:ext cx="7315200" cy="320040"/>
          </a:xfrm>
          <a:prstGeom prst="rect">
            <a:avLst/>
          </a:prstGeom>
          <a:noFill/>
          <a:ln/>
        </p:spPr>
        <p:txBody>
          <a:bodyPr wrap="square" lIns="0" tIns="0" rIns="0" bIns="0" rtlCol="0" anchor="t"/>
          <a:lstStyle/>
          <a:p>
            <a:pPr indent="0" marL="0">
              <a:buNone/>
            </a:pPr>
            <a:r>
              <a:rPr lang="en-US" sz="1200" dirty="0">
                <a:solidFill>
                  <a:srgbClr val="9AA8B6"/>
                </a:solidFill>
                <a:latin typeface="Calibri" pitchFamily="34" charset="0"/>
                <a:ea typeface="Calibri" pitchFamily="34" charset="-122"/>
                <a:cs typeface="Calibri" pitchFamily="34" charset="-120"/>
              </a:rPr>
              <a:t>Claude cho Callcenter · Số hóa sản lượng cuộc gọi &amp; chấm công</a:t>
            </a:r>
            <a:endParaRPr lang="en-US" sz="1200" dirty="0"/>
          </a:p>
        </p:txBody>
      </p:sp>
      <p:sp>
        <p:nvSpPr>
          <p:cNvPr id="7" name="Text 4"/>
          <p:cNvSpPr txBox="1"/>
          <p:nvPr/>
        </p:nvSpPr>
        <p:spPr>
          <a:xfrm>
            <a:off x="548640" y="3886200"/>
            <a:ext cx="7132320" cy="320040"/>
          </a:xfrm>
          <a:prstGeom prst="rect">
            <a:avLst/>
          </a:prstGeom>
          <a:noFill/>
          <a:ln/>
        </p:spPr>
        <p:txBody>
          <a:bodyPr wrap="square" lIns="0" tIns="0" rIns="0" bIns="0" rtlCol="0" anchor="t"/>
          <a:lstStyle/>
          <a:p>
            <a:pPr indent="0" marL="0">
              <a:buNone/>
            </a:pPr>
            <a:r>
              <a:rPr lang="en-US" sz="1300" dirty="0">
                <a:solidFill>
                  <a:srgbClr val="D9773A"/>
                </a:solidFill>
                <a:latin typeface="Calibri" pitchFamily="34" charset="0"/>
                <a:ea typeface="Calibri" pitchFamily="34" charset="-122"/>
                <a:cs typeface="Calibri" pitchFamily="34" charset="-120"/>
              </a:rPr>
              <a:t>2 giờ trên lớp + 1 giờ thực hành tại nhà (tuần sau khóa học)</a:t>
            </a:r>
            <a:endParaRPr lang="en-US" sz="1300" dirty="0"/>
          </a:p>
        </p:txBody>
      </p:sp>
      <p:sp>
        <p:nvSpPr>
          <p:cNvPr id="8" name="Shape 5"/>
          <p:cNvSpPr/>
          <p:nvPr/>
        </p:nvSpPr>
        <p:spPr>
          <a:xfrm>
            <a:off x="8001000" y="640080"/>
            <a:ext cx="3642055" cy="5486400"/>
          </a:xfrm>
          <a:prstGeom prst="roundRect">
            <a:avLst>
              <a:gd name="adj" fmla="val 3013"/>
            </a:avLst>
          </a:prstGeom>
          <a:solidFill>
            <a:srgbClr val="2B3E50"/>
          </a:solidFill>
          <a:ln w="12700">
            <a:solidFill>
              <a:srgbClr val="2B3E50"/>
            </a:solidFill>
            <a:prstDash val="solid"/>
          </a:ln>
        </p:spPr>
      </p:sp>
      <p:sp>
        <p:nvSpPr>
          <p:cNvPr id="9" name="Shape 6"/>
          <p:cNvSpPr/>
          <p:nvPr/>
        </p:nvSpPr>
        <p:spPr>
          <a:xfrm>
            <a:off x="8321040" y="914400"/>
            <a:ext cx="548640" cy="548640"/>
          </a:xfrm>
          <a:prstGeom prst="roundRect">
            <a:avLst>
              <a:gd name="adj" fmla="val 22000"/>
            </a:avLst>
          </a:prstGeom>
          <a:solidFill>
            <a:srgbClr val="D9773A"/>
          </a:solidFill>
          <a:ln w="12700">
            <a:solidFill>
              <a:srgbClr val="D9773A"/>
            </a:solidFill>
            <a:prstDash val="solid"/>
          </a:ln>
        </p:spPr>
      </p:sp>
      <p:pic>
        <p:nvPicPr>
          <p:cNvPr id="10" name="Image 0" descr="preencoded.png">    </p:cNvPr>
          <p:cNvPicPr>
            <a:picLocks noChangeAspect="1"/>
          </p:cNvPicPr>
          <p:nvPr/>
        </p:nvPicPr>
        <p:blipFill>
          <a:blip r:embed="rId1"/>
          <a:stretch>
            <a:fillRect/>
          </a:stretch>
        </p:blipFill>
        <p:spPr>
          <a:xfrm>
            <a:off x="8452714" y="1046074"/>
            <a:ext cx="285293" cy="285293"/>
          </a:xfrm>
          <a:prstGeom prst="rect">
            <a:avLst/>
          </a:prstGeom>
        </p:spPr>
      </p:pic>
      <p:sp>
        <p:nvSpPr>
          <p:cNvPr id="11" name="Text 7"/>
          <p:cNvSpPr txBox="1"/>
          <p:nvPr/>
        </p:nvSpPr>
        <p:spPr>
          <a:xfrm>
            <a:off x="9006840" y="914400"/>
            <a:ext cx="2453335"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Sản phẩm mang về</a:t>
            </a:r>
            <a:endParaRPr lang="en-US" sz="1800" dirty="0"/>
          </a:p>
        </p:txBody>
      </p:sp>
      <p:sp>
        <p:nvSpPr>
          <p:cNvPr id="12" name="Text 8"/>
          <p:cNvSpPr txBox="1"/>
          <p:nvPr/>
        </p:nvSpPr>
        <p:spPr>
          <a:xfrm>
            <a:off x="8321040" y="1737360"/>
            <a:ext cx="3047695" cy="4114800"/>
          </a:xfrm>
          <a:prstGeom prst="rect">
            <a:avLst/>
          </a:prstGeom>
          <a:noFill/>
          <a:ln/>
        </p:spPr>
        <p:txBody>
          <a:bodyPr wrap="square" lIns="0" tIns="0" rIns="0" bIns="0" rtlCol="0" anchor="t"/>
          <a:lstStyle/>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Skill “Báo cáo ngày”</a:t>
            </a:r>
            <a:pPr indent="0" marL="0">
              <a:buNone/>
            </a:pPr>
            <a:r>
              <a:rPr lang="en-US" sz="1450" dirty="0">
                <a:solidFill>
                  <a:srgbClr val="E6ECF1"/>
                </a:solidFill>
                <a:latin typeface="Calibri" pitchFamily="34" charset="0"/>
                <a:ea typeface="Calibri" pitchFamily="34" charset="-122"/>
                <a:cs typeface="Calibri" pitchFamily="34" charset="-120"/>
              </a:rPr>
              <a:t> — một lệnh ra báo cáo 1 trang cho CEO</a:t>
            </a:r>
            <a:endParaRPr lang="en-US" sz="1450" dirty="0"/>
          </a:p>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Skill “Chốt công tháng”</a:t>
            </a:r>
            <a:pPr indent="0" marL="0">
              <a:buNone/>
            </a:pPr>
            <a:r>
              <a:rPr lang="en-US" sz="1450" dirty="0">
                <a:solidFill>
                  <a:srgbClr val="E6ECF1"/>
                </a:solidFill>
                <a:latin typeface="Calibri" pitchFamily="34" charset="0"/>
                <a:ea typeface="Calibri" pitchFamily="34" charset="-122"/>
                <a:cs typeface="Calibri" pitchFamily="34" charset="-120"/>
              </a:rPr>
              <a:t> — bảng công + danh sách cần xác minh A–E</a:t>
            </a:r>
            <a:endParaRPr lang="en-US" sz="1450" dirty="0"/>
          </a:p>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2 SOP “hiểu trong 1 ngày”</a:t>
            </a:r>
            <a:pPr indent="0" marL="0">
              <a:buNone/>
            </a:pPr>
            <a:r>
              <a:rPr lang="en-US" sz="1450" dirty="0">
                <a:solidFill>
                  <a:srgbClr val="E6ECF1"/>
                </a:solidFill>
                <a:latin typeface="Calibri" pitchFamily="34" charset="0"/>
                <a:ea typeface="Calibri" pitchFamily="34" charset="-122"/>
                <a:cs typeface="Calibri" pitchFamily="34" charset="-120"/>
              </a:rPr>
              <a:t> — sản lượng ngày và chốt công tháng</a:t>
            </a:r>
            <a:endParaRPr lang="en-US" sz="1450" dirty="0"/>
          </a:p>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Kế hoạch 30 ngày</a:t>
            </a:r>
            <a:pPr indent="0" marL="0">
              <a:buNone/>
            </a:pPr>
            <a:r>
              <a:rPr lang="en-US" sz="1450" dirty="0">
                <a:solidFill>
                  <a:srgbClr val="E6ECF1"/>
                </a:solidFill>
                <a:latin typeface="Calibri" pitchFamily="34" charset="0"/>
                <a:ea typeface="Calibri" pitchFamily="34" charset="-122"/>
                <a:cs typeface="Calibri" pitchFamily="34" charset="-120"/>
              </a:rPr>
              <a:t> có 2 AI Champion, mỗi việc một người</a:t>
            </a:r>
            <a:endParaRPr lang="en-US" sz="1450" dirty="0"/>
          </a:p>
          <a:p>
            <a:pPr marL="228600" indent="-228600">
              <a:spcAft>
                <a:spcPts val="1000"/>
              </a:spcAft>
              <a:buSzPct val="100000"/>
              <a:buChar char="•"/>
            </a:pPr>
            <a:r>
              <a:rPr lang="en-US" sz="1450" b="1" dirty="0">
                <a:solidFill>
                  <a:srgbClr val="E6ECF1"/>
                </a:solidFill>
                <a:latin typeface="Calibri" pitchFamily="34" charset="0"/>
                <a:ea typeface="Calibri" pitchFamily="34" charset="-122"/>
                <a:cs typeface="Calibri" pitchFamily="34" charset="-120"/>
              </a:rPr>
              <a:t>Bài trình bày “Trước / Sau”</a:t>
            </a:r>
            <a:pPr indent="0" marL="0">
              <a:buNone/>
            </a:pPr>
            <a:r>
              <a:rPr lang="en-US" sz="1450" dirty="0">
                <a:solidFill>
                  <a:srgbClr val="E6ECF1"/>
                </a:solidFill>
                <a:latin typeface="Calibri" pitchFamily="34" charset="0"/>
                <a:ea typeface="Calibri" pitchFamily="34" charset="-122"/>
                <a:cs typeface="Calibri" pitchFamily="34" charset="-120"/>
              </a:rPr>
              <a:t> 5 phút, có số liệu</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96112" cy="292608"/>
          </a:xfrm>
          <a:prstGeom prst="roundRect">
            <a:avLst>
              <a:gd name="adj" fmla="val 50000"/>
            </a:avLst>
          </a:prstGeom>
          <a:solidFill>
            <a:srgbClr val="F2F4F6"/>
          </a:solidFill>
          <a:ln w="12700">
            <a:solidFill>
              <a:srgbClr val="F2F4F6"/>
            </a:solidFill>
            <a:prstDash val="solid"/>
          </a:ln>
        </p:spPr>
      </p:sp>
      <p:sp>
        <p:nvSpPr>
          <p:cNvPr id="3" name="Text 1"/>
          <p:cNvSpPr txBox="1"/>
          <p:nvPr/>
        </p:nvSpPr>
        <p:spPr>
          <a:xfrm>
            <a:off x="548640" y="384048"/>
            <a:ext cx="896112" cy="292608"/>
          </a:xfrm>
          <a:prstGeom prst="rect">
            <a:avLst/>
          </a:prstGeom>
          <a:noFill/>
          <a:ln/>
        </p:spPr>
        <p:txBody>
          <a:bodyPr wrap="square" lIns="0" tIns="0" rIns="0" bIns="0" rtlCol="0" anchor="ctr"/>
          <a:lstStyle/>
          <a:p>
            <a:pPr algn="ctr" indent="0" marL="0">
              <a:buNone/>
            </a:pPr>
            <a:r>
              <a:rPr lang="en-US" sz="1050" b="1" spc="150" kern="0" dirty="0">
                <a:solidFill>
                  <a:srgbClr val="2B3E50"/>
                </a:solidFill>
                <a:latin typeface="Calibri" pitchFamily="34" charset="0"/>
                <a:ea typeface="Calibri" pitchFamily="34" charset="-122"/>
                <a:cs typeface="Calibri" pitchFamily="34" charset="-120"/>
              </a:rPr>
              <a:t>LỘ TRÌNH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Mục tiêu buổi học</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Shape 4"/>
          <p:cNvSpPr/>
          <p:nvPr/>
        </p:nvSpPr>
        <p:spPr>
          <a:xfrm>
            <a:off x="548640" y="1691640"/>
            <a:ext cx="11094415" cy="1051560"/>
          </a:xfrm>
          <a:prstGeom prst="roundRect">
            <a:avLst>
              <a:gd name="adj" fmla="val 8696"/>
            </a:avLst>
          </a:prstGeom>
          <a:solidFill>
            <a:srgbClr val="F2F4F6"/>
          </a:solidFill>
          <a:ln w="12700">
            <a:solidFill>
              <a:srgbClr val="F2F4F6"/>
            </a:solidFill>
            <a:prstDash val="solid"/>
          </a:ln>
        </p:spPr>
      </p:sp>
      <p:sp>
        <p:nvSpPr>
          <p:cNvPr id="8" name="Shape 5"/>
          <p:cNvSpPr/>
          <p:nvPr/>
        </p:nvSpPr>
        <p:spPr>
          <a:xfrm>
            <a:off x="777240" y="1933956"/>
            <a:ext cx="566928" cy="56692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913303" y="2070019"/>
            <a:ext cx="294803" cy="294803"/>
          </a:xfrm>
          <a:prstGeom prst="rect">
            <a:avLst/>
          </a:prstGeom>
        </p:spPr>
      </p:pic>
      <p:sp>
        <p:nvSpPr>
          <p:cNvPr id="10" name="Text 6"/>
          <p:cNvSpPr txBox="1"/>
          <p:nvPr/>
        </p:nvSpPr>
        <p:spPr>
          <a:xfrm>
            <a:off x="1554480" y="1819656"/>
            <a:ext cx="9966960" cy="384048"/>
          </a:xfrm>
          <a:prstGeom prst="rect">
            <a:avLst/>
          </a:prstGeom>
          <a:noFill/>
          <a:ln/>
        </p:spPr>
        <p:txBody>
          <a:bodyPr wrap="square" lIns="0" tIns="0" rIns="0" bIns="0" rtlCol="0" anchor="ctr"/>
          <a:lstStyle/>
          <a:p>
            <a:pPr indent="0" marL="0">
              <a:buNone/>
            </a:pPr>
            <a:r>
              <a:rPr lang="en-US" sz="1800" b="1" dirty="0">
                <a:solidFill>
                  <a:srgbClr val="1B2A38"/>
                </a:solidFill>
                <a:latin typeface="Calibri" pitchFamily="34" charset="0"/>
                <a:ea typeface="Calibri" pitchFamily="34" charset="-122"/>
                <a:cs typeface="Calibri" pitchFamily="34" charset="-120"/>
              </a:rPr>
              <a:t>Đóng gói quy trình thành Skill và cho báo cáo tự chạy mỗi sáng</a:t>
            </a:r>
            <a:endParaRPr lang="en-US" sz="1800" dirty="0"/>
          </a:p>
        </p:txBody>
      </p:sp>
      <p:sp>
        <p:nvSpPr>
          <p:cNvPr id="11" name="Text 7"/>
          <p:cNvSpPr txBox="1"/>
          <p:nvPr/>
        </p:nvSpPr>
        <p:spPr>
          <a:xfrm>
            <a:off x="1554480" y="2194560"/>
            <a:ext cx="9966960" cy="484632"/>
          </a:xfrm>
          <a:prstGeom prst="rect">
            <a:avLst/>
          </a:prstGeom>
          <a:noFill/>
          <a:ln/>
        </p:spPr>
        <p:txBody>
          <a:bodyPr wrap="square" lIns="0" tIns="0" rIns="0" bIns="0" rtlCol="0" anchor="t"/>
          <a:lstStyle/>
          <a:p>
            <a:pPr indent="0" marL="0">
              <a:buNone/>
            </a:pPr>
            <a:r>
              <a:rPr lang="en-US" sz="1400" dirty="0">
                <a:solidFill>
                  <a:srgbClr val="6B7785"/>
                </a:solidFill>
                <a:latin typeface="Calibri" pitchFamily="34" charset="0"/>
                <a:ea typeface="Calibri" pitchFamily="34" charset="-122"/>
                <a:cs typeface="Calibri" pitchFamily="34" charset="-120"/>
              </a:rPr>
              <a:t>Skill “Báo cáo ngày” và “Chốt công tháng”: ai chạy cũng ra cùng con số. Vòng đời: dữ liệu về → Skill chạy → người duyệt → gửi trước 8h.</a:t>
            </a:r>
            <a:endParaRPr lang="en-US" sz="1400" dirty="0"/>
          </a:p>
        </p:txBody>
      </p:sp>
      <p:sp>
        <p:nvSpPr>
          <p:cNvPr id="12" name="Shape 8"/>
          <p:cNvSpPr/>
          <p:nvPr/>
        </p:nvSpPr>
        <p:spPr>
          <a:xfrm>
            <a:off x="548640" y="2971800"/>
            <a:ext cx="11094415" cy="1051560"/>
          </a:xfrm>
          <a:prstGeom prst="roundRect">
            <a:avLst>
              <a:gd name="adj" fmla="val 8696"/>
            </a:avLst>
          </a:prstGeom>
          <a:solidFill>
            <a:srgbClr val="F2F4F6"/>
          </a:solidFill>
          <a:ln w="12700">
            <a:solidFill>
              <a:srgbClr val="F2F4F6"/>
            </a:solidFill>
            <a:prstDash val="solid"/>
          </a:ln>
        </p:spPr>
      </p:sp>
      <p:sp>
        <p:nvSpPr>
          <p:cNvPr id="13" name="Shape 9"/>
          <p:cNvSpPr/>
          <p:nvPr/>
        </p:nvSpPr>
        <p:spPr>
          <a:xfrm>
            <a:off x="777240" y="3214116"/>
            <a:ext cx="566928" cy="566928"/>
          </a:xfrm>
          <a:prstGeom prst="roundRect">
            <a:avLst>
              <a:gd name="adj" fmla="val 22000"/>
            </a:avLst>
          </a:prstGeom>
          <a:solidFill>
            <a:srgbClr val="D9773A"/>
          </a:solidFill>
          <a:ln w="12700">
            <a:solidFill>
              <a:srgbClr val="D9773A"/>
            </a:solidFill>
            <a:prstDash val="solid"/>
          </a:ln>
        </p:spPr>
      </p:sp>
      <p:pic>
        <p:nvPicPr>
          <p:cNvPr id="14" name="Image 1" descr="preencoded.png">    </p:cNvPr>
          <p:cNvPicPr>
            <a:picLocks noChangeAspect="1"/>
          </p:cNvPicPr>
          <p:nvPr/>
        </p:nvPicPr>
        <p:blipFill>
          <a:blip r:embed="rId2"/>
          <a:stretch>
            <a:fillRect/>
          </a:stretch>
        </p:blipFill>
        <p:spPr>
          <a:xfrm>
            <a:off x="913303" y="3350179"/>
            <a:ext cx="294803" cy="294803"/>
          </a:xfrm>
          <a:prstGeom prst="rect">
            <a:avLst/>
          </a:prstGeom>
        </p:spPr>
      </p:pic>
      <p:sp>
        <p:nvSpPr>
          <p:cNvPr id="15" name="Text 10"/>
          <p:cNvSpPr txBox="1"/>
          <p:nvPr/>
        </p:nvSpPr>
        <p:spPr>
          <a:xfrm>
            <a:off x="1554480" y="3099816"/>
            <a:ext cx="9966960" cy="384048"/>
          </a:xfrm>
          <a:prstGeom prst="rect">
            <a:avLst/>
          </a:prstGeom>
          <a:noFill/>
          <a:ln/>
        </p:spPr>
        <p:txBody>
          <a:bodyPr wrap="square" lIns="0" tIns="0" rIns="0" bIns="0" rtlCol="0" anchor="ctr"/>
          <a:lstStyle/>
          <a:p>
            <a:pPr indent="0" marL="0">
              <a:buNone/>
            </a:pPr>
            <a:r>
              <a:rPr lang="en-US" sz="1800" b="1" dirty="0">
                <a:solidFill>
                  <a:srgbClr val="1B2A38"/>
                </a:solidFill>
                <a:latin typeface="Calibri" pitchFamily="34" charset="0"/>
                <a:ea typeface="Calibri" pitchFamily="34" charset="-122"/>
                <a:cs typeface="Calibri" pitchFamily="34" charset="-120"/>
              </a:rPr>
              <a:t>Viết 2 SOP “hiểu trong 1 ngày” bằng kỹ thuật phỏng vấn</a:t>
            </a:r>
            <a:endParaRPr lang="en-US" sz="1800" dirty="0"/>
          </a:p>
        </p:txBody>
      </p:sp>
      <p:sp>
        <p:nvSpPr>
          <p:cNvPr id="16" name="Text 11"/>
          <p:cNvSpPr txBox="1"/>
          <p:nvPr/>
        </p:nvSpPr>
        <p:spPr>
          <a:xfrm>
            <a:off x="1554480" y="3474720"/>
            <a:ext cx="9966960" cy="484632"/>
          </a:xfrm>
          <a:prstGeom prst="rect">
            <a:avLst/>
          </a:prstGeom>
          <a:noFill/>
          <a:ln/>
        </p:spPr>
        <p:txBody>
          <a:bodyPr wrap="square" lIns="0" tIns="0" rIns="0" bIns="0" rtlCol="0" anchor="t"/>
          <a:lstStyle/>
          <a:p>
            <a:pPr indent="0" marL="0">
              <a:buNone/>
            </a:pPr>
            <a:r>
              <a:rPr lang="en-US" sz="1400" dirty="0">
                <a:solidFill>
                  <a:srgbClr val="6B7785"/>
                </a:solidFill>
                <a:latin typeface="Calibri" pitchFamily="34" charset="0"/>
                <a:ea typeface="Calibri" pitchFamily="34" charset="-122"/>
                <a:cs typeface="Calibri" pitchFamily="34" charset="-120"/>
              </a:rPr>
              <a:t>Claude phỏng vấn người làm giỏi nhất rồi viết SOP 7 phần — người mới đọc 5 phút là tự làm được.</a:t>
            </a:r>
            <a:endParaRPr lang="en-US" sz="1400" dirty="0"/>
          </a:p>
        </p:txBody>
      </p:sp>
      <p:sp>
        <p:nvSpPr>
          <p:cNvPr id="17" name="Shape 12"/>
          <p:cNvSpPr/>
          <p:nvPr/>
        </p:nvSpPr>
        <p:spPr>
          <a:xfrm>
            <a:off x="548640" y="4251960"/>
            <a:ext cx="11094415" cy="1051560"/>
          </a:xfrm>
          <a:prstGeom prst="roundRect">
            <a:avLst>
              <a:gd name="adj" fmla="val 8696"/>
            </a:avLst>
          </a:prstGeom>
          <a:solidFill>
            <a:srgbClr val="F2F4F6"/>
          </a:solidFill>
          <a:ln w="12700">
            <a:solidFill>
              <a:srgbClr val="F2F4F6"/>
            </a:solidFill>
            <a:prstDash val="solid"/>
          </a:ln>
        </p:spPr>
      </p:sp>
      <p:sp>
        <p:nvSpPr>
          <p:cNvPr id="18" name="Shape 13"/>
          <p:cNvSpPr/>
          <p:nvPr/>
        </p:nvSpPr>
        <p:spPr>
          <a:xfrm>
            <a:off x="777240" y="4494276"/>
            <a:ext cx="566928" cy="566928"/>
          </a:xfrm>
          <a:prstGeom prst="roundRect">
            <a:avLst>
              <a:gd name="adj" fmla="val 22000"/>
            </a:avLst>
          </a:prstGeom>
          <a:solidFill>
            <a:srgbClr val="D9773A"/>
          </a:solidFill>
          <a:ln w="12700">
            <a:solidFill>
              <a:srgbClr val="D9773A"/>
            </a:solidFill>
            <a:prstDash val="solid"/>
          </a:ln>
        </p:spPr>
      </p:sp>
      <p:pic>
        <p:nvPicPr>
          <p:cNvPr id="19" name="Image 2" descr="preencoded.png">    </p:cNvPr>
          <p:cNvPicPr>
            <a:picLocks noChangeAspect="1"/>
          </p:cNvPicPr>
          <p:nvPr/>
        </p:nvPicPr>
        <p:blipFill>
          <a:blip r:embed="rId3"/>
          <a:stretch>
            <a:fillRect/>
          </a:stretch>
        </p:blipFill>
        <p:spPr>
          <a:xfrm>
            <a:off x="913303" y="4630339"/>
            <a:ext cx="294803" cy="294803"/>
          </a:xfrm>
          <a:prstGeom prst="rect">
            <a:avLst/>
          </a:prstGeom>
        </p:spPr>
      </p:pic>
      <p:sp>
        <p:nvSpPr>
          <p:cNvPr id="20" name="Text 14"/>
          <p:cNvSpPr txBox="1"/>
          <p:nvPr/>
        </p:nvSpPr>
        <p:spPr>
          <a:xfrm>
            <a:off x="1554480" y="4379976"/>
            <a:ext cx="9966960" cy="384048"/>
          </a:xfrm>
          <a:prstGeom prst="rect">
            <a:avLst/>
          </a:prstGeom>
          <a:noFill/>
          <a:ln/>
        </p:spPr>
        <p:txBody>
          <a:bodyPr wrap="square" lIns="0" tIns="0" rIns="0" bIns="0" rtlCol="0" anchor="ctr"/>
          <a:lstStyle/>
          <a:p>
            <a:pPr indent="0" marL="0">
              <a:buNone/>
            </a:pPr>
            <a:r>
              <a:rPr lang="en-US" sz="1800" b="1" dirty="0">
                <a:solidFill>
                  <a:srgbClr val="1B2A38"/>
                </a:solidFill>
                <a:latin typeface="Calibri" pitchFamily="34" charset="0"/>
                <a:ea typeface="Calibri" pitchFamily="34" charset="-122"/>
                <a:cs typeface="Calibri" pitchFamily="34" charset="-120"/>
              </a:rPr>
              <a:t>Lập kế hoạch 30 ngày, chỉ định AI Champion, trình bày Trước / Sau</a:t>
            </a:r>
            <a:endParaRPr lang="en-US" sz="1800" dirty="0"/>
          </a:p>
        </p:txBody>
      </p:sp>
      <p:sp>
        <p:nvSpPr>
          <p:cNvPr id="21" name="Text 15"/>
          <p:cNvSpPr txBox="1"/>
          <p:nvPr/>
        </p:nvSpPr>
        <p:spPr>
          <a:xfrm>
            <a:off x="1554480" y="4754880"/>
            <a:ext cx="9966960" cy="484632"/>
          </a:xfrm>
          <a:prstGeom prst="rect">
            <a:avLst/>
          </a:prstGeom>
          <a:noFill/>
          <a:ln/>
        </p:spPr>
        <p:txBody>
          <a:bodyPr wrap="square" lIns="0" tIns="0" rIns="0" bIns="0" rtlCol="0" anchor="t"/>
          <a:lstStyle/>
          <a:p>
            <a:pPr indent="0" marL="0">
              <a:buNone/>
            </a:pPr>
            <a:r>
              <a:rPr lang="en-US" sz="1400" dirty="0">
                <a:solidFill>
                  <a:srgbClr val="6B7785"/>
                </a:solidFill>
                <a:latin typeface="Calibri" pitchFamily="34" charset="0"/>
                <a:ea typeface="Calibri" pitchFamily="34" charset="-122"/>
                <a:cs typeface="Calibri" pitchFamily="34" charset="-120"/>
              </a:rPr>
              <a:t>Mỗi việc 1 người – 1 hạn – 1 chỉ số đo. Chứng minh hiệu quả với CEO bằng số liệu, không bằng cảm nhận.</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96112" cy="292608"/>
          </a:xfrm>
          <a:prstGeom prst="roundRect">
            <a:avLst>
              <a:gd name="adj" fmla="val 50000"/>
            </a:avLst>
          </a:prstGeom>
          <a:solidFill>
            <a:srgbClr val="F2F4F6"/>
          </a:solidFill>
          <a:ln w="12700">
            <a:solidFill>
              <a:srgbClr val="F2F4F6"/>
            </a:solidFill>
            <a:prstDash val="solid"/>
          </a:ln>
        </p:spPr>
      </p:sp>
      <p:sp>
        <p:nvSpPr>
          <p:cNvPr id="3" name="Text 1"/>
          <p:cNvSpPr txBox="1"/>
          <p:nvPr/>
        </p:nvSpPr>
        <p:spPr>
          <a:xfrm>
            <a:off x="548640" y="384048"/>
            <a:ext cx="896112" cy="292608"/>
          </a:xfrm>
          <a:prstGeom prst="rect">
            <a:avLst/>
          </a:prstGeom>
          <a:noFill/>
          <a:ln/>
        </p:spPr>
        <p:txBody>
          <a:bodyPr wrap="square" lIns="0" tIns="0" rIns="0" bIns="0" rtlCol="0" anchor="ctr"/>
          <a:lstStyle/>
          <a:p>
            <a:pPr algn="ctr" indent="0" marL="0">
              <a:buNone/>
            </a:pPr>
            <a:r>
              <a:rPr lang="en-US" sz="1050" b="1" spc="150" kern="0" dirty="0">
                <a:solidFill>
                  <a:srgbClr val="2B3E50"/>
                </a:solidFill>
                <a:latin typeface="Calibri" pitchFamily="34" charset="0"/>
                <a:ea typeface="Calibri" pitchFamily="34" charset="-122"/>
                <a:cs typeface="Calibri" pitchFamily="34" charset="-120"/>
              </a:rPr>
              <a:t>LỘ TRÌNH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Lịch 120 phút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Shape 4"/>
          <p:cNvSpPr/>
          <p:nvPr/>
        </p:nvSpPr>
        <p:spPr>
          <a:xfrm>
            <a:off x="548640" y="1783080"/>
            <a:ext cx="887959" cy="502920"/>
          </a:xfrm>
          <a:prstGeom prst="rect">
            <a:avLst/>
          </a:prstGeom>
          <a:solidFill>
            <a:srgbClr val="6E4E9E"/>
          </a:solidFill>
          <a:ln w="12700">
            <a:solidFill>
              <a:srgbClr val="6E4E9E"/>
            </a:solidFill>
            <a:prstDash val="solid"/>
          </a:ln>
        </p:spPr>
      </p:sp>
      <p:sp>
        <p:nvSpPr>
          <p:cNvPr id="8" name="Text 5"/>
          <p:cNvSpPr txBox="1"/>
          <p:nvPr/>
        </p:nvSpPr>
        <p:spPr>
          <a:xfrm>
            <a:off x="548640" y="1783080"/>
            <a:ext cx="887959"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9" name="Shape 6"/>
          <p:cNvSpPr/>
          <p:nvPr/>
        </p:nvSpPr>
        <p:spPr>
          <a:xfrm>
            <a:off x="1473175" y="1783080"/>
            <a:ext cx="2737028" cy="502920"/>
          </a:xfrm>
          <a:prstGeom prst="rect">
            <a:avLst/>
          </a:prstGeom>
          <a:solidFill>
            <a:srgbClr val="D9773A"/>
          </a:solidFill>
          <a:ln w="12700">
            <a:solidFill>
              <a:srgbClr val="D9773A"/>
            </a:solidFill>
            <a:prstDash val="solid"/>
          </a:ln>
        </p:spPr>
      </p:sp>
      <p:sp>
        <p:nvSpPr>
          <p:cNvPr id="10" name="Text 7"/>
          <p:cNvSpPr txBox="1"/>
          <p:nvPr/>
        </p:nvSpPr>
        <p:spPr>
          <a:xfrm>
            <a:off x="1473175" y="1783080"/>
            <a:ext cx="2737028"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30’</a:t>
            </a:r>
            <a:endParaRPr lang="en-US" sz="1300" dirty="0"/>
          </a:p>
        </p:txBody>
      </p:sp>
      <p:sp>
        <p:nvSpPr>
          <p:cNvPr id="11" name="Shape 8"/>
          <p:cNvSpPr/>
          <p:nvPr/>
        </p:nvSpPr>
        <p:spPr>
          <a:xfrm>
            <a:off x="4246778" y="1783080"/>
            <a:ext cx="5972899" cy="502920"/>
          </a:xfrm>
          <a:prstGeom prst="rect">
            <a:avLst/>
          </a:prstGeom>
          <a:solidFill>
            <a:srgbClr val="2E7D7A"/>
          </a:solidFill>
          <a:ln w="12700">
            <a:solidFill>
              <a:srgbClr val="2E7D7A"/>
            </a:solidFill>
            <a:prstDash val="solid"/>
          </a:ln>
        </p:spPr>
      </p:sp>
      <p:sp>
        <p:nvSpPr>
          <p:cNvPr id="12" name="Text 9"/>
          <p:cNvSpPr txBox="1"/>
          <p:nvPr/>
        </p:nvSpPr>
        <p:spPr>
          <a:xfrm>
            <a:off x="4246778" y="1783080"/>
            <a:ext cx="5972899"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65’</a:t>
            </a:r>
            <a:endParaRPr lang="en-US" sz="1300" dirty="0"/>
          </a:p>
        </p:txBody>
      </p:sp>
      <p:sp>
        <p:nvSpPr>
          <p:cNvPr id="13" name="Shape 10"/>
          <p:cNvSpPr/>
          <p:nvPr/>
        </p:nvSpPr>
        <p:spPr>
          <a:xfrm>
            <a:off x="10256253" y="1783080"/>
            <a:ext cx="887959" cy="502920"/>
          </a:xfrm>
          <a:prstGeom prst="rect">
            <a:avLst/>
          </a:prstGeom>
          <a:solidFill>
            <a:srgbClr val="6E4E9E"/>
          </a:solidFill>
          <a:ln w="12700">
            <a:solidFill>
              <a:srgbClr val="6E4E9E"/>
            </a:solidFill>
            <a:prstDash val="solid"/>
          </a:ln>
        </p:spPr>
      </p:sp>
      <p:sp>
        <p:nvSpPr>
          <p:cNvPr id="14" name="Text 11"/>
          <p:cNvSpPr txBox="1"/>
          <p:nvPr/>
        </p:nvSpPr>
        <p:spPr>
          <a:xfrm>
            <a:off x="10256253" y="1783080"/>
            <a:ext cx="887959"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15" name="Shape 12"/>
          <p:cNvSpPr/>
          <p:nvPr/>
        </p:nvSpPr>
        <p:spPr>
          <a:xfrm>
            <a:off x="11180788" y="1783080"/>
            <a:ext cx="425691" cy="502920"/>
          </a:xfrm>
          <a:prstGeom prst="rect">
            <a:avLst/>
          </a:prstGeom>
          <a:solidFill>
            <a:srgbClr val="D9773A"/>
          </a:solidFill>
          <a:ln w="12700">
            <a:solidFill>
              <a:srgbClr val="D9773A"/>
            </a:solidFill>
            <a:prstDash val="solid"/>
          </a:ln>
        </p:spPr>
      </p:sp>
      <p:sp>
        <p:nvSpPr>
          <p:cNvPr id="16" name="Shape 13"/>
          <p:cNvSpPr/>
          <p:nvPr/>
        </p:nvSpPr>
        <p:spPr>
          <a:xfrm>
            <a:off x="548640" y="2743200"/>
            <a:ext cx="201168" cy="201168"/>
          </a:xfrm>
          <a:prstGeom prst="ellipse">
            <a:avLst/>
          </a:prstGeom>
          <a:solidFill>
            <a:srgbClr val="6E4E9E"/>
          </a:solidFill>
          <a:ln w="12700">
            <a:solidFill>
              <a:srgbClr val="6E4E9E"/>
            </a:solidFill>
            <a:prstDash val="solid"/>
          </a:ln>
        </p:spPr>
      </p:sp>
      <p:sp>
        <p:nvSpPr>
          <p:cNvPr id="17" name="Text 14"/>
          <p:cNvSpPr txBox="1"/>
          <p:nvPr/>
        </p:nvSpPr>
        <p:spPr>
          <a:xfrm>
            <a:off x="914400" y="2651760"/>
            <a:ext cx="1188720" cy="384048"/>
          </a:xfrm>
          <a:prstGeom prst="rect">
            <a:avLst/>
          </a:prstGeom>
          <a:noFill/>
          <a:ln/>
        </p:spPr>
        <p:txBody>
          <a:bodyPr wrap="square" lIns="0" tIns="0" rIns="0" bIns="0" rtlCol="0" anchor="t"/>
          <a:lstStyle/>
          <a:p>
            <a:pPr indent="0" marL="0">
              <a:buNone/>
            </a:pPr>
            <a:r>
              <a:rPr lang="en-US" sz="1500" b="1" dirty="0">
                <a:solidFill>
                  <a:srgbClr val="6E4E9E"/>
                </a:solidFill>
                <a:latin typeface="Calibri" pitchFamily="34" charset="0"/>
                <a:ea typeface="Calibri" pitchFamily="34" charset="-122"/>
                <a:cs typeface="Calibri" pitchFamily="34" charset="-120"/>
              </a:rPr>
              <a:t>0–10</a:t>
            </a:r>
            <a:endParaRPr lang="en-US" sz="1500" dirty="0"/>
          </a:p>
        </p:txBody>
      </p:sp>
      <p:sp>
        <p:nvSpPr>
          <p:cNvPr id="18" name="Text 15"/>
          <p:cNvSpPr txBox="1"/>
          <p:nvPr/>
        </p:nvSpPr>
        <p:spPr>
          <a:xfrm>
            <a:off x="2148840" y="2651760"/>
            <a:ext cx="9418320" cy="667512"/>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Review: phản hồi dashboard từ trưởng ca và HR (bài tại nhà buổi 4)</a:t>
            </a:r>
            <a:endParaRPr lang="en-US" sz="1500" dirty="0"/>
          </a:p>
        </p:txBody>
      </p:sp>
      <p:sp>
        <p:nvSpPr>
          <p:cNvPr id="19" name="Shape 16"/>
          <p:cNvSpPr/>
          <p:nvPr/>
        </p:nvSpPr>
        <p:spPr>
          <a:xfrm>
            <a:off x="548640" y="3456432"/>
            <a:ext cx="201168" cy="201168"/>
          </a:xfrm>
          <a:prstGeom prst="ellipse">
            <a:avLst/>
          </a:prstGeom>
          <a:solidFill>
            <a:srgbClr val="D9773A"/>
          </a:solidFill>
          <a:ln w="12700">
            <a:solidFill>
              <a:srgbClr val="D9773A"/>
            </a:solidFill>
            <a:prstDash val="solid"/>
          </a:ln>
        </p:spPr>
      </p:sp>
      <p:sp>
        <p:nvSpPr>
          <p:cNvPr id="20" name="Text 17"/>
          <p:cNvSpPr txBox="1"/>
          <p:nvPr/>
        </p:nvSpPr>
        <p:spPr>
          <a:xfrm>
            <a:off x="914400" y="3364992"/>
            <a:ext cx="1188720" cy="384048"/>
          </a:xfrm>
          <a:prstGeom prst="rect">
            <a:avLst/>
          </a:prstGeom>
          <a:noFill/>
          <a:ln/>
        </p:spPr>
        <p:txBody>
          <a:bodyPr wrap="square" lIns="0" tIns="0" rIns="0" bIns="0" rtlCol="0" anchor="t"/>
          <a:lstStyle/>
          <a:p>
            <a:pPr indent="0" marL="0">
              <a:buNone/>
            </a:pPr>
            <a:r>
              <a:rPr lang="en-US" sz="1500" b="1" dirty="0">
                <a:solidFill>
                  <a:srgbClr val="D9773A"/>
                </a:solidFill>
                <a:latin typeface="Calibri" pitchFamily="34" charset="0"/>
                <a:ea typeface="Calibri" pitchFamily="34" charset="-122"/>
                <a:cs typeface="Calibri" pitchFamily="34" charset="-120"/>
              </a:rPr>
              <a:t>10–40</a:t>
            </a:r>
            <a:endParaRPr lang="en-US" sz="1500" dirty="0"/>
          </a:p>
        </p:txBody>
      </p:sp>
      <p:sp>
        <p:nvSpPr>
          <p:cNvPr id="21" name="Text 18"/>
          <p:cNvSpPr txBox="1"/>
          <p:nvPr/>
        </p:nvSpPr>
        <p:spPr>
          <a:xfrm>
            <a:off x="2148840" y="3364992"/>
            <a:ext cx="9418320" cy="667512"/>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Từ prompt đến Skill · tự động hóa: lịch chạy, Claude Code cho IT · SOP “hiểu trong 1 ngày” &amp; kỹ thuật phỏng vấn</a:t>
            </a:r>
            <a:endParaRPr lang="en-US" sz="1500" dirty="0"/>
          </a:p>
        </p:txBody>
      </p:sp>
      <p:sp>
        <p:nvSpPr>
          <p:cNvPr id="22" name="Shape 19"/>
          <p:cNvSpPr/>
          <p:nvPr/>
        </p:nvSpPr>
        <p:spPr>
          <a:xfrm>
            <a:off x="548640" y="4169664"/>
            <a:ext cx="201168" cy="201168"/>
          </a:xfrm>
          <a:prstGeom prst="ellipse">
            <a:avLst/>
          </a:prstGeom>
          <a:solidFill>
            <a:srgbClr val="2E7D7A"/>
          </a:solidFill>
          <a:ln w="12700">
            <a:solidFill>
              <a:srgbClr val="2E7D7A"/>
            </a:solidFill>
            <a:prstDash val="solid"/>
          </a:ln>
        </p:spPr>
      </p:sp>
      <p:sp>
        <p:nvSpPr>
          <p:cNvPr id="23" name="Text 20"/>
          <p:cNvSpPr txBox="1"/>
          <p:nvPr/>
        </p:nvSpPr>
        <p:spPr>
          <a:xfrm>
            <a:off x="914400" y="4078224"/>
            <a:ext cx="1188720" cy="384048"/>
          </a:xfrm>
          <a:prstGeom prst="rect">
            <a:avLst/>
          </a:prstGeom>
          <a:noFill/>
          <a:ln/>
        </p:spPr>
        <p:txBody>
          <a:bodyPr wrap="square" lIns="0" tIns="0" rIns="0" bIns="0" rtlCol="0" anchor="t"/>
          <a:lstStyle/>
          <a:p>
            <a:pPr indent="0" marL="0">
              <a:buNone/>
            </a:pPr>
            <a:r>
              <a:rPr lang="en-US" sz="1500" b="1" dirty="0">
                <a:solidFill>
                  <a:srgbClr val="2E7D7A"/>
                </a:solidFill>
                <a:latin typeface="Calibri" pitchFamily="34" charset="0"/>
                <a:ea typeface="Calibri" pitchFamily="34" charset="-122"/>
                <a:cs typeface="Calibri" pitchFamily="34" charset="-120"/>
              </a:rPr>
              <a:t>40–105</a:t>
            </a:r>
            <a:endParaRPr lang="en-US" sz="1500" dirty="0"/>
          </a:p>
        </p:txBody>
      </p:sp>
      <p:sp>
        <p:nvSpPr>
          <p:cNvPr id="24" name="Text 21"/>
          <p:cNvSpPr txBox="1"/>
          <p:nvPr/>
        </p:nvSpPr>
        <p:spPr>
          <a:xfrm>
            <a:off x="2148840" y="4078224"/>
            <a:ext cx="9418320" cy="667512"/>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Lab 5.1 Skill “Báo cáo ngày” (20’) · Lab 5.2 Skill “Chốt công tháng” (15’) · Lab 5.3 Hai SOP (20’) · Lab 5.4 Kế hoạch 30 ngày (10’)</a:t>
            </a:r>
            <a:endParaRPr lang="en-US" sz="1500" dirty="0"/>
          </a:p>
        </p:txBody>
      </p:sp>
      <p:sp>
        <p:nvSpPr>
          <p:cNvPr id="25" name="Shape 22"/>
          <p:cNvSpPr/>
          <p:nvPr/>
        </p:nvSpPr>
        <p:spPr>
          <a:xfrm>
            <a:off x="548640" y="4882896"/>
            <a:ext cx="201168" cy="201168"/>
          </a:xfrm>
          <a:prstGeom prst="ellipse">
            <a:avLst/>
          </a:prstGeom>
          <a:solidFill>
            <a:srgbClr val="6E4E9E"/>
          </a:solidFill>
          <a:ln w="12700">
            <a:solidFill>
              <a:srgbClr val="6E4E9E"/>
            </a:solidFill>
            <a:prstDash val="solid"/>
          </a:ln>
        </p:spPr>
      </p:sp>
      <p:sp>
        <p:nvSpPr>
          <p:cNvPr id="26" name="Text 23"/>
          <p:cNvSpPr txBox="1"/>
          <p:nvPr/>
        </p:nvSpPr>
        <p:spPr>
          <a:xfrm>
            <a:off x="914400" y="4791456"/>
            <a:ext cx="1188720" cy="384048"/>
          </a:xfrm>
          <a:prstGeom prst="rect">
            <a:avLst/>
          </a:prstGeom>
          <a:noFill/>
          <a:ln/>
        </p:spPr>
        <p:txBody>
          <a:bodyPr wrap="square" lIns="0" tIns="0" rIns="0" bIns="0" rtlCol="0" anchor="t"/>
          <a:lstStyle/>
          <a:p>
            <a:pPr indent="0" marL="0">
              <a:buNone/>
            </a:pPr>
            <a:r>
              <a:rPr lang="en-US" sz="1500" b="1" dirty="0">
                <a:solidFill>
                  <a:srgbClr val="6E4E9E"/>
                </a:solidFill>
                <a:latin typeface="Calibri" pitchFamily="34" charset="0"/>
                <a:ea typeface="Calibri" pitchFamily="34" charset="-122"/>
                <a:cs typeface="Calibri" pitchFamily="34" charset="-120"/>
              </a:rPr>
              <a:t>105–115</a:t>
            </a:r>
            <a:endParaRPr lang="en-US" sz="1500" dirty="0"/>
          </a:p>
        </p:txBody>
      </p:sp>
      <p:sp>
        <p:nvSpPr>
          <p:cNvPr id="27" name="Text 24"/>
          <p:cNvSpPr txBox="1"/>
          <p:nvPr/>
        </p:nvSpPr>
        <p:spPr>
          <a:xfrm>
            <a:off x="2148840" y="4791456"/>
            <a:ext cx="9418320" cy="667512"/>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Trình bày cuối khóa “Trước / Sau” — mỗi nhóm 5 phút</a:t>
            </a:r>
            <a:endParaRPr lang="en-US" sz="1500" dirty="0"/>
          </a:p>
        </p:txBody>
      </p:sp>
      <p:sp>
        <p:nvSpPr>
          <p:cNvPr id="28" name="Shape 25"/>
          <p:cNvSpPr/>
          <p:nvPr/>
        </p:nvSpPr>
        <p:spPr>
          <a:xfrm>
            <a:off x="548640" y="5596128"/>
            <a:ext cx="201168" cy="201168"/>
          </a:xfrm>
          <a:prstGeom prst="ellipse">
            <a:avLst/>
          </a:prstGeom>
          <a:solidFill>
            <a:srgbClr val="D9773A"/>
          </a:solidFill>
          <a:ln w="12700">
            <a:solidFill>
              <a:srgbClr val="D9773A"/>
            </a:solidFill>
            <a:prstDash val="solid"/>
          </a:ln>
        </p:spPr>
      </p:sp>
      <p:sp>
        <p:nvSpPr>
          <p:cNvPr id="29" name="Text 26"/>
          <p:cNvSpPr txBox="1"/>
          <p:nvPr/>
        </p:nvSpPr>
        <p:spPr>
          <a:xfrm>
            <a:off x="914400" y="5504688"/>
            <a:ext cx="1188720" cy="384048"/>
          </a:xfrm>
          <a:prstGeom prst="rect">
            <a:avLst/>
          </a:prstGeom>
          <a:noFill/>
          <a:ln/>
        </p:spPr>
        <p:txBody>
          <a:bodyPr wrap="square" lIns="0" tIns="0" rIns="0" bIns="0" rtlCol="0" anchor="t"/>
          <a:lstStyle/>
          <a:p>
            <a:pPr indent="0" marL="0">
              <a:buNone/>
            </a:pPr>
            <a:r>
              <a:rPr lang="en-US" sz="1500" b="1" dirty="0">
                <a:solidFill>
                  <a:srgbClr val="D9773A"/>
                </a:solidFill>
                <a:latin typeface="Calibri" pitchFamily="34" charset="0"/>
                <a:ea typeface="Calibri" pitchFamily="34" charset="-122"/>
                <a:cs typeface="Calibri" pitchFamily="34" charset="-120"/>
              </a:rPr>
              <a:t>115–120</a:t>
            </a:r>
            <a:endParaRPr lang="en-US" sz="1500" dirty="0"/>
          </a:p>
        </p:txBody>
      </p:sp>
      <p:sp>
        <p:nvSpPr>
          <p:cNvPr id="30" name="Text 27"/>
          <p:cNvSpPr txBox="1"/>
          <p:nvPr/>
        </p:nvSpPr>
        <p:spPr>
          <a:xfrm>
            <a:off x="2148840" y="5504688"/>
            <a:ext cx="9418320" cy="667512"/>
          </a:xfrm>
          <a:prstGeom prst="rect">
            <a:avLst/>
          </a:prstGeom>
          <a:noFill/>
          <a:ln/>
        </p:spPr>
        <p:txBody>
          <a:bodyPr wrap="square" lIns="0" tIns="0" rIns="0" bIns="0" rtlCol="0" anchor="t"/>
          <a:lstStyle/>
          <a:p>
            <a:pPr indent="0" marL="0">
              <a:buNone/>
            </a:pPr>
            <a:r>
              <a:rPr lang="en-US" sz="1500" dirty="0">
                <a:solidFill>
                  <a:srgbClr val="1B2A38"/>
                </a:solidFill>
                <a:latin typeface="Calibri" pitchFamily="34" charset="0"/>
                <a:ea typeface="Calibri" pitchFamily="34" charset="-122"/>
                <a:cs typeface="Calibri" pitchFamily="34" charset="-120"/>
              </a:rPr>
              <a:t>Tổng kết toàn khóa, chỉ định AI Champion cho Vận hành và HR, giao bài tuần sau</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77924"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1677924"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REVIEW BÀI VỀ NHÀ</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Review: dashboard sau 3 ca — giúp gì, chưa giúp gì</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Hỏi lớp: lần nào dashboard giúp bạn hành động sớm hơn trước? Lần nào không — vì sao?</a:t>
            </a:r>
            <a:endParaRPr lang="en-US" sz="1600" dirty="0"/>
          </a:p>
        </p:txBody>
      </p:sp>
      <p:sp>
        <p:nvSpPr>
          <p:cNvPr id="8" name="Shape 5"/>
          <p:cNvSpPr/>
          <p:nvPr/>
        </p:nvSpPr>
        <p:spPr>
          <a:xfrm>
            <a:off x="548640" y="2240280"/>
            <a:ext cx="3515258" cy="4023360"/>
          </a:xfrm>
          <a:prstGeom prst="roundRect">
            <a:avLst>
              <a:gd name="adj" fmla="val 2601"/>
            </a:avLst>
          </a:prstGeom>
          <a:solidFill>
            <a:srgbClr val="DDF1E5"/>
          </a:solidFill>
          <a:ln w="12700">
            <a:solidFill>
              <a:srgbClr val="DDF1E5"/>
            </a:solidFill>
            <a:prstDash val="solid"/>
          </a:ln>
        </p:spPr>
      </p:sp>
      <p:sp>
        <p:nvSpPr>
          <p:cNvPr id="9" name="Shape 6"/>
          <p:cNvSpPr/>
          <p:nvPr/>
        </p:nvSpPr>
        <p:spPr>
          <a:xfrm>
            <a:off x="777240" y="2468880"/>
            <a:ext cx="566928" cy="566928"/>
          </a:xfrm>
          <a:prstGeom prst="roundRect">
            <a:avLst>
              <a:gd name="adj" fmla="val 22000"/>
            </a:avLst>
          </a:prstGeom>
          <a:solidFill>
            <a:srgbClr val="2E8B57"/>
          </a:solidFill>
          <a:ln w="12700">
            <a:solidFill>
              <a:srgbClr val="2E8B57"/>
            </a:solidFill>
            <a:prstDash val="solid"/>
          </a:ln>
        </p:spPr>
      </p:sp>
      <p:pic>
        <p:nvPicPr>
          <p:cNvPr id="10" name="Image 0" descr="preencoded.png">    </p:cNvPr>
          <p:cNvPicPr>
            <a:picLocks noChangeAspect="1"/>
          </p:cNvPicPr>
          <p:nvPr/>
        </p:nvPicPr>
        <p:blipFill>
          <a:blip r:embed="rId1"/>
          <a:stretch>
            <a:fillRect/>
          </a:stretch>
        </p:blipFill>
        <p:spPr>
          <a:xfrm>
            <a:off x="913303" y="2604943"/>
            <a:ext cx="294803" cy="294803"/>
          </a:xfrm>
          <a:prstGeom prst="rect">
            <a:avLst/>
          </a:prstGeom>
        </p:spPr>
      </p:pic>
      <p:sp>
        <p:nvSpPr>
          <p:cNvPr id="11" name="Text 7"/>
          <p:cNvSpPr txBox="1"/>
          <p:nvPr/>
        </p:nvSpPr>
        <p:spPr>
          <a:xfrm>
            <a:off x="1527048"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Đã giúp hành động sớm</a:t>
            </a:r>
            <a:endParaRPr lang="en-US" sz="1650" dirty="0"/>
          </a:p>
        </p:txBody>
      </p:sp>
      <p:sp>
        <p:nvSpPr>
          <p:cNvPr id="12" name="Text 8"/>
          <p:cNvSpPr txBox="1"/>
          <p:nvPr/>
        </p:nvSpPr>
        <p:spPr>
          <a:xfrm>
            <a:off x="777240"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50" dirty="0">
                <a:solidFill>
                  <a:srgbClr val="1B2A38"/>
                </a:solidFill>
                <a:latin typeface="Calibri" pitchFamily="34" charset="0"/>
                <a:ea typeface="Calibri" pitchFamily="34" charset="-122"/>
                <a:cs typeface="Calibri" pitchFamily="34" charset="-120"/>
              </a:rPr>
              <a:t>NV0106 có mặt nhưng chưa đăng nhập: 84’ (17/09), 73’ (19/09)</a:t>
            </a:r>
            <a:endParaRPr lang="en-US" sz="1450" dirty="0"/>
          </a:p>
          <a:p>
            <a:pPr marL="228600" indent="-228600">
              <a:spcAft>
                <a:spcPts val="500"/>
              </a:spcAft>
              <a:buSzPct val="100000"/>
              <a:buChar char="•"/>
            </a:pPr>
            <a:r>
              <a:rPr lang="en-US" sz="1450" dirty="0">
                <a:solidFill>
                  <a:srgbClr val="1B2A38"/>
                </a:solidFill>
                <a:latin typeface="Calibri" pitchFamily="34" charset="0"/>
                <a:ea typeface="Calibri" pitchFamily="34" charset="-122"/>
                <a:cs typeface="Calibri" pitchFamily="34" charset="-120"/>
              </a:rPr>
              <a:t>NV0109 đi muộn 27’ (17/09), 15’ (18/09)</a:t>
            </a:r>
            <a:endParaRPr lang="en-US" sz="1450" dirty="0"/>
          </a:p>
          <a:p>
            <a:pPr marL="228600" indent="-228600">
              <a:spcAft>
                <a:spcPts val="500"/>
              </a:spcAft>
              <a:buSzPct val="100000"/>
              <a:buChar char="•"/>
            </a:pPr>
            <a:r>
              <a:rPr lang="en-US" sz="1450" dirty="0">
                <a:solidFill>
                  <a:srgbClr val="1B2A38"/>
                </a:solidFill>
                <a:latin typeface="Calibri" pitchFamily="34" charset="0"/>
                <a:ea typeface="Calibri" pitchFamily="34" charset="-122"/>
                <a:cs typeface="Calibri" pitchFamily="34" charset="-120"/>
              </a:rPr>
              <a:t>NV0108 tỷ lệ sản xuất 47,8% (19/09)</a:t>
            </a:r>
            <a:endParaRPr lang="en-US" sz="1450" dirty="0"/>
          </a:p>
          <a:p>
            <a:pPr marL="228600" indent="-228600">
              <a:spcAft>
                <a:spcPts val="500"/>
              </a:spcAft>
              <a:buSzPct val="100000"/>
              <a:buChar char="•"/>
            </a:pPr>
            <a:r>
              <a:rPr lang="en-US" sz="1450" dirty="0">
                <a:solidFill>
                  <a:srgbClr val="1B2A38"/>
                </a:solidFill>
                <a:latin typeface="Calibri" pitchFamily="34" charset="0"/>
                <a:ea typeface="Calibri" pitchFamily="34" charset="-122"/>
                <a:cs typeface="Calibri" pitchFamily="34" charset="-120"/>
              </a:rPr>
              <a:t>NV0114 có chấm công, không đăng nhập (19/09)</a:t>
            </a:r>
            <a:endParaRPr lang="en-US" sz="1450" dirty="0"/>
          </a:p>
        </p:txBody>
      </p:sp>
      <p:sp>
        <p:nvSpPr>
          <p:cNvPr id="13" name="Shape 9"/>
          <p:cNvSpPr/>
          <p:nvPr/>
        </p:nvSpPr>
        <p:spPr>
          <a:xfrm>
            <a:off x="4338218" y="2240280"/>
            <a:ext cx="3515258" cy="4023360"/>
          </a:xfrm>
          <a:prstGeom prst="roundRect">
            <a:avLst>
              <a:gd name="adj" fmla="val 2601"/>
            </a:avLst>
          </a:prstGeom>
          <a:solidFill>
            <a:srgbClr val="F8E1DE"/>
          </a:solidFill>
          <a:ln w="12700">
            <a:solidFill>
              <a:srgbClr val="F8E1DE"/>
            </a:solidFill>
            <a:prstDash val="solid"/>
          </a:ln>
        </p:spPr>
      </p:sp>
      <p:sp>
        <p:nvSpPr>
          <p:cNvPr id="14" name="Shape 10"/>
          <p:cNvSpPr/>
          <p:nvPr/>
        </p:nvSpPr>
        <p:spPr>
          <a:xfrm>
            <a:off x="4566818" y="2468880"/>
            <a:ext cx="566928" cy="566928"/>
          </a:xfrm>
          <a:prstGeom prst="roundRect">
            <a:avLst>
              <a:gd name="adj" fmla="val 22000"/>
            </a:avLst>
          </a:prstGeom>
          <a:solidFill>
            <a:srgbClr val="C0392B"/>
          </a:solidFill>
          <a:ln w="12700">
            <a:solidFill>
              <a:srgbClr val="C0392B"/>
            </a:solidFill>
            <a:prstDash val="solid"/>
          </a:ln>
        </p:spPr>
      </p:sp>
      <p:pic>
        <p:nvPicPr>
          <p:cNvPr id="15" name="Image 1" descr="preencoded.png">    </p:cNvPr>
          <p:cNvPicPr>
            <a:picLocks noChangeAspect="1"/>
          </p:cNvPicPr>
          <p:nvPr/>
        </p:nvPicPr>
        <p:blipFill>
          <a:blip r:embed="rId2"/>
          <a:stretch>
            <a:fillRect/>
          </a:stretch>
        </p:blipFill>
        <p:spPr>
          <a:xfrm>
            <a:off x="4702881" y="2604943"/>
            <a:ext cx="294803" cy="294803"/>
          </a:xfrm>
          <a:prstGeom prst="rect">
            <a:avLst/>
          </a:prstGeom>
        </p:spPr>
      </p:pic>
      <p:sp>
        <p:nvSpPr>
          <p:cNvPr id="16" name="Text 11"/>
          <p:cNvSpPr txBox="1"/>
          <p:nvPr/>
        </p:nvSpPr>
        <p:spPr>
          <a:xfrm>
            <a:off x="5316626"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Chưa giúp được</a:t>
            </a:r>
            <a:endParaRPr lang="en-US" sz="1650" dirty="0"/>
          </a:p>
        </p:txBody>
      </p:sp>
      <p:sp>
        <p:nvSpPr>
          <p:cNvPr id="17" name="Text 12"/>
          <p:cNvSpPr txBox="1"/>
          <p:nvPr/>
        </p:nvSpPr>
        <p:spPr>
          <a:xfrm>
            <a:off x="4566818"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50" dirty="0">
                <a:solidFill>
                  <a:srgbClr val="1B2A38"/>
                </a:solidFill>
                <a:latin typeface="Calibri" pitchFamily="34" charset="0"/>
                <a:ea typeface="Calibri" pitchFamily="34" charset="-122"/>
                <a:cs typeface="Calibri" pitchFamily="34" charset="-120"/>
              </a:rPr>
              <a:t>Không thấy lý do NOT_READY — vẫn phải hỏi trực tiếp</a:t>
            </a:r>
            <a:endParaRPr lang="en-US" sz="1450" dirty="0"/>
          </a:p>
          <a:p>
            <a:pPr marL="228600" indent="-228600">
              <a:spcAft>
                <a:spcPts val="500"/>
              </a:spcAft>
              <a:buSzPct val="100000"/>
              <a:buChar char="•"/>
            </a:pPr>
            <a:r>
              <a:rPr lang="en-US" sz="1450" dirty="0">
                <a:solidFill>
                  <a:srgbClr val="1B2A38"/>
                </a:solidFill>
                <a:latin typeface="Calibri" pitchFamily="34" charset="0"/>
                <a:ea typeface="Calibri" pitchFamily="34" charset="-122"/>
                <a:cs typeface="Calibri" pitchFamily="34" charset="-120"/>
              </a:rPr>
              <a:t>Dữ liệu chưa theo thời gian thực</a:t>
            </a:r>
            <a:endParaRPr lang="en-US" sz="1450" dirty="0"/>
          </a:p>
          <a:p>
            <a:pPr marL="228600" indent="-228600">
              <a:spcAft>
                <a:spcPts val="500"/>
              </a:spcAft>
              <a:buSzPct val="100000"/>
              <a:buChar char="•"/>
            </a:pPr>
            <a:r>
              <a:rPr lang="en-US" sz="1450" dirty="0">
                <a:solidFill>
                  <a:srgbClr val="1B2A38"/>
                </a:solidFill>
                <a:latin typeface="Calibri" pitchFamily="34" charset="0"/>
                <a:ea typeface="Calibri" pitchFamily="34" charset="-122"/>
                <a:cs typeface="Calibri" pitchFamily="34" charset="-120"/>
              </a:rPr>
              <a:t>Chưa có chỉ số chất lượng inbound</a:t>
            </a:r>
            <a:endParaRPr lang="en-US" sz="1450" dirty="0"/>
          </a:p>
          <a:p>
            <a:pPr marL="228600" indent="-228600">
              <a:spcAft>
                <a:spcPts val="500"/>
              </a:spcAft>
              <a:buSzPct val="100000"/>
              <a:buChar char="•"/>
            </a:pPr>
            <a:r>
              <a:rPr lang="en-US" sz="1450" dirty="0">
                <a:solidFill>
                  <a:srgbClr val="1B2A38"/>
                </a:solidFill>
                <a:latin typeface="Calibri" pitchFamily="34" charset="0"/>
                <a:ea typeface="Calibri" pitchFamily="34" charset="-122"/>
                <a:cs typeface="Calibri" pitchFamily="34" charset="-120"/>
              </a:rPr>
              <a:t>Mỗi sáng vẫn phải có người mở file, dán prompt → việc của hôm nay</a:t>
            </a:r>
            <a:endParaRPr lang="en-US" sz="1450" dirty="0"/>
          </a:p>
        </p:txBody>
      </p:sp>
      <p:sp>
        <p:nvSpPr>
          <p:cNvPr id="18" name="Shape 13"/>
          <p:cNvSpPr/>
          <p:nvPr/>
        </p:nvSpPr>
        <p:spPr>
          <a:xfrm>
            <a:off x="8127797" y="2240280"/>
            <a:ext cx="3515258" cy="4023360"/>
          </a:xfrm>
          <a:prstGeom prst="roundRect">
            <a:avLst>
              <a:gd name="adj" fmla="val 2601"/>
            </a:avLst>
          </a:prstGeom>
          <a:solidFill>
            <a:srgbClr val="F2F4F6"/>
          </a:solidFill>
          <a:ln w="12700">
            <a:solidFill>
              <a:srgbClr val="F2F4F6"/>
            </a:solidFill>
            <a:prstDash val="solid"/>
          </a:ln>
        </p:spPr>
      </p:sp>
      <p:sp>
        <p:nvSpPr>
          <p:cNvPr id="19" name="Shape 14"/>
          <p:cNvSpPr/>
          <p:nvPr/>
        </p:nvSpPr>
        <p:spPr>
          <a:xfrm>
            <a:off x="8356397" y="2468880"/>
            <a:ext cx="566928" cy="566928"/>
          </a:xfrm>
          <a:prstGeom prst="roundRect">
            <a:avLst>
              <a:gd name="adj" fmla="val 22000"/>
            </a:avLst>
          </a:prstGeom>
          <a:solidFill>
            <a:srgbClr val="2B3E50"/>
          </a:solidFill>
          <a:ln w="12700">
            <a:solidFill>
              <a:srgbClr val="2B3E50"/>
            </a:solidFill>
            <a:prstDash val="solid"/>
          </a:ln>
        </p:spPr>
      </p:sp>
      <p:pic>
        <p:nvPicPr>
          <p:cNvPr id="20" name="Image 2" descr="preencoded.png">    </p:cNvPr>
          <p:cNvPicPr>
            <a:picLocks noChangeAspect="1"/>
          </p:cNvPicPr>
          <p:nvPr/>
        </p:nvPicPr>
        <p:blipFill>
          <a:blip r:embed="rId3"/>
          <a:stretch>
            <a:fillRect/>
          </a:stretch>
        </p:blipFill>
        <p:spPr>
          <a:xfrm>
            <a:off x="8492460" y="2604943"/>
            <a:ext cx="294803" cy="294803"/>
          </a:xfrm>
          <a:prstGeom prst="rect">
            <a:avLst/>
          </a:prstGeom>
        </p:spPr>
      </p:pic>
      <p:sp>
        <p:nvSpPr>
          <p:cNvPr id="21" name="Text 15"/>
          <p:cNvSpPr txBox="1"/>
          <p:nvPr/>
        </p:nvSpPr>
        <p:spPr>
          <a:xfrm>
            <a:off x="9106205" y="246888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HR đối chiếu tab HR</a:t>
            </a:r>
            <a:endParaRPr lang="en-US" sz="1650" dirty="0"/>
          </a:p>
        </p:txBody>
      </p:sp>
      <p:sp>
        <p:nvSpPr>
          <p:cNvPr id="22" name="Text 16"/>
          <p:cNvSpPr txBox="1"/>
          <p:nvPr/>
        </p:nvSpPr>
        <p:spPr>
          <a:xfrm>
            <a:off x="8356397" y="3200400"/>
            <a:ext cx="3058058" cy="290779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450" dirty="0">
                <a:solidFill>
                  <a:srgbClr val="1B2A38"/>
                </a:solidFill>
                <a:latin typeface="Calibri" pitchFamily="34" charset="0"/>
                <a:ea typeface="Calibri" pitchFamily="34" charset="-122"/>
                <a:cs typeface="Calibri" pitchFamily="34" charset="-120"/>
              </a:rPr>
              <a:t>Đi muộn: 8 lượt, đều là NV0109</a:t>
            </a:r>
            <a:endParaRPr lang="en-US" sz="1450" dirty="0"/>
          </a:p>
          <a:p>
            <a:pPr marL="228600" indent="-228600">
              <a:spcAft>
                <a:spcPts val="500"/>
              </a:spcAft>
              <a:buSzPct val="100000"/>
              <a:buChar char="•"/>
            </a:pPr>
            <a:r>
              <a:rPr lang="en-US" sz="1450" dirty="0">
                <a:solidFill>
                  <a:srgbClr val="1B2A38"/>
                </a:solidFill>
                <a:latin typeface="Calibri" pitchFamily="34" charset="0"/>
                <a:ea typeface="Calibri" pitchFamily="34" charset="-122"/>
                <a:cs typeface="Calibri" pitchFamily="34" charset="-120"/>
              </a:rPr>
              <a:t>Chênh công &gt; 60’: 10 ca (NV0106 × 8, NV0114 × 2)</a:t>
            </a:r>
            <a:endParaRPr lang="en-US" sz="1450" dirty="0"/>
          </a:p>
          <a:p>
            <a:pPr marL="228600" indent="-228600">
              <a:spcAft>
                <a:spcPts val="500"/>
              </a:spcAft>
              <a:buSzPct val="100000"/>
              <a:buChar char="•"/>
            </a:pPr>
            <a:r>
              <a:rPr lang="en-US" sz="1450" dirty="0">
                <a:solidFill>
                  <a:srgbClr val="1B2A38"/>
                </a:solidFill>
                <a:latin typeface="Calibri" pitchFamily="34" charset="0"/>
                <a:ea typeface="Calibri" pitchFamily="34" charset="-122"/>
                <a:cs typeface="Calibri" pitchFamily="34" charset="-120"/>
              </a:rPr>
              <a:t>OT: NV0102 2 giờ đã duyệt · NV0113 chờ duyệt · NV0112 4 ca không đơn</a:t>
            </a:r>
            <a:endParaRPr lang="en-US" sz="1450" dirty="0"/>
          </a:p>
          <a:p>
            <a:pPr marL="228600" indent="-228600">
              <a:spcAft>
                <a:spcPts val="500"/>
              </a:spcAft>
              <a:buSzPct val="100000"/>
              <a:buChar char="•"/>
            </a:pPr>
            <a:r>
              <a:rPr lang="en-US" sz="1450" dirty="0">
                <a:solidFill>
                  <a:srgbClr val="1B2A38"/>
                </a:solidFill>
                <a:latin typeface="Calibri" pitchFamily="34" charset="0"/>
                <a:ea typeface="Calibri" pitchFamily="34" charset="-122"/>
                <a:cs typeface="Calibri" pitchFamily="34" charset="-120"/>
              </a:rPr>
              <a:t>Giờ công: TS-A 484,1 · TS-B 510,9 · CS-A 712,1</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Từ prompt rời rạc đến Skill</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Shape 4"/>
          <p:cNvSpPr/>
          <p:nvPr/>
        </p:nvSpPr>
        <p:spPr>
          <a:xfrm>
            <a:off x="548640" y="1691640"/>
            <a:ext cx="5387188" cy="4572000"/>
          </a:xfrm>
          <a:prstGeom prst="roundRect">
            <a:avLst>
              <a:gd name="adj" fmla="val 2000"/>
            </a:avLst>
          </a:prstGeom>
          <a:solidFill>
            <a:srgbClr val="F8E1DE"/>
          </a:solidFill>
          <a:ln w="12700">
            <a:solidFill>
              <a:srgbClr val="F8E1DE"/>
            </a:solidFill>
            <a:prstDash val="solid"/>
          </a:ln>
        </p:spPr>
      </p:sp>
      <p:sp>
        <p:nvSpPr>
          <p:cNvPr id="8" name="Shape 5"/>
          <p:cNvSpPr/>
          <p:nvPr/>
        </p:nvSpPr>
        <p:spPr>
          <a:xfrm>
            <a:off x="777240" y="1920240"/>
            <a:ext cx="457200" cy="457200"/>
          </a:xfrm>
          <a:prstGeom prst="roundRect">
            <a:avLst>
              <a:gd name="adj" fmla="val 22000"/>
            </a:avLst>
          </a:prstGeom>
          <a:solidFill>
            <a:srgbClr val="C0392B"/>
          </a:solidFill>
          <a:ln w="12700">
            <a:solidFill>
              <a:srgbClr val="C0392B"/>
            </a:solidFill>
            <a:prstDash val="solid"/>
          </a:ln>
        </p:spPr>
      </p:sp>
      <p:pic>
        <p:nvPicPr>
          <p:cNvPr id="9" name="Image 0" descr="preencoded.png">    </p:cNvPr>
          <p:cNvPicPr>
            <a:picLocks noChangeAspect="1"/>
          </p:cNvPicPr>
          <p:nvPr/>
        </p:nvPicPr>
        <p:blipFill>
          <a:blip r:embed="rId1"/>
          <a:stretch>
            <a:fillRect/>
          </a:stretch>
        </p:blipFill>
        <p:spPr>
          <a:xfrm>
            <a:off x="886968" y="2029968"/>
            <a:ext cx="237744" cy="237744"/>
          </a:xfrm>
          <a:prstGeom prst="rect">
            <a:avLst/>
          </a:prstGeom>
        </p:spPr>
      </p:pic>
      <p:sp>
        <p:nvSpPr>
          <p:cNvPr id="10" name="Text 6"/>
          <p:cNvSpPr txBox="1"/>
          <p:nvPr/>
        </p:nvSpPr>
        <p:spPr>
          <a:xfrm>
            <a:off x="1417320" y="1920240"/>
            <a:ext cx="4289908" cy="457200"/>
          </a:xfrm>
          <a:prstGeom prst="rect">
            <a:avLst/>
          </a:prstGeom>
          <a:noFill/>
          <a:ln/>
        </p:spPr>
        <p:txBody>
          <a:bodyPr wrap="square" lIns="0" tIns="0" rIns="0" bIns="0" rtlCol="0" anchor="ctr"/>
          <a:lstStyle/>
          <a:p>
            <a:pPr indent="0" marL="0">
              <a:buNone/>
            </a:pPr>
            <a:r>
              <a:rPr lang="en-US" sz="1800" b="1" dirty="0">
                <a:solidFill>
                  <a:srgbClr val="C0392B"/>
                </a:solidFill>
                <a:latin typeface="Calibri" pitchFamily="34" charset="0"/>
                <a:ea typeface="Calibri" pitchFamily="34" charset="-122"/>
                <a:cs typeface="Calibri" pitchFamily="34" charset="-120"/>
              </a:rPr>
              <a:t>Prompt rời rạc — mỗi người một kiểu</a:t>
            </a:r>
            <a:endParaRPr lang="en-US" sz="1800" dirty="0"/>
          </a:p>
        </p:txBody>
      </p:sp>
      <p:sp>
        <p:nvSpPr>
          <p:cNvPr id="11" name="Text 7"/>
          <p:cNvSpPr txBox="1"/>
          <p:nvPr/>
        </p:nvSpPr>
        <p:spPr>
          <a:xfrm>
            <a:off x="822960" y="2560320"/>
            <a:ext cx="4838548" cy="3520440"/>
          </a:xfrm>
          <a:prstGeom prst="rect">
            <a:avLst/>
          </a:prstGeom>
          <a:noFill/>
          <a:ln/>
        </p:spPr>
        <p:txBody>
          <a:bodyPr wrap="square" lIns="0" tIns="0" rIns="0" bIns="0" rtlCol="0" anchor="t">
            <a:normAutofit/>
          </a:bodyPr>
          <a:lstStyle/>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16/09, hai báo cáo:</a:t>
            </a:r>
            <a:pPr indent="0" marL="0">
              <a:buNone/>
            </a:pPr>
            <a:r>
              <a:rPr lang="en-US" sz="1500" dirty="0">
                <a:solidFill>
                  <a:srgbClr val="1B2A38"/>
                </a:solidFill>
                <a:latin typeface="Calibri" pitchFamily="34" charset="0"/>
                <a:ea typeface="Calibri" pitchFamily="34" charset="-122"/>
                <a:cs typeface="Calibri" pitchFamily="34" charset="-120"/>
              </a:rPr>
              <a:t> chị Hạnh ghi TS-BH 1.866 cuộc, anh Tùng ghi 1.923 cuộc.</a:t>
            </a:r>
            <a:endParaRPr lang="en-US" sz="1500" dirty="0"/>
          </a:p>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Dán thiếu:</a:t>
            </a:r>
            <a:pPr indent="0" marL="0">
              <a:buNone/>
            </a:pPr>
            <a:r>
              <a:rPr lang="en-US" sz="1500" dirty="0">
                <a:solidFill>
                  <a:srgbClr val="1B2A38"/>
                </a:solidFill>
                <a:latin typeface="Calibri" pitchFamily="34" charset="0"/>
                <a:ea typeface="Calibri" pitchFamily="34" charset="-122"/>
                <a:cs typeface="Calibri" pitchFamily="34" charset="-120"/>
              </a:rPr>
              <a:t> prompt dài 2 trang, 7h sáng người mệt sẽ cắt bớt.</a:t>
            </a:r>
            <a:endParaRPr lang="en-US" sz="1500" dirty="0"/>
          </a:p>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Dán bản cũ:</a:t>
            </a:r>
            <a:pPr indent="0" marL="0">
              <a:buNone/>
            </a:pPr>
            <a:r>
              <a:rPr lang="en-US" sz="1500" dirty="0">
                <a:solidFill>
                  <a:srgbClr val="1B2A38"/>
                </a:solidFill>
                <a:latin typeface="Calibri" pitchFamily="34" charset="0"/>
                <a:ea typeface="Calibri" pitchFamily="34" charset="-122"/>
                <a:cs typeface="Calibri" pitchFamily="34" charset="-120"/>
              </a:rPr>
              <a:t> quy tắc v2 đã sửa, người khác vẫn dùng v1.</a:t>
            </a:r>
            <a:endParaRPr lang="en-US" sz="1500" dirty="0"/>
          </a:p>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Định dạng trôi:</a:t>
            </a:r>
            <a:pPr indent="0" marL="0">
              <a:buNone/>
            </a:pPr>
            <a:r>
              <a:rPr lang="en-US" sz="1500" dirty="0">
                <a:solidFill>
                  <a:srgbClr val="1B2A38"/>
                </a:solidFill>
                <a:latin typeface="Calibri" pitchFamily="34" charset="0"/>
                <a:ea typeface="Calibri" pitchFamily="34" charset="-122"/>
                <a:cs typeface="Calibri" pitchFamily="34" charset="-120"/>
              </a:rPr>
              <a:t> hôm có so sánh 7 ngày, hôm quên.</a:t>
            </a:r>
            <a:endParaRPr lang="en-US" sz="1500" dirty="0"/>
          </a:p>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Hệ quả:</a:t>
            </a:r>
            <a:pPr indent="0" marL="0">
              <a:buNone/>
            </a:pPr>
            <a:r>
              <a:rPr lang="en-US" sz="1500" dirty="0">
                <a:solidFill>
                  <a:srgbClr val="1B2A38"/>
                </a:solidFill>
                <a:latin typeface="Calibri" pitchFamily="34" charset="0"/>
                <a:ea typeface="Calibri" pitchFamily="34" charset="-122"/>
                <a:cs typeface="Calibri" pitchFamily="34" charset="-120"/>
              </a:rPr>
              <a:t> CEO mất niềm tin, đòi “làm tay lại cho chắc”.</a:t>
            </a:r>
            <a:endParaRPr lang="en-US" sz="1500" dirty="0"/>
          </a:p>
        </p:txBody>
      </p:sp>
      <p:sp>
        <p:nvSpPr>
          <p:cNvPr id="12" name="Shape 8"/>
          <p:cNvSpPr/>
          <p:nvPr/>
        </p:nvSpPr>
        <p:spPr>
          <a:xfrm>
            <a:off x="6255868" y="1691640"/>
            <a:ext cx="5387188" cy="4572000"/>
          </a:xfrm>
          <a:prstGeom prst="roundRect">
            <a:avLst>
              <a:gd name="adj" fmla="val 2000"/>
            </a:avLst>
          </a:prstGeom>
          <a:solidFill>
            <a:srgbClr val="DDF1E5"/>
          </a:solidFill>
          <a:ln w="12700">
            <a:solidFill>
              <a:srgbClr val="DDF1E5"/>
            </a:solidFill>
            <a:prstDash val="solid"/>
          </a:ln>
        </p:spPr>
      </p:sp>
      <p:sp>
        <p:nvSpPr>
          <p:cNvPr id="13" name="Shape 9"/>
          <p:cNvSpPr/>
          <p:nvPr/>
        </p:nvSpPr>
        <p:spPr>
          <a:xfrm>
            <a:off x="6484468" y="1920240"/>
            <a:ext cx="457200" cy="457200"/>
          </a:xfrm>
          <a:prstGeom prst="roundRect">
            <a:avLst>
              <a:gd name="adj" fmla="val 22000"/>
            </a:avLst>
          </a:prstGeom>
          <a:solidFill>
            <a:srgbClr val="2E8B57"/>
          </a:solidFill>
          <a:ln w="12700">
            <a:solidFill>
              <a:srgbClr val="2E8B57"/>
            </a:solidFill>
            <a:prstDash val="solid"/>
          </a:ln>
        </p:spPr>
      </p:sp>
      <p:pic>
        <p:nvPicPr>
          <p:cNvPr id="14" name="Image 1" descr="preencoded.png">    </p:cNvPr>
          <p:cNvPicPr>
            <a:picLocks noChangeAspect="1"/>
          </p:cNvPicPr>
          <p:nvPr/>
        </p:nvPicPr>
        <p:blipFill>
          <a:blip r:embed="rId2"/>
          <a:stretch>
            <a:fillRect/>
          </a:stretch>
        </p:blipFill>
        <p:spPr>
          <a:xfrm>
            <a:off x="6594196" y="2029968"/>
            <a:ext cx="237744" cy="237744"/>
          </a:xfrm>
          <a:prstGeom prst="rect">
            <a:avLst/>
          </a:prstGeom>
        </p:spPr>
      </p:pic>
      <p:sp>
        <p:nvSpPr>
          <p:cNvPr id="15" name="Text 10"/>
          <p:cNvSpPr txBox="1"/>
          <p:nvPr/>
        </p:nvSpPr>
        <p:spPr>
          <a:xfrm>
            <a:off x="7124548" y="1920240"/>
            <a:ext cx="4289908" cy="4572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Skill — một bản chính thức duy nhất</a:t>
            </a:r>
            <a:endParaRPr lang="en-US" sz="1800" dirty="0"/>
          </a:p>
        </p:txBody>
      </p:sp>
      <p:sp>
        <p:nvSpPr>
          <p:cNvPr id="16" name="Text 11"/>
          <p:cNvSpPr txBox="1"/>
          <p:nvPr/>
        </p:nvSpPr>
        <p:spPr>
          <a:xfrm>
            <a:off x="6530188" y="2560320"/>
            <a:ext cx="4838548" cy="3520440"/>
          </a:xfrm>
          <a:prstGeom prst="rect">
            <a:avLst/>
          </a:prstGeom>
          <a:noFill/>
          <a:ln/>
        </p:spPr>
        <p:txBody>
          <a:bodyPr wrap="square" lIns="0" tIns="0" rIns="0" bIns="0" rtlCol="0" anchor="t">
            <a:normAutofit/>
          </a:bodyPr>
          <a:lstStyle/>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Một thư mục</a:t>
            </a:r>
            <a:pPr indent="0" marL="0">
              <a:buNone/>
            </a:pPr>
            <a:r>
              <a:rPr lang="en-US" sz="1500" dirty="0">
                <a:solidFill>
                  <a:srgbClr val="1B2A38"/>
                </a:solidFill>
                <a:latin typeface="Calibri" pitchFamily="34" charset="0"/>
                <a:ea typeface="Calibri" pitchFamily="34" charset="-122"/>
                <a:cs typeface="Calibri" pitchFamily="34" charset="-120"/>
              </a:rPr>
              <a:t> hướng dẫn + tài liệu; Claude tự nạp khi gặp đúng loại việc.</a:t>
            </a:r>
            <a:endParaRPr lang="en-US" sz="1500" dirty="0"/>
          </a:p>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Ai chạy cũng ra</a:t>
            </a:r>
            <a:pPr indent="0" marL="0">
              <a:buNone/>
            </a:pPr>
            <a:r>
              <a:rPr lang="en-US" sz="1500" dirty="0">
                <a:solidFill>
                  <a:srgbClr val="1B2A38"/>
                </a:solidFill>
                <a:latin typeface="Calibri" pitchFamily="34" charset="0"/>
                <a:ea typeface="Calibri" pitchFamily="34" charset="-122"/>
                <a:cs typeface="Calibri" pitchFamily="34" charset="-120"/>
              </a:rPr>
              <a:t> cùng định dạng, cùng con số.</a:t>
            </a:r>
            <a:endParaRPr lang="en-US" sz="1500" dirty="0"/>
          </a:p>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Project ≠ Skill:</a:t>
            </a:r>
            <a:pPr indent="0" marL="0">
              <a:buNone/>
            </a:pPr>
            <a:r>
              <a:rPr lang="en-US" sz="1500" dirty="0">
                <a:solidFill>
                  <a:srgbClr val="1B2A38"/>
                </a:solidFill>
                <a:latin typeface="Calibri" pitchFamily="34" charset="0"/>
                <a:ea typeface="Calibri" pitchFamily="34" charset="-122"/>
                <a:cs typeface="Calibri" pitchFamily="34" charset="-120"/>
              </a:rPr>
              <a:t> Project là “phòng làm việc” của nhóm; Skill là quy trình đóng gói cho một loại việc.</a:t>
            </a:r>
            <a:endParaRPr lang="en-US" sz="1500" dirty="0"/>
          </a:p>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Dùng cả hai:</a:t>
            </a:r>
            <a:pPr indent="0" marL="0">
              <a:buNone/>
            </a:pPr>
            <a:r>
              <a:rPr lang="en-US" sz="1500" dirty="0">
                <a:solidFill>
                  <a:srgbClr val="1B2A38"/>
                </a:solidFill>
                <a:latin typeface="Calibri" pitchFamily="34" charset="0"/>
                <a:ea typeface="Calibri" pitchFamily="34" charset="-122"/>
                <a:cs typeface="Calibri" pitchFamily="34" charset="-120"/>
              </a:rPr>
              <a:t> Skill “Báo cáo ngày” chạy trong Project “Vận hành &amp; Chấm công”.</a:t>
            </a:r>
            <a:endParaRPr lang="en-US" sz="1500" dirty="0"/>
          </a:p>
          <a:p>
            <a:pPr marL="228600" indent="-228600">
              <a:spcAft>
                <a:spcPts val="700"/>
              </a:spcAft>
              <a:buSzPct val="100000"/>
              <a:buChar char="•"/>
            </a:pPr>
            <a:r>
              <a:rPr lang="en-US" sz="1500" b="1" dirty="0">
                <a:solidFill>
                  <a:srgbClr val="1B2A38"/>
                </a:solidFill>
                <a:latin typeface="Calibri" pitchFamily="34" charset="0"/>
                <a:ea typeface="Calibri" pitchFamily="34" charset="-122"/>
                <a:cs typeface="Calibri" pitchFamily="34" charset="-120"/>
              </a:rPr>
              <a:t>Bạn đã có 90% nội dung:</a:t>
            </a:r>
            <a:pPr indent="0" marL="0">
              <a:buNone/>
            </a:pPr>
            <a:r>
              <a:rPr lang="en-US" sz="1500" dirty="0">
                <a:solidFill>
                  <a:srgbClr val="1B2A38"/>
                </a:solidFill>
                <a:latin typeface="Calibri" pitchFamily="34" charset="0"/>
                <a:ea typeface="Calibri" pitchFamily="34" charset="-122"/>
                <a:cs typeface="Calibri" pitchFamily="34" charset="-120"/>
              </a:rPr>
              <a:t> quy tắc làm sạch, mã kết quả, quy tắc công, từ điển chỉ số.</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Giải phẫu một Skill: thư mục + SKILL.md</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Shape 4"/>
          <p:cNvSpPr/>
          <p:nvPr/>
        </p:nvSpPr>
        <p:spPr>
          <a:xfrm>
            <a:off x="548640" y="1691640"/>
            <a:ext cx="4206240" cy="4572000"/>
          </a:xfrm>
          <a:prstGeom prst="roundRect">
            <a:avLst>
              <a:gd name="adj" fmla="val 2174"/>
            </a:avLst>
          </a:prstGeom>
          <a:solidFill>
            <a:srgbClr val="F2F4F6"/>
          </a:solidFill>
          <a:ln w="12700">
            <a:solidFill>
              <a:srgbClr val="F2F4F6"/>
            </a:solidFill>
            <a:prstDash val="solid"/>
          </a:ln>
        </p:spPr>
      </p:sp>
      <p:sp>
        <p:nvSpPr>
          <p:cNvPr id="8" name="Shape 5"/>
          <p:cNvSpPr/>
          <p:nvPr/>
        </p:nvSpPr>
        <p:spPr>
          <a:xfrm>
            <a:off x="777240" y="1892808"/>
            <a:ext cx="457200" cy="457200"/>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86968" y="2002536"/>
            <a:ext cx="237744" cy="237744"/>
          </a:xfrm>
          <a:prstGeom prst="rect">
            <a:avLst/>
          </a:prstGeom>
        </p:spPr>
      </p:pic>
      <p:sp>
        <p:nvSpPr>
          <p:cNvPr id="10" name="Text 6"/>
          <p:cNvSpPr txBox="1"/>
          <p:nvPr/>
        </p:nvSpPr>
        <p:spPr>
          <a:xfrm>
            <a:off x="1371600" y="1892808"/>
            <a:ext cx="3200400" cy="457200"/>
          </a:xfrm>
          <a:prstGeom prst="rect">
            <a:avLst/>
          </a:prstGeom>
          <a:noFill/>
          <a:ln/>
        </p:spPr>
        <p:txBody>
          <a:bodyPr wrap="square" lIns="0" tIns="0" rIns="0" bIns="0" rtlCol="0" anchor="ctr"/>
          <a:lstStyle/>
          <a:p>
            <a:pPr indent="0" marL="0">
              <a:buNone/>
            </a:pPr>
            <a:r>
              <a:rPr lang="en-US" sz="1700" b="1" dirty="0">
                <a:solidFill>
                  <a:srgbClr val="1B2A38"/>
                </a:solidFill>
                <a:latin typeface="Cambria" pitchFamily="34" charset="0"/>
                <a:ea typeface="Cambria" pitchFamily="34" charset="-122"/>
                <a:cs typeface="Cambria" pitchFamily="34" charset="-120"/>
              </a:rPr>
              <a:t>Một Skill = một thư mục</a:t>
            </a:r>
            <a:endParaRPr lang="en-US" sz="1700" dirty="0"/>
          </a:p>
        </p:txBody>
      </p:sp>
      <p:sp>
        <p:nvSpPr>
          <p:cNvPr id="11" name="Text 7"/>
          <p:cNvSpPr txBox="1"/>
          <p:nvPr/>
        </p:nvSpPr>
        <p:spPr>
          <a:xfrm>
            <a:off x="822960" y="2514600"/>
            <a:ext cx="3749040" cy="1965960"/>
          </a:xfrm>
          <a:prstGeom prst="rect">
            <a:avLst/>
          </a:prstGeom>
          <a:noFill/>
          <a:ln/>
        </p:spPr>
        <p:txBody>
          <a:bodyPr wrap="square" lIns="0" tIns="0" rIns="0" bIns="0" rtlCol="0" anchor="t"/>
          <a:lstStyle/>
          <a:p>
            <a:pPr indent="0" marL="0">
              <a:buNone/>
            </a:pPr>
            <a:r>
              <a:rPr lang="en-US" sz="1200" dirty="0">
                <a:solidFill>
                  <a:srgbClr val="2B3E50"/>
                </a:solidFill>
                <a:latin typeface="Courier New" pitchFamily="34" charset="0"/>
                <a:ea typeface="Courier New" pitchFamily="34" charset="-122"/>
                <a:cs typeface="Courier New" pitchFamily="34" charset="-120"/>
              </a:rPr>
              <a:t>bao-cao-ngay/</a:t>
            </a:r>
            <a:endParaRPr lang="en-US" sz="1200" dirty="0"/>
          </a:p>
          <a:p>
            <a:pPr indent="0" marL="0">
              <a:buNone/>
            </a:pPr>
            <a:r>
              <a:rPr lang="en-US" sz="1200" dirty="0">
                <a:solidFill>
                  <a:srgbClr val="2B3E50"/>
                </a:solidFill>
                <a:latin typeface="Courier New" pitchFamily="34" charset="0"/>
                <a:ea typeface="Courier New" pitchFamily="34" charset="-122"/>
                <a:cs typeface="Courier New" pitchFamily="34" charset="-120"/>
              </a:rPr>
              <a:t>├── SKILL.md</a:t>
            </a:r>
            <a:endParaRPr lang="en-US" sz="1200" dirty="0"/>
          </a:p>
          <a:p>
            <a:pPr indent="0" marL="0">
              <a:buNone/>
            </a:pPr>
            <a:r>
              <a:rPr lang="en-US" sz="1200" dirty="0">
                <a:solidFill>
                  <a:srgbClr val="2B3E50"/>
                </a:solidFill>
                <a:latin typeface="Courier New" pitchFamily="34" charset="0"/>
                <a:ea typeface="Courier New" pitchFamily="34" charset="-122"/>
                <a:cs typeface="Courier New" pitchFamily="34" charset="-120"/>
              </a:rPr>
              <a:t>├── references/</a:t>
            </a:r>
            <a:endParaRPr lang="en-US" sz="1200" dirty="0"/>
          </a:p>
          <a:p>
            <a:pPr indent="0" marL="0">
              <a:buNone/>
            </a:pPr>
            <a:r>
              <a:rPr lang="en-US" sz="1200" dirty="0">
                <a:solidFill>
                  <a:srgbClr val="2B3E50"/>
                </a:solidFill>
                <a:latin typeface="Courier New" pitchFamily="34" charset="0"/>
                <a:ea typeface="Courier New" pitchFamily="34" charset="-122"/>
                <a:cs typeface="Courier New" pitchFamily="34" charset="-120"/>
              </a:rPr>
              <a:t>│   ├── quy-tac-lam-sach-v2.md</a:t>
            </a:r>
            <a:endParaRPr lang="en-US" sz="1200" dirty="0"/>
          </a:p>
          <a:p>
            <a:pPr indent="0" marL="0">
              <a:buNone/>
            </a:pPr>
            <a:r>
              <a:rPr lang="en-US" sz="1200" dirty="0">
                <a:solidFill>
                  <a:srgbClr val="2B3E50"/>
                </a:solidFill>
                <a:latin typeface="Courier New" pitchFamily="34" charset="0"/>
                <a:ea typeface="Courier New" pitchFamily="34" charset="-122"/>
                <a:cs typeface="Courier New" pitchFamily="34" charset="-120"/>
              </a:rPr>
              <a:t>│   ├── ma-ket-qua-chuan.csv</a:t>
            </a:r>
            <a:endParaRPr lang="en-US" sz="1200" dirty="0"/>
          </a:p>
          <a:p>
            <a:pPr indent="0" marL="0">
              <a:buNone/>
            </a:pPr>
            <a:r>
              <a:rPr lang="en-US" sz="1200" dirty="0">
                <a:solidFill>
                  <a:srgbClr val="2B3E50"/>
                </a:solidFill>
                <a:latin typeface="Courier New" pitchFamily="34" charset="0"/>
                <a:ea typeface="Courier New" pitchFamily="34" charset="-122"/>
                <a:cs typeface="Courier New" pitchFamily="34" charset="-120"/>
              </a:rPr>
              <a:t>│   ├── tu-dien-chi-so.md</a:t>
            </a:r>
            <a:endParaRPr lang="en-US" sz="1200" dirty="0"/>
          </a:p>
          <a:p>
            <a:pPr indent="0" marL="0">
              <a:buNone/>
            </a:pPr>
            <a:r>
              <a:rPr lang="en-US" sz="1200" dirty="0">
                <a:solidFill>
                  <a:srgbClr val="2B3E50"/>
                </a:solidFill>
                <a:latin typeface="Courier New" pitchFamily="34" charset="0"/>
                <a:ea typeface="Courier New" pitchFamily="34" charset="-122"/>
                <a:cs typeface="Courier New" pitchFamily="34" charset="-120"/>
              </a:rPr>
              <a:t>│   ├── nguong-trang-thai.md</a:t>
            </a:r>
            <a:endParaRPr lang="en-US" sz="1200" dirty="0"/>
          </a:p>
          <a:p>
            <a:pPr indent="0" marL="0">
              <a:buNone/>
            </a:pPr>
            <a:r>
              <a:rPr lang="en-US" sz="1200" dirty="0">
                <a:solidFill>
                  <a:srgbClr val="2B3E50"/>
                </a:solidFill>
                <a:latin typeface="Courier New" pitchFamily="34" charset="0"/>
                <a:ea typeface="Courier New" pitchFamily="34" charset="-122"/>
                <a:cs typeface="Courier New" pitchFamily="34" charset="-120"/>
              </a:rPr>
              <a:t>│   └── mau-bao-cao-ngay.md</a:t>
            </a:r>
            <a:endParaRPr lang="en-US" sz="1200" dirty="0"/>
          </a:p>
          <a:p>
            <a:pPr indent="0" marL="0">
              <a:buNone/>
            </a:pPr>
            <a:r>
              <a:rPr lang="en-US" sz="1200" dirty="0">
                <a:solidFill>
                  <a:srgbClr val="2B3E50"/>
                </a:solidFill>
                <a:latin typeface="Courier New" pitchFamily="34" charset="0"/>
                <a:ea typeface="Courier New" pitchFamily="34" charset="-122"/>
                <a:cs typeface="Courier New" pitchFamily="34" charset="-120"/>
              </a:rPr>
              <a:t>└── scripts/</a:t>
            </a:r>
            <a:endParaRPr lang="en-US" sz="1200" dirty="0"/>
          </a:p>
          <a:p>
            <a:pPr indent="0" marL="0">
              <a:buNone/>
            </a:pPr>
            <a:r>
              <a:rPr lang="en-US" sz="1200" dirty="0">
                <a:solidFill>
                  <a:srgbClr val="2B3E50"/>
                </a:solidFill>
                <a:latin typeface="Courier New" pitchFamily="34" charset="0"/>
                <a:ea typeface="Courier New" pitchFamily="34" charset="-122"/>
                <a:cs typeface="Courier New" pitchFamily="34" charset="-120"/>
              </a:rPr>
              <a:t>    └── tinh_kpi_ngay.py (tùy chọn)</a:t>
            </a:r>
            <a:endParaRPr lang="en-US" sz="1200" dirty="0"/>
          </a:p>
        </p:txBody>
      </p:sp>
      <p:sp>
        <p:nvSpPr>
          <p:cNvPr id="12" name="Shape 8"/>
          <p:cNvSpPr/>
          <p:nvPr/>
        </p:nvSpPr>
        <p:spPr>
          <a:xfrm>
            <a:off x="822960" y="4544568"/>
            <a:ext cx="3657600" cy="0"/>
          </a:xfrm>
          <a:prstGeom prst="line">
            <a:avLst/>
          </a:prstGeom>
          <a:noFill/>
          <a:ln w="12700">
            <a:solidFill>
              <a:srgbClr val="D5DAE0"/>
            </a:solidFill>
            <a:prstDash val="solid"/>
          </a:ln>
        </p:spPr>
      </p:sp>
      <p:sp>
        <p:nvSpPr>
          <p:cNvPr id="13" name="Text 9"/>
          <p:cNvSpPr txBox="1"/>
          <p:nvPr/>
        </p:nvSpPr>
        <p:spPr>
          <a:xfrm>
            <a:off x="777240" y="4663440"/>
            <a:ext cx="3749040" cy="1463040"/>
          </a:xfrm>
          <a:prstGeom prst="rect">
            <a:avLst/>
          </a:prstGeom>
          <a:noFill/>
          <a:ln/>
        </p:spPr>
        <p:txBody>
          <a:bodyPr wrap="square" lIns="0" tIns="0" rIns="0" bIns="0" rtlCol="0" anchor="t"/>
          <a:lstStyle/>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description</a:t>
            </a:r>
            <a:pPr indent="0" marL="0">
              <a:buNone/>
            </a:pPr>
            <a:r>
              <a:rPr lang="en-US" sz="1300" dirty="0">
                <a:solidFill>
                  <a:srgbClr val="1B2A38"/>
                </a:solidFill>
                <a:latin typeface="Calibri" pitchFamily="34" charset="0"/>
                <a:ea typeface="Calibri" pitchFamily="34" charset="-122"/>
                <a:cs typeface="Calibri" pitchFamily="34" charset="-120"/>
              </a:rPr>
              <a:t> ghi cách người dùng hay nói + loại file: Claude so khớp nó để quyết định dùng Skill.</a:t>
            </a:r>
            <a:endParaRPr lang="en-US" sz="1300" dirty="0"/>
          </a:p>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In ĐỐI CHIẾU TỔNG:</a:t>
            </a:r>
            <a:pPr indent="0" marL="0">
              <a:buNone/>
            </a:pPr>
            <a:r>
              <a:rPr lang="en-US" sz="1300" dirty="0">
                <a:solidFill>
                  <a:srgbClr val="1B2A38"/>
                </a:solidFill>
                <a:latin typeface="Calibri" pitchFamily="34" charset="0"/>
                <a:ea typeface="Calibri" pitchFamily="34" charset="-122"/>
                <a:cs typeface="Calibri" pitchFamily="34" charset="-120"/>
              </a:rPr>
              <a:t> 17/09 → 2.581 = 2.567 + 9 + 5.</a:t>
            </a:r>
            <a:endParaRPr lang="en-US" sz="1300" dirty="0"/>
          </a:p>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Quy tắc Chủ nhật:</a:t>
            </a:r>
            <a:pPr indent="0" marL="0">
              <a:buNone/>
            </a:pPr>
            <a:r>
              <a:rPr lang="en-US" sz="1300" dirty="0">
                <a:solidFill>
                  <a:srgbClr val="1B2A38"/>
                </a:solidFill>
                <a:latin typeface="Calibri" pitchFamily="34" charset="0"/>
                <a:ea typeface="Calibri" pitchFamily="34" charset="-122"/>
                <a:cs typeface="Calibri" pitchFamily="34" charset="-120"/>
              </a:rPr>
              <a:t> thiếu nó, TS-BH 17/09 “tăng 25%” thay vì 7,4%.</a:t>
            </a:r>
            <a:endParaRPr lang="en-US" sz="1300" dirty="0"/>
          </a:p>
        </p:txBody>
      </p:sp>
      <p:sp>
        <p:nvSpPr>
          <p:cNvPr id="14" name="Shape 10"/>
          <p:cNvSpPr/>
          <p:nvPr/>
        </p:nvSpPr>
        <p:spPr>
          <a:xfrm>
            <a:off x="5074920" y="1691640"/>
            <a:ext cx="6568135" cy="4572000"/>
          </a:xfrm>
          <a:prstGeom prst="roundRect">
            <a:avLst>
              <a:gd name="adj" fmla="val 1600"/>
            </a:avLst>
          </a:prstGeom>
          <a:solidFill>
            <a:srgbClr val="1B2A38"/>
          </a:solidFill>
          <a:ln w="12700">
            <a:solidFill>
              <a:srgbClr val="1B2A38"/>
            </a:solidFill>
            <a:prstDash val="solid"/>
          </a:ln>
        </p:spPr>
      </p:sp>
      <p:sp>
        <p:nvSpPr>
          <p:cNvPr id="15" name="Shape 11"/>
          <p:cNvSpPr/>
          <p:nvPr/>
        </p:nvSpPr>
        <p:spPr>
          <a:xfrm>
            <a:off x="5276088" y="1874520"/>
            <a:ext cx="384048" cy="384048"/>
          </a:xfrm>
          <a:prstGeom prst="roundRect">
            <a:avLst>
              <a:gd name="adj" fmla="val 22000"/>
            </a:avLst>
          </a:prstGeom>
          <a:solidFill>
            <a:srgbClr val="D9773A"/>
          </a:solidFill>
          <a:ln w="12700">
            <a:solidFill>
              <a:srgbClr val="D9773A"/>
            </a:solidFill>
            <a:prstDash val="solid"/>
          </a:ln>
        </p:spPr>
      </p:sp>
      <p:pic>
        <p:nvPicPr>
          <p:cNvPr id="16" name="Image 1" descr="preencoded.png">    </p:cNvPr>
          <p:cNvPicPr>
            <a:picLocks noChangeAspect="1"/>
          </p:cNvPicPr>
          <p:nvPr/>
        </p:nvPicPr>
        <p:blipFill>
          <a:blip r:embed="rId2"/>
          <a:stretch>
            <a:fillRect/>
          </a:stretch>
        </p:blipFill>
        <p:spPr>
          <a:xfrm>
            <a:off x="5368260" y="1966692"/>
            <a:ext cx="199705" cy="199705"/>
          </a:xfrm>
          <a:prstGeom prst="rect">
            <a:avLst/>
          </a:prstGeom>
        </p:spPr>
      </p:pic>
      <p:sp>
        <p:nvSpPr>
          <p:cNvPr id="17" name="Text 12"/>
          <p:cNvSpPr txBox="1"/>
          <p:nvPr/>
        </p:nvSpPr>
        <p:spPr>
          <a:xfrm>
            <a:off x="580644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SKILL.md — BẢN RÚT GỌN</a:t>
            </a:r>
            <a:endParaRPr lang="en-US" sz="1100" dirty="0"/>
          </a:p>
        </p:txBody>
      </p:sp>
      <p:sp>
        <p:nvSpPr>
          <p:cNvPr id="18" name="Text 13"/>
          <p:cNvSpPr txBox="1"/>
          <p:nvPr/>
        </p:nvSpPr>
        <p:spPr>
          <a:xfrm>
            <a:off x="5349240" y="2423160"/>
            <a:ext cx="6019495" cy="3657600"/>
          </a:xfrm>
          <a:prstGeom prst="rect">
            <a:avLst/>
          </a:prstGeom>
          <a:noFill/>
          <a:ln/>
        </p:spPr>
        <p:txBody>
          <a:bodyPr wrap="square" lIns="0" tIns="0" rIns="0" bIns="0" rtlCol="0" anchor="t"/>
          <a:lstStyle/>
          <a:p>
            <a:pPr indent="0" marL="0">
              <a:spcAft>
                <a:spcPts val="200"/>
              </a:spcAft>
              <a:buNone/>
            </a:pPr>
            <a:r>
              <a:rPr lang="en-US" sz="1200" dirty="0">
                <a:solidFill>
                  <a:srgbClr val="E8EEF3"/>
                </a:solidFill>
                <a:latin typeface="Courier New" pitchFamily="34" charset="0"/>
                <a:ea typeface="Courier New" pitchFamily="34" charset="-122"/>
                <a:cs typeface="Courier New" pitchFamily="34" charset="-120"/>
              </a:rPr>
              <a:t>---</a:t>
            </a:r>
            <a:endParaRPr lang="en-US" sz="1200" dirty="0"/>
          </a:p>
          <a:p>
            <a:pPr indent="0" marL="0">
              <a:spcAft>
                <a:spcPts val="200"/>
              </a:spcAft>
              <a:buNone/>
            </a:pPr>
            <a:r>
              <a:rPr lang="en-US" sz="1200" dirty="0">
                <a:solidFill>
                  <a:srgbClr val="E8EEF3"/>
                </a:solidFill>
                <a:latin typeface="Courier New" pitchFamily="34" charset="0"/>
                <a:ea typeface="Courier New" pitchFamily="34" charset="-122"/>
                <a:cs typeface="Courier New" pitchFamily="34" charset="-120"/>
              </a:rPr>
              <a:t>name: bao-cao-ngay-ceo</a:t>
            </a:r>
            <a:endParaRPr lang="en-US" sz="1200" dirty="0"/>
          </a:p>
          <a:p>
            <a:pPr indent="0" marL="0">
              <a:spcAft>
                <a:spcPts val="200"/>
              </a:spcAft>
              <a:buNone/>
            </a:pPr>
            <a:r>
              <a:rPr lang="en-US" sz="1200" dirty="0">
                <a:solidFill>
                  <a:srgbClr val="E8EEF3"/>
                </a:solidFill>
                <a:latin typeface="Courier New" pitchFamily="34" charset="0"/>
                <a:ea typeface="Courier New" pitchFamily="34" charset="-122"/>
                <a:cs typeface="Courier New" pitchFamily="34" charset="-120"/>
              </a:rPr>
              <a:t>description: Báo cáo ngày 1 trang cho CEO từ call log + chấm</a:t>
            </a:r>
            <a:endParaRPr lang="en-US" sz="1200" dirty="0"/>
          </a:p>
          <a:p>
            <a:pPr indent="0" marL="0">
              <a:spcAft>
                <a:spcPts val="200"/>
              </a:spcAft>
              <a:buNone/>
            </a:pPr>
            <a:r>
              <a:rPr lang="en-US" sz="1200" dirty="0">
                <a:solidFill>
                  <a:srgbClr val="E8EEF3"/>
                </a:solidFill>
                <a:latin typeface="Courier New" pitchFamily="34" charset="0"/>
                <a:ea typeface="Courier New" pitchFamily="34" charset="-122"/>
                <a:cs typeface="Courier New" pitchFamily="34" charset="-120"/>
              </a:rPr>
              <a:t>  công của MỘT ngày, so với TB 7 ngày. Dùng khi được yêu cầu</a:t>
            </a:r>
            <a:endParaRPr lang="en-US" sz="1200" dirty="0"/>
          </a:p>
          <a:p>
            <a:pPr indent="0" marL="0">
              <a:spcAft>
                <a:spcPts val="200"/>
              </a:spcAft>
              <a:buNone/>
            </a:pPr>
            <a:r>
              <a:rPr lang="en-US" sz="1200" dirty="0">
                <a:solidFill>
                  <a:srgbClr val="E8EEF3"/>
                </a:solidFill>
                <a:latin typeface="Courier New" pitchFamily="34" charset="0"/>
                <a:ea typeface="Courier New" pitchFamily="34" charset="-122"/>
                <a:cs typeface="Courier New" pitchFamily="34" charset="-120"/>
              </a:rPr>
              <a:t>  "báo cáo ngày", "báo cáo sáng", "gửi anh Phong" hoặc có file</a:t>
            </a:r>
            <a:endParaRPr lang="en-US" sz="1200" dirty="0"/>
          </a:p>
          <a:p>
            <a:pPr indent="0" marL="0">
              <a:spcAft>
                <a:spcPts val="200"/>
              </a:spcAft>
              <a:buNone/>
            </a:pPr>
            <a:r>
              <a:rPr lang="en-US" sz="1200" dirty="0">
                <a:solidFill>
                  <a:srgbClr val="E8EEF3"/>
                </a:solidFill>
                <a:latin typeface="Courier New" pitchFamily="34" charset="0"/>
                <a:ea typeface="Courier New" pitchFamily="34" charset="-122"/>
                <a:cs typeface="Courier New" pitchFamily="34" charset="-120"/>
              </a:rPr>
              <a:t>  call_log_YYYY-MM-DD.csv. Không dùng cho chốt công tháng.</a:t>
            </a:r>
            <a:endParaRPr lang="en-US" sz="1200" dirty="0"/>
          </a:p>
          <a:p>
            <a:pPr indent="0" marL="0">
              <a:spcAft>
                <a:spcPts val="200"/>
              </a:spcAft>
              <a:buNone/>
            </a:pPr>
            <a:r>
              <a:rPr lang="en-US" sz="1200" dirty="0">
                <a:solidFill>
                  <a:srgbClr val="E8EEF3"/>
                </a:solidFill>
                <a:latin typeface="Courier New" pitchFamily="34" charset="0"/>
                <a:ea typeface="Courier New" pitchFamily="34" charset="-122"/>
                <a:cs typeface="Courier New" pitchFamily="34" charset="-120"/>
              </a:rPr>
              <a:t>---</a:t>
            </a:r>
            <a:endParaRPr lang="en-US" sz="1200" dirty="0"/>
          </a:p>
          <a:p>
            <a:pPr indent="0" marL="0">
              <a:spcAft>
                <a:spcPts val="200"/>
              </a:spcAft>
              <a:buNone/>
            </a:pPr>
            <a:r>
              <a:rPr lang="en-US" sz="1200" dirty="0">
                <a:solidFill>
                  <a:srgbClr val="E8EEF3"/>
                </a:solidFill>
                <a:latin typeface="Courier New" pitchFamily="34" charset="0"/>
                <a:ea typeface="Courier New" pitchFamily="34" charset="-122"/>
                <a:cs typeface="Courier New" pitchFamily="34" charset="-120"/>
              </a:rPr>
              <a:t># Báo cáo ngày cho CEO — v1 (20/09/2026, duyệt: chị Hạnh)</a:t>
            </a:r>
            <a:endParaRPr lang="en-US" sz="1200" dirty="0"/>
          </a:p>
          <a:p>
            <a:pPr indent="0" marL="0">
              <a:spcAft>
                <a:spcPts val="200"/>
              </a:spcAft>
              <a:buNone/>
            </a:pPr>
            <a:r>
              <a:rPr lang="en-US" sz="1200" dirty="0">
                <a:solidFill>
                  <a:srgbClr val="E8EEF3"/>
                </a:solidFill>
                <a:latin typeface="Courier New" pitchFamily="34" charset="0"/>
                <a:ea typeface="Courier New" pitchFamily="34" charset="-122"/>
                <a:cs typeface="Courier New" pitchFamily="34" charset="-120"/>
              </a:rPr>
              <a:t>## Các bước</a:t>
            </a:r>
            <a:endParaRPr lang="en-US" sz="1200" dirty="0"/>
          </a:p>
          <a:p>
            <a:pPr indent="0" marL="0">
              <a:spcAft>
                <a:spcPts val="200"/>
              </a:spcAft>
              <a:buNone/>
            </a:pPr>
            <a:r>
              <a:rPr lang="en-US" sz="1200" dirty="0">
                <a:solidFill>
                  <a:srgbClr val="E8EEF3"/>
                </a:solidFill>
                <a:latin typeface="Courier New" pitchFamily="34" charset="0"/>
                <a:ea typeface="Courier New" pitchFamily="34" charset="-122"/>
                <a:cs typeface="Courier New" pitchFamily="34" charset="-120"/>
              </a:rPr>
              <a:t>1. Thiếu file → DỪNG, liệt kê file thiếu. Không ước lượng.</a:t>
            </a:r>
            <a:endParaRPr lang="en-US" sz="1200" dirty="0"/>
          </a:p>
          <a:p>
            <a:pPr indent="0" marL="0">
              <a:spcAft>
                <a:spcPts val="200"/>
              </a:spcAft>
              <a:buNone/>
            </a:pPr>
            <a:r>
              <a:rPr lang="en-US" sz="1200" dirty="0">
                <a:solidFill>
                  <a:srgbClr val="E8EEF3"/>
                </a:solidFill>
                <a:latin typeface="Courier New" pitchFamily="34" charset="0"/>
                <a:ea typeface="Courier New" pitchFamily="34" charset="-122"/>
                <a:cs typeface="Courier New" pitchFamily="34" charset="-120"/>
              </a:rPr>
              <a:t>2. Làm sạch theo references/quy-tac-lam-sach-v2.md;</a:t>
            </a:r>
            <a:endParaRPr lang="en-US" sz="1200" dirty="0"/>
          </a:p>
          <a:p>
            <a:pPr indent="0" marL="0">
              <a:spcAft>
                <a:spcPts val="200"/>
              </a:spcAft>
              <a:buNone/>
            </a:pPr>
            <a:r>
              <a:rPr lang="en-US" sz="1200" dirty="0">
                <a:solidFill>
                  <a:srgbClr val="E8EEF3"/>
                </a:solidFill>
                <a:latin typeface="Courier New" pitchFamily="34" charset="0"/>
                <a:ea typeface="Courier New" pitchFamily="34" charset="-122"/>
                <a:cs typeface="Courier New" pitchFamily="34" charset="-120"/>
              </a:rPr>
              <a:t>   in ĐỐI CHIẾU TỔNG: dòng gốc = dòng dùng + dòng bị loại.</a:t>
            </a:r>
            <a:endParaRPr lang="en-US" sz="1200" dirty="0"/>
          </a:p>
          <a:p>
            <a:pPr indent="0" marL="0">
              <a:spcAft>
                <a:spcPts val="200"/>
              </a:spcAft>
              <a:buNone/>
            </a:pPr>
            <a:r>
              <a:rPr lang="en-US" sz="1200" dirty="0">
                <a:solidFill>
                  <a:srgbClr val="E8EEF3"/>
                </a:solidFill>
                <a:latin typeface="Courier New" pitchFamily="34" charset="0"/>
                <a:ea typeface="Courier New" pitchFamily="34" charset="-122"/>
                <a:cs typeface="Courier New" pitchFamily="34" charset="-120"/>
              </a:rPr>
              <a:t>3. Tính theo references/tu-dien-chi-so.md, gán 🟢🟡🔴.</a:t>
            </a:r>
            <a:endParaRPr lang="en-US" sz="1200" dirty="0"/>
          </a:p>
          <a:p>
            <a:pPr indent="0" marL="0">
              <a:spcAft>
                <a:spcPts val="200"/>
              </a:spcAft>
              <a:buNone/>
            </a:pPr>
            <a:r>
              <a:rPr lang="en-US" sz="1200" dirty="0">
                <a:solidFill>
                  <a:srgbClr val="E8EEF3"/>
                </a:solidFill>
                <a:latin typeface="Courier New" pitchFamily="34" charset="0"/>
                <a:ea typeface="Courier New" pitchFamily="34" charset="-122"/>
                <a:cs typeface="Courier New" pitchFamily="34" charset="-120"/>
              </a:rPr>
              <a:t>4. Viết đúng khung references/mau-bao-cao-ngay.md.</a:t>
            </a:r>
            <a:endParaRPr lang="en-US" sz="1200" dirty="0"/>
          </a:p>
          <a:p>
            <a:pPr indent="0" marL="0">
              <a:spcAft>
                <a:spcPts val="200"/>
              </a:spcAft>
              <a:buNone/>
            </a:pPr>
            <a:r>
              <a:rPr lang="en-US" sz="1200" dirty="0">
                <a:solidFill>
                  <a:srgbClr val="E8EEF3"/>
                </a:solidFill>
                <a:latin typeface="Courier New" pitchFamily="34" charset="0"/>
                <a:ea typeface="Courier New" pitchFamily="34" charset="-122"/>
                <a:cs typeface="Courier New" pitchFamily="34" charset="-120"/>
              </a:rPr>
              <a:t>## Quy tắc bắt buộc</a:t>
            </a:r>
            <a:endParaRPr lang="en-US" sz="1200" dirty="0"/>
          </a:p>
          <a:p>
            <a:pPr indent="0" marL="0">
              <a:spcAft>
                <a:spcPts val="200"/>
              </a:spcAft>
              <a:buNone/>
            </a:pPr>
            <a:r>
              <a:rPr lang="en-US" sz="1200" dirty="0">
                <a:solidFill>
                  <a:srgbClr val="E8EEF3"/>
                </a:solidFill>
                <a:latin typeface="Courier New" pitchFamily="34" charset="0"/>
                <a:ea typeface="Courier New" pitchFamily="34" charset="-122"/>
                <a:cs typeface="Courier New" pitchFamily="34" charset="-120"/>
              </a:rPr>
              <a:t>- TB 7 ngày chỉ tính ngày dự án CÓ hoạt động (TS-BH nghỉ CN).</a:t>
            </a:r>
            <a:endParaRPr lang="en-US" sz="1200" dirty="0"/>
          </a:p>
          <a:p>
            <a:pPr indent="0" marL="0">
              <a:spcAft>
                <a:spcPts val="200"/>
              </a:spcAft>
              <a:buNone/>
            </a:pPr>
            <a:r>
              <a:rPr lang="en-US" sz="1200" dirty="0">
                <a:solidFill>
                  <a:srgbClr val="E8EEF3"/>
                </a:solidFill>
                <a:latin typeface="Courier New" pitchFamily="34" charset="0"/>
                <a:ea typeface="Courier New" pitchFamily="34" charset="-122"/>
                <a:cs typeface="Courier New" pitchFamily="34" charset="-120"/>
              </a:rPr>
              <a:t>- Chỉ nêu nguyên nhân KHẢ DĨ; không kết luận kỷ luật.</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Tự động hóa: vòng đời một báo cáo ngày</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Shape 4"/>
          <p:cNvSpPr/>
          <p:nvPr/>
        </p:nvSpPr>
        <p:spPr>
          <a:xfrm>
            <a:off x="548640" y="1691640"/>
            <a:ext cx="2485568" cy="3657600"/>
          </a:xfrm>
          <a:prstGeom prst="roundRect">
            <a:avLst>
              <a:gd name="adj" fmla="val 3679"/>
            </a:avLst>
          </a:prstGeom>
          <a:solidFill>
            <a:srgbClr val="F2F4F6"/>
          </a:solidFill>
          <a:ln w="12700">
            <a:solidFill>
              <a:srgbClr val="F2F4F6"/>
            </a:solidFill>
            <a:prstDash val="solid"/>
          </a:ln>
        </p:spPr>
      </p:sp>
      <p:sp>
        <p:nvSpPr>
          <p:cNvPr id="8" name="Shape 5"/>
          <p:cNvSpPr/>
          <p:nvPr/>
        </p:nvSpPr>
        <p:spPr>
          <a:xfrm>
            <a:off x="749808" y="1892808"/>
            <a:ext cx="548640" cy="548640"/>
          </a:xfrm>
          <a:prstGeom prst="ellipse">
            <a:avLst/>
          </a:prstGeom>
          <a:solidFill>
            <a:srgbClr val="2B3E50"/>
          </a:solidFill>
          <a:ln w="12700">
            <a:solidFill>
              <a:srgbClr val="2B3E50"/>
            </a:solidFill>
            <a:prstDash val="solid"/>
          </a:ln>
        </p:spPr>
      </p:sp>
      <p:sp>
        <p:nvSpPr>
          <p:cNvPr id="9" name="Text 6"/>
          <p:cNvSpPr txBox="1"/>
          <p:nvPr/>
        </p:nvSpPr>
        <p:spPr>
          <a:xfrm>
            <a:off x="749808"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Text 7"/>
          <p:cNvSpPr txBox="1"/>
          <p:nvPr/>
        </p:nvSpPr>
        <p:spPr>
          <a:xfrm>
            <a:off x="749808" y="256032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Dữ liệu về · 06:30</a:t>
            </a:r>
            <a:endParaRPr lang="en-US" sz="1700" dirty="0"/>
          </a:p>
        </p:txBody>
      </p:sp>
      <p:sp>
        <p:nvSpPr>
          <p:cNvPr id="11" name="Text 8"/>
          <p:cNvSpPr txBox="1"/>
          <p:nvPr/>
        </p:nvSpPr>
        <p:spPr>
          <a:xfrm>
            <a:off x="749808" y="3264408"/>
            <a:ext cx="2083232" cy="192024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Script của IT (anh Khoa), viết bằng Claude Code</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Kéo call log + chấm công đến 08:00 (giờ ra ca D)</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Ẩn danh SĐT khách ngay tại nguồn</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Kiểm: đủ file, đúng cột, số dòng &gt; 0</a:t>
            </a:r>
            <a:endParaRPr lang="en-US" sz="1300" dirty="0"/>
          </a:p>
        </p:txBody>
      </p:sp>
      <p:pic>
        <p:nvPicPr>
          <p:cNvPr id="12" name="Image 0" descr="preencoded.png">    </p:cNvPr>
          <p:cNvPicPr>
            <a:picLocks noChangeAspect="1"/>
          </p:cNvPicPr>
          <p:nvPr/>
        </p:nvPicPr>
        <p:blipFill>
          <a:blip r:embed="rId1"/>
          <a:stretch>
            <a:fillRect/>
          </a:stretch>
        </p:blipFill>
        <p:spPr>
          <a:xfrm>
            <a:off x="3116504" y="3410712"/>
            <a:ext cx="219456" cy="219456"/>
          </a:xfrm>
          <a:prstGeom prst="rect">
            <a:avLst/>
          </a:prstGeom>
        </p:spPr>
      </p:pic>
      <p:sp>
        <p:nvSpPr>
          <p:cNvPr id="13" name="Shape 9"/>
          <p:cNvSpPr/>
          <p:nvPr/>
        </p:nvSpPr>
        <p:spPr>
          <a:xfrm>
            <a:off x="3418256" y="1691640"/>
            <a:ext cx="2485568" cy="3657600"/>
          </a:xfrm>
          <a:prstGeom prst="roundRect">
            <a:avLst>
              <a:gd name="adj" fmla="val 3679"/>
            </a:avLst>
          </a:prstGeom>
          <a:solidFill>
            <a:srgbClr val="F2F4F6"/>
          </a:solidFill>
          <a:ln w="12700">
            <a:solidFill>
              <a:srgbClr val="F2F4F6"/>
            </a:solidFill>
            <a:prstDash val="solid"/>
          </a:ln>
        </p:spPr>
      </p:sp>
      <p:sp>
        <p:nvSpPr>
          <p:cNvPr id="14" name="Shape 10"/>
          <p:cNvSpPr/>
          <p:nvPr/>
        </p:nvSpPr>
        <p:spPr>
          <a:xfrm>
            <a:off x="3619424" y="1892808"/>
            <a:ext cx="548640" cy="548640"/>
          </a:xfrm>
          <a:prstGeom prst="ellipse">
            <a:avLst/>
          </a:prstGeom>
          <a:solidFill>
            <a:srgbClr val="2B3E50"/>
          </a:solidFill>
          <a:ln w="12700">
            <a:solidFill>
              <a:srgbClr val="2B3E50"/>
            </a:solidFill>
            <a:prstDash val="solid"/>
          </a:ln>
        </p:spPr>
      </p:sp>
      <p:sp>
        <p:nvSpPr>
          <p:cNvPr id="15" name="Text 11"/>
          <p:cNvSpPr txBox="1"/>
          <p:nvPr/>
        </p:nvSpPr>
        <p:spPr>
          <a:xfrm>
            <a:off x="3619424"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Text 12"/>
          <p:cNvSpPr txBox="1"/>
          <p:nvPr/>
        </p:nvSpPr>
        <p:spPr>
          <a:xfrm>
            <a:off x="3619424" y="256032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Skill chạy · 07:15</a:t>
            </a:r>
            <a:endParaRPr lang="en-US" sz="1700" dirty="0"/>
          </a:p>
        </p:txBody>
      </p:sp>
      <p:sp>
        <p:nvSpPr>
          <p:cNvPr id="17" name="Text 13"/>
          <p:cNvSpPr txBox="1"/>
          <p:nvPr/>
        </p:nvSpPr>
        <p:spPr>
          <a:xfrm>
            <a:off x="3619424" y="3264408"/>
            <a:ext cx="2083232" cy="192024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Lịch chạy (scheduled task) gọi Skill cho ngày hôm qua</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Thiếu file hoặc call log &lt; 50% TB → DỪNG, cảnh báo</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Chỉ lưu bản nháp, không gửi CEO</a:t>
            </a:r>
            <a:endParaRPr lang="en-US" sz="1300" dirty="0"/>
          </a:p>
        </p:txBody>
      </p:sp>
      <p:pic>
        <p:nvPicPr>
          <p:cNvPr id="18" name="Image 1" descr="preencoded.png">    </p:cNvPr>
          <p:cNvPicPr>
            <a:picLocks noChangeAspect="1"/>
          </p:cNvPicPr>
          <p:nvPr/>
        </p:nvPicPr>
        <p:blipFill>
          <a:blip r:embed="rId2"/>
          <a:stretch>
            <a:fillRect/>
          </a:stretch>
        </p:blipFill>
        <p:spPr>
          <a:xfrm>
            <a:off x="5986120" y="3410712"/>
            <a:ext cx="219456" cy="219456"/>
          </a:xfrm>
          <a:prstGeom prst="rect">
            <a:avLst/>
          </a:prstGeom>
        </p:spPr>
      </p:pic>
      <p:sp>
        <p:nvSpPr>
          <p:cNvPr id="19" name="Shape 14"/>
          <p:cNvSpPr/>
          <p:nvPr/>
        </p:nvSpPr>
        <p:spPr>
          <a:xfrm>
            <a:off x="6287872" y="1691640"/>
            <a:ext cx="2485568" cy="3657600"/>
          </a:xfrm>
          <a:prstGeom prst="roundRect">
            <a:avLst>
              <a:gd name="adj" fmla="val 3679"/>
            </a:avLst>
          </a:prstGeom>
          <a:solidFill>
            <a:srgbClr val="F2F4F6"/>
          </a:solidFill>
          <a:ln w="12700">
            <a:solidFill>
              <a:srgbClr val="F2F4F6"/>
            </a:solidFill>
            <a:prstDash val="solid"/>
          </a:ln>
        </p:spPr>
      </p:sp>
      <p:sp>
        <p:nvSpPr>
          <p:cNvPr id="20" name="Shape 15"/>
          <p:cNvSpPr/>
          <p:nvPr/>
        </p:nvSpPr>
        <p:spPr>
          <a:xfrm>
            <a:off x="6489040" y="1892808"/>
            <a:ext cx="548640" cy="548640"/>
          </a:xfrm>
          <a:prstGeom prst="ellipse">
            <a:avLst/>
          </a:prstGeom>
          <a:solidFill>
            <a:srgbClr val="2B3E50"/>
          </a:solidFill>
          <a:ln w="12700">
            <a:solidFill>
              <a:srgbClr val="2B3E50"/>
            </a:solidFill>
            <a:prstDash val="solid"/>
          </a:ln>
        </p:spPr>
      </p:sp>
      <p:sp>
        <p:nvSpPr>
          <p:cNvPr id="21" name="Text 16"/>
          <p:cNvSpPr txBox="1"/>
          <p:nvPr/>
        </p:nvSpPr>
        <p:spPr>
          <a:xfrm>
            <a:off x="6489040"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2" name="Text 17"/>
          <p:cNvSpPr txBox="1"/>
          <p:nvPr/>
        </p:nvSpPr>
        <p:spPr>
          <a:xfrm>
            <a:off x="6489040" y="256032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Người duyệt · 07:30</a:t>
            </a:r>
            <a:endParaRPr lang="en-US" sz="1700" dirty="0"/>
          </a:p>
        </p:txBody>
      </p:sp>
      <p:sp>
        <p:nvSpPr>
          <p:cNvPr id="23" name="Text 18"/>
          <p:cNvSpPr txBox="1"/>
          <p:nvPr/>
        </p:nvSpPr>
        <p:spPr>
          <a:xfrm>
            <a:off x="6489040" y="3264408"/>
            <a:ext cx="2083232" cy="192024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Chị Hạnh, dự phòng anh Tùng</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3–5 phút: đối chiếu tổng, Ghi chú dữ liệu, Top 3</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Top 3 ghi “khả dĩ”, không kết luận</a:t>
            </a:r>
            <a:endParaRPr lang="en-US" sz="1300" dirty="0"/>
          </a:p>
        </p:txBody>
      </p:sp>
      <p:pic>
        <p:nvPicPr>
          <p:cNvPr id="24" name="Image 2" descr="preencoded.png">    </p:cNvPr>
          <p:cNvPicPr>
            <a:picLocks noChangeAspect="1"/>
          </p:cNvPicPr>
          <p:nvPr/>
        </p:nvPicPr>
        <p:blipFill>
          <a:blip r:embed="rId3"/>
          <a:stretch>
            <a:fillRect/>
          </a:stretch>
        </p:blipFill>
        <p:spPr>
          <a:xfrm>
            <a:off x="8855735" y="3410712"/>
            <a:ext cx="219456" cy="219456"/>
          </a:xfrm>
          <a:prstGeom prst="rect">
            <a:avLst/>
          </a:prstGeom>
        </p:spPr>
      </p:pic>
      <p:sp>
        <p:nvSpPr>
          <p:cNvPr id="25" name="Shape 19"/>
          <p:cNvSpPr/>
          <p:nvPr/>
        </p:nvSpPr>
        <p:spPr>
          <a:xfrm>
            <a:off x="9157487" y="1691640"/>
            <a:ext cx="2485568" cy="3657600"/>
          </a:xfrm>
          <a:prstGeom prst="roundRect">
            <a:avLst>
              <a:gd name="adj" fmla="val 3679"/>
            </a:avLst>
          </a:prstGeom>
          <a:solidFill>
            <a:srgbClr val="F2F4F6"/>
          </a:solidFill>
          <a:ln w="12700">
            <a:solidFill>
              <a:srgbClr val="F2F4F6"/>
            </a:solidFill>
            <a:prstDash val="solid"/>
          </a:ln>
        </p:spPr>
      </p:sp>
      <p:sp>
        <p:nvSpPr>
          <p:cNvPr id="26" name="Shape 20"/>
          <p:cNvSpPr/>
          <p:nvPr/>
        </p:nvSpPr>
        <p:spPr>
          <a:xfrm>
            <a:off x="9358655" y="1892808"/>
            <a:ext cx="548640" cy="548640"/>
          </a:xfrm>
          <a:prstGeom prst="ellipse">
            <a:avLst/>
          </a:prstGeom>
          <a:solidFill>
            <a:srgbClr val="D9773A"/>
          </a:solidFill>
          <a:ln w="12700">
            <a:solidFill>
              <a:srgbClr val="D9773A"/>
            </a:solidFill>
            <a:prstDash val="solid"/>
          </a:ln>
        </p:spPr>
      </p:sp>
      <p:sp>
        <p:nvSpPr>
          <p:cNvPr id="27" name="Text 21"/>
          <p:cNvSpPr txBox="1"/>
          <p:nvPr/>
        </p:nvSpPr>
        <p:spPr>
          <a:xfrm>
            <a:off x="9358655" y="1892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8" name="Text 22"/>
          <p:cNvSpPr txBox="1"/>
          <p:nvPr/>
        </p:nvSpPr>
        <p:spPr>
          <a:xfrm>
            <a:off x="9358655" y="2560320"/>
            <a:ext cx="2083232" cy="685800"/>
          </a:xfrm>
          <a:prstGeom prst="rect">
            <a:avLst/>
          </a:prstGeom>
          <a:noFill/>
          <a:ln/>
        </p:spPr>
        <p:txBody>
          <a:bodyPr wrap="square" lIns="0" tIns="0" rIns="0" bIns="0" rtlCol="0" anchor="t">
            <a:normAutofit/>
          </a:bodyPr>
          <a:lstStyle/>
          <a:p>
            <a:pPr indent="0" marL="0">
              <a:buNone/>
            </a:pPr>
            <a:r>
              <a:rPr lang="en-US" sz="1700" b="1" dirty="0">
                <a:solidFill>
                  <a:srgbClr val="1B2A38"/>
                </a:solidFill>
                <a:latin typeface="Calibri" pitchFamily="34" charset="0"/>
                <a:ea typeface="Calibri" pitchFamily="34" charset="-122"/>
                <a:cs typeface="Calibri" pitchFamily="34" charset="-120"/>
              </a:rPr>
              <a:t>Gửi · 07:50</a:t>
            </a:r>
            <a:endParaRPr lang="en-US" sz="1700" dirty="0"/>
          </a:p>
        </p:txBody>
      </p:sp>
      <p:sp>
        <p:nvSpPr>
          <p:cNvPr id="29" name="Text 23"/>
          <p:cNvSpPr txBox="1"/>
          <p:nvPr/>
        </p:nvSpPr>
        <p:spPr>
          <a:xfrm>
            <a:off x="9358655" y="3264408"/>
            <a:ext cx="2083232" cy="1920240"/>
          </a:xfrm>
          <a:prstGeom prst="rect">
            <a:avLst/>
          </a:prstGeom>
          <a:noFill/>
          <a:ln/>
        </p:spPr>
        <p:txBody>
          <a:bodyPr wrap="square" lIns="0" tIns="0" rIns="0" bIns="0" rtlCol="0" anchor="t">
            <a:normAutofit/>
          </a:bodyPr>
          <a:lstStyle/>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Kênh nội bộ có phân quyền</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Chưa duyệt được → nhắn CEO “báo cáo trễ”, không gửi bản nháp</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Phản hồi của CEO → nhật ký cải tiến Skill</a:t>
            </a:r>
            <a:endParaRPr lang="en-US" sz="1300" dirty="0"/>
          </a:p>
        </p:txBody>
      </p:sp>
      <p:sp>
        <p:nvSpPr>
          <p:cNvPr id="30" name="Shape 24"/>
          <p:cNvSpPr/>
          <p:nvPr/>
        </p:nvSpPr>
        <p:spPr>
          <a:xfrm>
            <a:off x="548640" y="5577840"/>
            <a:ext cx="11094415" cy="685800"/>
          </a:xfrm>
          <a:prstGeom prst="roundRect">
            <a:avLst>
              <a:gd name="adj" fmla="val 10667"/>
            </a:avLst>
          </a:prstGeom>
          <a:solidFill>
            <a:srgbClr val="FBE7DA"/>
          </a:solidFill>
          <a:ln w="12700">
            <a:solidFill>
              <a:srgbClr val="FBE7DA"/>
            </a:solidFill>
            <a:prstDash val="solid"/>
          </a:ln>
        </p:spPr>
      </p:sp>
      <p:sp>
        <p:nvSpPr>
          <p:cNvPr id="31" name="Text 25"/>
          <p:cNvSpPr txBox="1"/>
          <p:nvPr/>
        </p:nvSpPr>
        <p:spPr>
          <a:xfrm>
            <a:off x="777240" y="5577840"/>
            <a:ext cx="10637215" cy="685800"/>
          </a:xfrm>
          <a:prstGeom prst="rect">
            <a:avLst/>
          </a:prstGeom>
          <a:noFill/>
          <a:ln/>
        </p:spPr>
        <p:txBody>
          <a:bodyPr wrap="square" lIns="0" tIns="0" rIns="0" bIns="0" rtlCol="0" anchor="ctr">
            <a:normAutofit/>
          </a:bodyPr>
          <a:lstStyle/>
          <a:p>
            <a:pPr indent="0" marL="0">
              <a:buNone/>
            </a:pPr>
            <a:r>
              <a:rPr lang="en-US" sz="1400" dirty="0">
                <a:solidFill>
                  <a:srgbClr val="1B2A38"/>
                </a:solidFill>
                <a:latin typeface="Calibri" pitchFamily="34" charset="0"/>
                <a:ea typeface="Calibri" pitchFamily="34" charset="-122"/>
                <a:cs typeface="Calibri" pitchFamily="34" charset="-120"/>
              </a:rPr>
              <a:t>Đi từng tầng: 1 lệnh (~8 phút/ngày) → lịch chạy → dữ liệu tự về. Chạy tay 5 ngày liên tiếp không phải sửa rồi mới lên lịch.</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17320"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1417320"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KIỂM TRA NHANH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Câu hỏi nhanh</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Shape 4"/>
          <p:cNvSpPr/>
          <p:nvPr/>
        </p:nvSpPr>
        <p:spPr>
          <a:xfrm>
            <a:off x="548640" y="1691640"/>
            <a:ext cx="11094415" cy="1234440"/>
          </a:xfrm>
          <a:prstGeom prst="roundRect">
            <a:avLst>
              <a:gd name="adj" fmla="val 7407"/>
            </a:avLst>
          </a:prstGeom>
          <a:solidFill>
            <a:srgbClr val="ECE6F5"/>
          </a:solidFill>
          <a:ln w="12700">
            <a:solidFill>
              <a:srgbClr val="ECE6F5"/>
            </a:solidFill>
            <a:prstDash val="solid"/>
          </a:ln>
        </p:spPr>
      </p:sp>
      <p:sp>
        <p:nvSpPr>
          <p:cNvPr id="8" name="Shape 5"/>
          <p:cNvSpPr/>
          <p:nvPr/>
        </p:nvSpPr>
        <p:spPr>
          <a:xfrm>
            <a:off x="777240" y="1993392"/>
            <a:ext cx="640080" cy="640080"/>
          </a:xfrm>
          <a:prstGeom prst="roundRect">
            <a:avLst>
              <a:gd name="adj" fmla="val 22000"/>
            </a:avLst>
          </a:prstGeom>
          <a:solidFill>
            <a:srgbClr val="6E4E9E"/>
          </a:solidFill>
          <a:ln w="12700">
            <a:solidFill>
              <a:srgbClr val="6E4E9E"/>
            </a:solidFill>
            <a:prstDash val="solid"/>
          </a:ln>
        </p:spPr>
      </p:sp>
      <p:pic>
        <p:nvPicPr>
          <p:cNvPr id="9" name="Image 0" descr="preencoded.png">    </p:cNvPr>
          <p:cNvPicPr>
            <a:picLocks noChangeAspect="1"/>
          </p:cNvPicPr>
          <p:nvPr/>
        </p:nvPicPr>
        <p:blipFill>
          <a:blip r:embed="rId1"/>
          <a:stretch>
            <a:fillRect/>
          </a:stretch>
        </p:blipFill>
        <p:spPr>
          <a:xfrm>
            <a:off x="930859" y="2147011"/>
            <a:ext cx="332842" cy="332842"/>
          </a:xfrm>
          <a:prstGeom prst="rect">
            <a:avLst/>
          </a:prstGeom>
        </p:spPr>
      </p:pic>
      <p:sp>
        <p:nvSpPr>
          <p:cNvPr id="10" name="Text 6"/>
          <p:cNvSpPr txBox="1"/>
          <p:nvPr/>
        </p:nvSpPr>
        <p:spPr>
          <a:xfrm>
            <a:off x="1645920" y="1801368"/>
            <a:ext cx="9768535" cy="100584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Báo cáo 17/09 ghi “Tỷ lệ sản xuất CS-VT 71,4%, cao nhất 2 tuần”. NV0116 (ca D) có 3,75 giờ sản xuất nhưng thiếu lượt quẹt ra. Xử lý thế nào?</a:t>
            </a:r>
            <a:endParaRPr lang="en-US" sz="1800" dirty="0"/>
          </a:p>
        </p:txBody>
      </p:sp>
      <p:sp>
        <p:nvSpPr>
          <p:cNvPr id="11" name="Shape 7"/>
          <p:cNvSpPr/>
          <p:nvPr/>
        </p:nvSpPr>
        <p:spPr>
          <a:xfrm>
            <a:off x="548640" y="3154680"/>
            <a:ext cx="5432908" cy="1440180"/>
          </a:xfrm>
          <a:prstGeom prst="roundRect">
            <a:avLst>
              <a:gd name="adj" fmla="val 6349"/>
            </a:avLst>
          </a:prstGeom>
          <a:solidFill>
            <a:srgbClr val="FFFFFF"/>
          </a:solidFill>
          <a:ln w="15875">
            <a:solidFill>
              <a:srgbClr val="D5DAE0"/>
            </a:solidFill>
            <a:prstDash val="solid"/>
          </a:ln>
        </p:spPr>
      </p:sp>
      <p:sp>
        <p:nvSpPr>
          <p:cNvPr id="12" name="Shape 8"/>
          <p:cNvSpPr/>
          <p:nvPr/>
        </p:nvSpPr>
        <p:spPr>
          <a:xfrm>
            <a:off x="749808" y="3623310"/>
            <a:ext cx="502920" cy="502920"/>
          </a:xfrm>
          <a:prstGeom prst="ellipse">
            <a:avLst/>
          </a:prstGeom>
          <a:solidFill>
            <a:srgbClr val="6E4E9E"/>
          </a:solidFill>
          <a:ln w="12700">
            <a:solidFill>
              <a:srgbClr val="6E4E9E"/>
            </a:solidFill>
            <a:prstDash val="solid"/>
          </a:ln>
        </p:spPr>
      </p:sp>
      <p:sp>
        <p:nvSpPr>
          <p:cNvPr id="13" name="Text 9"/>
          <p:cNvSpPr txBox="1"/>
          <p:nvPr/>
        </p:nvSpPr>
        <p:spPr>
          <a:xfrm>
            <a:off x="749808"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0"/>
          <p:cNvSpPr txBox="1"/>
          <p:nvPr/>
        </p:nvSpPr>
        <p:spPr>
          <a:xfrm>
            <a:off x="1417320"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Giữ nguyên — dữ liệu ra thế nào thì báo thế ấy.</a:t>
            </a:r>
            <a:endParaRPr lang="en-US" sz="1500" dirty="0"/>
          </a:p>
        </p:txBody>
      </p:sp>
      <p:sp>
        <p:nvSpPr>
          <p:cNvPr id="15" name="Shape 11"/>
          <p:cNvSpPr/>
          <p:nvPr/>
        </p:nvSpPr>
        <p:spPr>
          <a:xfrm>
            <a:off x="6210148" y="3154680"/>
            <a:ext cx="5432908" cy="1440180"/>
          </a:xfrm>
          <a:prstGeom prst="roundRect">
            <a:avLst>
              <a:gd name="adj" fmla="val 6349"/>
            </a:avLst>
          </a:prstGeom>
          <a:solidFill>
            <a:srgbClr val="FFFFFF"/>
          </a:solidFill>
          <a:ln w="15875">
            <a:solidFill>
              <a:srgbClr val="D5DAE0"/>
            </a:solidFill>
            <a:prstDash val="solid"/>
          </a:ln>
        </p:spPr>
      </p:sp>
      <p:sp>
        <p:nvSpPr>
          <p:cNvPr id="16" name="Shape 12"/>
          <p:cNvSpPr/>
          <p:nvPr/>
        </p:nvSpPr>
        <p:spPr>
          <a:xfrm>
            <a:off x="6411316" y="3623310"/>
            <a:ext cx="502920" cy="502920"/>
          </a:xfrm>
          <a:prstGeom prst="ellipse">
            <a:avLst/>
          </a:prstGeom>
          <a:solidFill>
            <a:srgbClr val="6E4E9E"/>
          </a:solidFill>
          <a:ln w="12700">
            <a:solidFill>
              <a:srgbClr val="6E4E9E"/>
            </a:solidFill>
            <a:prstDash val="solid"/>
          </a:ln>
        </p:spPr>
      </p:sp>
      <p:sp>
        <p:nvSpPr>
          <p:cNvPr id="17" name="Text 13"/>
          <p:cNvSpPr txBox="1"/>
          <p:nvPr/>
        </p:nvSpPr>
        <p:spPr>
          <a:xfrm>
            <a:off x="6411316"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8" name="Text 14"/>
          <p:cNvSpPr txBox="1"/>
          <p:nvPr/>
        </p:nvSpPr>
        <p:spPr>
          <a:xfrm>
            <a:off x="7078828"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Ước lượng giờ có mặt của NV0116 là 7,5 giờ cho đủ.</a:t>
            </a:r>
            <a:endParaRPr lang="en-US" sz="1500" dirty="0"/>
          </a:p>
        </p:txBody>
      </p:sp>
      <p:sp>
        <p:nvSpPr>
          <p:cNvPr id="19" name="Shape 15"/>
          <p:cNvSpPr/>
          <p:nvPr/>
        </p:nvSpPr>
        <p:spPr>
          <a:xfrm>
            <a:off x="548640" y="4823460"/>
            <a:ext cx="5432908" cy="1440180"/>
          </a:xfrm>
          <a:prstGeom prst="roundRect">
            <a:avLst>
              <a:gd name="adj" fmla="val 6349"/>
            </a:avLst>
          </a:prstGeom>
          <a:solidFill>
            <a:srgbClr val="FFFFFF"/>
          </a:solidFill>
          <a:ln w="15875">
            <a:solidFill>
              <a:srgbClr val="D5DAE0"/>
            </a:solidFill>
            <a:prstDash val="solid"/>
          </a:ln>
        </p:spPr>
      </p:sp>
      <p:sp>
        <p:nvSpPr>
          <p:cNvPr id="20" name="Shape 16"/>
          <p:cNvSpPr/>
          <p:nvPr/>
        </p:nvSpPr>
        <p:spPr>
          <a:xfrm>
            <a:off x="749808" y="5292090"/>
            <a:ext cx="502920" cy="502920"/>
          </a:xfrm>
          <a:prstGeom prst="ellipse">
            <a:avLst/>
          </a:prstGeom>
          <a:solidFill>
            <a:srgbClr val="6E4E9E"/>
          </a:solidFill>
          <a:ln w="12700">
            <a:solidFill>
              <a:srgbClr val="6E4E9E"/>
            </a:solidFill>
            <a:prstDash val="solid"/>
          </a:ln>
        </p:spPr>
      </p:sp>
      <p:sp>
        <p:nvSpPr>
          <p:cNvPr id="21" name="Text 17"/>
          <p:cNvSpPr txBox="1"/>
          <p:nvPr/>
        </p:nvSpPr>
        <p:spPr>
          <a:xfrm>
            <a:off x="749808"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2" name="Text 18"/>
          <p:cNvSpPr txBox="1"/>
          <p:nvPr/>
        </p:nvSpPr>
        <p:spPr>
          <a:xfrm>
            <a:off x="1417320"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Loại NV0116 khỏi cả tử số và mẫu số, báo 64,2% và ghi chú lý do.</a:t>
            </a:r>
            <a:endParaRPr lang="en-US" sz="1500" dirty="0"/>
          </a:p>
        </p:txBody>
      </p:sp>
      <p:sp>
        <p:nvSpPr>
          <p:cNvPr id="23" name="Shape 19"/>
          <p:cNvSpPr/>
          <p:nvPr/>
        </p:nvSpPr>
        <p:spPr>
          <a:xfrm>
            <a:off x="6210148" y="4823460"/>
            <a:ext cx="5432908" cy="1440180"/>
          </a:xfrm>
          <a:prstGeom prst="roundRect">
            <a:avLst>
              <a:gd name="adj" fmla="val 6349"/>
            </a:avLst>
          </a:prstGeom>
          <a:solidFill>
            <a:srgbClr val="FFFFFF"/>
          </a:solidFill>
          <a:ln w="15875">
            <a:solidFill>
              <a:srgbClr val="D5DAE0"/>
            </a:solidFill>
            <a:prstDash val="solid"/>
          </a:ln>
        </p:spPr>
      </p:sp>
      <p:sp>
        <p:nvSpPr>
          <p:cNvPr id="24" name="Shape 20"/>
          <p:cNvSpPr/>
          <p:nvPr/>
        </p:nvSpPr>
        <p:spPr>
          <a:xfrm>
            <a:off x="6411316" y="5292090"/>
            <a:ext cx="502920" cy="502920"/>
          </a:xfrm>
          <a:prstGeom prst="ellipse">
            <a:avLst/>
          </a:prstGeom>
          <a:solidFill>
            <a:srgbClr val="6E4E9E"/>
          </a:solidFill>
          <a:ln w="12700">
            <a:solidFill>
              <a:srgbClr val="6E4E9E"/>
            </a:solidFill>
            <a:prstDash val="solid"/>
          </a:ln>
        </p:spPr>
      </p:sp>
      <p:sp>
        <p:nvSpPr>
          <p:cNvPr id="25" name="Text 21"/>
          <p:cNvSpPr txBox="1"/>
          <p:nvPr/>
        </p:nvSpPr>
        <p:spPr>
          <a:xfrm>
            <a:off x="6411316"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6" name="Text 22"/>
          <p:cNvSpPr txBox="1"/>
          <p:nvPr/>
        </p:nvSpPr>
        <p:spPr>
          <a:xfrm>
            <a:off x="7078828"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Bỏ hẳn chỉ số tỷ lệ sản xuất khỏi báo cáo hôm nay.</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KIẾN THỨC</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SOP “hiểu trong 1 ngày”: 7 phần, đọc dưới 5 phút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File hướng dẫn chấm công 11 trang — người thay chị Mai đọc hết vẫn gọi chị 14 lần trong tuần đầu.</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2126430"/>
                <a:gridCol w="4807580"/>
                <a:gridCol w="4160406"/>
              </a:tblGrid>
              <a:tr h="405765">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Phần</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Nội dung</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Vì sao cần</a:t>
                      </a:r>
                      <a:endParaRPr lang="en-US" sz="14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405765">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1. Mục đích</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1–2 câu: làm để làm gì, cho ai, hạn giờ</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Hiểu “tại sao” thì tự xử được tình huống lạ</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05765">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2. Người làm</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Chính + dự phòng + người duyệt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Ngày người chính vắng là ngày quy trình hỏng</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05765">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3. Đầu vào</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Danh sách file, lấy ở đâu, tên file chuẩn</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80% lỗi bắt đầu từ sai file đầu vào</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05765">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4. Các bước</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Đánh số; mỗi bước 1 hành động, kèm ảnh + prompt</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Làm theo được như công thức nấu ăn</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05765">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5. Điểm kiểm tra</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“Đúng thì trông thế nào” — con số, dòng đối chiếu</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Tự biết mình làm đúng mà không cần hỏi</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05765">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6. Lỗi thường gặp</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Triệu chứng → cách xử lý</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Thay cho 14 cuộc điện thoại</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05765">
                <a:tc>
                  <a:txBody>
                    <a:bodyPr/>
                    <a:lstStyle/>
                    <a:p>
                      <a:pPr indent="0" marL="0">
                        <a:buNone/>
                      </a:pPr>
                      <a:r>
                        <a:rPr lang="en-US" sz="1350" b="1" dirty="0">
                          <a:solidFill>
                            <a:srgbClr val="1B2A38"/>
                          </a:solidFill>
                          <a:latin typeface="Calibri" pitchFamily="34" charset="0"/>
                          <a:ea typeface="Calibri" pitchFamily="34" charset="-122"/>
                          <a:cs typeface="Calibri" pitchFamily="34" charset="-120"/>
                        </a:rPr>
                        <a:t>7. Liên hệ</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Gặp gì hỏi ai, kênh nào, khi nào phải DỪNG</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Dừng và hỏi thay vì đoán</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bl>
          </a:graphicData>
        </a:graphic>
      </p:graphicFrame>
      <p:sp>
        <p:nvSpPr>
          <p:cNvPr id="9" name="Shape 5"/>
          <p:cNvSpPr/>
          <p:nvPr/>
        </p:nvSpPr>
        <p:spPr>
          <a:xfrm>
            <a:off x="548640" y="5669280"/>
            <a:ext cx="11094415" cy="594360"/>
          </a:xfrm>
          <a:prstGeom prst="roundRect">
            <a:avLst>
              <a:gd name="adj" fmla="val 12308"/>
            </a:avLst>
          </a:prstGeom>
          <a:solidFill>
            <a:srgbClr val="FBE7DA"/>
          </a:solidFill>
          <a:ln w="12700">
            <a:solidFill>
              <a:srgbClr val="FBE7DA"/>
            </a:solidFill>
            <a:prstDash val="solid"/>
          </a:ln>
        </p:spPr>
      </p:sp>
      <p:sp>
        <p:nvSpPr>
          <p:cNvPr id="10" name="Text 6"/>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Quy tắc viết: câu dưới 20 từ, động từ đầu câu (Mở…, Tải…, Kiểm tra…), cấm “hợp lý”, “theo quy định”, “nếu cần”.</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Kỹ thuật: để Claude phỏng vấn người làm giỏi nhất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Shape 4"/>
          <p:cNvSpPr/>
          <p:nvPr/>
        </p:nvSpPr>
        <p:spPr>
          <a:xfrm>
            <a:off x="548640" y="1691640"/>
            <a:ext cx="6949440" cy="4572000"/>
          </a:xfrm>
          <a:prstGeom prst="roundRect">
            <a:avLst>
              <a:gd name="adj" fmla="val 1600"/>
            </a:avLst>
          </a:prstGeom>
          <a:solidFill>
            <a:srgbClr val="1B2A38"/>
          </a:solidFill>
          <a:ln w="12700">
            <a:solidFill>
              <a:srgbClr val="1B2A38"/>
            </a:solidFill>
            <a:prstDash val="solid"/>
          </a:ln>
        </p:spPr>
      </p:sp>
      <p:sp>
        <p:nvSpPr>
          <p:cNvPr id="8" name="Shape 5"/>
          <p:cNvSpPr/>
          <p:nvPr/>
        </p:nvSpPr>
        <p:spPr>
          <a:xfrm>
            <a:off x="749808" y="1874520"/>
            <a:ext cx="384048" cy="38404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41980" y="1966692"/>
            <a:ext cx="199705" cy="199705"/>
          </a:xfrm>
          <a:prstGeom prst="rect">
            <a:avLst/>
          </a:prstGeom>
        </p:spPr>
      </p:pic>
      <p:sp>
        <p:nvSpPr>
          <p:cNvPr id="10" name="Text 6"/>
          <p:cNvSpPr txBox="1"/>
          <p:nvPr/>
        </p:nvSpPr>
        <p:spPr>
          <a:xfrm>
            <a:off x="128016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PROMPT — dán vào Claude</a:t>
            </a:r>
            <a:endParaRPr lang="en-US" sz="1100" dirty="0"/>
          </a:p>
        </p:txBody>
      </p:sp>
      <p:sp>
        <p:nvSpPr>
          <p:cNvPr id="11" name="Text 7"/>
          <p:cNvSpPr txBox="1"/>
          <p:nvPr/>
        </p:nvSpPr>
        <p:spPr>
          <a:xfrm>
            <a:off x="822960" y="2423160"/>
            <a:ext cx="6400800" cy="3657600"/>
          </a:xfrm>
          <a:prstGeom prst="rect">
            <a:avLst/>
          </a:prstGeom>
          <a:noFill/>
          <a:ln/>
        </p:spPr>
        <p:txBody>
          <a:bodyPr wrap="square" lIns="0" tIns="0" rIns="0" bIns="0" rtlCol="0" anchor="t">
            <a:normAutofit/>
          </a:bodyPr>
          <a:lstStyle/>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Bạn là chuyên gia viết quy trình.</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Tôi là người đang làm việc "Chốt công tháng".</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Hãy phỏng vấn tôi từng câu một (khoảng 10 câu) về:</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các bước thực tế, dữ liệu lấy ở đâu, điểm dễ sai,</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cách kiểm tra, trường hợp ngoại lệ,</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khi nào phải hỏi cấp trên.</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Sau đó viết SOP theo mẫu: Mục đích – Người làm – Đầu vào –</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Các bước (đánh số, kèm prompt Claude dùng ở bước đó) –</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Điểm kiểm tra – Lỗi thường gặp – Liên hệ.</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Câu ngắn, người mới đọc 5 phút là làm được.</a:t>
            </a:r>
            <a:endParaRPr lang="en-US" sz="1400" dirty="0"/>
          </a:p>
        </p:txBody>
      </p:sp>
      <p:sp>
        <p:nvSpPr>
          <p:cNvPr id="12" name="Text 8"/>
          <p:cNvSpPr txBox="1"/>
          <p:nvPr/>
        </p:nvSpPr>
        <p:spPr>
          <a:xfrm>
            <a:off x="7818120" y="1691640"/>
            <a:ext cx="3824935" cy="411480"/>
          </a:xfrm>
          <a:prstGeom prst="rect">
            <a:avLst/>
          </a:prstGeom>
          <a:noFill/>
          <a:ln/>
        </p:spPr>
        <p:txBody>
          <a:bodyPr wrap="square" lIns="0" tIns="0" rIns="0" bIns="0" rtlCol="0" anchor="t"/>
          <a:lstStyle/>
          <a:p>
            <a:pPr indent="0" marL="0">
              <a:buNone/>
            </a:pPr>
            <a:r>
              <a:rPr lang="en-US" sz="1700" b="1" dirty="0">
                <a:solidFill>
                  <a:srgbClr val="1B2A38"/>
                </a:solidFill>
                <a:latin typeface="Cambria" pitchFamily="34" charset="0"/>
                <a:ea typeface="Cambria" pitchFamily="34" charset="-122"/>
                <a:cs typeface="Cambria" pitchFamily="34" charset="-120"/>
              </a:rPr>
              <a:t>Vì sao hiệu quả?</a:t>
            </a:r>
            <a:endParaRPr lang="en-US" sz="1700" dirty="0"/>
          </a:p>
        </p:txBody>
      </p:sp>
      <p:sp>
        <p:nvSpPr>
          <p:cNvPr id="13" name="Text 9"/>
          <p:cNvSpPr txBox="1"/>
          <p:nvPr/>
        </p:nvSpPr>
        <p:spPr>
          <a:xfrm>
            <a:off x="7818120" y="2240280"/>
            <a:ext cx="3824935" cy="402336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Kiến thức ngầm:</a:t>
            </a:r>
            <a:pPr indent="0" marL="0">
              <a:buNone/>
            </a:pPr>
            <a:r>
              <a:rPr lang="en-US" sz="1400" dirty="0">
                <a:solidFill>
                  <a:srgbClr val="1B2A38"/>
                </a:solidFill>
                <a:latin typeface="Calibri" pitchFamily="34" charset="0"/>
                <a:ea typeface="Calibri" pitchFamily="34" charset="-122"/>
                <a:cs typeface="Calibri" pitchFamily="34" charset="-120"/>
              </a:rPr>
              <a:t> chị Mai luôn nhìn đơn phép trước khi gắn cờ vắng — chị không nghĩ đó là “một bước”.</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“Từng câu một”:</a:t>
            </a:r>
            <a:pPr indent="0" marL="0">
              <a:buNone/>
            </a:pPr>
            <a:r>
              <a:rPr lang="en-US" sz="1400" dirty="0">
                <a:solidFill>
                  <a:srgbClr val="1B2A38"/>
                </a:solidFill>
                <a:latin typeface="Calibri" pitchFamily="34" charset="0"/>
                <a:ea typeface="Calibri" pitchFamily="34" charset="-122"/>
                <a:cs typeface="Calibri" pitchFamily="34" charset="-120"/>
              </a:rPr>
              <a:t> buộc trả lời cụ thể; Claude hỏi tiếp từ câu trả lời.</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Điểm dễ sai, ngoại lệ:</a:t>
            </a:r>
            <a:pPr indent="0" marL="0">
              <a:buNone/>
            </a:pPr>
            <a:r>
              <a:rPr lang="en-US" sz="1400" dirty="0">
                <a:solidFill>
                  <a:srgbClr val="1B2A38"/>
                </a:solidFill>
                <a:latin typeface="Calibri" pitchFamily="34" charset="0"/>
                <a:ea typeface="Calibri" pitchFamily="34" charset="-122"/>
                <a:cs typeface="Calibri" pitchFamily="34" charset="-120"/>
              </a:rPr>
              <a:t> lôi ra ca đêm, nghỉ nửa ngày, quẹt đúp.</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“Khi nào hỏi cấp trên”:</a:t>
            </a:r>
            <a:pPr indent="0" marL="0">
              <a:buNone/>
            </a:pPr>
            <a:r>
              <a:rPr lang="en-US" sz="1400" dirty="0">
                <a:solidFill>
                  <a:srgbClr val="1B2A38"/>
                </a:solidFill>
                <a:latin typeface="Calibri" pitchFamily="34" charset="0"/>
                <a:ea typeface="Calibri" pitchFamily="34" charset="-122"/>
                <a:cs typeface="Calibri" pitchFamily="34" charset="-120"/>
              </a:rPr>
              <a:t> tạo ra mục Liên hệ — ranh giới tự quyết.</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Mẹo:</a:t>
            </a:r>
            <a:pPr indent="0" marL="0">
              <a:buNone/>
            </a:pPr>
            <a:r>
              <a:rPr lang="en-US" sz="1400" dirty="0">
                <a:solidFill>
                  <a:srgbClr val="1B2A38"/>
                </a:solidFill>
                <a:latin typeface="Calibri" pitchFamily="34" charset="0"/>
                <a:ea typeface="Calibri" pitchFamily="34" charset="-122"/>
                <a:cs typeface="Calibri" pitchFamily="34" charset="-120"/>
              </a:rPr>
              <a:t> trả lời bằng ví dụ thật — “17/09 NV0116 thiếu quẹt ra, tôi…”.</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61772"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461772"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LAB</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Lab 5.1 · Skill “Báo cáo ngày”</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Shape 4"/>
          <p:cNvSpPr/>
          <p:nvPr/>
        </p:nvSpPr>
        <p:spPr>
          <a:xfrm>
            <a:off x="548640" y="1691640"/>
            <a:ext cx="3931920" cy="4572000"/>
          </a:xfrm>
          <a:prstGeom prst="roundRect">
            <a:avLst>
              <a:gd name="adj" fmla="val 2326"/>
            </a:avLst>
          </a:prstGeom>
          <a:solidFill>
            <a:srgbClr val="DDEFEE"/>
          </a:solidFill>
          <a:ln w="12700">
            <a:solidFill>
              <a:srgbClr val="DDEFEE"/>
            </a:solidFill>
            <a:prstDash val="solid"/>
          </a:ln>
        </p:spPr>
      </p:sp>
      <p:sp>
        <p:nvSpPr>
          <p:cNvPr id="8" name="Shape 5"/>
          <p:cNvSpPr/>
          <p:nvPr/>
        </p:nvSpPr>
        <p:spPr>
          <a:xfrm>
            <a:off x="777240" y="1920240"/>
            <a:ext cx="502920" cy="50292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10" name="Text 6"/>
          <p:cNvSpPr txBox="1"/>
          <p:nvPr/>
        </p:nvSpPr>
        <p:spPr>
          <a:xfrm>
            <a:off x="1417320" y="1920240"/>
            <a:ext cx="2743200" cy="502920"/>
          </a:xfrm>
          <a:prstGeom prst="rect">
            <a:avLst/>
          </a:prstGeom>
          <a:noFill/>
          <a:ln/>
        </p:spPr>
        <p:txBody>
          <a:bodyPr wrap="square" lIns="0" tIns="0" rIns="0" bIns="0" rtlCol="0" anchor="ctr"/>
          <a:lstStyle/>
          <a:p>
            <a:pPr indent="0" marL="0">
              <a:buNone/>
            </a:pPr>
            <a:r>
              <a:rPr lang="en-US" sz="2200" b="1" dirty="0">
                <a:solidFill>
                  <a:srgbClr val="2E7D7A"/>
                </a:solidFill>
                <a:latin typeface="Cambria" pitchFamily="34" charset="0"/>
                <a:ea typeface="Cambria" pitchFamily="34" charset="-122"/>
                <a:cs typeface="Cambria" pitchFamily="34" charset="-120"/>
              </a:rPr>
              <a:t>20 phút</a:t>
            </a:r>
            <a:endParaRPr lang="en-US" sz="2200" dirty="0"/>
          </a:p>
        </p:txBody>
      </p:sp>
      <p:sp>
        <p:nvSpPr>
          <p:cNvPr id="11" name="Text 7"/>
          <p:cNvSpPr txBox="1"/>
          <p:nvPr/>
        </p:nvSpPr>
        <p:spPr>
          <a:xfrm>
            <a:off x="777240" y="2606040"/>
            <a:ext cx="3474720" cy="1325880"/>
          </a:xfrm>
          <a:prstGeom prst="rect">
            <a:avLst/>
          </a:prstGeom>
          <a:noFill/>
          <a:ln/>
        </p:spPr>
        <p:txBody>
          <a:bodyPr wrap="square" lIns="0" tIns="0" rIns="0" bIns="0" rtlCol="0" anchor="t">
            <a:normAutofit/>
          </a:bodyPr>
          <a:lstStyle/>
          <a:p>
            <a:pPr indent="0" marL="0">
              <a:buNone/>
            </a:pPr>
            <a:r>
              <a:rPr lang="en-US" sz="1400" b="1" dirty="0">
                <a:solidFill>
                  <a:srgbClr val="2E7D7A"/>
                </a:solidFill>
                <a:latin typeface="Calibri" pitchFamily="34" charset="0"/>
                <a:ea typeface="Calibri" pitchFamily="34" charset="-122"/>
                <a:cs typeface="Calibri" pitchFamily="34" charset="-120"/>
              </a:rPr>
              <a:t>Mục tiêu  </a:t>
            </a:r>
            <a:pPr indent="0" marL="0">
              <a:buNone/>
            </a:pPr>
            <a:r>
              <a:rPr lang="en-US" sz="1400" dirty="0">
                <a:solidFill>
                  <a:srgbClr val="1B2A38"/>
                </a:solidFill>
                <a:latin typeface="Calibri" pitchFamily="34" charset="0"/>
                <a:ea typeface="Calibri" pitchFamily="34" charset="-122"/>
                <a:cs typeface="Calibri" pitchFamily="34" charset="-120"/>
              </a:rPr>
              <a:t>Đưa call log + dữ liệu công của một ngày vào, nhận báo cáo 1 trang cho CEO — cùng định dạng, cùng con số, dù ai chạy.</a:t>
            </a:r>
            <a:endParaRPr lang="en-US" sz="1400" dirty="0"/>
          </a:p>
        </p:txBody>
      </p:sp>
      <p:sp>
        <p:nvSpPr>
          <p:cNvPr id="12" name="Text 8"/>
          <p:cNvSpPr txBox="1"/>
          <p:nvPr/>
        </p:nvSpPr>
        <p:spPr>
          <a:xfrm>
            <a:off x="777240" y="3977640"/>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Dữ liệu dùng</a:t>
            </a:r>
            <a:endParaRPr lang="en-US" sz="1250" dirty="0"/>
          </a:p>
        </p:txBody>
      </p:sp>
      <p:sp>
        <p:nvSpPr>
          <p:cNvPr id="13" name="Text 9"/>
          <p:cNvSpPr txBox="1"/>
          <p:nvPr/>
        </p:nvSpPr>
        <p:spPr>
          <a:xfrm>
            <a:off x="777240" y="4279392"/>
            <a:ext cx="3474720" cy="1115568"/>
          </a:xfrm>
          <a:prstGeom prst="rect">
            <a:avLst/>
          </a:prstGeom>
          <a:noFill/>
          <a:ln/>
        </p:spPr>
        <p:txBody>
          <a:bodyPr wrap="square" lIns="0" tIns="0" rIns="0" bIns="0" rtlCol="0" anchor="t">
            <a:normAutofit/>
          </a:bodyPr>
          <a:lstStyle/>
          <a:p>
            <a:pPr indent="0" marL="0">
              <a:buNone/>
            </a:pPr>
            <a:r>
              <a:rPr lang="en-US" sz="1050" dirty="0">
                <a:solidFill>
                  <a:srgbClr val="1B2A38"/>
                </a:solidFill>
                <a:latin typeface="Courier New" pitchFamily="34" charset="0"/>
                <a:ea typeface="Courier New" pitchFamily="34" charset="-122"/>
                <a:cs typeface="Courier New" pitchFamily="34" charset="-120"/>
              </a:rPr>
              <a:t>call_log_2026-09-10 … 09-17.csv (8 file)</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cham_cong, trang_thai_agent (tháng 9)</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lich_ca, danh_muc_ca, don_phep_ot</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danh_sach_agent, danh_sach_du_an</a:t>
            </a:r>
            <a:endParaRPr lang="en-US" sz="1050" dirty="0"/>
          </a:p>
        </p:txBody>
      </p:sp>
      <p:sp>
        <p:nvSpPr>
          <p:cNvPr id="14" name="Text 10"/>
          <p:cNvSpPr txBox="1"/>
          <p:nvPr/>
        </p:nvSpPr>
        <p:spPr>
          <a:xfrm>
            <a:off x="777240" y="5458968"/>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Sản phẩm</a:t>
            </a:r>
            <a:endParaRPr lang="en-US" sz="1250" dirty="0"/>
          </a:p>
        </p:txBody>
      </p:sp>
      <p:sp>
        <p:nvSpPr>
          <p:cNvPr id="15" name="Text 11"/>
          <p:cNvSpPr txBox="1"/>
          <p:nvPr/>
        </p:nvSpPr>
        <p:spPr>
          <a:xfrm>
            <a:off x="777240" y="5760720"/>
            <a:ext cx="3474720" cy="347472"/>
          </a:xfrm>
          <a:prstGeom prst="rect">
            <a:avLst/>
          </a:prstGeom>
          <a:noFill/>
          <a:ln/>
        </p:spPr>
        <p:txBody>
          <a:bodyPr wrap="square" lIns="0" tIns="0" rIns="0" bIns="0" rtlCol="0" anchor="t">
            <a:normAutofit/>
          </a:bodyPr>
          <a:lstStyle/>
          <a:p>
            <a:pPr indent="0" marL="0">
              <a:buNone/>
            </a:pPr>
            <a:r>
              <a:rPr lang="en-US" sz="1300" dirty="0">
                <a:solidFill>
                  <a:srgbClr val="1B2A38"/>
                </a:solidFill>
                <a:latin typeface="Calibri" pitchFamily="34" charset="0"/>
                <a:ea typeface="Calibri" pitchFamily="34" charset="-122"/>
                <a:cs typeface="Calibri" pitchFamily="34" charset="-120"/>
              </a:rPr>
              <a:t>Skill chạy được + báo cáo 17/09 khớp lời giải; chạy lần 2 ra cùng con số.</a:t>
            </a:r>
            <a:endParaRPr lang="en-US" sz="1300" dirty="0"/>
          </a:p>
        </p:txBody>
      </p:sp>
      <p:sp>
        <p:nvSpPr>
          <p:cNvPr id="16" name="Shape 12"/>
          <p:cNvSpPr/>
          <p:nvPr/>
        </p:nvSpPr>
        <p:spPr>
          <a:xfrm>
            <a:off x="4800600" y="1737360"/>
            <a:ext cx="438912" cy="438912"/>
          </a:xfrm>
          <a:prstGeom prst="ellipse">
            <a:avLst/>
          </a:prstGeom>
          <a:solidFill>
            <a:srgbClr val="2E7D7A"/>
          </a:solidFill>
          <a:ln w="12700">
            <a:solidFill>
              <a:srgbClr val="2E7D7A"/>
            </a:solidFill>
            <a:prstDash val="solid"/>
          </a:ln>
        </p:spPr>
      </p:sp>
      <p:sp>
        <p:nvSpPr>
          <p:cNvPr id="17" name="Text 13"/>
          <p:cNvSpPr txBox="1"/>
          <p:nvPr/>
        </p:nvSpPr>
        <p:spPr>
          <a:xfrm>
            <a:off x="4800600" y="1737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4"/>
          <p:cNvSpPr txBox="1"/>
          <p:nvPr/>
        </p:nvSpPr>
        <p:spPr>
          <a:xfrm>
            <a:off x="5394960" y="169164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Nhờ Claude lắp khung Skill (4’)</a:t>
            </a:r>
            <a:pPr indent="0" marL="0">
              <a:buNone/>
            </a:pPr>
            <a:r>
              <a:rPr lang="en-US" sz="1450" dirty="0">
                <a:solidFill>
                  <a:srgbClr val="1B2A38"/>
                </a:solidFill>
                <a:latin typeface="Calibri" pitchFamily="34" charset="0"/>
                <a:ea typeface="Calibri" pitchFamily="34" charset="-122"/>
                <a:cs typeface="Calibri" pitchFamily="34" charset="-120"/>
              </a:rPr>
              <a:t> — SKILL.md + 4 file tham chiếu từ tài liệu các buổi trước; chỗ chưa quy định ghi “CẦN QUYẾT ĐỊNH”.</a:t>
            </a:r>
            <a:endParaRPr lang="en-US" sz="1450" dirty="0"/>
          </a:p>
        </p:txBody>
      </p:sp>
      <p:sp>
        <p:nvSpPr>
          <p:cNvPr id="19" name="Shape 15"/>
          <p:cNvSpPr/>
          <p:nvPr/>
        </p:nvSpPr>
        <p:spPr>
          <a:xfrm>
            <a:off x="4800600" y="2677363"/>
            <a:ext cx="438912" cy="438912"/>
          </a:xfrm>
          <a:prstGeom prst="ellipse">
            <a:avLst/>
          </a:prstGeom>
          <a:solidFill>
            <a:srgbClr val="2E7D7A"/>
          </a:solidFill>
          <a:ln w="12700">
            <a:solidFill>
              <a:srgbClr val="2E7D7A"/>
            </a:solidFill>
            <a:prstDash val="solid"/>
          </a:ln>
        </p:spPr>
      </p:sp>
      <p:sp>
        <p:nvSpPr>
          <p:cNvPr id="20" name="Text 16"/>
          <p:cNvSpPr txBox="1"/>
          <p:nvPr/>
        </p:nvSpPr>
        <p:spPr>
          <a:xfrm>
            <a:off x="4800600" y="267736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7"/>
          <p:cNvSpPr txBox="1"/>
          <p:nvPr/>
        </p:nvSpPr>
        <p:spPr>
          <a:xfrm>
            <a:off x="5394960" y="263164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Duyệt SKILL.md (4’)</a:t>
            </a:r>
            <a:pPr indent="0" marL="0">
              <a:buNone/>
            </a:pPr>
            <a:r>
              <a:rPr lang="en-US" sz="1450" dirty="0">
                <a:solidFill>
                  <a:srgbClr val="1B2A38"/>
                </a:solidFill>
                <a:latin typeface="Calibri" pitchFamily="34" charset="0"/>
                <a:ea typeface="Calibri" pitchFamily="34" charset="-122"/>
                <a:cs typeface="Calibri" pitchFamily="34" charset="-120"/>
              </a:rPr>
              <a:t> — đủ description, đầu vào bắt buộc, các bước, quy tắc Chủ nhật · NV0116 · EXT2099.</a:t>
            </a:r>
            <a:endParaRPr lang="en-US" sz="1450" dirty="0"/>
          </a:p>
        </p:txBody>
      </p:sp>
      <p:sp>
        <p:nvSpPr>
          <p:cNvPr id="22" name="Shape 18"/>
          <p:cNvSpPr/>
          <p:nvPr/>
        </p:nvSpPr>
        <p:spPr>
          <a:xfrm>
            <a:off x="4800600" y="3617366"/>
            <a:ext cx="438912" cy="438912"/>
          </a:xfrm>
          <a:prstGeom prst="ellipse">
            <a:avLst/>
          </a:prstGeom>
          <a:solidFill>
            <a:srgbClr val="2E7D7A"/>
          </a:solidFill>
          <a:ln w="12700">
            <a:solidFill>
              <a:srgbClr val="2E7D7A"/>
            </a:solidFill>
            <a:prstDash val="solid"/>
          </a:ln>
        </p:spPr>
      </p:sp>
      <p:sp>
        <p:nvSpPr>
          <p:cNvPr id="23" name="Text 19"/>
          <p:cNvSpPr txBox="1"/>
          <p:nvPr/>
        </p:nvSpPr>
        <p:spPr>
          <a:xfrm>
            <a:off x="4800600" y="361736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0"/>
          <p:cNvSpPr txBox="1"/>
          <p:nvPr/>
        </p:nvSpPr>
        <p:spPr>
          <a:xfrm>
            <a:off x="5394960" y="3571646"/>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Kiểm 4 file tham chiếu (5’)</a:t>
            </a:r>
            <a:pPr indent="0" marL="0">
              <a:buNone/>
            </a:pPr>
            <a:r>
              <a:rPr lang="en-US" sz="1450" dirty="0">
                <a:solidFill>
                  <a:srgbClr val="1B2A38"/>
                </a:solidFill>
                <a:latin typeface="Calibri" pitchFamily="34" charset="0"/>
                <a:ea typeface="Calibri" pitchFamily="34" charset="-122"/>
                <a:cs typeface="Calibri" pitchFamily="34" charset="-120"/>
              </a:rPr>
              <a:t> — quy tắc làm sạch v2, từ điển chỉ số, ngưỡng 🟢🟡🔴, mẫu báo cáo — mỗi file ghi phiên bản.</a:t>
            </a:r>
            <a:endParaRPr lang="en-US" sz="1450" dirty="0"/>
          </a:p>
        </p:txBody>
      </p:sp>
      <p:sp>
        <p:nvSpPr>
          <p:cNvPr id="25" name="Shape 21"/>
          <p:cNvSpPr/>
          <p:nvPr/>
        </p:nvSpPr>
        <p:spPr>
          <a:xfrm>
            <a:off x="4800600" y="4557370"/>
            <a:ext cx="438912" cy="438912"/>
          </a:xfrm>
          <a:prstGeom prst="ellipse">
            <a:avLst/>
          </a:prstGeom>
          <a:solidFill>
            <a:srgbClr val="2E7D7A"/>
          </a:solidFill>
          <a:ln w="12700">
            <a:solidFill>
              <a:srgbClr val="2E7D7A"/>
            </a:solidFill>
            <a:prstDash val="solid"/>
          </a:ln>
        </p:spPr>
      </p:sp>
      <p:sp>
        <p:nvSpPr>
          <p:cNvPr id="26" name="Text 22"/>
          <p:cNvSpPr txBox="1"/>
          <p:nvPr/>
        </p:nvSpPr>
        <p:spPr>
          <a:xfrm>
            <a:off x="4800600" y="455737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3"/>
          <p:cNvSpPr txBox="1"/>
          <p:nvPr/>
        </p:nvSpPr>
        <p:spPr>
          <a:xfrm>
            <a:off x="5394960" y="451165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Đóng gói &amp; tải lên (2’)</a:t>
            </a:r>
            <a:pPr indent="0" marL="0">
              <a:buNone/>
            </a:pPr>
            <a:r>
              <a:rPr lang="en-US" sz="1450" dirty="0">
                <a:solidFill>
                  <a:srgbClr val="1B2A38"/>
                </a:solidFill>
                <a:latin typeface="Calibri" pitchFamily="34" charset="0"/>
                <a:ea typeface="Calibri" pitchFamily="34" charset="-122"/>
                <a:cs typeface="Calibri" pitchFamily="34" charset="-120"/>
              </a:rPr>
              <a:t> — nén thư mục bao-cao-ngay/ vào mục Skills (Claude Code: .claude/skills/).</a:t>
            </a:r>
            <a:endParaRPr lang="en-US" sz="1450" dirty="0"/>
          </a:p>
        </p:txBody>
      </p:sp>
      <p:sp>
        <p:nvSpPr>
          <p:cNvPr id="28" name="Shape 24"/>
          <p:cNvSpPr/>
          <p:nvPr/>
        </p:nvSpPr>
        <p:spPr>
          <a:xfrm>
            <a:off x="4800600" y="5497373"/>
            <a:ext cx="438912" cy="438912"/>
          </a:xfrm>
          <a:prstGeom prst="ellipse">
            <a:avLst/>
          </a:prstGeom>
          <a:solidFill>
            <a:srgbClr val="2E7D7A"/>
          </a:solidFill>
          <a:ln w="12700">
            <a:solidFill>
              <a:srgbClr val="2E7D7A"/>
            </a:solidFill>
            <a:prstDash val="solid"/>
          </a:ln>
        </p:spPr>
      </p:sp>
      <p:sp>
        <p:nvSpPr>
          <p:cNvPr id="29" name="Text 25"/>
          <p:cNvSpPr txBox="1"/>
          <p:nvPr/>
        </p:nvSpPr>
        <p:spPr>
          <a:xfrm>
            <a:off x="4800600" y="549737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6"/>
          <p:cNvSpPr txBox="1"/>
          <p:nvPr/>
        </p:nvSpPr>
        <p:spPr>
          <a:xfrm>
            <a:off x="5394960" y="545165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Chạy thử (5’)</a:t>
            </a:r>
            <a:pPr indent="0" marL="0">
              <a:buNone/>
            </a:pPr>
            <a:r>
              <a:rPr lang="en-US" sz="1450" dirty="0">
                <a:solidFill>
                  <a:srgbClr val="1B2A38"/>
                </a:solidFill>
                <a:latin typeface="Calibri" pitchFamily="34" charset="0"/>
                <a:ea typeface="Calibri" pitchFamily="34" charset="-122"/>
                <a:cs typeface="Calibri" pitchFamily="34" charset="-120"/>
              </a:rPr>
              <a:t> — tải 15 file, dán NGUYÊN VĂN prompt ở slide sau; rồi thử câu ngắn “làm báo cáo sáng 16/09”.</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Prompt mẫu — Báo cáo ngày cho CEO (dán nguyên văn)</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Shape 4"/>
          <p:cNvSpPr/>
          <p:nvPr/>
        </p:nvSpPr>
        <p:spPr>
          <a:xfrm>
            <a:off x="548640" y="1691640"/>
            <a:ext cx="6949440" cy="4572000"/>
          </a:xfrm>
          <a:prstGeom prst="roundRect">
            <a:avLst>
              <a:gd name="adj" fmla="val 1600"/>
            </a:avLst>
          </a:prstGeom>
          <a:solidFill>
            <a:srgbClr val="1B2A38"/>
          </a:solidFill>
          <a:ln w="12700">
            <a:solidFill>
              <a:srgbClr val="1B2A38"/>
            </a:solidFill>
            <a:prstDash val="solid"/>
          </a:ln>
        </p:spPr>
      </p:sp>
      <p:sp>
        <p:nvSpPr>
          <p:cNvPr id="8" name="Shape 5"/>
          <p:cNvSpPr/>
          <p:nvPr/>
        </p:nvSpPr>
        <p:spPr>
          <a:xfrm>
            <a:off x="749808" y="1874520"/>
            <a:ext cx="384048" cy="38404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41980" y="1966692"/>
            <a:ext cx="199705" cy="199705"/>
          </a:xfrm>
          <a:prstGeom prst="rect">
            <a:avLst/>
          </a:prstGeom>
        </p:spPr>
      </p:pic>
      <p:sp>
        <p:nvSpPr>
          <p:cNvPr id="10" name="Text 6"/>
          <p:cNvSpPr txBox="1"/>
          <p:nvPr/>
        </p:nvSpPr>
        <p:spPr>
          <a:xfrm>
            <a:off x="128016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PROMPT — dán vào Claude</a:t>
            </a:r>
            <a:endParaRPr lang="en-US" sz="1100" dirty="0"/>
          </a:p>
        </p:txBody>
      </p:sp>
      <p:sp>
        <p:nvSpPr>
          <p:cNvPr id="11" name="Text 7"/>
          <p:cNvSpPr txBox="1"/>
          <p:nvPr/>
        </p:nvSpPr>
        <p:spPr>
          <a:xfrm>
            <a:off x="822960" y="2423160"/>
            <a:ext cx="6400800" cy="3657600"/>
          </a:xfrm>
          <a:prstGeom prst="rect">
            <a:avLst/>
          </a:prstGeom>
          <a:noFill/>
          <a:ln/>
        </p:spPr>
        <p:txBody>
          <a:bodyPr wrap="square" lIns="0" tIns="0" rIns="0" bIns="0" rtlCol="0" anchor="t">
            <a:normAutofit/>
          </a:bodyPr>
          <a:lstStyle/>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Vai trò: Trưởng phòng vận hành.</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Dữ liệu ngày 17/09/2026 (sản lượng + công) và 7 ngày trước đó.</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Viết báo cáo 1 trang:</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1. Tóm tắt 3 dòng: tổng cuộc gọi, cuộc thành công, tổng giờ</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công, cuộc thành công/giờ công — so với trung bình 7 ngày</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2. Bảng theo dự án: sản lượng, giờ công, năng suất, tỷ lệ sản</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xuất, trạng thái 🟢🟡🔴.</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3. Chấm công: số người đi muộn, vắng, OT; tổng giờ có mặt</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nhưng không đăng nhập.</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4. Top 3 điểm cần chú ý: hiện tượng – nguyên nhân khả dĩ –</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đề xuất – người phụ trách.</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Mọi con số tính từ dữ liệu; thiếu dữ liệu ghi "chưa có dữ liệu".</a:t>
            </a:r>
            <a:endParaRPr lang="en-US" sz="1300" dirty="0"/>
          </a:p>
        </p:txBody>
      </p:sp>
      <p:sp>
        <p:nvSpPr>
          <p:cNvPr id="12" name="Text 8"/>
          <p:cNvSpPr txBox="1"/>
          <p:nvPr/>
        </p:nvSpPr>
        <p:spPr>
          <a:xfrm>
            <a:off x="7818120" y="1691640"/>
            <a:ext cx="3824935" cy="411480"/>
          </a:xfrm>
          <a:prstGeom prst="rect">
            <a:avLst/>
          </a:prstGeom>
          <a:noFill/>
          <a:ln/>
        </p:spPr>
        <p:txBody>
          <a:bodyPr wrap="square" lIns="0" tIns="0" rIns="0" bIns="0" rtlCol="0" anchor="t"/>
          <a:lstStyle/>
          <a:p>
            <a:pPr indent="0" marL="0">
              <a:buNone/>
            </a:pPr>
            <a:r>
              <a:rPr lang="en-US" sz="1700" b="1" dirty="0">
                <a:solidFill>
                  <a:srgbClr val="1B2A38"/>
                </a:solidFill>
                <a:latin typeface="Cambria" pitchFamily="34" charset="0"/>
                <a:ea typeface="Cambria" pitchFamily="34" charset="-122"/>
                <a:cs typeface="Cambria" pitchFamily="34" charset="-120"/>
              </a:rPr>
              <a:t>Vì sao dán nguyên văn?</a:t>
            </a:r>
            <a:endParaRPr lang="en-US" sz="1700" dirty="0"/>
          </a:p>
        </p:txBody>
      </p:sp>
      <p:sp>
        <p:nvSpPr>
          <p:cNvPr id="13" name="Text 9"/>
          <p:cNvSpPr txBox="1"/>
          <p:nvPr/>
        </p:nvSpPr>
        <p:spPr>
          <a:xfrm>
            <a:off x="7818120" y="2240280"/>
            <a:ext cx="3824935" cy="402336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Prompt không nhắc</a:t>
            </a:r>
            <a:pPr indent="0" marL="0">
              <a:buNone/>
            </a:pPr>
            <a:r>
              <a:rPr lang="en-US" sz="1400" dirty="0">
                <a:solidFill>
                  <a:srgbClr val="1B2A38"/>
                </a:solidFill>
                <a:latin typeface="Calibri" pitchFamily="34" charset="0"/>
                <a:ea typeface="Calibri" pitchFamily="34" charset="-122"/>
                <a:cs typeface="Calibri" pitchFamily="34" charset="-120"/>
              </a:rPr>
              <a:t> Chủ nhật, NV0116, EXT2099 — báo cáo vẫn xử lý đúng nghĩa là quy trình đã nằm trong Skill.</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Thử câu ngắn</a:t>
            </a:r>
            <a:pPr indent="0" marL="0">
              <a:buNone/>
            </a:pPr>
            <a:r>
              <a:rPr lang="en-US" sz="1400" dirty="0">
                <a:solidFill>
                  <a:srgbClr val="1B2A38"/>
                </a:solidFill>
                <a:latin typeface="Calibri" pitchFamily="34" charset="0"/>
                <a:ea typeface="Calibri" pitchFamily="34" charset="-122"/>
                <a:cs typeface="Calibri" pitchFamily="34" charset="-120"/>
              </a:rPr>
              <a:t> “làm báo cáo sáng 16/09”: Skill phải được gọi dù người dùng nói khác.</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Chạy lại lần 2</a:t>
            </a:r>
            <a:pPr indent="0" marL="0">
              <a:buNone/>
            </a:pPr>
            <a:r>
              <a:rPr lang="en-US" sz="1400" dirty="0">
                <a:solidFill>
                  <a:srgbClr val="1B2A38"/>
                </a:solidFill>
                <a:latin typeface="Calibri" pitchFamily="34" charset="0"/>
                <a:ea typeface="Calibri" pitchFamily="34" charset="-122"/>
                <a:cs typeface="Calibri" pitchFamily="34" charset="-120"/>
              </a:rPr>
              <a:t> phải ra cùng con số; lệch → Claude đang đếm “bằng mắt”.</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TB của tỷ lệ</a:t>
            </a:r>
            <a:pPr indent="0" marL="0">
              <a:buNone/>
            </a:pPr>
            <a:r>
              <a:rPr lang="en-US" sz="1400" dirty="0">
                <a:solidFill>
                  <a:srgbClr val="1B2A38"/>
                </a:solidFill>
                <a:latin typeface="Calibri" pitchFamily="34" charset="0"/>
                <a:ea typeface="Calibri" pitchFamily="34" charset="-122"/>
                <a:cs typeface="Calibri" pitchFamily="34" charset="-120"/>
              </a:rPr>
              <a:t> = tổng tử / tổng mẫu, không lấy trung bình các tỷ lệ ngày.</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Kết quả mong đợi Lab 5.1 — báo cáo ngày 17/09/2026</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773604"/>
                <a:gridCol w="1617936"/>
                <a:gridCol w="1617936"/>
                <a:gridCol w="5084940"/>
              </a:tblGrid>
              <a:tr h="41563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Mục</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17/09</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TB 7 ngày</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 sánh / ghi chú</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Đối chiếu tổng</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2.581 dòng</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 2.567 cuộc gốc + 9 dòng trùng + 5 chặng chuyển</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Tổng cuộc gọi</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2.567</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2.328,8</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+10,2% (TS-BH 2.085 · CS-VT 482)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Cuộc thành công</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105</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108,2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−2,9%</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Tổng giờ công</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137,4 giờ</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134,8</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+2,0% — chưa gồm NV0116 (thiếu quẹt ra)</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TC / giờ công (TS-BH)</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1,24</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1,31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−6,0% → 🟡 · vẫn trên mục tiêu 0,6</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TS-BH: sản lượng · tỷ lệ SX</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2.085 · 60,1%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1.940,7 · 60,7%</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+7,4% — TB 6 ngày, bỏ Chủ nhật 13/09</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CS-VT: cuộc vào · nghe máy</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482 · 92,9%</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388,1 · 90,5%</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+24,2% · AHT 327 giây → 🟢</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CS-VT: tỷ lệ sản xuất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64,2%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60,9%</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Đã loại NV0116 khỏi cả tử và mẫu (sai: 71,4%)</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Chấm công (18 ca)</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Muộn 1 · vắng 0</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Ở lại ≥ 30’: NV0112 90’ (không đơn), NV0113 118’ (chờ duyệt)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156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Ghi chú dữ liệu</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b="1" dirty="0">
                          <a:solidFill>
                            <a:srgbClr val="D9773A"/>
                          </a:solidFill>
                          <a:latin typeface="Calibri" pitchFamily="34" charset="0"/>
                          <a:ea typeface="Calibri" pitchFamily="34" charset="-122"/>
                          <a:cs typeface="Calibri" pitchFamily="34" charset="-120"/>
                        </a:rPr>
                        <a:t>NV0116 · EXT2099</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NV0116 thiếu quẹt ra · EXT2099 (62 cuộc) chỉ tính sản lượng</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61772"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461772"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LAB</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Lab 5.2 · Skill “Chốt công tháng”</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Shape 4"/>
          <p:cNvSpPr/>
          <p:nvPr/>
        </p:nvSpPr>
        <p:spPr>
          <a:xfrm>
            <a:off x="548640" y="1691640"/>
            <a:ext cx="3931920" cy="4572000"/>
          </a:xfrm>
          <a:prstGeom prst="roundRect">
            <a:avLst>
              <a:gd name="adj" fmla="val 2326"/>
            </a:avLst>
          </a:prstGeom>
          <a:solidFill>
            <a:srgbClr val="DDEFEE"/>
          </a:solidFill>
          <a:ln w="12700">
            <a:solidFill>
              <a:srgbClr val="DDEFEE"/>
            </a:solidFill>
            <a:prstDash val="solid"/>
          </a:ln>
        </p:spPr>
      </p:sp>
      <p:sp>
        <p:nvSpPr>
          <p:cNvPr id="8" name="Shape 5"/>
          <p:cNvSpPr/>
          <p:nvPr/>
        </p:nvSpPr>
        <p:spPr>
          <a:xfrm>
            <a:off x="777240" y="1920240"/>
            <a:ext cx="502920" cy="50292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10" name="Text 6"/>
          <p:cNvSpPr txBox="1"/>
          <p:nvPr/>
        </p:nvSpPr>
        <p:spPr>
          <a:xfrm>
            <a:off x="1417320" y="1920240"/>
            <a:ext cx="2743200" cy="502920"/>
          </a:xfrm>
          <a:prstGeom prst="rect">
            <a:avLst/>
          </a:prstGeom>
          <a:noFill/>
          <a:ln/>
        </p:spPr>
        <p:txBody>
          <a:bodyPr wrap="square" lIns="0" tIns="0" rIns="0" bIns="0" rtlCol="0" anchor="ctr"/>
          <a:lstStyle/>
          <a:p>
            <a:pPr indent="0" marL="0">
              <a:buNone/>
            </a:pPr>
            <a:r>
              <a:rPr lang="en-US" sz="2200" b="1" dirty="0">
                <a:solidFill>
                  <a:srgbClr val="2E7D7A"/>
                </a:solidFill>
                <a:latin typeface="Cambria" pitchFamily="34" charset="0"/>
                <a:ea typeface="Cambria" pitchFamily="34" charset="-122"/>
                <a:cs typeface="Cambria" pitchFamily="34" charset="-120"/>
              </a:rPr>
              <a:t>15 phút</a:t>
            </a:r>
            <a:endParaRPr lang="en-US" sz="2200" dirty="0"/>
          </a:p>
        </p:txBody>
      </p:sp>
      <p:sp>
        <p:nvSpPr>
          <p:cNvPr id="11" name="Text 7"/>
          <p:cNvSpPr txBox="1"/>
          <p:nvPr/>
        </p:nvSpPr>
        <p:spPr>
          <a:xfrm>
            <a:off x="777240" y="2606040"/>
            <a:ext cx="3474720" cy="1325880"/>
          </a:xfrm>
          <a:prstGeom prst="rect">
            <a:avLst/>
          </a:prstGeom>
          <a:noFill/>
          <a:ln/>
        </p:spPr>
        <p:txBody>
          <a:bodyPr wrap="square" lIns="0" tIns="0" rIns="0" bIns="0" rtlCol="0" anchor="t">
            <a:normAutofit/>
          </a:bodyPr>
          <a:lstStyle/>
          <a:p>
            <a:pPr indent="0" marL="0">
              <a:buNone/>
            </a:pPr>
            <a:r>
              <a:rPr lang="en-US" sz="1400" b="1" dirty="0">
                <a:solidFill>
                  <a:srgbClr val="2E7D7A"/>
                </a:solidFill>
                <a:latin typeface="Calibri" pitchFamily="34" charset="0"/>
                <a:ea typeface="Calibri" pitchFamily="34" charset="-122"/>
                <a:cs typeface="Calibri" pitchFamily="34" charset="-120"/>
              </a:rPr>
              <a:t>Mục tiêu  </a:t>
            </a:r>
            <a:pPr indent="0" marL="0">
              <a:buNone/>
            </a:pPr>
            <a:r>
              <a:rPr lang="en-US" sz="1400" dirty="0">
                <a:solidFill>
                  <a:srgbClr val="1B2A38"/>
                </a:solidFill>
                <a:latin typeface="Calibri" pitchFamily="34" charset="0"/>
                <a:ea typeface="Calibri" pitchFamily="34" charset="-122"/>
                <a:cs typeface="Calibri" pitchFamily="34" charset="-120"/>
              </a:rPr>
              <a:t>Một lệnh ra bảng công tháng, báo cáo đối soát và danh sách cần xác minh — chia theo ai phải làm gì.</a:t>
            </a:r>
            <a:endParaRPr lang="en-US" sz="1400" dirty="0"/>
          </a:p>
        </p:txBody>
      </p:sp>
      <p:sp>
        <p:nvSpPr>
          <p:cNvPr id="12" name="Text 8"/>
          <p:cNvSpPr txBox="1"/>
          <p:nvPr/>
        </p:nvSpPr>
        <p:spPr>
          <a:xfrm>
            <a:off x="777240" y="3977640"/>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Dữ liệu dùng</a:t>
            </a:r>
            <a:endParaRPr lang="en-US" sz="1250" dirty="0"/>
          </a:p>
        </p:txBody>
      </p:sp>
      <p:sp>
        <p:nvSpPr>
          <p:cNvPr id="13" name="Text 9"/>
          <p:cNvSpPr txBox="1"/>
          <p:nvPr/>
        </p:nvSpPr>
        <p:spPr>
          <a:xfrm>
            <a:off x="777240" y="4279392"/>
            <a:ext cx="3474720" cy="1115568"/>
          </a:xfrm>
          <a:prstGeom prst="rect">
            <a:avLst/>
          </a:prstGeom>
          <a:noFill/>
          <a:ln/>
        </p:spPr>
        <p:txBody>
          <a:bodyPr wrap="square" lIns="0" tIns="0" rIns="0" bIns="0" rtlCol="0" anchor="t">
            <a:normAutofit/>
          </a:bodyPr>
          <a:lstStyle/>
          <a:p>
            <a:pPr indent="0" marL="0">
              <a:buNone/>
            </a:pPr>
            <a:r>
              <a:rPr lang="en-US" sz="1050" dirty="0">
                <a:solidFill>
                  <a:srgbClr val="1B2A38"/>
                </a:solidFill>
                <a:latin typeface="Courier New" pitchFamily="34" charset="0"/>
                <a:ea typeface="Courier New" pitchFamily="34" charset="-122"/>
                <a:cs typeface="Courier New" pitchFamily="34" charset="-120"/>
              </a:rPr>
              <a:t>lich_ca, danh_muc_ca, cham_cong</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trang_thai_agent, don_phep_ot</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danh_sach_agent, noi_quy_cham_cong.md</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call_log_2026-09.csv (giờ sản xuất)</a:t>
            </a:r>
            <a:endParaRPr lang="en-US" sz="1050" dirty="0"/>
          </a:p>
        </p:txBody>
      </p:sp>
      <p:sp>
        <p:nvSpPr>
          <p:cNvPr id="14" name="Text 10"/>
          <p:cNvSpPr txBox="1"/>
          <p:nvPr/>
        </p:nvSpPr>
        <p:spPr>
          <a:xfrm>
            <a:off x="777240" y="5458968"/>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Sản phẩm</a:t>
            </a:r>
            <a:endParaRPr lang="en-US" sz="1250" dirty="0"/>
          </a:p>
        </p:txBody>
      </p:sp>
      <p:sp>
        <p:nvSpPr>
          <p:cNvPr id="15" name="Text 11"/>
          <p:cNvSpPr txBox="1"/>
          <p:nvPr/>
        </p:nvSpPr>
        <p:spPr>
          <a:xfrm>
            <a:off x="777240" y="5760720"/>
            <a:ext cx="3474720" cy="347472"/>
          </a:xfrm>
          <a:prstGeom prst="rect">
            <a:avLst/>
          </a:prstGeom>
          <a:noFill/>
          <a:ln/>
        </p:spPr>
        <p:txBody>
          <a:bodyPr wrap="square" lIns="0" tIns="0" rIns="0" bIns="0" rtlCol="0" anchor="t">
            <a:normAutofit/>
          </a:bodyPr>
          <a:lstStyle/>
          <a:p>
            <a:pPr indent="0" marL="0">
              <a:buNone/>
            </a:pPr>
            <a:r>
              <a:rPr lang="en-US" sz="1300" dirty="0">
                <a:solidFill>
                  <a:srgbClr val="1B2A38"/>
                </a:solidFill>
                <a:latin typeface="Calibri" pitchFamily="34" charset="0"/>
                <a:ea typeface="Calibri" pitchFamily="34" charset="-122"/>
                <a:cs typeface="Calibri" pitchFamily="34" charset="-120"/>
              </a:rPr>
              <a:t>Skill + danh sách 40 dòng chia nhóm A–E; chỉ 11 dòng cần hành động.</a:t>
            </a:r>
            <a:endParaRPr lang="en-US" sz="1300" dirty="0"/>
          </a:p>
        </p:txBody>
      </p:sp>
      <p:sp>
        <p:nvSpPr>
          <p:cNvPr id="16" name="Shape 12"/>
          <p:cNvSpPr/>
          <p:nvPr/>
        </p:nvSpPr>
        <p:spPr>
          <a:xfrm>
            <a:off x="4800600" y="1737360"/>
            <a:ext cx="438912" cy="438912"/>
          </a:xfrm>
          <a:prstGeom prst="ellipse">
            <a:avLst/>
          </a:prstGeom>
          <a:solidFill>
            <a:srgbClr val="2E7D7A"/>
          </a:solidFill>
          <a:ln w="12700">
            <a:solidFill>
              <a:srgbClr val="2E7D7A"/>
            </a:solidFill>
            <a:prstDash val="solid"/>
          </a:ln>
        </p:spPr>
      </p:sp>
      <p:sp>
        <p:nvSpPr>
          <p:cNvPr id="17" name="Text 13"/>
          <p:cNvSpPr txBox="1"/>
          <p:nvPr/>
        </p:nvSpPr>
        <p:spPr>
          <a:xfrm>
            <a:off x="4800600" y="1737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4"/>
          <p:cNvSpPr txBox="1"/>
          <p:nvPr/>
        </p:nvSpPr>
        <p:spPr>
          <a:xfrm>
            <a:off x="5394960" y="169164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Tạo khung Skill (4’)</a:t>
            </a:r>
            <a:pPr indent="0" marL="0">
              <a:buNone/>
            </a:pPr>
            <a:r>
              <a:rPr lang="en-US" sz="1450" dirty="0">
                <a:solidFill>
                  <a:srgbClr val="1B2A38"/>
                </a:solidFill>
                <a:latin typeface="Calibri" pitchFamily="34" charset="0"/>
                <a:ea typeface="Calibri" pitchFamily="34" charset="-122"/>
                <a:cs typeface="Calibri" pitchFamily="34" charset="-120"/>
              </a:rPr>
              <a:t> — chot-cong-thang: SKILL.md + bảng quy tắc công v2, ngưỡng đối soát, mẫu bảng công, nhóm xác minh.</a:t>
            </a:r>
            <a:endParaRPr lang="en-US" sz="1450" dirty="0"/>
          </a:p>
        </p:txBody>
      </p:sp>
      <p:sp>
        <p:nvSpPr>
          <p:cNvPr id="19" name="Shape 15"/>
          <p:cNvSpPr/>
          <p:nvPr/>
        </p:nvSpPr>
        <p:spPr>
          <a:xfrm>
            <a:off x="4800600" y="2677363"/>
            <a:ext cx="438912" cy="438912"/>
          </a:xfrm>
          <a:prstGeom prst="ellipse">
            <a:avLst/>
          </a:prstGeom>
          <a:solidFill>
            <a:srgbClr val="2E7D7A"/>
          </a:solidFill>
          <a:ln w="12700">
            <a:solidFill>
              <a:srgbClr val="2E7D7A"/>
            </a:solidFill>
            <a:prstDash val="solid"/>
          </a:ln>
        </p:spPr>
      </p:sp>
      <p:sp>
        <p:nvSpPr>
          <p:cNvPr id="20" name="Text 16"/>
          <p:cNvSpPr txBox="1"/>
          <p:nvPr/>
        </p:nvSpPr>
        <p:spPr>
          <a:xfrm>
            <a:off x="4800600" y="267736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7"/>
          <p:cNvSpPr txBox="1"/>
          <p:nvPr/>
        </p:nvSpPr>
        <p:spPr>
          <a:xfrm>
            <a:off x="5394960" y="263164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Duyệt SKILL.md (4’)</a:t>
            </a:r>
            <a:pPr indent="0" marL="0">
              <a:buNone/>
            </a:pPr>
            <a:r>
              <a:rPr lang="en-US" sz="1450" dirty="0">
                <a:solidFill>
                  <a:srgbClr val="1B2A38"/>
                </a:solidFill>
                <a:latin typeface="Calibri" pitchFamily="34" charset="0"/>
                <a:ea typeface="Calibri" pitchFamily="34" charset="-122"/>
                <a:cs typeface="Calibri" pitchFamily="34" charset="-120"/>
              </a:rPr>
              <a:t> — description ghi rõ chốt công THÁNG/KỲ; đối chiếu đơn phép/OT TRƯỚC khi gắn cờ.</a:t>
            </a:r>
            <a:endParaRPr lang="en-US" sz="1450" dirty="0"/>
          </a:p>
        </p:txBody>
      </p:sp>
      <p:sp>
        <p:nvSpPr>
          <p:cNvPr id="22" name="Shape 18"/>
          <p:cNvSpPr/>
          <p:nvPr/>
        </p:nvSpPr>
        <p:spPr>
          <a:xfrm>
            <a:off x="4800600" y="3617366"/>
            <a:ext cx="438912" cy="438912"/>
          </a:xfrm>
          <a:prstGeom prst="ellipse">
            <a:avLst/>
          </a:prstGeom>
          <a:solidFill>
            <a:srgbClr val="2E7D7A"/>
          </a:solidFill>
          <a:ln w="12700">
            <a:solidFill>
              <a:srgbClr val="2E7D7A"/>
            </a:solidFill>
            <a:prstDash val="solid"/>
          </a:ln>
        </p:spPr>
      </p:sp>
      <p:sp>
        <p:nvSpPr>
          <p:cNvPr id="23" name="Text 19"/>
          <p:cNvSpPr txBox="1"/>
          <p:nvPr/>
        </p:nvSpPr>
        <p:spPr>
          <a:xfrm>
            <a:off x="4800600" y="361736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0"/>
          <p:cNvSpPr txBox="1"/>
          <p:nvPr/>
        </p:nvSpPr>
        <p:spPr>
          <a:xfrm>
            <a:off x="5394960" y="3571646"/>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Viết nhom-xac-minh.md</a:t>
            </a:r>
            <a:pPr indent="0" marL="0">
              <a:buNone/>
            </a:pPr>
            <a:r>
              <a:rPr lang="en-US" sz="1450" dirty="0">
                <a:solidFill>
                  <a:srgbClr val="1B2A38"/>
                </a:solidFill>
                <a:latin typeface="Calibri" pitchFamily="34" charset="0"/>
                <a:ea typeface="Calibri" pitchFamily="34" charset="-122"/>
                <a:cs typeface="Calibri" pitchFamily="34" charset="-120"/>
              </a:rPr>
              <a:t> — A hợp lệ · B thiếu giấy tờ · C cần xác minh · D áp quy tắc công · E năng suất (không chặn chốt).</a:t>
            </a:r>
            <a:endParaRPr lang="en-US" sz="1450" dirty="0"/>
          </a:p>
        </p:txBody>
      </p:sp>
      <p:sp>
        <p:nvSpPr>
          <p:cNvPr id="25" name="Shape 21"/>
          <p:cNvSpPr/>
          <p:nvPr/>
        </p:nvSpPr>
        <p:spPr>
          <a:xfrm>
            <a:off x="4800600" y="4557370"/>
            <a:ext cx="438912" cy="438912"/>
          </a:xfrm>
          <a:prstGeom prst="ellipse">
            <a:avLst/>
          </a:prstGeom>
          <a:solidFill>
            <a:srgbClr val="2E7D7A"/>
          </a:solidFill>
          <a:ln w="12700">
            <a:solidFill>
              <a:srgbClr val="2E7D7A"/>
            </a:solidFill>
            <a:prstDash val="solid"/>
          </a:ln>
        </p:spPr>
      </p:sp>
      <p:sp>
        <p:nvSpPr>
          <p:cNvPr id="26" name="Text 22"/>
          <p:cNvSpPr txBox="1"/>
          <p:nvPr/>
        </p:nvSpPr>
        <p:spPr>
          <a:xfrm>
            <a:off x="4800600" y="455737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3"/>
          <p:cNvSpPr txBox="1"/>
          <p:nvPr/>
        </p:nvSpPr>
        <p:spPr>
          <a:xfrm>
            <a:off x="5394960" y="451165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Chạy kỳ 07–20/09 (5’)</a:t>
            </a:r>
            <a:pPr indent="0" marL="0">
              <a:buNone/>
            </a:pPr>
            <a:r>
              <a:rPr lang="en-US" sz="1450" dirty="0">
                <a:solidFill>
                  <a:srgbClr val="1B2A38"/>
                </a:solidFill>
                <a:latin typeface="Calibri" pitchFamily="34" charset="0"/>
                <a:ea typeface="Calibri" pitchFamily="34" charset="-122"/>
                <a:cs typeface="Calibri" pitchFamily="34" charset="-120"/>
              </a:rPr>
              <a:t> — xuất bảng công, danh sách A–E, dòng đối chiếu; mỗi dòng B/C kèm 1 câu hỏi cho Trưởng ca.</a:t>
            </a:r>
            <a:endParaRPr lang="en-US" sz="1450" dirty="0"/>
          </a:p>
        </p:txBody>
      </p:sp>
      <p:sp>
        <p:nvSpPr>
          <p:cNvPr id="28" name="Shape 24"/>
          <p:cNvSpPr/>
          <p:nvPr/>
        </p:nvSpPr>
        <p:spPr>
          <a:xfrm>
            <a:off x="4800600" y="5497373"/>
            <a:ext cx="438912" cy="438912"/>
          </a:xfrm>
          <a:prstGeom prst="ellipse">
            <a:avLst/>
          </a:prstGeom>
          <a:solidFill>
            <a:srgbClr val="2E7D7A"/>
          </a:solidFill>
          <a:ln w="12700">
            <a:solidFill>
              <a:srgbClr val="2E7D7A"/>
            </a:solidFill>
            <a:prstDash val="solid"/>
          </a:ln>
        </p:spPr>
      </p:sp>
      <p:sp>
        <p:nvSpPr>
          <p:cNvPr id="29" name="Text 25"/>
          <p:cNvSpPr txBox="1"/>
          <p:nvPr/>
        </p:nvSpPr>
        <p:spPr>
          <a:xfrm>
            <a:off x="4800600" y="549737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6"/>
          <p:cNvSpPr txBox="1"/>
          <p:nvPr/>
        </p:nvSpPr>
        <p:spPr>
          <a:xfrm>
            <a:off x="5394960" y="545165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Đọc như người chốt (2’)</a:t>
            </a:r>
            <a:pPr indent="0" marL="0">
              <a:buNone/>
            </a:pPr>
            <a:r>
              <a:rPr lang="en-US" sz="1450" dirty="0">
                <a:solidFill>
                  <a:srgbClr val="1B2A38"/>
                </a:solidFill>
                <a:latin typeface="Calibri" pitchFamily="34" charset="0"/>
                <a:ea typeface="Calibri" pitchFamily="34" charset="-122"/>
                <a:cs typeface="Calibri" pitchFamily="34" charset="-120"/>
              </a:rPr>
              <a:t> — đối chiếu tổng đúng chưa; nhóm E có lẫn vào B/C không; phép đã duyệt có bị gắn “vắng” không.</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Prompt mẫu — Tạo và chạy Skill “Chốt công tháng”</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Shape 4"/>
          <p:cNvSpPr/>
          <p:nvPr/>
        </p:nvSpPr>
        <p:spPr>
          <a:xfrm>
            <a:off x="548640" y="1691640"/>
            <a:ext cx="11094415" cy="4572000"/>
          </a:xfrm>
          <a:prstGeom prst="roundRect">
            <a:avLst>
              <a:gd name="adj" fmla="val 1600"/>
            </a:avLst>
          </a:prstGeom>
          <a:solidFill>
            <a:srgbClr val="1B2A38"/>
          </a:solidFill>
          <a:ln w="12700">
            <a:solidFill>
              <a:srgbClr val="1B2A38"/>
            </a:solidFill>
            <a:prstDash val="solid"/>
          </a:ln>
        </p:spPr>
      </p:sp>
      <p:sp>
        <p:nvSpPr>
          <p:cNvPr id="8" name="Shape 5"/>
          <p:cNvSpPr/>
          <p:nvPr/>
        </p:nvSpPr>
        <p:spPr>
          <a:xfrm>
            <a:off x="749808" y="1874520"/>
            <a:ext cx="384048" cy="38404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41980" y="1966692"/>
            <a:ext cx="199705" cy="199705"/>
          </a:xfrm>
          <a:prstGeom prst="rect">
            <a:avLst/>
          </a:prstGeom>
        </p:spPr>
      </p:pic>
      <p:sp>
        <p:nvSpPr>
          <p:cNvPr id="10" name="Text 6"/>
          <p:cNvSpPr txBox="1"/>
          <p:nvPr/>
        </p:nvSpPr>
        <p:spPr>
          <a:xfrm>
            <a:off x="128016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PROMPT — dán vào Claude</a:t>
            </a:r>
            <a:endParaRPr lang="en-US" sz="1100" dirty="0"/>
          </a:p>
        </p:txBody>
      </p:sp>
      <p:sp>
        <p:nvSpPr>
          <p:cNvPr id="11" name="Text 7"/>
          <p:cNvSpPr txBox="1"/>
          <p:nvPr/>
        </p:nvSpPr>
        <p:spPr>
          <a:xfrm>
            <a:off x="822960" y="2423160"/>
            <a:ext cx="10545775" cy="3657600"/>
          </a:xfrm>
          <a:prstGeom prst="rect">
            <a:avLst/>
          </a:prstGeom>
          <a:noFill/>
          <a:ln/>
        </p:spPr>
        <p:txBody>
          <a:bodyPr wrap="square" lIns="0" tIns="0" rIns="0" bIns="0" rtlCol="0" anchor="t">
            <a:normAutofit/>
          </a:bodyPr>
          <a:lstStyle/>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Tạo Skill "chot-cong-thang" cho HR Sao Việt, dựa trên bảng quy tắc công v2, nội quy chấm công</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và cách đối soát 3 lớp thời gian đã làm ở buổi 3 trong Project này.</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Cấu trúc: SKILL.md + references/bang-quy-tac-cong-v2.md + references/nguong-doi-soat.md</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references/mau-bang-cong-thang.md + references/nhom-xac-minh.md.</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Yêu cầu SKILL.md:</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description: nêu rõ dùng cho chốt công THÁNG hoặc KỲ; không dùng cho báo cáo ngày.</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Các bước: (1) kiểm tra đủ dữ liệu cả kỳ, (2) ghép lượt quẹt theo ca (ca đêm, quẹt đúp,</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nửa ngày), (3) bảng công ngày, (4) đối soát 3 lớp, (5) phân nhóm cờ theo nhom-xac-minh.md,</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(6) bảng công tháng + danh sách cần xác minh.</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Quy tắc: AI không kết luận vi phạm, không trừ công; mọi số liệu pháp lý (hệ số OT, giờ đêm)</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là tham số HR xác nhận; điểm mơ hồ trong nội quy ghi "CẦN QUYẾT ĐỊNH".</a:t>
            </a:r>
            <a:endParaRPr lang="en-US" sz="1250" dirty="0"/>
          </a:p>
          <a:p>
            <a:pPr indent="0" marL="0">
              <a:spcAft>
                <a:spcPts val="200"/>
              </a:spcAft>
              <a:buNone/>
            </a:pP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 Sau khi duyệt Skill, chạy: ──</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Chốt công kỳ 07/09–20/09/2026 cho toàn bộ nhân viên.</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Xuất bảng công theo người, danh sách cần xác minh theo nhóm A–E, và dòng đối chiếu tổng.</a:t>
            </a:r>
            <a:endParaRPr lang="en-US" sz="1250" dirty="0"/>
          </a:p>
          <a:p>
            <a:pPr indent="0" marL="0">
              <a:spcAft>
                <a:spcPts val="200"/>
              </a:spcAft>
              <a:buNone/>
            </a:pPr>
            <a:r>
              <a:rPr lang="en-US" sz="1250" dirty="0">
                <a:solidFill>
                  <a:srgbClr val="E8EEF3"/>
                </a:solidFill>
                <a:latin typeface="Courier New" pitchFamily="34" charset="0"/>
                <a:ea typeface="Courier New" pitchFamily="34" charset="-122"/>
                <a:cs typeface="Courier New" pitchFamily="34" charset="-120"/>
              </a:rPr>
              <a:t>Với mỗi dòng trong nhóm B và C, soạn sẵn 1 câu hỏi ngắn để Trưởng ca hỏi nhân viên.</a:t>
            </a:r>
            <a:endParaRPr lang="en-US" sz="12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Kết quả mong đợi Lab 5.2 — 40 trường hợp, 5 nhóm</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Đối chiếu: 220 ca xếp = 214 ca đủ cặp vào/ra + 6 ca thiếu · 1.707,1 giờ có mặt · 1.663,1 giờ đăng nhập</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2773604"/>
                <a:gridCol w="1016988"/>
                <a:gridCol w="5547208"/>
                <a:gridCol w="1756616"/>
              </a:tblGrid>
              <a:tr h="54102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Nhóm</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Số dòng</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Chi tiết kỳ 07–20/09</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Ai xử lý</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54102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A. Hợp lệ – chỉ đối chiếu</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00" b="1" dirty="0">
                          <a:solidFill>
                            <a:srgbClr val="D9773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NV0104 phép 10/09 · NV0113 nghỉ nửa ngày 09/09 · NV0102 OT 2 giờ đã duyệt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HR tick xác nhận</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54102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B. Thiếu giấy tờ / chờ duyệt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9773A"/>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NV0107 phép chờ duyệt · NV0113 OT chờ duyệt · NV0112 ở lại 4 lần không đơn OT · NV0116 thiếu chấm công × 2</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Trưởng ca + nhân viên</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4102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C. Cần xác minh</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00" b="1" dirty="0">
                          <a:solidFill>
                            <a:srgbClr val="D9773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NV0114 có chấm công, không đăng nhập (12 và 19/09) · NV0110 vắng không phép 16/09</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HR + Trưởng ca</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54102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D. Áp quy tắc công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9773A"/>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NV0109 đi muộn 8 lần (237 phút); 4 lần &gt; 30’ → Điều 3.2 hay 3.3? CẦN QUYẾT ĐỊNH</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HR</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54102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E. Năng suất (không chặn chốt)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300" b="1" dirty="0">
                          <a:solidFill>
                            <a:srgbClr val="D9773A"/>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NV0106 có mặt − đăng nhập 67–90’ (8 ngày) · NV0108 tỷ lệ SX 38–48% (9 ngày) · NV0115 49,1%</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Chuyển Vận hành</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bl>
          </a:graphicData>
        </a:graphic>
      </p:graphicFrame>
      <p:sp>
        <p:nvSpPr>
          <p:cNvPr id="9" name="Shape 5"/>
          <p:cNvSpPr/>
          <p:nvPr/>
        </p:nvSpPr>
        <p:spPr>
          <a:xfrm>
            <a:off x="548640" y="5669280"/>
            <a:ext cx="11094415" cy="594360"/>
          </a:xfrm>
          <a:prstGeom prst="roundRect">
            <a:avLst>
              <a:gd name="adj" fmla="val 12308"/>
            </a:avLst>
          </a:prstGeom>
          <a:solidFill>
            <a:srgbClr val="FBE7DA"/>
          </a:solidFill>
          <a:ln w="12700">
            <a:solidFill>
              <a:srgbClr val="FBE7DA"/>
            </a:solidFill>
            <a:prstDash val="solid"/>
          </a:ln>
        </p:spPr>
      </p:sp>
      <p:sp>
        <p:nvSpPr>
          <p:cNvPr id="10" name="Text 6"/>
          <p:cNvSpPr txBox="1"/>
          <p:nvPr/>
        </p:nvSpPr>
        <p:spPr>
          <a:xfrm>
            <a:off x="777240" y="5669280"/>
            <a:ext cx="10637215" cy="594360"/>
          </a:xfrm>
          <a:prstGeom prst="rect">
            <a:avLst/>
          </a:prstGeom>
          <a:noFill/>
          <a:ln/>
        </p:spPr>
        <p:txBody>
          <a:bodyPr wrap="square" lIns="0" tIns="0" rIns="0" bIns="0" rtlCol="0" anchor="ctr">
            <a:normAutofit/>
          </a:bodyPr>
          <a:lstStyle/>
          <a:p>
            <a:pPr indent="0" marL="0">
              <a:buNone/>
            </a:pPr>
            <a:r>
              <a:rPr lang="en-US" sz="1350" dirty="0">
                <a:solidFill>
                  <a:srgbClr val="1B2A38"/>
                </a:solidFill>
                <a:latin typeface="Calibri" pitchFamily="34" charset="0"/>
                <a:ea typeface="Calibri" pitchFamily="34" charset="-122"/>
                <a:cs typeface="Calibri" pitchFamily="34" charset="-120"/>
              </a:rPr>
              <a:t>Cần hành động trước khi chốt: B + C = 11/220 ca = 5,0%. Mục tiêu tuần 2 của kế hoạch 30 ngày: dưới 2%.</a:t>
            </a:r>
            <a:endParaRPr lang="en-US" sz="13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61772"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461772"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LAB</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Lab 5.3 · Viết 2 SOP bằng phỏng vấn</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Shape 4"/>
          <p:cNvSpPr/>
          <p:nvPr/>
        </p:nvSpPr>
        <p:spPr>
          <a:xfrm>
            <a:off x="548640" y="1691640"/>
            <a:ext cx="3931920" cy="4572000"/>
          </a:xfrm>
          <a:prstGeom prst="roundRect">
            <a:avLst>
              <a:gd name="adj" fmla="val 2326"/>
            </a:avLst>
          </a:prstGeom>
          <a:solidFill>
            <a:srgbClr val="DDEFEE"/>
          </a:solidFill>
          <a:ln w="12700">
            <a:solidFill>
              <a:srgbClr val="DDEFEE"/>
            </a:solidFill>
            <a:prstDash val="solid"/>
          </a:ln>
        </p:spPr>
      </p:sp>
      <p:sp>
        <p:nvSpPr>
          <p:cNvPr id="8" name="Shape 5"/>
          <p:cNvSpPr/>
          <p:nvPr/>
        </p:nvSpPr>
        <p:spPr>
          <a:xfrm>
            <a:off x="777240" y="1920240"/>
            <a:ext cx="502920" cy="50292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10" name="Text 6"/>
          <p:cNvSpPr txBox="1"/>
          <p:nvPr/>
        </p:nvSpPr>
        <p:spPr>
          <a:xfrm>
            <a:off x="1417320" y="1920240"/>
            <a:ext cx="2743200" cy="502920"/>
          </a:xfrm>
          <a:prstGeom prst="rect">
            <a:avLst/>
          </a:prstGeom>
          <a:noFill/>
          <a:ln/>
        </p:spPr>
        <p:txBody>
          <a:bodyPr wrap="square" lIns="0" tIns="0" rIns="0" bIns="0" rtlCol="0" anchor="ctr"/>
          <a:lstStyle/>
          <a:p>
            <a:pPr indent="0" marL="0">
              <a:buNone/>
            </a:pPr>
            <a:r>
              <a:rPr lang="en-US" sz="2200" b="1" dirty="0">
                <a:solidFill>
                  <a:srgbClr val="2E7D7A"/>
                </a:solidFill>
                <a:latin typeface="Cambria" pitchFamily="34" charset="0"/>
                <a:ea typeface="Cambria" pitchFamily="34" charset="-122"/>
                <a:cs typeface="Cambria" pitchFamily="34" charset="-120"/>
              </a:rPr>
              <a:t>20 phút</a:t>
            </a:r>
            <a:endParaRPr lang="en-US" sz="2200" dirty="0"/>
          </a:p>
        </p:txBody>
      </p:sp>
      <p:sp>
        <p:nvSpPr>
          <p:cNvPr id="11" name="Text 7"/>
          <p:cNvSpPr txBox="1"/>
          <p:nvPr/>
        </p:nvSpPr>
        <p:spPr>
          <a:xfrm>
            <a:off x="777240" y="2606040"/>
            <a:ext cx="3474720" cy="1325880"/>
          </a:xfrm>
          <a:prstGeom prst="rect">
            <a:avLst/>
          </a:prstGeom>
          <a:noFill/>
          <a:ln/>
        </p:spPr>
        <p:txBody>
          <a:bodyPr wrap="square" lIns="0" tIns="0" rIns="0" bIns="0" rtlCol="0" anchor="t">
            <a:normAutofit/>
          </a:bodyPr>
          <a:lstStyle/>
          <a:p>
            <a:pPr indent="0" marL="0">
              <a:buNone/>
            </a:pPr>
            <a:r>
              <a:rPr lang="en-US" sz="1400" b="1" dirty="0">
                <a:solidFill>
                  <a:srgbClr val="2E7D7A"/>
                </a:solidFill>
                <a:latin typeface="Calibri" pitchFamily="34" charset="0"/>
                <a:ea typeface="Calibri" pitchFamily="34" charset="-122"/>
                <a:cs typeface="Calibri" pitchFamily="34" charset="-120"/>
              </a:rPr>
              <a:t>Mục tiêu  </a:t>
            </a:r>
            <a:pPr indent="0" marL="0">
              <a:buNone/>
            </a:pPr>
            <a:r>
              <a:rPr lang="en-US" sz="1400" dirty="0">
                <a:solidFill>
                  <a:srgbClr val="1B2A38"/>
                </a:solidFill>
                <a:latin typeface="Calibri" pitchFamily="34" charset="0"/>
                <a:ea typeface="Calibri" pitchFamily="34" charset="-122"/>
                <a:cs typeface="Calibri" pitchFamily="34" charset="-120"/>
              </a:rPr>
              <a:t>Có 2 SOP v1 đủ 7 phần, đọc dưới 5 phút: SOP-VH-01 Tổng hợp sản lượng ngày và SOP-HR-01 Chốt công tháng.</a:t>
            </a:r>
            <a:endParaRPr lang="en-US" sz="1400" dirty="0"/>
          </a:p>
        </p:txBody>
      </p:sp>
      <p:sp>
        <p:nvSpPr>
          <p:cNvPr id="12" name="Text 8"/>
          <p:cNvSpPr txBox="1"/>
          <p:nvPr/>
        </p:nvSpPr>
        <p:spPr>
          <a:xfrm>
            <a:off x="777240" y="3977640"/>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Dữ liệu dùng</a:t>
            </a:r>
            <a:endParaRPr lang="en-US" sz="1250" dirty="0"/>
          </a:p>
        </p:txBody>
      </p:sp>
      <p:sp>
        <p:nvSpPr>
          <p:cNvPr id="13" name="Text 9"/>
          <p:cNvSpPr txBox="1"/>
          <p:nvPr/>
        </p:nvSpPr>
        <p:spPr>
          <a:xfrm>
            <a:off x="777240" y="4279392"/>
            <a:ext cx="3474720" cy="859536"/>
          </a:xfrm>
          <a:prstGeom prst="rect">
            <a:avLst/>
          </a:prstGeom>
          <a:noFill/>
          <a:ln/>
        </p:spPr>
        <p:txBody>
          <a:bodyPr wrap="square" lIns="0" tIns="0" rIns="0" bIns="0" rtlCol="0" anchor="t">
            <a:normAutofit/>
          </a:bodyPr>
          <a:lstStyle/>
          <a:p>
            <a:pPr indent="0" marL="0">
              <a:buNone/>
            </a:pPr>
            <a:r>
              <a:rPr lang="en-US" sz="1050" dirty="0">
                <a:solidFill>
                  <a:srgbClr val="1B2A38"/>
                </a:solidFill>
                <a:latin typeface="Courier New" pitchFamily="34" charset="0"/>
                <a:ea typeface="Courier New" pitchFamily="34" charset="-122"/>
                <a:cs typeface="Courier New" pitchFamily="34" charset="-120"/>
              </a:rPr>
              <a:t>Skill bao-cao-ngay-ceo (Lab 5.1)</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Skill chot-cong-thang (Lab 5.2)</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Kết quả chạy 17/09 và kỳ 07–20/09</a:t>
            </a:r>
            <a:endParaRPr lang="en-US" sz="1050" dirty="0"/>
          </a:p>
        </p:txBody>
      </p:sp>
      <p:sp>
        <p:nvSpPr>
          <p:cNvPr id="14" name="Text 10"/>
          <p:cNvSpPr txBox="1"/>
          <p:nvPr/>
        </p:nvSpPr>
        <p:spPr>
          <a:xfrm>
            <a:off x="777240" y="5202936"/>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Sản phẩm</a:t>
            </a:r>
            <a:endParaRPr lang="en-US" sz="1250" dirty="0"/>
          </a:p>
        </p:txBody>
      </p:sp>
      <p:sp>
        <p:nvSpPr>
          <p:cNvPr id="15" name="Text 11"/>
          <p:cNvSpPr txBox="1"/>
          <p:nvPr/>
        </p:nvSpPr>
        <p:spPr>
          <a:xfrm>
            <a:off x="777240" y="5504688"/>
            <a:ext cx="3474720" cy="603504"/>
          </a:xfrm>
          <a:prstGeom prst="rect">
            <a:avLst/>
          </a:prstGeom>
          <a:noFill/>
          <a:ln/>
        </p:spPr>
        <p:txBody>
          <a:bodyPr wrap="square" lIns="0" tIns="0" rIns="0" bIns="0" rtlCol="0" anchor="t">
            <a:normAutofit/>
          </a:bodyPr>
          <a:lstStyle/>
          <a:p>
            <a:pPr indent="0" marL="0">
              <a:buNone/>
            </a:pPr>
            <a:r>
              <a:rPr lang="en-US" sz="1300" dirty="0">
                <a:solidFill>
                  <a:srgbClr val="1B2A38"/>
                </a:solidFill>
                <a:latin typeface="Calibri" pitchFamily="34" charset="0"/>
                <a:ea typeface="Calibri" pitchFamily="34" charset="-122"/>
                <a:cs typeface="Calibri" pitchFamily="34" charset="-120"/>
              </a:rPr>
              <a:t>2 SOP v1 đủ 7 phần, có prompt ở từng bước, ít nhất 3 chỗ đặt ảnh, đọc dưới 5 phút.</a:t>
            </a:r>
            <a:endParaRPr lang="en-US" sz="1300" dirty="0"/>
          </a:p>
        </p:txBody>
      </p:sp>
      <p:sp>
        <p:nvSpPr>
          <p:cNvPr id="16" name="Shape 12"/>
          <p:cNvSpPr/>
          <p:nvPr/>
        </p:nvSpPr>
        <p:spPr>
          <a:xfrm>
            <a:off x="4800600" y="1737360"/>
            <a:ext cx="438912" cy="438912"/>
          </a:xfrm>
          <a:prstGeom prst="ellipse">
            <a:avLst/>
          </a:prstGeom>
          <a:solidFill>
            <a:srgbClr val="2E7D7A"/>
          </a:solidFill>
          <a:ln w="12700">
            <a:solidFill>
              <a:srgbClr val="2E7D7A"/>
            </a:solidFill>
            <a:prstDash val="solid"/>
          </a:ln>
        </p:spPr>
      </p:sp>
      <p:sp>
        <p:nvSpPr>
          <p:cNvPr id="17" name="Text 13"/>
          <p:cNvSpPr txBox="1"/>
          <p:nvPr/>
        </p:nvSpPr>
        <p:spPr>
          <a:xfrm>
            <a:off x="4800600" y="1737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4"/>
          <p:cNvSpPr txBox="1"/>
          <p:nvPr/>
        </p:nvSpPr>
        <p:spPr>
          <a:xfrm>
            <a:off x="5394960" y="169164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Chia cặp</a:t>
            </a:r>
            <a:pPr indent="0" marL="0">
              <a:buNone/>
            </a:pPr>
            <a:r>
              <a:rPr lang="en-US" sz="1450" dirty="0">
                <a:solidFill>
                  <a:srgbClr val="1B2A38"/>
                </a:solidFill>
                <a:latin typeface="Calibri" pitchFamily="34" charset="0"/>
                <a:ea typeface="Calibri" pitchFamily="34" charset="-122"/>
                <a:cs typeface="Calibri" pitchFamily="34" charset="-120"/>
              </a:rPr>
              <a:t> — A vai Vận hành (như chị Hạnh), B vai HR (như chị Mai). Học một mình: tự trả lời cả hai.</a:t>
            </a:r>
            <a:endParaRPr lang="en-US" sz="1450" dirty="0"/>
          </a:p>
        </p:txBody>
      </p:sp>
      <p:sp>
        <p:nvSpPr>
          <p:cNvPr id="19" name="Shape 15"/>
          <p:cNvSpPr/>
          <p:nvPr/>
        </p:nvSpPr>
        <p:spPr>
          <a:xfrm>
            <a:off x="4800600" y="2677363"/>
            <a:ext cx="438912" cy="438912"/>
          </a:xfrm>
          <a:prstGeom prst="ellipse">
            <a:avLst/>
          </a:prstGeom>
          <a:solidFill>
            <a:srgbClr val="2E7D7A"/>
          </a:solidFill>
          <a:ln w="12700">
            <a:solidFill>
              <a:srgbClr val="2E7D7A"/>
            </a:solidFill>
            <a:prstDash val="solid"/>
          </a:ln>
        </p:spPr>
      </p:sp>
      <p:sp>
        <p:nvSpPr>
          <p:cNvPr id="20" name="Text 16"/>
          <p:cNvSpPr txBox="1"/>
          <p:nvPr/>
        </p:nvSpPr>
        <p:spPr>
          <a:xfrm>
            <a:off x="4800600" y="267736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7"/>
          <p:cNvSpPr txBox="1"/>
          <p:nvPr/>
        </p:nvSpPr>
        <p:spPr>
          <a:xfrm>
            <a:off x="5394960" y="263164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Phỏng vấn SOP sản lượng ngày (7’)</a:t>
            </a:r>
            <a:pPr indent="0" marL="0">
              <a:buNone/>
            </a:pPr>
            <a:r>
              <a:rPr lang="en-US" sz="1450" dirty="0">
                <a:solidFill>
                  <a:srgbClr val="1B2A38"/>
                </a:solidFill>
                <a:latin typeface="Calibri" pitchFamily="34" charset="0"/>
                <a:ea typeface="Calibri" pitchFamily="34" charset="-122"/>
                <a:cs typeface="Calibri" pitchFamily="34" charset="-120"/>
              </a:rPr>
              <a:t> — A được hỏi, kể bằng ví dụ thật: ca D, Chủ nhật, EXT2099, người duyệt dự phòng.</a:t>
            </a:r>
            <a:endParaRPr lang="en-US" sz="1450" dirty="0"/>
          </a:p>
        </p:txBody>
      </p:sp>
      <p:sp>
        <p:nvSpPr>
          <p:cNvPr id="22" name="Shape 18"/>
          <p:cNvSpPr/>
          <p:nvPr/>
        </p:nvSpPr>
        <p:spPr>
          <a:xfrm>
            <a:off x="4800600" y="3617366"/>
            <a:ext cx="438912" cy="438912"/>
          </a:xfrm>
          <a:prstGeom prst="ellipse">
            <a:avLst/>
          </a:prstGeom>
          <a:solidFill>
            <a:srgbClr val="2E7D7A"/>
          </a:solidFill>
          <a:ln w="12700">
            <a:solidFill>
              <a:srgbClr val="2E7D7A"/>
            </a:solidFill>
            <a:prstDash val="solid"/>
          </a:ln>
        </p:spPr>
      </p:sp>
      <p:sp>
        <p:nvSpPr>
          <p:cNvPr id="23" name="Text 19"/>
          <p:cNvSpPr txBox="1"/>
          <p:nvPr/>
        </p:nvSpPr>
        <p:spPr>
          <a:xfrm>
            <a:off x="4800600" y="361736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0"/>
          <p:cNvSpPr txBox="1"/>
          <p:nvPr/>
        </p:nvSpPr>
        <p:spPr>
          <a:xfrm>
            <a:off x="5394960" y="3571646"/>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Phỏng vấn SOP chốt công (7’)</a:t>
            </a:r>
            <a:pPr indent="0" marL="0">
              <a:buNone/>
            </a:pPr>
            <a:r>
              <a:rPr lang="en-US" sz="1450" dirty="0">
                <a:solidFill>
                  <a:srgbClr val="1B2A38"/>
                </a:solidFill>
                <a:latin typeface="Calibri" pitchFamily="34" charset="0"/>
                <a:ea typeface="Calibri" pitchFamily="34" charset="-122"/>
                <a:cs typeface="Calibri" pitchFamily="34" charset="-120"/>
              </a:rPr>
              <a:t> — B được hỏi; phải ra: đơn phép trước cờ vắng, nhóm A–E, Điều 3.2 vs 3.3.</a:t>
            </a:r>
            <a:endParaRPr lang="en-US" sz="1450" dirty="0"/>
          </a:p>
        </p:txBody>
      </p:sp>
      <p:sp>
        <p:nvSpPr>
          <p:cNvPr id="25" name="Shape 21"/>
          <p:cNvSpPr/>
          <p:nvPr/>
        </p:nvSpPr>
        <p:spPr>
          <a:xfrm>
            <a:off x="4800600" y="4557370"/>
            <a:ext cx="438912" cy="438912"/>
          </a:xfrm>
          <a:prstGeom prst="ellipse">
            <a:avLst/>
          </a:prstGeom>
          <a:solidFill>
            <a:srgbClr val="2E7D7A"/>
          </a:solidFill>
          <a:ln w="12700">
            <a:solidFill>
              <a:srgbClr val="2E7D7A"/>
            </a:solidFill>
            <a:prstDash val="solid"/>
          </a:ln>
        </p:spPr>
      </p:sp>
      <p:sp>
        <p:nvSpPr>
          <p:cNvPr id="26" name="Text 22"/>
          <p:cNvSpPr txBox="1"/>
          <p:nvPr/>
        </p:nvSpPr>
        <p:spPr>
          <a:xfrm>
            <a:off x="4800600" y="455737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3"/>
          <p:cNvSpPr txBox="1"/>
          <p:nvPr/>
        </p:nvSpPr>
        <p:spPr>
          <a:xfrm>
            <a:off x="5394960" y="4511650"/>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Kiểm bằng “mắt người mới” (3’)</a:t>
            </a:r>
            <a:pPr indent="0" marL="0">
              <a:buNone/>
            </a:pPr>
            <a:r>
              <a:rPr lang="en-US" sz="1450" dirty="0">
                <a:solidFill>
                  <a:srgbClr val="1B2A38"/>
                </a:solidFill>
                <a:latin typeface="Calibri" pitchFamily="34" charset="0"/>
                <a:ea typeface="Calibri" pitchFamily="34" charset="-122"/>
                <a:cs typeface="Calibri" pitchFamily="34" charset="-120"/>
              </a:rPr>
              <a:t> — dán SOP vào cuộc trò chuyện MỚI với prompt ở slide sau.</a:t>
            </a:r>
            <a:endParaRPr lang="en-US" sz="1450" dirty="0"/>
          </a:p>
        </p:txBody>
      </p:sp>
      <p:sp>
        <p:nvSpPr>
          <p:cNvPr id="28" name="Shape 24"/>
          <p:cNvSpPr/>
          <p:nvPr/>
        </p:nvSpPr>
        <p:spPr>
          <a:xfrm>
            <a:off x="4800600" y="5497373"/>
            <a:ext cx="438912" cy="438912"/>
          </a:xfrm>
          <a:prstGeom prst="ellipse">
            <a:avLst/>
          </a:prstGeom>
          <a:solidFill>
            <a:srgbClr val="2E7D7A"/>
          </a:solidFill>
          <a:ln w="12700">
            <a:solidFill>
              <a:srgbClr val="2E7D7A"/>
            </a:solidFill>
            <a:prstDash val="solid"/>
          </a:ln>
        </p:spPr>
      </p:sp>
      <p:sp>
        <p:nvSpPr>
          <p:cNvPr id="29" name="Text 25"/>
          <p:cNvSpPr txBox="1"/>
          <p:nvPr/>
        </p:nvSpPr>
        <p:spPr>
          <a:xfrm>
            <a:off x="4800600" y="5497373"/>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6"/>
          <p:cNvSpPr txBox="1"/>
          <p:nvPr/>
        </p:nvSpPr>
        <p:spPr>
          <a:xfrm>
            <a:off x="5394960" y="5451653"/>
            <a:ext cx="6248095" cy="811987"/>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Sửa &amp; chốt v1 (3’)</a:t>
            </a:r>
            <a:pPr indent="0" marL="0">
              <a:buNone/>
            </a:pPr>
            <a:r>
              <a:rPr lang="en-US" sz="1450" dirty="0">
                <a:solidFill>
                  <a:srgbClr val="1B2A38"/>
                </a:solidFill>
                <a:latin typeface="Calibri" pitchFamily="34" charset="0"/>
                <a:ea typeface="Calibri" pitchFamily="34" charset="-122"/>
                <a:cs typeface="Calibri" pitchFamily="34" charset="-120"/>
              </a:rPr>
              <a:t> — ghi “v1 – ngày – người viết – người duyệt”; lưu vào Project cạnh Skill.</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Prompt mẫu — Kiểm SOP bằng “mắt người mới”</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Shape 4"/>
          <p:cNvSpPr/>
          <p:nvPr/>
        </p:nvSpPr>
        <p:spPr>
          <a:xfrm>
            <a:off x="548640" y="1691640"/>
            <a:ext cx="6949440" cy="4572000"/>
          </a:xfrm>
          <a:prstGeom prst="roundRect">
            <a:avLst>
              <a:gd name="adj" fmla="val 1600"/>
            </a:avLst>
          </a:prstGeom>
          <a:solidFill>
            <a:srgbClr val="1B2A38"/>
          </a:solidFill>
          <a:ln w="12700">
            <a:solidFill>
              <a:srgbClr val="1B2A38"/>
            </a:solidFill>
            <a:prstDash val="solid"/>
          </a:ln>
        </p:spPr>
      </p:sp>
      <p:sp>
        <p:nvSpPr>
          <p:cNvPr id="8" name="Shape 5"/>
          <p:cNvSpPr/>
          <p:nvPr/>
        </p:nvSpPr>
        <p:spPr>
          <a:xfrm>
            <a:off x="749808" y="1874520"/>
            <a:ext cx="384048" cy="38404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41980" y="1966692"/>
            <a:ext cx="199705" cy="199705"/>
          </a:xfrm>
          <a:prstGeom prst="rect">
            <a:avLst/>
          </a:prstGeom>
        </p:spPr>
      </p:pic>
      <p:sp>
        <p:nvSpPr>
          <p:cNvPr id="10" name="Text 6"/>
          <p:cNvSpPr txBox="1"/>
          <p:nvPr/>
        </p:nvSpPr>
        <p:spPr>
          <a:xfrm>
            <a:off x="128016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PROMPT — dán vào Claude</a:t>
            </a:r>
            <a:endParaRPr lang="en-US" sz="1100" dirty="0"/>
          </a:p>
        </p:txBody>
      </p:sp>
      <p:sp>
        <p:nvSpPr>
          <p:cNvPr id="11" name="Text 7"/>
          <p:cNvSpPr txBox="1"/>
          <p:nvPr/>
        </p:nvSpPr>
        <p:spPr>
          <a:xfrm>
            <a:off x="822960" y="2423160"/>
            <a:ext cx="6400800" cy="3657600"/>
          </a:xfrm>
          <a:prstGeom prst="rect">
            <a:avLst/>
          </a:prstGeom>
          <a:noFill/>
          <a:ln/>
        </p:spPr>
        <p:txBody>
          <a:bodyPr wrap="square" lIns="0" tIns="0" rIns="0" bIns="0" rtlCol="0" anchor="t">
            <a:normAutofit/>
          </a:bodyPr>
          <a:lstStyle/>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Bạn là nhân viên mới, chưa từng làm việc này,</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chưa biết Sao Việt.</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Đọc SOP dưới đây và liệt kê:</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(1) mọi chỗ bạn không biết phải làm gì tiếp,</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(2) mọi từ mơ hồ,</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(3) bước nào có hơn 1 hành động,</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(4) bước nào thiếu điểm kiểm tra.</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Ước lượng thời gian đọc.</a:t>
            </a: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Không sửa SOP, chỉ liệt kê.</a:t>
            </a:r>
            <a:endParaRPr lang="en-US" sz="1400" dirty="0"/>
          </a:p>
          <a:p>
            <a:pPr indent="0" marL="0">
              <a:spcAft>
                <a:spcPts val="200"/>
              </a:spcAft>
              <a:buNone/>
            </a:pPr>
            <a:endParaRPr lang="en-US" sz="1400" dirty="0"/>
          </a:p>
          <a:p>
            <a:pPr indent="0" marL="0">
              <a:spcAft>
                <a:spcPts val="200"/>
              </a:spcAft>
              <a:buNone/>
            </a:pPr>
            <a:r>
              <a:rPr lang="en-US" sz="1400" dirty="0">
                <a:solidFill>
                  <a:srgbClr val="E8EEF3"/>
                </a:solidFill>
                <a:latin typeface="Courier New" pitchFamily="34" charset="0"/>
                <a:ea typeface="Courier New" pitchFamily="34" charset="-122"/>
                <a:cs typeface="Courier New" pitchFamily="34" charset="-120"/>
              </a:rPr>
              <a:t>[DÁN SOP]</a:t>
            </a:r>
            <a:endParaRPr lang="en-US" sz="1400" dirty="0"/>
          </a:p>
        </p:txBody>
      </p:sp>
      <p:sp>
        <p:nvSpPr>
          <p:cNvPr id="12" name="Text 8"/>
          <p:cNvSpPr txBox="1"/>
          <p:nvPr/>
        </p:nvSpPr>
        <p:spPr>
          <a:xfrm>
            <a:off x="7818120" y="1691640"/>
            <a:ext cx="3824935" cy="411480"/>
          </a:xfrm>
          <a:prstGeom prst="rect">
            <a:avLst/>
          </a:prstGeom>
          <a:noFill/>
          <a:ln/>
        </p:spPr>
        <p:txBody>
          <a:bodyPr wrap="square" lIns="0" tIns="0" rIns="0" bIns="0" rtlCol="0" anchor="t"/>
          <a:lstStyle/>
          <a:p>
            <a:pPr indent="0" marL="0">
              <a:buNone/>
            </a:pPr>
            <a:r>
              <a:rPr lang="en-US" sz="1700" b="1" dirty="0">
                <a:solidFill>
                  <a:srgbClr val="1B2A38"/>
                </a:solidFill>
                <a:latin typeface="Cambria" pitchFamily="34" charset="0"/>
                <a:ea typeface="Cambria" pitchFamily="34" charset="-122"/>
                <a:cs typeface="Cambria" pitchFamily="34" charset="-120"/>
              </a:rPr>
              <a:t>Vì sao cuộc trò chuyện MỚI?</a:t>
            </a:r>
            <a:endParaRPr lang="en-US" sz="1700" dirty="0"/>
          </a:p>
        </p:txBody>
      </p:sp>
      <p:sp>
        <p:nvSpPr>
          <p:cNvPr id="13" name="Text 9"/>
          <p:cNvSpPr txBox="1"/>
          <p:nvPr/>
        </p:nvSpPr>
        <p:spPr>
          <a:xfrm>
            <a:off x="7818120" y="2240280"/>
            <a:ext cx="3824935" cy="402336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Cuộc cũ đã “biết” hết</a:t>
            </a:r>
            <a:pPr indent="0" marL="0">
              <a:buNone/>
            </a:pPr>
            <a:r>
              <a:rPr lang="en-US" sz="1400" dirty="0">
                <a:solidFill>
                  <a:srgbClr val="1B2A38"/>
                </a:solidFill>
                <a:latin typeface="Calibri" pitchFamily="34" charset="0"/>
                <a:ea typeface="Calibri" pitchFamily="34" charset="-122"/>
                <a:cs typeface="Calibri" pitchFamily="34" charset="-120"/>
              </a:rPr>
              <a:t> câu trả lời phỏng vấn — Claude sẽ không thấy chỗ thiếu.</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“Chỉ liệt kê”:</a:t>
            </a:r>
            <a:pPr indent="0" marL="0">
              <a:buNone/>
            </a:pPr>
            <a:r>
              <a:rPr lang="en-US" sz="1400" dirty="0">
                <a:solidFill>
                  <a:srgbClr val="1B2A38"/>
                </a:solidFill>
                <a:latin typeface="Calibri" pitchFamily="34" charset="0"/>
                <a:ea typeface="Calibri" pitchFamily="34" charset="-122"/>
                <a:cs typeface="Calibri" pitchFamily="34" charset="-120"/>
              </a:rPr>
              <a:t> bạn quyết sửa gì; SOP vẫn là của người làm nghề.</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Hỏi dồn 5–10 câu?</a:t>
            </a:r>
            <a:pPr indent="0" marL="0">
              <a:buNone/>
            </a:pPr>
            <a:r>
              <a:rPr lang="en-US" sz="1400" dirty="0">
                <a:solidFill>
                  <a:srgbClr val="1B2A38"/>
                </a:solidFill>
                <a:latin typeface="Calibri" pitchFamily="34" charset="0"/>
                <a:ea typeface="Calibri" pitchFamily="34" charset="-122"/>
                <a:cs typeface="Calibri" pitchFamily="34" charset="-120"/>
              </a:rPr>
              <a:t> Nhắc: “Chỉ hỏi 1 câu, đợi tôi trả lời.”</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SOP dài 4–5 trang?</a:t>
            </a:r>
            <a:pPr indent="0" marL="0">
              <a:buNone/>
            </a:pPr>
            <a:r>
              <a:rPr lang="en-US" sz="1400" dirty="0">
                <a:solidFill>
                  <a:srgbClr val="1B2A38"/>
                </a:solidFill>
                <a:latin typeface="Calibri" pitchFamily="34" charset="0"/>
                <a:ea typeface="Calibri" pitchFamily="34" charset="-122"/>
                <a:cs typeface="Calibri" pitchFamily="34" charset="-120"/>
              </a:rPr>
              <a:t> “Rút còn tối đa 2 trang; chi tiết chuyển vào Skill.”</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Điểm kiểm tra chung chung?</a:t>
            </a:r>
            <a:pPr indent="0" marL="0">
              <a:buNone/>
            </a:pPr>
            <a:r>
              <a:rPr lang="en-US" sz="1400" dirty="0">
                <a:solidFill>
                  <a:srgbClr val="1B2A38"/>
                </a:solidFill>
                <a:latin typeface="Calibri" pitchFamily="34" charset="0"/>
                <a:ea typeface="Calibri" pitchFamily="34" charset="-122"/>
                <a:cs typeface="Calibri" pitchFamily="34" charset="-120"/>
              </a:rPr>
              <a:t> “Mỗi điểm kiểm tra có 1 con số ví dụ từ 17/09.”</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Kết quả mong đợi Lab 5.3 — SOP-VH-01 (mẫu, v1)</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Shape 4"/>
          <p:cNvSpPr/>
          <p:nvPr/>
        </p:nvSpPr>
        <p:spPr>
          <a:xfrm>
            <a:off x="548640" y="1691640"/>
            <a:ext cx="3515258" cy="2148840"/>
          </a:xfrm>
          <a:prstGeom prst="roundRect">
            <a:avLst>
              <a:gd name="adj" fmla="val 4255"/>
            </a:avLst>
          </a:prstGeom>
          <a:solidFill>
            <a:srgbClr val="DDF1E5"/>
          </a:solidFill>
          <a:ln w="12700">
            <a:solidFill>
              <a:srgbClr val="DDF1E5"/>
            </a:solidFill>
            <a:prstDash val="solid"/>
          </a:ln>
        </p:spPr>
      </p:sp>
      <p:sp>
        <p:nvSpPr>
          <p:cNvPr id="8" name="Shape 5"/>
          <p:cNvSpPr/>
          <p:nvPr/>
        </p:nvSpPr>
        <p:spPr>
          <a:xfrm>
            <a:off x="777240" y="1920240"/>
            <a:ext cx="566928" cy="566928"/>
          </a:xfrm>
          <a:prstGeom prst="roundRect">
            <a:avLst>
              <a:gd name="adj" fmla="val 22000"/>
            </a:avLst>
          </a:prstGeom>
          <a:solidFill>
            <a:srgbClr val="2E8B57"/>
          </a:solidFill>
          <a:ln w="12700">
            <a:solidFill>
              <a:srgbClr val="2E8B57"/>
            </a:solidFill>
            <a:prstDash val="solid"/>
          </a:ln>
        </p:spPr>
      </p:sp>
      <p:pic>
        <p:nvPicPr>
          <p:cNvPr id="9" name="Image 0" descr="preencoded.png">    </p:cNvPr>
          <p:cNvPicPr>
            <a:picLocks noChangeAspect="1"/>
          </p:cNvPicPr>
          <p:nvPr/>
        </p:nvPicPr>
        <p:blipFill>
          <a:blip r:embed="rId1"/>
          <a:stretch>
            <a:fillRect/>
          </a:stretch>
        </p:blipFill>
        <p:spPr>
          <a:xfrm>
            <a:off x="913303" y="2056303"/>
            <a:ext cx="294803" cy="294803"/>
          </a:xfrm>
          <a:prstGeom prst="rect">
            <a:avLst/>
          </a:prstGeom>
        </p:spPr>
      </p:pic>
      <p:sp>
        <p:nvSpPr>
          <p:cNvPr id="10" name="Text 6"/>
          <p:cNvSpPr txBox="1"/>
          <p:nvPr/>
        </p:nvSpPr>
        <p:spPr>
          <a:xfrm>
            <a:off x="1527048" y="192024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Mục đích &amp; người làm</a:t>
            </a:r>
            <a:endParaRPr lang="en-US" sz="1650" dirty="0"/>
          </a:p>
        </p:txBody>
      </p:sp>
      <p:sp>
        <p:nvSpPr>
          <p:cNvPr id="11" name="Text 7"/>
          <p:cNvSpPr txBox="1"/>
          <p:nvPr/>
        </p:nvSpPr>
        <p:spPr>
          <a:xfrm>
            <a:off x="777240" y="2651760"/>
            <a:ext cx="3058058" cy="103327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Báo cáo 1 trang, gửi trước 08:00</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Chính chị Hạnh, dự phòng anh Tùng</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v1 · 20/09 · duyệt: anh Phong</a:t>
            </a:r>
            <a:endParaRPr lang="en-US" sz="1300" dirty="0"/>
          </a:p>
        </p:txBody>
      </p:sp>
      <p:sp>
        <p:nvSpPr>
          <p:cNvPr id="12" name="Shape 8"/>
          <p:cNvSpPr/>
          <p:nvPr/>
        </p:nvSpPr>
        <p:spPr>
          <a:xfrm>
            <a:off x="4338218" y="1691640"/>
            <a:ext cx="3515258" cy="2148840"/>
          </a:xfrm>
          <a:prstGeom prst="roundRect">
            <a:avLst>
              <a:gd name="adj" fmla="val 4255"/>
            </a:avLst>
          </a:prstGeom>
          <a:solidFill>
            <a:srgbClr val="DDF1E5"/>
          </a:solidFill>
          <a:ln w="12700">
            <a:solidFill>
              <a:srgbClr val="DDF1E5"/>
            </a:solidFill>
            <a:prstDash val="solid"/>
          </a:ln>
        </p:spPr>
      </p:sp>
      <p:sp>
        <p:nvSpPr>
          <p:cNvPr id="13" name="Shape 9"/>
          <p:cNvSpPr/>
          <p:nvPr/>
        </p:nvSpPr>
        <p:spPr>
          <a:xfrm>
            <a:off x="4566818" y="1920240"/>
            <a:ext cx="566928" cy="566928"/>
          </a:xfrm>
          <a:prstGeom prst="roundRect">
            <a:avLst>
              <a:gd name="adj" fmla="val 22000"/>
            </a:avLst>
          </a:prstGeom>
          <a:solidFill>
            <a:srgbClr val="2E8B57"/>
          </a:solidFill>
          <a:ln w="12700">
            <a:solidFill>
              <a:srgbClr val="2E8B57"/>
            </a:solidFill>
            <a:prstDash val="solid"/>
          </a:ln>
        </p:spPr>
      </p:sp>
      <p:pic>
        <p:nvPicPr>
          <p:cNvPr id="14" name="Image 1" descr="preencoded.png">    </p:cNvPr>
          <p:cNvPicPr>
            <a:picLocks noChangeAspect="1"/>
          </p:cNvPicPr>
          <p:nvPr/>
        </p:nvPicPr>
        <p:blipFill>
          <a:blip r:embed="rId2"/>
          <a:stretch>
            <a:fillRect/>
          </a:stretch>
        </p:blipFill>
        <p:spPr>
          <a:xfrm>
            <a:off x="4702881" y="2056303"/>
            <a:ext cx="294803" cy="294803"/>
          </a:xfrm>
          <a:prstGeom prst="rect">
            <a:avLst/>
          </a:prstGeom>
        </p:spPr>
      </p:pic>
      <p:sp>
        <p:nvSpPr>
          <p:cNvPr id="15" name="Text 10"/>
          <p:cNvSpPr txBox="1"/>
          <p:nvPr/>
        </p:nvSpPr>
        <p:spPr>
          <a:xfrm>
            <a:off x="5316626" y="192024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Đầu vào: 15 file</a:t>
            </a:r>
            <a:endParaRPr lang="en-US" sz="1650" dirty="0"/>
          </a:p>
        </p:txBody>
      </p:sp>
      <p:sp>
        <p:nvSpPr>
          <p:cNvPr id="16" name="Text 11"/>
          <p:cNvSpPr txBox="1"/>
          <p:nvPr/>
        </p:nvSpPr>
        <p:spPr>
          <a:xfrm>
            <a:off x="4566818" y="2651760"/>
            <a:ext cx="3058058" cy="103327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8 call log: hôm qua + 7 ngày trước</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Chấm công có dữ liệu tới 08:00</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Lịch ca, đơn phép/OT, DS agent…</a:t>
            </a:r>
            <a:endParaRPr lang="en-US" sz="1300" dirty="0"/>
          </a:p>
        </p:txBody>
      </p:sp>
      <p:sp>
        <p:nvSpPr>
          <p:cNvPr id="17" name="Shape 12"/>
          <p:cNvSpPr/>
          <p:nvPr/>
        </p:nvSpPr>
        <p:spPr>
          <a:xfrm>
            <a:off x="8127797" y="1691640"/>
            <a:ext cx="3515258" cy="2148840"/>
          </a:xfrm>
          <a:prstGeom prst="roundRect">
            <a:avLst>
              <a:gd name="adj" fmla="val 4255"/>
            </a:avLst>
          </a:prstGeom>
          <a:solidFill>
            <a:srgbClr val="DDF1E5"/>
          </a:solidFill>
          <a:ln w="12700">
            <a:solidFill>
              <a:srgbClr val="DDF1E5"/>
            </a:solidFill>
            <a:prstDash val="solid"/>
          </a:ln>
        </p:spPr>
      </p:sp>
      <p:sp>
        <p:nvSpPr>
          <p:cNvPr id="18" name="Shape 13"/>
          <p:cNvSpPr/>
          <p:nvPr/>
        </p:nvSpPr>
        <p:spPr>
          <a:xfrm>
            <a:off x="8356397" y="1920240"/>
            <a:ext cx="566928" cy="566928"/>
          </a:xfrm>
          <a:prstGeom prst="roundRect">
            <a:avLst>
              <a:gd name="adj" fmla="val 22000"/>
            </a:avLst>
          </a:prstGeom>
          <a:solidFill>
            <a:srgbClr val="2E8B57"/>
          </a:solidFill>
          <a:ln w="12700">
            <a:solidFill>
              <a:srgbClr val="2E8B57"/>
            </a:solidFill>
            <a:prstDash val="solid"/>
          </a:ln>
        </p:spPr>
      </p:sp>
      <p:pic>
        <p:nvPicPr>
          <p:cNvPr id="19" name="Image 2" descr="preencoded.png">    </p:cNvPr>
          <p:cNvPicPr>
            <a:picLocks noChangeAspect="1"/>
          </p:cNvPicPr>
          <p:nvPr/>
        </p:nvPicPr>
        <p:blipFill>
          <a:blip r:embed="rId3"/>
          <a:stretch>
            <a:fillRect/>
          </a:stretch>
        </p:blipFill>
        <p:spPr>
          <a:xfrm>
            <a:off x="8492460" y="2056303"/>
            <a:ext cx="294803" cy="294803"/>
          </a:xfrm>
          <a:prstGeom prst="rect">
            <a:avLst/>
          </a:prstGeom>
        </p:spPr>
      </p:pic>
      <p:sp>
        <p:nvSpPr>
          <p:cNvPr id="20" name="Text 14"/>
          <p:cNvSpPr txBox="1"/>
          <p:nvPr/>
        </p:nvSpPr>
        <p:spPr>
          <a:xfrm>
            <a:off x="9106205" y="192024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Các bước (10 bước)</a:t>
            </a:r>
            <a:endParaRPr lang="en-US" sz="1650" dirty="0"/>
          </a:p>
        </p:txBody>
      </p:sp>
      <p:sp>
        <p:nvSpPr>
          <p:cNvPr id="21" name="Text 15"/>
          <p:cNvSpPr txBox="1"/>
          <p:nvPr/>
        </p:nvSpPr>
        <p:spPr>
          <a:xfrm>
            <a:off x="8356397" y="2651760"/>
            <a:ext cx="3058058" cy="103327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Đếm đủ 15 file (Ảnh 1)</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Gõ: làm báo cáo sáng &lt;ngày&gt;</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Đọc đối chiếu → ghi chú → Top 3</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Gửi nhóm “Báo cáo CEO”, ghi giờ</a:t>
            </a:r>
            <a:endParaRPr lang="en-US" sz="1300" dirty="0"/>
          </a:p>
        </p:txBody>
      </p:sp>
      <p:sp>
        <p:nvSpPr>
          <p:cNvPr id="22" name="Shape 16"/>
          <p:cNvSpPr/>
          <p:nvPr/>
        </p:nvSpPr>
        <p:spPr>
          <a:xfrm>
            <a:off x="548640" y="4114800"/>
            <a:ext cx="3515258" cy="2148840"/>
          </a:xfrm>
          <a:prstGeom prst="roundRect">
            <a:avLst>
              <a:gd name="adj" fmla="val 4255"/>
            </a:avLst>
          </a:prstGeom>
          <a:solidFill>
            <a:srgbClr val="DDF1E5"/>
          </a:solidFill>
          <a:ln w="12700">
            <a:solidFill>
              <a:srgbClr val="DDF1E5"/>
            </a:solidFill>
            <a:prstDash val="solid"/>
          </a:ln>
        </p:spPr>
      </p:sp>
      <p:sp>
        <p:nvSpPr>
          <p:cNvPr id="23" name="Shape 17"/>
          <p:cNvSpPr/>
          <p:nvPr/>
        </p:nvSpPr>
        <p:spPr>
          <a:xfrm>
            <a:off x="777240" y="4343400"/>
            <a:ext cx="566928" cy="566928"/>
          </a:xfrm>
          <a:prstGeom prst="roundRect">
            <a:avLst>
              <a:gd name="adj" fmla="val 22000"/>
            </a:avLst>
          </a:prstGeom>
          <a:solidFill>
            <a:srgbClr val="2E8B57"/>
          </a:solidFill>
          <a:ln w="12700">
            <a:solidFill>
              <a:srgbClr val="2E8B57"/>
            </a:solidFill>
            <a:prstDash val="solid"/>
          </a:ln>
        </p:spPr>
      </p:sp>
      <p:pic>
        <p:nvPicPr>
          <p:cNvPr id="24" name="Image 3" descr="preencoded.png">    </p:cNvPr>
          <p:cNvPicPr>
            <a:picLocks noChangeAspect="1"/>
          </p:cNvPicPr>
          <p:nvPr/>
        </p:nvPicPr>
        <p:blipFill>
          <a:blip r:embed="rId4"/>
          <a:stretch>
            <a:fillRect/>
          </a:stretch>
        </p:blipFill>
        <p:spPr>
          <a:xfrm>
            <a:off x="913303" y="4479463"/>
            <a:ext cx="294803" cy="294803"/>
          </a:xfrm>
          <a:prstGeom prst="rect">
            <a:avLst/>
          </a:prstGeom>
        </p:spPr>
      </p:pic>
      <p:sp>
        <p:nvSpPr>
          <p:cNvPr id="25" name="Text 18"/>
          <p:cNvSpPr txBox="1"/>
          <p:nvPr/>
        </p:nvSpPr>
        <p:spPr>
          <a:xfrm>
            <a:off x="1527048" y="434340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Điểm kiểm tra</a:t>
            </a:r>
            <a:endParaRPr lang="en-US" sz="1650" dirty="0"/>
          </a:p>
        </p:txBody>
      </p:sp>
      <p:sp>
        <p:nvSpPr>
          <p:cNvPr id="26" name="Text 19"/>
          <p:cNvSpPr txBox="1"/>
          <p:nvPr/>
        </p:nvSpPr>
        <p:spPr>
          <a:xfrm>
            <a:off x="777240" y="5074920"/>
            <a:ext cx="3058058" cy="103327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17/09: 2.581 = 2.567 + 9 + 5</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TS-BH 1.750–2.100 · CS-VT 300–500</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Gửi trước 08:00</a:t>
            </a:r>
            <a:endParaRPr lang="en-US" sz="1300" dirty="0"/>
          </a:p>
        </p:txBody>
      </p:sp>
      <p:sp>
        <p:nvSpPr>
          <p:cNvPr id="27" name="Shape 20"/>
          <p:cNvSpPr/>
          <p:nvPr/>
        </p:nvSpPr>
        <p:spPr>
          <a:xfrm>
            <a:off x="4338218" y="4114800"/>
            <a:ext cx="3515258" cy="2148840"/>
          </a:xfrm>
          <a:prstGeom prst="roundRect">
            <a:avLst>
              <a:gd name="adj" fmla="val 4255"/>
            </a:avLst>
          </a:prstGeom>
          <a:solidFill>
            <a:srgbClr val="DDF1E5"/>
          </a:solidFill>
          <a:ln w="12700">
            <a:solidFill>
              <a:srgbClr val="DDF1E5"/>
            </a:solidFill>
            <a:prstDash val="solid"/>
          </a:ln>
        </p:spPr>
      </p:sp>
      <p:sp>
        <p:nvSpPr>
          <p:cNvPr id="28" name="Shape 21"/>
          <p:cNvSpPr/>
          <p:nvPr/>
        </p:nvSpPr>
        <p:spPr>
          <a:xfrm>
            <a:off x="4566818" y="4343400"/>
            <a:ext cx="566928" cy="566928"/>
          </a:xfrm>
          <a:prstGeom prst="roundRect">
            <a:avLst>
              <a:gd name="adj" fmla="val 22000"/>
            </a:avLst>
          </a:prstGeom>
          <a:solidFill>
            <a:srgbClr val="2E8B57"/>
          </a:solidFill>
          <a:ln w="12700">
            <a:solidFill>
              <a:srgbClr val="2E8B57"/>
            </a:solidFill>
            <a:prstDash val="solid"/>
          </a:ln>
        </p:spPr>
      </p:sp>
      <p:pic>
        <p:nvPicPr>
          <p:cNvPr id="29" name="Image 4" descr="preencoded.png">    </p:cNvPr>
          <p:cNvPicPr>
            <a:picLocks noChangeAspect="1"/>
          </p:cNvPicPr>
          <p:nvPr/>
        </p:nvPicPr>
        <p:blipFill>
          <a:blip r:embed="rId5"/>
          <a:stretch>
            <a:fillRect/>
          </a:stretch>
        </p:blipFill>
        <p:spPr>
          <a:xfrm>
            <a:off x="4702881" y="4479463"/>
            <a:ext cx="294803" cy="294803"/>
          </a:xfrm>
          <a:prstGeom prst="rect">
            <a:avLst/>
          </a:prstGeom>
        </p:spPr>
      </p:pic>
      <p:sp>
        <p:nvSpPr>
          <p:cNvPr id="30" name="Text 22"/>
          <p:cNvSpPr txBox="1"/>
          <p:nvPr/>
        </p:nvSpPr>
        <p:spPr>
          <a:xfrm>
            <a:off x="5316626" y="434340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Lỗi thường gặp</a:t>
            </a:r>
            <a:endParaRPr lang="en-US" sz="1650" dirty="0"/>
          </a:p>
        </p:txBody>
      </p:sp>
      <p:sp>
        <p:nvSpPr>
          <p:cNvPr id="31" name="Text 23"/>
          <p:cNvSpPr txBox="1"/>
          <p:nvPr/>
        </p:nvSpPr>
        <p:spPr>
          <a:xfrm>
            <a:off x="4566818" y="5074920"/>
            <a:ext cx="3058058" cy="103327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TS-BH +25% → TB tính cả CN</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Ca D thiếu quẹt ra → xuất lại công</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Skill báo thiếu dữ liệu → báo “trễ”</a:t>
            </a:r>
            <a:endParaRPr lang="en-US" sz="1300" dirty="0"/>
          </a:p>
        </p:txBody>
      </p:sp>
      <p:sp>
        <p:nvSpPr>
          <p:cNvPr id="32" name="Shape 24"/>
          <p:cNvSpPr/>
          <p:nvPr/>
        </p:nvSpPr>
        <p:spPr>
          <a:xfrm>
            <a:off x="8127797" y="4114800"/>
            <a:ext cx="3515258" cy="2148840"/>
          </a:xfrm>
          <a:prstGeom prst="roundRect">
            <a:avLst>
              <a:gd name="adj" fmla="val 4255"/>
            </a:avLst>
          </a:prstGeom>
          <a:solidFill>
            <a:srgbClr val="DDF1E5"/>
          </a:solidFill>
          <a:ln w="12700">
            <a:solidFill>
              <a:srgbClr val="DDF1E5"/>
            </a:solidFill>
            <a:prstDash val="solid"/>
          </a:ln>
        </p:spPr>
      </p:sp>
      <p:sp>
        <p:nvSpPr>
          <p:cNvPr id="33" name="Shape 25"/>
          <p:cNvSpPr/>
          <p:nvPr/>
        </p:nvSpPr>
        <p:spPr>
          <a:xfrm>
            <a:off x="8356397" y="4343400"/>
            <a:ext cx="566928" cy="566928"/>
          </a:xfrm>
          <a:prstGeom prst="roundRect">
            <a:avLst>
              <a:gd name="adj" fmla="val 22000"/>
            </a:avLst>
          </a:prstGeom>
          <a:solidFill>
            <a:srgbClr val="2E8B57"/>
          </a:solidFill>
          <a:ln w="12700">
            <a:solidFill>
              <a:srgbClr val="2E8B57"/>
            </a:solidFill>
            <a:prstDash val="solid"/>
          </a:ln>
        </p:spPr>
      </p:sp>
      <p:pic>
        <p:nvPicPr>
          <p:cNvPr id="34" name="Image 5" descr="preencoded.png">    </p:cNvPr>
          <p:cNvPicPr>
            <a:picLocks noChangeAspect="1"/>
          </p:cNvPicPr>
          <p:nvPr/>
        </p:nvPicPr>
        <p:blipFill>
          <a:blip r:embed="rId6"/>
          <a:stretch>
            <a:fillRect/>
          </a:stretch>
        </p:blipFill>
        <p:spPr>
          <a:xfrm>
            <a:off x="8492460" y="4479463"/>
            <a:ext cx="294803" cy="294803"/>
          </a:xfrm>
          <a:prstGeom prst="rect">
            <a:avLst/>
          </a:prstGeom>
        </p:spPr>
      </p:pic>
      <p:sp>
        <p:nvSpPr>
          <p:cNvPr id="35" name="Text 26"/>
          <p:cNvSpPr txBox="1"/>
          <p:nvPr/>
        </p:nvSpPr>
        <p:spPr>
          <a:xfrm>
            <a:off x="9106205" y="4343400"/>
            <a:ext cx="2308250" cy="566928"/>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Liên hệ &amp; khi nào dừng</a:t>
            </a:r>
            <a:endParaRPr lang="en-US" sz="1650" dirty="0"/>
          </a:p>
        </p:txBody>
      </p:sp>
      <p:sp>
        <p:nvSpPr>
          <p:cNvPr id="36" name="Text 27"/>
          <p:cNvSpPr txBox="1"/>
          <p:nvPr/>
        </p:nvSpPr>
        <p:spPr>
          <a:xfrm>
            <a:off x="8356397" y="5074920"/>
            <a:ext cx="3058058" cy="1033272"/>
          </a:xfrm>
          <a:prstGeom prst="rect">
            <a:avLst/>
          </a:prstGeom>
          <a:noFill/>
          <a:ln/>
        </p:spPr>
        <p:txBody>
          <a:bodyPr wrap="square" lIns="0" tIns="0" rIns="0" bIns="0" rtlCol="0" anchor="t">
            <a:normAutofit/>
          </a:bodyPr>
          <a:lstStyle/>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Skill, tổng đài: anh Khoa (IT)</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Chấm công, mã NV mới: chị Mai</a:t>
            </a:r>
            <a:endParaRPr lang="en-US" sz="1300" dirty="0"/>
          </a:p>
          <a:p>
            <a:pPr marL="228600" indent="-228600">
              <a:spcAft>
                <a:spcPts val="500"/>
              </a:spcAft>
              <a:buSzPct val="100000"/>
              <a:buChar char="•"/>
            </a:pPr>
            <a:r>
              <a:rPr lang="en-US" sz="1300" dirty="0">
                <a:solidFill>
                  <a:srgbClr val="1B2A38"/>
                </a:solidFill>
                <a:latin typeface="Calibri" pitchFamily="34" charset="0"/>
                <a:ea typeface="Calibri" pitchFamily="34" charset="-122"/>
                <a:cs typeface="Calibri" pitchFamily="34" charset="-120"/>
              </a:rPr>
              <a:t>DỪNG khi đối chiếu lệch</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96112" cy="292608"/>
          </a:xfrm>
          <a:prstGeom prst="roundRect">
            <a:avLst>
              <a:gd name="adj" fmla="val 50000"/>
            </a:avLst>
          </a:prstGeom>
          <a:solidFill>
            <a:srgbClr val="F2F4F6"/>
          </a:solidFill>
          <a:ln w="12700">
            <a:solidFill>
              <a:srgbClr val="F2F4F6"/>
            </a:solidFill>
            <a:prstDash val="solid"/>
          </a:ln>
        </p:spPr>
      </p:sp>
      <p:sp>
        <p:nvSpPr>
          <p:cNvPr id="3" name="Text 1"/>
          <p:cNvSpPr txBox="1"/>
          <p:nvPr/>
        </p:nvSpPr>
        <p:spPr>
          <a:xfrm>
            <a:off x="548640" y="384048"/>
            <a:ext cx="896112" cy="292608"/>
          </a:xfrm>
          <a:prstGeom prst="rect">
            <a:avLst/>
          </a:prstGeom>
          <a:noFill/>
          <a:ln/>
        </p:spPr>
        <p:txBody>
          <a:bodyPr wrap="square" lIns="0" tIns="0" rIns="0" bIns="0" rtlCol="0" anchor="ctr"/>
          <a:lstStyle/>
          <a:p>
            <a:pPr algn="ctr" indent="0" marL="0">
              <a:buNone/>
            </a:pPr>
            <a:r>
              <a:rPr lang="en-US" sz="1050" b="1" spc="150" kern="0" dirty="0">
                <a:solidFill>
                  <a:srgbClr val="2B3E50"/>
                </a:solidFill>
                <a:latin typeface="Calibri" pitchFamily="34" charset="0"/>
                <a:ea typeface="Calibri" pitchFamily="34" charset="-122"/>
                <a:cs typeface="Calibri" pitchFamily="34" charset="-120"/>
              </a:rPr>
              <a:t>LỘ TRÌNH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 hoạch 30 ngày &amp; 2 AI Champion</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733515"/>
                <a:gridCol w="4034333"/>
                <a:gridCol w="2934060"/>
                <a:gridCol w="3392507"/>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Tuần</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Việc (Phụ lục D.2)</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Chỉ số thành công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Vì sao thứ tự này</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457200">
                <a:tc>
                  <a:txBody>
                    <a:bodyPr/>
                    <a:lstStyle/>
                    <a:p>
                      <a:pPr algn="ctr" indent="0" marL="0">
                        <a:buNone/>
                      </a:pPr>
                      <a:r>
                        <a:rPr lang="en-US" sz="1250" b="1" dirty="0">
                          <a:solidFill>
                            <a:srgbClr val="1B2A38"/>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Báo cáo ngày chạy đều; mã kết quả chuẩn cài trên tổng đài</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100% ngày có báo cáo trước 8h</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Việc hằng ngày tạo nhịp nhanh nhất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57200">
                <a:tc>
                  <a:txBody>
                    <a:bodyPr/>
                    <a:lstStyle/>
                    <a:p>
                      <a:pPr algn="ctr" indent="0" marL="0">
                        <a:buNone/>
                      </a:pPr>
                      <a:r>
                        <a:rPr lang="en-US" sz="1250" b="1" dirty="0">
                          <a:solidFill>
                            <a:srgbClr val="1B2A38"/>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Đối soát công hằng tuần; xử lý hết trường hợp gắn cờ</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Chênh lệch công chưa giải thích &lt; 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Không để cờ dồn tới ngày chốt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57200">
                <a:tc>
                  <a:txBody>
                    <a:bodyPr/>
                    <a:lstStyle/>
                    <a:p>
                      <a:pPr algn="ctr" indent="0" marL="0">
                        <a:buNone/>
                      </a:pPr>
                      <a:r>
                        <a:rPr lang="en-US" sz="1250" b="1" dirty="0">
                          <a:solidFill>
                            <a:srgbClr val="1B2A38"/>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Trưởng ca dùng dashboard mọi ca; HR dùng tab HR</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Mọi trưởng ca dùng hằng ngày</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Dữ liệu đã tin được thì mới chịu dùng</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57200">
                <a:tc>
                  <a:txBody>
                    <a:bodyPr/>
                    <a:lstStyle/>
                    <a:p>
                      <a:pPr algn="ctr" indent="0" marL="0">
                        <a:buNone/>
                      </a:pPr>
                      <a:r>
                        <a:rPr lang="en-US" sz="1250" b="1" dirty="0">
                          <a:solidFill>
                            <a:srgbClr val="1B2A38"/>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Chốt công tháng bằng Skill; người mới chạy thử theo SOP</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Chốt công nhanh hơn ≥ 50%; người mới tự làm được</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Phép thử cuối: hạn chót và người lạ</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4343400"/>
            <a:ext cx="3515258" cy="1920240"/>
          </a:xfrm>
          <a:prstGeom prst="roundRect">
            <a:avLst>
              <a:gd name="adj" fmla="val 4762"/>
            </a:avLst>
          </a:prstGeom>
          <a:solidFill>
            <a:srgbClr val="DDEFEE"/>
          </a:solidFill>
          <a:ln w="12700">
            <a:solidFill>
              <a:srgbClr val="DDEFEE"/>
            </a:solidFill>
            <a:prstDash val="solid"/>
          </a:ln>
        </p:spPr>
      </p:sp>
      <p:sp>
        <p:nvSpPr>
          <p:cNvPr id="9" name="Shape 5"/>
          <p:cNvSpPr/>
          <p:nvPr/>
        </p:nvSpPr>
        <p:spPr>
          <a:xfrm>
            <a:off x="749808" y="4526280"/>
            <a:ext cx="457200" cy="457200"/>
          </a:xfrm>
          <a:prstGeom prst="roundRect">
            <a:avLst>
              <a:gd name="adj" fmla="val 22000"/>
            </a:avLst>
          </a:prstGeom>
          <a:solidFill>
            <a:srgbClr val="2E7D7A"/>
          </a:solidFill>
          <a:ln w="12700">
            <a:solidFill>
              <a:srgbClr val="2E7D7A"/>
            </a:solidFill>
            <a:prstDash val="solid"/>
          </a:ln>
        </p:spPr>
      </p:sp>
      <p:pic>
        <p:nvPicPr>
          <p:cNvPr id="10" name="Image 0" descr="preencoded.png">    </p:cNvPr>
          <p:cNvPicPr>
            <a:picLocks noChangeAspect="1"/>
          </p:cNvPicPr>
          <p:nvPr/>
        </p:nvPicPr>
        <p:blipFill>
          <a:blip r:embed="rId1"/>
          <a:stretch>
            <a:fillRect/>
          </a:stretch>
        </p:blipFill>
        <p:spPr>
          <a:xfrm>
            <a:off x="859536" y="4636008"/>
            <a:ext cx="237744" cy="237744"/>
          </a:xfrm>
          <a:prstGeom prst="rect">
            <a:avLst/>
          </a:prstGeom>
        </p:spPr>
      </p:pic>
      <p:sp>
        <p:nvSpPr>
          <p:cNvPr id="11" name="Text 6"/>
          <p:cNvSpPr txBox="1"/>
          <p:nvPr/>
        </p:nvSpPr>
        <p:spPr>
          <a:xfrm>
            <a:off x="1325880" y="4526280"/>
            <a:ext cx="2555138" cy="457200"/>
          </a:xfrm>
          <a:prstGeom prst="rect">
            <a:avLst/>
          </a:prstGeom>
          <a:noFill/>
          <a:ln/>
        </p:spPr>
        <p:txBody>
          <a:bodyPr wrap="square" lIns="0" tIns="0" rIns="0" bIns="0" rtlCol="0" anchor="ctr"/>
          <a:lstStyle/>
          <a:p>
            <a:pPr indent="0" marL="0">
              <a:buNone/>
            </a:pPr>
            <a:r>
              <a:rPr lang="en-US" sz="1550" b="1" dirty="0">
                <a:solidFill>
                  <a:srgbClr val="1B2A38"/>
                </a:solidFill>
                <a:latin typeface="Calibri" pitchFamily="34" charset="0"/>
                <a:ea typeface="Calibri" pitchFamily="34" charset="-122"/>
                <a:cs typeface="Calibri" pitchFamily="34" charset="-120"/>
              </a:rPr>
              <a:t>Champion Vận hành · anh Tùng</a:t>
            </a:r>
            <a:endParaRPr lang="en-US" sz="1550" dirty="0"/>
          </a:p>
        </p:txBody>
      </p:sp>
      <p:sp>
        <p:nvSpPr>
          <p:cNvPr id="12" name="Text 7"/>
          <p:cNvSpPr txBox="1"/>
          <p:nvPr/>
        </p:nvSpPr>
        <p:spPr>
          <a:xfrm>
            <a:off x="777240" y="5093208"/>
            <a:ext cx="3058058" cy="1051560"/>
          </a:xfrm>
          <a:prstGeom prst="rect">
            <a:avLst/>
          </a:prstGeom>
          <a:noFill/>
          <a:ln/>
        </p:spPr>
        <p:txBody>
          <a:bodyPr wrap="square" lIns="0" tIns="0" rIns="0" bIns="0" rtlCol="0" anchor="t"/>
          <a:lstStyle/>
          <a:p>
            <a:pPr indent="0" marL="0">
              <a:buNone/>
            </a:pPr>
            <a:r>
              <a:rPr lang="en-US" sz="1300" dirty="0">
                <a:solidFill>
                  <a:srgbClr val="1B2A38"/>
                </a:solidFill>
                <a:latin typeface="Calibri" pitchFamily="34" charset="0"/>
                <a:ea typeface="Calibri" pitchFamily="34" charset="-122"/>
                <a:cs typeface="Calibri" pitchFamily="34" charset="-120"/>
              </a:rPr>
              <a:t>Giữ Skill “Báo cáo ngày”, SOP-VH-01, tab Vận hành. 1–2 giờ/tuần: xem nhật ký lỗi, cập nhật quy tắc làm sạch.</a:t>
            </a:r>
            <a:endParaRPr lang="en-US" sz="1300" dirty="0"/>
          </a:p>
        </p:txBody>
      </p:sp>
      <p:sp>
        <p:nvSpPr>
          <p:cNvPr id="13" name="Shape 8"/>
          <p:cNvSpPr/>
          <p:nvPr/>
        </p:nvSpPr>
        <p:spPr>
          <a:xfrm>
            <a:off x="4338218" y="4343400"/>
            <a:ext cx="3515258" cy="1920240"/>
          </a:xfrm>
          <a:prstGeom prst="roundRect">
            <a:avLst>
              <a:gd name="adj" fmla="val 4762"/>
            </a:avLst>
          </a:prstGeom>
          <a:solidFill>
            <a:srgbClr val="DDEFEE"/>
          </a:solidFill>
          <a:ln w="12700">
            <a:solidFill>
              <a:srgbClr val="DDEFEE"/>
            </a:solidFill>
            <a:prstDash val="solid"/>
          </a:ln>
        </p:spPr>
      </p:sp>
      <p:sp>
        <p:nvSpPr>
          <p:cNvPr id="14" name="Shape 9"/>
          <p:cNvSpPr/>
          <p:nvPr/>
        </p:nvSpPr>
        <p:spPr>
          <a:xfrm>
            <a:off x="4539386" y="4526280"/>
            <a:ext cx="457200" cy="457200"/>
          </a:xfrm>
          <a:prstGeom prst="roundRect">
            <a:avLst>
              <a:gd name="adj" fmla="val 22000"/>
            </a:avLst>
          </a:prstGeom>
          <a:solidFill>
            <a:srgbClr val="2E7D7A"/>
          </a:solidFill>
          <a:ln w="12700">
            <a:solidFill>
              <a:srgbClr val="2E7D7A"/>
            </a:solidFill>
            <a:prstDash val="solid"/>
          </a:ln>
        </p:spPr>
      </p:sp>
      <p:pic>
        <p:nvPicPr>
          <p:cNvPr id="15" name="Image 1" descr="preencoded.png">    </p:cNvPr>
          <p:cNvPicPr>
            <a:picLocks noChangeAspect="1"/>
          </p:cNvPicPr>
          <p:nvPr/>
        </p:nvPicPr>
        <p:blipFill>
          <a:blip r:embed="rId2"/>
          <a:stretch>
            <a:fillRect/>
          </a:stretch>
        </p:blipFill>
        <p:spPr>
          <a:xfrm>
            <a:off x="4649114" y="4636008"/>
            <a:ext cx="237744" cy="237744"/>
          </a:xfrm>
          <a:prstGeom prst="rect">
            <a:avLst/>
          </a:prstGeom>
        </p:spPr>
      </p:pic>
      <p:sp>
        <p:nvSpPr>
          <p:cNvPr id="16" name="Text 10"/>
          <p:cNvSpPr txBox="1"/>
          <p:nvPr/>
        </p:nvSpPr>
        <p:spPr>
          <a:xfrm>
            <a:off x="5115458" y="4526280"/>
            <a:ext cx="2555138" cy="457200"/>
          </a:xfrm>
          <a:prstGeom prst="rect">
            <a:avLst/>
          </a:prstGeom>
          <a:noFill/>
          <a:ln/>
        </p:spPr>
        <p:txBody>
          <a:bodyPr wrap="square" lIns="0" tIns="0" rIns="0" bIns="0" rtlCol="0" anchor="ctr"/>
          <a:lstStyle/>
          <a:p>
            <a:pPr indent="0" marL="0">
              <a:buNone/>
            </a:pPr>
            <a:r>
              <a:rPr lang="en-US" sz="1550" b="1" dirty="0">
                <a:solidFill>
                  <a:srgbClr val="1B2A38"/>
                </a:solidFill>
                <a:latin typeface="Calibri" pitchFamily="34" charset="0"/>
                <a:ea typeface="Calibri" pitchFamily="34" charset="-122"/>
                <a:cs typeface="Calibri" pitchFamily="34" charset="-120"/>
              </a:rPr>
              <a:t>Champion HR · chị Mai</a:t>
            </a:r>
            <a:endParaRPr lang="en-US" sz="1550" dirty="0"/>
          </a:p>
        </p:txBody>
      </p:sp>
      <p:sp>
        <p:nvSpPr>
          <p:cNvPr id="17" name="Text 11"/>
          <p:cNvSpPr txBox="1"/>
          <p:nvPr/>
        </p:nvSpPr>
        <p:spPr>
          <a:xfrm>
            <a:off x="4566818" y="5093208"/>
            <a:ext cx="3058058" cy="1051560"/>
          </a:xfrm>
          <a:prstGeom prst="rect">
            <a:avLst/>
          </a:prstGeom>
          <a:noFill/>
          <a:ln/>
        </p:spPr>
        <p:txBody>
          <a:bodyPr wrap="square" lIns="0" tIns="0" rIns="0" bIns="0" rtlCol="0" anchor="t"/>
          <a:lstStyle/>
          <a:p>
            <a:pPr indent="0" marL="0">
              <a:buNone/>
            </a:pPr>
            <a:r>
              <a:rPr lang="en-US" sz="1300" dirty="0">
                <a:solidFill>
                  <a:srgbClr val="1B2A38"/>
                </a:solidFill>
                <a:latin typeface="Calibri" pitchFamily="34" charset="0"/>
                <a:ea typeface="Calibri" pitchFamily="34" charset="-122"/>
                <a:cs typeface="Calibri" pitchFamily="34" charset="-120"/>
              </a:rPr>
              <a:t>Giữ Skill “Chốt công tháng”, SOP-HR-01, bảng quy tắc công. Xử lý cờ hằng tuần, cập nhật bảng nối mã khi có người mới.</a:t>
            </a:r>
            <a:endParaRPr lang="en-US" sz="1300" dirty="0"/>
          </a:p>
        </p:txBody>
      </p:sp>
      <p:sp>
        <p:nvSpPr>
          <p:cNvPr id="18" name="Shape 12"/>
          <p:cNvSpPr/>
          <p:nvPr/>
        </p:nvSpPr>
        <p:spPr>
          <a:xfrm>
            <a:off x="8127797" y="4343400"/>
            <a:ext cx="3515258" cy="1920240"/>
          </a:xfrm>
          <a:prstGeom prst="roundRect">
            <a:avLst>
              <a:gd name="adj" fmla="val 4762"/>
            </a:avLst>
          </a:prstGeom>
          <a:solidFill>
            <a:srgbClr val="F2F4F6"/>
          </a:solidFill>
          <a:ln w="12700">
            <a:solidFill>
              <a:srgbClr val="F2F4F6"/>
            </a:solidFill>
            <a:prstDash val="solid"/>
          </a:ln>
        </p:spPr>
      </p:sp>
      <p:sp>
        <p:nvSpPr>
          <p:cNvPr id="19" name="Shape 13"/>
          <p:cNvSpPr/>
          <p:nvPr/>
        </p:nvSpPr>
        <p:spPr>
          <a:xfrm>
            <a:off x="8328965" y="4526280"/>
            <a:ext cx="457200" cy="457200"/>
          </a:xfrm>
          <a:prstGeom prst="roundRect">
            <a:avLst>
              <a:gd name="adj" fmla="val 22000"/>
            </a:avLst>
          </a:prstGeom>
          <a:solidFill>
            <a:srgbClr val="2B3E50"/>
          </a:solidFill>
          <a:ln w="12700">
            <a:solidFill>
              <a:srgbClr val="2B3E50"/>
            </a:solidFill>
            <a:prstDash val="solid"/>
          </a:ln>
        </p:spPr>
      </p:sp>
      <p:pic>
        <p:nvPicPr>
          <p:cNvPr id="20" name="Image 2" descr="preencoded.png">    </p:cNvPr>
          <p:cNvPicPr>
            <a:picLocks noChangeAspect="1"/>
          </p:cNvPicPr>
          <p:nvPr/>
        </p:nvPicPr>
        <p:blipFill>
          <a:blip r:embed="rId3"/>
          <a:stretch>
            <a:fillRect/>
          </a:stretch>
        </p:blipFill>
        <p:spPr>
          <a:xfrm>
            <a:off x="8438693" y="4636008"/>
            <a:ext cx="237744" cy="237744"/>
          </a:xfrm>
          <a:prstGeom prst="rect">
            <a:avLst/>
          </a:prstGeom>
        </p:spPr>
      </p:pic>
      <p:sp>
        <p:nvSpPr>
          <p:cNvPr id="21" name="Text 14"/>
          <p:cNvSpPr txBox="1"/>
          <p:nvPr/>
        </p:nvSpPr>
        <p:spPr>
          <a:xfrm>
            <a:off x="8905037" y="4526280"/>
            <a:ext cx="2555138" cy="457200"/>
          </a:xfrm>
          <a:prstGeom prst="rect">
            <a:avLst/>
          </a:prstGeom>
          <a:noFill/>
          <a:ln/>
        </p:spPr>
        <p:txBody>
          <a:bodyPr wrap="square" lIns="0" tIns="0" rIns="0" bIns="0" rtlCol="0" anchor="ctr"/>
          <a:lstStyle/>
          <a:p>
            <a:pPr indent="0" marL="0">
              <a:buNone/>
            </a:pPr>
            <a:r>
              <a:rPr lang="en-US" sz="1550" b="1" dirty="0">
                <a:solidFill>
                  <a:srgbClr val="1B2A38"/>
                </a:solidFill>
                <a:latin typeface="Calibri" pitchFamily="34" charset="0"/>
                <a:ea typeface="Calibri" pitchFamily="34" charset="-122"/>
                <a:cs typeface="Calibri" pitchFamily="34" charset="-120"/>
              </a:rPr>
              <a:t>Hỗ trợ &amp; duyệt</a:t>
            </a:r>
            <a:endParaRPr lang="en-US" sz="1550" dirty="0"/>
          </a:p>
        </p:txBody>
      </p:sp>
      <p:sp>
        <p:nvSpPr>
          <p:cNvPr id="22" name="Text 15"/>
          <p:cNvSpPr txBox="1"/>
          <p:nvPr/>
        </p:nvSpPr>
        <p:spPr>
          <a:xfrm>
            <a:off x="8356397" y="5093208"/>
            <a:ext cx="3058058" cy="1051560"/>
          </a:xfrm>
          <a:prstGeom prst="rect">
            <a:avLst/>
          </a:prstGeom>
          <a:noFill/>
          <a:ln/>
        </p:spPr>
        <p:txBody>
          <a:bodyPr wrap="square" lIns="0" tIns="0" rIns="0" bIns="0" rtlCol="0" anchor="t"/>
          <a:lstStyle/>
          <a:p>
            <a:pPr indent="0" marL="0">
              <a:buNone/>
            </a:pPr>
            <a:r>
              <a:rPr lang="en-US" sz="1300" dirty="0">
                <a:solidFill>
                  <a:srgbClr val="1B2A38"/>
                </a:solidFill>
                <a:latin typeface="Calibri" pitchFamily="34" charset="0"/>
                <a:ea typeface="Calibri" pitchFamily="34" charset="-122"/>
                <a:cs typeface="Calibri" pitchFamily="34" charset="-120"/>
              </a:rPr>
              <a:t>Anh Khoa (IT) hỗ trợ kỹ thuật, không phải chủ sở hữu. Chị Hạnh duyệt — tách người vận hành khỏi người duyệt.</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417320"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1417320"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KIỂM TRA NHANH</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Câu hỏi nhanh</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Shape 4"/>
          <p:cNvSpPr/>
          <p:nvPr/>
        </p:nvSpPr>
        <p:spPr>
          <a:xfrm>
            <a:off x="548640" y="1691640"/>
            <a:ext cx="11094415" cy="1234440"/>
          </a:xfrm>
          <a:prstGeom prst="roundRect">
            <a:avLst>
              <a:gd name="adj" fmla="val 7407"/>
            </a:avLst>
          </a:prstGeom>
          <a:solidFill>
            <a:srgbClr val="ECE6F5"/>
          </a:solidFill>
          <a:ln w="12700">
            <a:solidFill>
              <a:srgbClr val="ECE6F5"/>
            </a:solidFill>
            <a:prstDash val="solid"/>
          </a:ln>
        </p:spPr>
      </p:sp>
      <p:sp>
        <p:nvSpPr>
          <p:cNvPr id="8" name="Shape 5"/>
          <p:cNvSpPr/>
          <p:nvPr/>
        </p:nvSpPr>
        <p:spPr>
          <a:xfrm>
            <a:off x="777240" y="1993392"/>
            <a:ext cx="640080" cy="640080"/>
          </a:xfrm>
          <a:prstGeom prst="roundRect">
            <a:avLst>
              <a:gd name="adj" fmla="val 22000"/>
            </a:avLst>
          </a:prstGeom>
          <a:solidFill>
            <a:srgbClr val="6E4E9E"/>
          </a:solidFill>
          <a:ln w="12700">
            <a:solidFill>
              <a:srgbClr val="6E4E9E"/>
            </a:solidFill>
            <a:prstDash val="solid"/>
          </a:ln>
        </p:spPr>
      </p:sp>
      <p:pic>
        <p:nvPicPr>
          <p:cNvPr id="9" name="Image 0" descr="preencoded.png">    </p:cNvPr>
          <p:cNvPicPr>
            <a:picLocks noChangeAspect="1"/>
          </p:cNvPicPr>
          <p:nvPr/>
        </p:nvPicPr>
        <p:blipFill>
          <a:blip r:embed="rId1"/>
          <a:stretch>
            <a:fillRect/>
          </a:stretch>
        </p:blipFill>
        <p:spPr>
          <a:xfrm>
            <a:off x="930859" y="2147011"/>
            <a:ext cx="332842" cy="332842"/>
          </a:xfrm>
          <a:prstGeom prst="rect">
            <a:avLst/>
          </a:prstGeom>
        </p:spPr>
      </p:pic>
      <p:sp>
        <p:nvSpPr>
          <p:cNvPr id="10" name="Text 6"/>
          <p:cNvSpPr txBox="1"/>
          <p:nvPr/>
        </p:nvSpPr>
        <p:spPr>
          <a:xfrm>
            <a:off x="1645920" y="1801368"/>
            <a:ext cx="9768535" cy="1005840"/>
          </a:xfrm>
          <a:prstGeom prst="rect">
            <a:avLst/>
          </a:prstGeom>
          <a:noFill/>
          <a:ln/>
        </p:spPr>
        <p:txBody>
          <a:bodyPr wrap="square" lIns="0" tIns="0" rIns="0" bIns="0" rtlCol="0" anchor="ctr">
            <a:normAutofit/>
          </a:bodyPr>
          <a:lstStyle/>
          <a:p>
            <a:pPr indent="0" marL="0">
              <a:buNone/>
            </a:pPr>
            <a:r>
              <a:rPr lang="en-US" sz="1800" b="1" dirty="0">
                <a:solidFill>
                  <a:srgbClr val="1B2A38"/>
                </a:solidFill>
                <a:latin typeface="Calibri" pitchFamily="34" charset="0"/>
                <a:ea typeface="Calibri" pitchFamily="34" charset="-122"/>
                <a:cs typeface="Calibri" pitchFamily="34" charset="-120"/>
              </a:rPr>
              <a:t>Sao Việt cần chọn AI Champion cho mảng Vận hành. Phương án nào hợp lý nhất?</a:t>
            </a:r>
            <a:endParaRPr lang="en-US" sz="1800" dirty="0"/>
          </a:p>
        </p:txBody>
      </p:sp>
      <p:sp>
        <p:nvSpPr>
          <p:cNvPr id="11" name="Shape 7"/>
          <p:cNvSpPr/>
          <p:nvPr/>
        </p:nvSpPr>
        <p:spPr>
          <a:xfrm>
            <a:off x="548640" y="3154680"/>
            <a:ext cx="5432908" cy="1440180"/>
          </a:xfrm>
          <a:prstGeom prst="roundRect">
            <a:avLst>
              <a:gd name="adj" fmla="val 6349"/>
            </a:avLst>
          </a:prstGeom>
          <a:solidFill>
            <a:srgbClr val="FFFFFF"/>
          </a:solidFill>
          <a:ln w="15875">
            <a:solidFill>
              <a:srgbClr val="D5DAE0"/>
            </a:solidFill>
            <a:prstDash val="solid"/>
          </a:ln>
        </p:spPr>
      </p:sp>
      <p:sp>
        <p:nvSpPr>
          <p:cNvPr id="12" name="Shape 8"/>
          <p:cNvSpPr/>
          <p:nvPr/>
        </p:nvSpPr>
        <p:spPr>
          <a:xfrm>
            <a:off x="749808" y="3623310"/>
            <a:ext cx="502920" cy="502920"/>
          </a:xfrm>
          <a:prstGeom prst="ellipse">
            <a:avLst/>
          </a:prstGeom>
          <a:solidFill>
            <a:srgbClr val="6E4E9E"/>
          </a:solidFill>
          <a:ln w="12700">
            <a:solidFill>
              <a:srgbClr val="6E4E9E"/>
            </a:solidFill>
            <a:prstDash val="solid"/>
          </a:ln>
        </p:spPr>
      </p:sp>
      <p:sp>
        <p:nvSpPr>
          <p:cNvPr id="13" name="Text 9"/>
          <p:cNvSpPr txBox="1"/>
          <p:nvPr/>
        </p:nvSpPr>
        <p:spPr>
          <a:xfrm>
            <a:off x="749808"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0"/>
          <p:cNvSpPr txBox="1"/>
          <p:nvPr/>
        </p:nvSpPr>
        <p:spPr>
          <a:xfrm>
            <a:off x="1417320"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Anh Khoa (IT), vì giỏi công nghệ nhất.</a:t>
            </a:r>
            <a:endParaRPr lang="en-US" sz="1500" dirty="0"/>
          </a:p>
        </p:txBody>
      </p:sp>
      <p:sp>
        <p:nvSpPr>
          <p:cNvPr id="15" name="Shape 11"/>
          <p:cNvSpPr/>
          <p:nvPr/>
        </p:nvSpPr>
        <p:spPr>
          <a:xfrm>
            <a:off x="6210148" y="3154680"/>
            <a:ext cx="5432908" cy="1440180"/>
          </a:xfrm>
          <a:prstGeom prst="roundRect">
            <a:avLst>
              <a:gd name="adj" fmla="val 6349"/>
            </a:avLst>
          </a:prstGeom>
          <a:solidFill>
            <a:srgbClr val="FFFFFF"/>
          </a:solidFill>
          <a:ln w="15875">
            <a:solidFill>
              <a:srgbClr val="D5DAE0"/>
            </a:solidFill>
            <a:prstDash val="solid"/>
          </a:ln>
        </p:spPr>
      </p:sp>
      <p:sp>
        <p:nvSpPr>
          <p:cNvPr id="16" name="Shape 12"/>
          <p:cNvSpPr/>
          <p:nvPr/>
        </p:nvSpPr>
        <p:spPr>
          <a:xfrm>
            <a:off x="6411316" y="3623310"/>
            <a:ext cx="502920" cy="502920"/>
          </a:xfrm>
          <a:prstGeom prst="ellipse">
            <a:avLst/>
          </a:prstGeom>
          <a:solidFill>
            <a:srgbClr val="6E4E9E"/>
          </a:solidFill>
          <a:ln w="12700">
            <a:solidFill>
              <a:srgbClr val="6E4E9E"/>
            </a:solidFill>
            <a:prstDash val="solid"/>
          </a:ln>
        </p:spPr>
      </p:sp>
      <p:sp>
        <p:nvSpPr>
          <p:cNvPr id="17" name="Text 13"/>
          <p:cNvSpPr txBox="1"/>
          <p:nvPr/>
        </p:nvSpPr>
        <p:spPr>
          <a:xfrm>
            <a:off x="6411316" y="362331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8" name="Text 14"/>
          <p:cNvSpPr txBox="1"/>
          <p:nvPr/>
        </p:nvSpPr>
        <p:spPr>
          <a:xfrm>
            <a:off x="7078828" y="324612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Anh Tùng — người chạm quy trình báo cáo hằng ngày; anh Khoa hỗ trợ kỹ thuật, chị Hạnh duyệt.</a:t>
            </a:r>
            <a:endParaRPr lang="en-US" sz="1500" dirty="0"/>
          </a:p>
        </p:txBody>
      </p:sp>
      <p:sp>
        <p:nvSpPr>
          <p:cNvPr id="19" name="Shape 15"/>
          <p:cNvSpPr/>
          <p:nvPr/>
        </p:nvSpPr>
        <p:spPr>
          <a:xfrm>
            <a:off x="548640" y="4823460"/>
            <a:ext cx="5432908" cy="1440180"/>
          </a:xfrm>
          <a:prstGeom prst="roundRect">
            <a:avLst>
              <a:gd name="adj" fmla="val 6349"/>
            </a:avLst>
          </a:prstGeom>
          <a:solidFill>
            <a:srgbClr val="FFFFFF"/>
          </a:solidFill>
          <a:ln w="15875">
            <a:solidFill>
              <a:srgbClr val="D5DAE0"/>
            </a:solidFill>
            <a:prstDash val="solid"/>
          </a:ln>
        </p:spPr>
      </p:sp>
      <p:sp>
        <p:nvSpPr>
          <p:cNvPr id="20" name="Shape 16"/>
          <p:cNvSpPr/>
          <p:nvPr/>
        </p:nvSpPr>
        <p:spPr>
          <a:xfrm>
            <a:off x="749808" y="5292090"/>
            <a:ext cx="502920" cy="502920"/>
          </a:xfrm>
          <a:prstGeom prst="ellipse">
            <a:avLst/>
          </a:prstGeom>
          <a:solidFill>
            <a:srgbClr val="6E4E9E"/>
          </a:solidFill>
          <a:ln w="12700">
            <a:solidFill>
              <a:srgbClr val="6E4E9E"/>
            </a:solidFill>
            <a:prstDash val="solid"/>
          </a:ln>
        </p:spPr>
      </p:sp>
      <p:sp>
        <p:nvSpPr>
          <p:cNvPr id="21" name="Text 17"/>
          <p:cNvSpPr txBox="1"/>
          <p:nvPr/>
        </p:nvSpPr>
        <p:spPr>
          <a:xfrm>
            <a:off x="749808"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2" name="Text 18"/>
          <p:cNvSpPr txBox="1"/>
          <p:nvPr/>
        </p:nvSpPr>
        <p:spPr>
          <a:xfrm>
            <a:off x="1417320"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Chị Hạnh, vì là trưởng bộ phận.</a:t>
            </a:r>
            <a:endParaRPr lang="en-US" sz="1500" dirty="0"/>
          </a:p>
        </p:txBody>
      </p:sp>
      <p:sp>
        <p:nvSpPr>
          <p:cNvPr id="23" name="Shape 19"/>
          <p:cNvSpPr/>
          <p:nvPr/>
        </p:nvSpPr>
        <p:spPr>
          <a:xfrm>
            <a:off x="6210148" y="4823460"/>
            <a:ext cx="5432908" cy="1440180"/>
          </a:xfrm>
          <a:prstGeom prst="roundRect">
            <a:avLst>
              <a:gd name="adj" fmla="val 6349"/>
            </a:avLst>
          </a:prstGeom>
          <a:solidFill>
            <a:srgbClr val="FFFFFF"/>
          </a:solidFill>
          <a:ln w="15875">
            <a:solidFill>
              <a:srgbClr val="D5DAE0"/>
            </a:solidFill>
            <a:prstDash val="solid"/>
          </a:ln>
        </p:spPr>
      </p:sp>
      <p:sp>
        <p:nvSpPr>
          <p:cNvPr id="24" name="Shape 20"/>
          <p:cNvSpPr/>
          <p:nvPr/>
        </p:nvSpPr>
        <p:spPr>
          <a:xfrm>
            <a:off x="6411316" y="5292090"/>
            <a:ext cx="502920" cy="502920"/>
          </a:xfrm>
          <a:prstGeom prst="ellipse">
            <a:avLst/>
          </a:prstGeom>
          <a:solidFill>
            <a:srgbClr val="6E4E9E"/>
          </a:solidFill>
          <a:ln w="12700">
            <a:solidFill>
              <a:srgbClr val="6E4E9E"/>
            </a:solidFill>
            <a:prstDash val="solid"/>
          </a:ln>
        </p:spPr>
      </p:sp>
      <p:sp>
        <p:nvSpPr>
          <p:cNvPr id="25" name="Text 21"/>
          <p:cNvSpPr txBox="1"/>
          <p:nvPr/>
        </p:nvSpPr>
        <p:spPr>
          <a:xfrm>
            <a:off x="6411316" y="529209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6" name="Text 22"/>
          <p:cNvSpPr txBox="1"/>
          <p:nvPr/>
        </p:nvSpPr>
        <p:spPr>
          <a:xfrm>
            <a:off x="7078828" y="4914900"/>
            <a:ext cx="4381348" cy="1257300"/>
          </a:xfrm>
          <a:prstGeom prst="rect">
            <a:avLst/>
          </a:prstGeom>
          <a:noFill/>
          <a:ln/>
        </p:spPr>
        <p:txBody>
          <a:bodyPr wrap="square" lIns="0" tIns="0" rIns="0" bIns="0" rtlCol="0" anchor="ctr">
            <a:normAutofit/>
          </a:bodyPr>
          <a:lstStyle/>
          <a:p>
            <a:pPr indent="0" marL="0">
              <a:buNone/>
            </a:pPr>
            <a:r>
              <a:rPr lang="en-US" sz="1500" dirty="0">
                <a:solidFill>
                  <a:srgbClr val="1B2A38"/>
                </a:solidFill>
                <a:latin typeface="Calibri" pitchFamily="34" charset="0"/>
                <a:ea typeface="Calibri" pitchFamily="34" charset="-122"/>
                <a:cs typeface="Calibri" pitchFamily="34" charset="-120"/>
              </a:rPr>
              <a:t>Cả phòng Vận hành cùng chịu trách nhiệm.</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461772"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461772"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LAB</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Lab 5.4 · Lập kế hoạch 30 ngày</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Shape 4"/>
          <p:cNvSpPr/>
          <p:nvPr/>
        </p:nvSpPr>
        <p:spPr>
          <a:xfrm>
            <a:off x="548640" y="1691640"/>
            <a:ext cx="3931920" cy="4572000"/>
          </a:xfrm>
          <a:prstGeom prst="roundRect">
            <a:avLst>
              <a:gd name="adj" fmla="val 2326"/>
            </a:avLst>
          </a:prstGeom>
          <a:solidFill>
            <a:srgbClr val="DDEFEE"/>
          </a:solidFill>
          <a:ln w="12700">
            <a:solidFill>
              <a:srgbClr val="DDEFEE"/>
            </a:solidFill>
            <a:prstDash val="solid"/>
          </a:ln>
        </p:spPr>
      </p:sp>
      <p:sp>
        <p:nvSpPr>
          <p:cNvPr id="8" name="Shape 5"/>
          <p:cNvSpPr/>
          <p:nvPr/>
        </p:nvSpPr>
        <p:spPr>
          <a:xfrm>
            <a:off x="777240" y="1920240"/>
            <a:ext cx="502920" cy="502920"/>
          </a:xfrm>
          <a:prstGeom prst="roundRect">
            <a:avLst>
              <a:gd name="adj" fmla="val 22000"/>
            </a:avLst>
          </a:prstGeom>
          <a:solidFill>
            <a:srgbClr val="2E7D7A"/>
          </a:solidFill>
          <a:ln w="12700">
            <a:solidFill>
              <a:srgbClr val="2E7D7A"/>
            </a:solidFill>
            <a:prstDash val="solid"/>
          </a:ln>
        </p:spPr>
      </p:sp>
      <p:pic>
        <p:nvPicPr>
          <p:cNvPr id="9" name="Image 0" descr="preencoded.png">    </p:cNvPr>
          <p:cNvPicPr>
            <a:picLocks noChangeAspect="1"/>
          </p:cNvPicPr>
          <p:nvPr/>
        </p:nvPicPr>
        <p:blipFill>
          <a:blip r:embed="rId1"/>
          <a:stretch>
            <a:fillRect/>
          </a:stretch>
        </p:blipFill>
        <p:spPr>
          <a:xfrm>
            <a:off x="897941" y="2040941"/>
            <a:ext cx="261518" cy="261518"/>
          </a:xfrm>
          <a:prstGeom prst="rect">
            <a:avLst/>
          </a:prstGeom>
        </p:spPr>
      </p:pic>
      <p:sp>
        <p:nvSpPr>
          <p:cNvPr id="10" name="Text 6"/>
          <p:cNvSpPr txBox="1"/>
          <p:nvPr/>
        </p:nvSpPr>
        <p:spPr>
          <a:xfrm>
            <a:off x="1417320" y="1920240"/>
            <a:ext cx="2743200" cy="502920"/>
          </a:xfrm>
          <a:prstGeom prst="rect">
            <a:avLst/>
          </a:prstGeom>
          <a:noFill/>
          <a:ln/>
        </p:spPr>
        <p:txBody>
          <a:bodyPr wrap="square" lIns="0" tIns="0" rIns="0" bIns="0" rtlCol="0" anchor="ctr"/>
          <a:lstStyle/>
          <a:p>
            <a:pPr indent="0" marL="0">
              <a:buNone/>
            </a:pPr>
            <a:r>
              <a:rPr lang="en-US" sz="2200" b="1" dirty="0">
                <a:solidFill>
                  <a:srgbClr val="2E7D7A"/>
                </a:solidFill>
                <a:latin typeface="Cambria" pitchFamily="34" charset="0"/>
                <a:ea typeface="Cambria" pitchFamily="34" charset="-122"/>
                <a:cs typeface="Cambria" pitchFamily="34" charset="-120"/>
              </a:rPr>
              <a:t>10 phút</a:t>
            </a:r>
            <a:endParaRPr lang="en-US" sz="2200" dirty="0"/>
          </a:p>
        </p:txBody>
      </p:sp>
      <p:sp>
        <p:nvSpPr>
          <p:cNvPr id="11" name="Text 7"/>
          <p:cNvSpPr txBox="1"/>
          <p:nvPr/>
        </p:nvSpPr>
        <p:spPr>
          <a:xfrm>
            <a:off x="777240" y="2606040"/>
            <a:ext cx="3474720" cy="1325880"/>
          </a:xfrm>
          <a:prstGeom prst="rect">
            <a:avLst/>
          </a:prstGeom>
          <a:noFill/>
          <a:ln/>
        </p:spPr>
        <p:txBody>
          <a:bodyPr wrap="square" lIns="0" tIns="0" rIns="0" bIns="0" rtlCol="0" anchor="t">
            <a:normAutofit/>
          </a:bodyPr>
          <a:lstStyle/>
          <a:p>
            <a:pPr indent="0" marL="0">
              <a:buNone/>
            </a:pPr>
            <a:r>
              <a:rPr lang="en-US" sz="1400" b="1" dirty="0">
                <a:solidFill>
                  <a:srgbClr val="2E7D7A"/>
                </a:solidFill>
                <a:latin typeface="Calibri" pitchFamily="34" charset="0"/>
                <a:ea typeface="Calibri" pitchFamily="34" charset="-122"/>
                <a:cs typeface="Calibri" pitchFamily="34" charset="-120"/>
              </a:rPr>
              <a:t>Mục tiêu  </a:t>
            </a:r>
            <a:pPr indent="0" marL="0">
              <a:buNone/>
            </a:pPr>
            <a:r>
              <a:rPr lang="en-US" sz="1400" dirty="0">
                <a:solidFill>
                  <a:srgbClr val="1B2A38"/>
                </a:solidFill>
                <a:latin typeface="Calibri" pitchFamily="34" charset="0"/>
                <a:ea typeface="Calibri" pitchFamily="34" charset="-122"/>
                <a:cs typeface="Calibri" pitchFamily="34" charset="-120"/>
              </a:rPr>
              <a:t>Bảng việc – người chịu trách nhiệm – hạn – chỉ số đo – nguồn đo cho 30 ngày sau khóa, có tên 2 AI Champion.</a:t>
            </a:r>
            <a:endParaRPr lang="en-US" sz="1400" dirty="0"/>
          </a:p>
        </p:txBody>
      </p:sp>
      <p:sp>
        <p:nvSpPr>
          <p:cNvPr id="12" name="Text 8"/>
          <p:cNvSpPr txBox="1"/>
          <p:nvPr/>
        </p:nvSpPr>
        <p:spPr>
          <a:xfrm>
            <a:off x="777240" y="3977640"/>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Dữ liệu dùng</a:t>
            </a:r>
            <a:endParaRPr lang="en-US" sz="1250" dirty="0"/>
          </a:p>
        </p:txBody>
      </p:sp>
      <p:sp>
        <p:nvSpPr>
          <p:cNvPr id="13" name="Text 9"/>
          <p:cNvSpPr txBox="1"/>
          <p:nvPr/>
        </p:nvSpPr>
        <p:spPr>
          <a:xfrm>
            <a:off x="777240" y="4279392"/>
            <a:ext cx="3474720" cy="859536"/>
          </a:xfrm>
          <a:prstGeom prst="rect">
            <a:avLst/>
          </a:prstGeom>
          <a:noFill/>
          <a:ln/>
        </p:spPr>
        <p:txBody>
          <a:bodyPr wrap="square" lIns="0" tIns="0" rIns="0" bIns="0" rtlCol="0" anchor="t">
            <a:normAutofit/>
          </a:bodyPr>
          <a:lstStyle/>
          <a:p>
            <a:pPr indent="0" marL="0">
              <a:buNone/>
            </a:pPr>
            <a:r>
              <a:rPr lang="en-US" sz="1050" dirty="0">
                <a:solidFill>
                  <a:srgbClr val="1B2A38"/>
                </a:solidFill>
                <a:latin typeface="Courier New" pitchFamily="34" charset="0"/>
                <a:ea typeface="Courier New" pitchFamily="34" charset="-122"/>
                <a:cs typeface="Courier New" pitchFamily="34" charset="-120"/>
              </a:rPr>
              <a:t>Phụ lục D.2, D.3 (ebook)</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Lịch công ty: ngày chốt công, ngày lễ</a:t>
            </a:r>
            <a:endParaRPr lang="en-US" sz="1050" dirty="0"/>
          </a:p>
          <a:p>
            <a:pPr indent="0" marL="0">
              <a:buNone/>
            </a:pPr>
            <a:r>
              <a:rPr lang="en-US" sz="1050" dirty="0">
                <a:solidFill>
                  <a:srgbClr val="1B2A38"/>
                </a:solidFill>
                <a:latin typeface="Courier New" pitchFamily="34" charset="0"/>
                <a:ea typeface="Courier New" pitchFamily="34" charset="-122"/>
                <a:cs typeface="Courier New" pitchFamily="34" charset="-120"/>
              </a:rPr>
              <a:t>Vướng mắc còn mở của Lab 5.1–5.3</a:t>
            </a:r>
            <a:endParaRPr lang="en-US" sz="1050" dirty="0"/>
          </a:p>
        </p:txBody>
      </p:sp>
      <p:sp>
        <p:nvSpPr>
          <p:cNvPr id="14" name="Text 10"/>
          <p:cNvSpPr txBox="1"/>
          <p:nvPr/>
        </p:nvSpPr>
        <p:spPr>
          <a:xfrm>
            <a:off x="777240" y="5202936"/>
            <a:ext cx="3474720" cy="274320"/>
          </a:xfrm>
          <a:prstGeom prst="rect">
            <a:avLst/>
          </a:prstGeom>
          <a:noFill/>
          <a:ln/>
        </p:spPr>
        <p:txBody>
          <a:bodyPr wrap="square" lIns="0" tIns="0" rIns="0" bIns="0" rtlCol="0" anchor="t"/>
          <a:lstStyle/>
          <a:p>
            <a:pPr indent="0" marL="0">
              <a:buNone/>
            </a:pPr>
            <a:r>
              <a:rPr lang="en-US" sz="1250" b="1" dirty="0">
                <a:solidFill>
                  <a:srgbClr val="2E7D7A"/>
                </a:solidFill>
                <a:latin typeface="Calibri" pitchFamily="34" charset="0"/>
                <a:ea typeface="Calibri" pitchFamily="34" charset="-122"/>
                <a:cs typeface="Calibri" pitchFamily="34" charset="-120"/>
              </a:rPr>
              <a:t>Sản phẩm</a:t>
            </a:r>
            <a:endParaRPr lang="en-US" sz="1250" dirty="0"/>
          </a:p>
        </p:txBody>
      </p:sp>
      <p:sp>
        <p:nvSpPr>
          <p:cNvPr id="15" name="Text 11"/>
          <p:cNvSpPr txBox="1"/>
          <p:nvPr/>
        </p:nvSpPr>
        <p:spPr>
          <a:xfrm>
            <a:off x="777240" y="5504688"/>
            <a:ext cx="3474720" cy="603504"/>
          </a:xfrm>
          <a:prstGeom prst="rect">
            <a:avLst/>
          </a:prstGeom>
          <a:noFill/>
          <a:ln/>
        </p:spPr>
        <p:txBody>
          <a:bodyPr wrap="square" lIns="0" tIns="0" rIns="0" bIns="0" rtlCol="0" anchor="t">
            <a:normAutofit/>
          </a:bodyPr>
          <a:lstStyle/>
          <a:p>
            <a:pPr indent="0" marL="0">
              <a:buNone/>
            </a:pPr>
            <a:r>
              <a:rPr lang="en-US" sz="1300" dirty="0">
                <a:solidFill>
                  <a:srgbClr val="1B2A38"/>
                </a:solidFill>
                <a:latin typeface="Calibri" pitchFamily="34" charset="0"/>
                <a:ea typeface="Calibri" pitchFamily="34" charset="-122"/>
                <a:cs typeface="Calibri" pitchFamily="34" charset="-120"/>
              </a:rPr>
              <a:t>Kế hoạch 30 ngày có người chịu trách nhiệm — căn cứ cho 30% điểm “áp dụng thật”.</a:t>
            </a:r>
            <a:endParaRPr lang="en-US" sz="1300" dirty="0"/>
          </a:p>
        </p:txBody>
      </p:sp>
      <p:sp>
        <p:nvSpPr>
          <p:cNvPr id="16" name="Shape 12"/>
          <p:cNvSpPr/>
          <p:nvPr/>
        </p:nvSpPr>
        <p:spPr>
          <a:xfrm>
            <a:off x="4800600" y="1737360"/>
            <a:ext cx="438912" cy="438912"/>
          </a:xfrm>
          <a:prstGeom prst="ellipse">
            <a:avLst/>
          </a:prstGeom>
          <a:solidFill>
            <a:srgbClr val="2E7D7A"/>
          </a:solidFill>
          <a:ln w="12700">
            <a:solidFill>
              <a:srgbClr val="2E7D7A"/>
            </a:solidFill>
            <a:prstDash val="solid"/>
          </a:ln>
        </p:spPr>
      </p:sp>
      <p:sp>
        <p:nvSpPr>
          <p:cNvPr id="17" name="Text 13"/>
          <p:cNvSpPr txBox="1"/>
          <p:nvPr/>
        </p:nvSpPr>
        <p:spPr>
          <a:xfrm>
            <a:off x="4800600" y="1737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8" name="Text 14"/>
          <p:cNvSpPr txBox="1"/>
          <p:nvPr/>
        </p:nvSpPr>
        <p:spPr>
          <a:xfrm>
            <a:off x="5394960" y="1691640"/>
            <a:ext cx="6248095" cy="9601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Sinh bản nháp (3’)</a:t>
            </a:r>
            <a:pPr indent="0" marL="0">
              <a:buNone/>
            </a:pPr>
            <a:r>
              <a:rPr lang="en-US" sz="1450" dirty="0">
                <a:solidFill>
                  <a:srgbClr val="1B2A38"/>
                </a:solidFill>
                <a:latin typeface="Calibri" pitchFamily="34" charset="0"/>
                <a:ea typeface="Calibri" pitchFamily="34" charset="-122"/>
                <a:cs typeface="Calibri" pitchFamily="34" charset="-120"/>
              </a:rPr>
              <a:t> — dán prompt ở slide sau, kèm vướng mắc còn mở và cột “Trước” của bảng D.3.</a:t>
            </a:r>
            <a:endParaRPr lang="en-US" sz="1450" dirty="0"/>
          </a:p>
        </p:txBody>
      </p:sp>
      <p:sp>
        <p:nvSpPr>
          <p:cNvPr id="19" name="Shape 15"/>
          <p:cNvSpPr/>
          <p:nvPr/>
        </p:nvSpPr>
        <p:spPr>
          <a:xfrm>
            <a:off x="4800600" y="2825496"/>
            <a:ext cx="438912" cy="438912"/>
          </a:xfrm>
          <a:prstGeom prst="ellipse">
            <a:avLst/>
          </a:prstGeom>
          <a:solidFill>
            <a:srgbClr val="2E7D7A"/>
          </a:solidFill>
          <a:ln w="12700">
            <a:solidFill>
              <a:srgbClr val="2E7D7A"/>
            </a:solidFill>
            <a:prstDash val="solid"/>
          </a:ln>
        </p:spPr>
      </p:sp>
      <p:sp>
        <p:nvSpPr>
          <p:cNvPr id="20" name="Text 16"/>
          <p:cNvSpPr txBox="1"/>
          <p:nvPr/>
        </p:nvSpPr>
        <p:spPr>
          <a:xfrm>
            <a:off x="4800600" y="282549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1" name="Text 17"/>
          <p:cNvSpPr txBox="1"/>
          <p:nvPr/>
        </p:nvSpPr>
        <p:spPr>
          <a:xfrm>
            <a:off x="5394960" y="2779776"/>
            <a:ext cx="6248095" cy="9601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Soát từng dòng (4’)</a:t>
            </a:r>
            <a:pPr indent="0" marL="0">
              <a:buNone/>
            </a:pPr>
            <a:r>
              <a:rPr lang="en-US" sz="1450" dirty="0">
                <a:solidFill>
                  <a:srgbClr val="1B2A38"/>
                </a:solidFill>
                <a:latin typeface="Calibri" pitchFamily="34" charset="0"/>
                <a:ea typeface="Calibri" pitchFamily="34" charset="-122"/>
                <a:cs typeface="Calibri" pitchFamily="34" charset="-120"/>
              </a:rPr>
              <a:t> — người này biết mình được giao chưa? Hạn có trùng ngày lễ, ngày chốt lương? Chỉ số đo được không?</a:t>
            </a:r>
            <a:endParaRPr lang="en-US" sz="1450" dirty="0"/>
          </a:p>
        </p:txBody>
      </p:sp>
      <p:sp>
        <p:nvSpPr>
          <p:cNvPr id="22" name="Shape 18"/>
          <p:cNvSpPr/>
          <p:nvPr/>
        </p:nvSpPr>
        <p:spPr>
          <a:xfrm>
            <a:off x="4800600" y="3913632"/>
            <a:ext cx="438912" cy="438912"/>
          </a:xfrm>
          <a:prstGeom prst="ellipse">
            <a:avLst/>
          </a:prstGeom>
          <a:solidFill>
            <a:srgbClr val="2E7D7A"/>
          </a:solidFill>
          <a:ln w="12700">
            <a:solidFill>
              <a:srgbClr val="2E7D7A"/>
            </a:solidFill>
            <a:prstDash val="solid"/>
          </a:ln>
        </p:spPr>
      </p:sp>
      <p:sp>
        <p:nvSpPr>
          <p:cNvPr id="23" name="Text 19"/>
          <p:cNvSpPr txBox="1"/>
          <p:nvPr/>
        </p:nvSpPr>
        <p:spPr>
          <a:xfrm>
            <a:off x="4800600" y="391363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0"/>
          <p:cNvSpPr txBox="1"/>
          <p:nvPr/>
        </p:nvSpPr>
        <p:spPr>
          <a:xfrm>
            <a:off x="5394960" y="3867912"/>
            <a:ext cx="6248095" cy="9601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Chốt AI Champion (2’)</a:t>
            </a:r>
            <a:pPr indent="0" marL="0">
              <a:buNone/>
            </a:pPr>
            <a:r>
              <a:rPr lang="en-US" sz="1450" dirty="0">
                <a:solidFill>
                  <a:srgbClr val="1B2A38"/>
                </a:solidFill>
                <a:latin typeface="Calibri" pitchFamily="34" charset="0"/>
                <a:ea typeface="Calibri" pitchFamily="34" charset="-122"/>
                <a:cs typeface="Calibri" pitchFamily="34" charset="-120"/>
              </a:rPr>
              <a:t> — Vận hành và HR, người hỗ trợ kỹ thuật, người duyệt — tên người, không phải phòng ban.</a:t>
            </a:r>
            <a:endParaRPr lang="en-US" sz="1450" dirty="0"/>
          </a:p>
        </p:txBody>
      </p:sp>
      <p:sp>
        <p:nvSpPr>
          <p:cNvPr id="25" name="Shape 21"/>
          <p:cNvSpPr/>
          <p:nvPr/>
        </p:nvSpPr>
        <p:spPr>
          <a:xfrm>
            <a:off x="4800600" y="5001768"/>
            <a:ext cx="438912" cy="438912"/>
          </a:xfrm>
          <a:prstGeom prst="ellipse">
            <a:avLst/>
          </a:prstGeom>
          <a:solidFill>
            <a:srgbClr val="2E7D7A"/>
          </a:solidFill>
          <a:ln w="12700">
            <a:solidFill>
              <a:srgbClr val="2E7D7A"/>
            </a:solidFill>
            <a:prstDash val="solid"/>
          </a:ln>
        </p:spPr>
      </p:sp>
      <p:sp>
        <p:nvSpPr>
          <p:cNvPr id="26" name="Text 22"/>
          <p:cNvSpPr txBox="1"/>
          <p:nvPr/>
        </p:nvSpPr>
        <p:spPr>
          <a:xfrm>
            <a:off x="4800600" y="5001768"/>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3"/>
          <p:cNvSpPr txBox="1"/>
          <p:nvPr/>
        </p:nvSpPr>
        <p:spPr>
          <a:xfrm>
            <a:off x="5394960" y="4956048"/>
            <a:ext cx="6248095" cy="960120"/>
          </a:xfrm>
          <a:prstGeom prst="rect">
            <a:avLst/>
          </a:prstGeom>
          <a:noFill/>
          <a:ln/>
        </p:spPr>
        <p:txBody>
          <a:bodyPr wrap="square" lIns="0" tIns="0" rIns="0" bIns="0" rtlCol="0" anchor="ctr">
            <a:normAutofit/>
          </a:bodyPr>
          <a:lstStyle/>
          <a:p>
            <a:pPr indent="0" marL="0">
              <a:buNone/>
            </a:pPr>
            <a:r>
              <a:rPr lang="en-US" sz="1450" b="1" dirty="0">
                <a:solidFill>
                  <a:srgbClr val="1B2A38"/>
                </a:solidFill>
                <a:latin typeface="Calibri" pitchFamily="34" charset="0"/>
                <a:ea typeface="Calibri" pitchFamily="34" charset="-122"/>
                <a:cs typeface="Calibri" pitchFamily="34" charset="-120"/>
              </a:rPr>
              <a:t>Đặt lịch xem lại (1’)</a:t>
            </a:r>
            <a:pPr indent="0" marL="0">
              <a:buNone/>
            </a:pPr>
            <a:r>
              <a:rPr lang="en-US" sz="1450" dirty="0">
                <a:solidFill>
                  <a:srgbClr val="1B2A38"/>
                </a:solidFill>
                <a:latin typeface="Calibri" pitchFamily="34" charset="0"/>
                <a:ea typeface="Calibri" pitchFamily="34" charset="-122"/>
                <a:cs typeface="Calibri" pitchFamily="34" charset="-120"/>
              </a:rPr>
              <a:t> — 4 buổi 15 phút chiều thứ Sáu — đưa vào lịch ngay trên lớp.</a:t>
            </a:r>
            <a:endParaRPr lang="en-US" sz="145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48640" cy="292608"/>
          </a:xfrm>
          <a:prstGeom prst="roundRect">
            <a:avLst>
              <a:gd name="adj" fmla="val 50000"/>
            </a:avLst>
          </a:prstGeom>
          <a:solidFill>
            <a:srgbClr val="DDEFEE"/>
          </a:solidFill>
          <a:ln w="12700">
            <a:solidFill>
              <a:srgbClr val="DDEFEE"/>
            </a:solidFill>
            <a:prstDash val="solid"/>
          </a:ln>
        </p:spPr>
      </p:sp>
      <p:sp>
        <p:nvSpPr>
          <p:cNvPr id="3" name="Text 1"/>
          <p:cNvSpPr txBox="1"/>
          <p:nvPr/>
        </p:nvSpPr>
        <p:spPr>
          <a:xfrm>
            <a:off x="548640" y="384048"/>
            <a:ext cx="548640" cy="292608"/>
          </a:xfrm>
          <a:prstGeom prst="rect">
            <a:avLst/>
          </a:prstGeom>
          <a:noFill/>
          <a:ln/>
        </p:spPr>
        <p:txBody>
          <a:bodyPr wrap="square" lIns="0" tIns="0" rIns="0" bIns="0" rtlCol="0" anchor="ctr"/>
          <a:lstStyle/>
          <a:p>
            <a:pPr algn="ctr" indent="0" marL="0">
              <a:buNone/>
            </a:pPr>
            <a:r>
              <a:rPr lang="en-US" sz="1050" b="1" spc="150" kern="0" dirty="0">
                <a:solidFill>
                  <a:srgbClr val="2E7D7A"/>
                </a:solidFill>
                <a:latin typeface="Calibri" pitchFamily="34" charset="0"/>
                <a:ea typeface="Calibri" pitchFamily="34" charset="-122"/>
                <a:cs typeface="Calibri" pitchFamily="34" charset="-120"/>
              </a:rPr>
              <a:t>DEMO</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Prompt mẫu — Kế hoạch 30 ngày từ khung Phụ lục D</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Shape 4"/>
          <p:cNvSpPr/>
          <p:nvPr/>
        </p:nvSpPr>
        <p:spPr>
          <a:xfrm>
            <a:off x="548640" y="1691640"/>
            <a:ext cx="6949440" cy="4572000"/>
          </a:xfrm>
          <a:prstGeom prst="roundRect">
            <a:avLst>
              <a:gd name="adj" fmla="val 1600"/>
            </a:avLst>
          </a:prstGeom>
          <a:solidFill>
            <a:srgbClr val="1B2A38"/>
          </a:solidFill>
          <a:ln w="12700">
            <a:solidFill>
              <a:srgbClr val="1B2A38"/>
            </a:solidFill>
            <a:prstDash val="solid"/>
          </a:ln>
        </p:spPr>
      </p:sp>
      <p:sp>
        <p:nvSpPr>
          <p:cNvPr id="8" name="Shape 5"/>
          <p:cNvSpPr/>
          <p:nvPr/>
        </p:nvSpPr>
        <p:spPr>
          <a:xfrm>
            <a:off x="749808" y="1874520"/>
            <a:ext cx="384048" cy="384048"/>
          </a:xfrm>
          <a:prstGeom prst="roundRect">
            <a:avLst>
              <a:gd name="adj" fmla="val 22000"/>
            </a:avLst>
          </a:prstGeom>
          <a:solidFill>
            <a:srgbClr val="D9773A"/>
          </a:solidFill>
          <a:ln w="12700">
            <a:solidFill>
              <a:srgbClr val="D9773A"/>
            </a:solidFill>
            <a:prstDash val="solid"/>
          </a:ln>
        </p:spPr>
      </p:sp>
      <p:pic>
        <p:nvPicPr>
          <p:cNvPr id="9" name="Image 0" descr="preencoded.png">    </p:cNvPr>
          <p:cNvPicPr>
            <a:picLocks noChangeAspect="1"/>
          </p:cNvPicPr>
          <p:nvPr/>
        </p:nvPicPr>
        <p:blipFill>
          <a:blip r:embed="rId1"/>
          <a:stretch>
            <a:fillRect/>
          </a:stretch>
        </p:blipFill>
        <p:spPr>
          <a:xfrm>
            <a:off x="841980" y="1966692"/>
            <a:ext cx="199705" cy="199705"/>
          </a:xfrm>
          <a:prstGeom prst="rect">
            <a:avLst/>
          </a:prstGeom>
        </p:spPr>
      </p:pic>
      <p:sp>
        <p:nvSpPr>
          <p:cNvPr id="10" name="Text 6"/>
          <p:cNvSpPr txBox="1"/>
          <p:nvPr/>
        </p:nvSpPr>
        <p:spPr>
          <a:xfrm>
            <a:off x="1280160" y="1874520"/>
            <a:ext cx="4572000" cy="384048"/>
          </a:xfrm>
          <a:prstGeom prst="rect">
            <a:avLst/>
          </a:prstGeom>
          <a:noFill/>
          <a:ln/>
        </p:spPr>
        <p:txBody>
          <a:bodyPr wrap="square" lIns="0" tIns="0" rIns="0" bIns="0" rtlCol="0" anchor="ctr"/>
          <a:lstStyle/>
          <a:p>
            <a:pPr indent="0" marL="0">
              <a:buNone/>
            </a:pPr>
            <a:r>
              <a:rPr lang="en-US" sz="1100" b="1" spc="150" kern="0" dirty="0">
                <a:solidFill>
                  <a:srgbClr val="D9773A"/>
                </a:solidFill>
                <a:latin typeface="Calibri" pitchFamily="34" charset="0"/>
                <a:ea typeface="Calibri" pitchFamily="34" charset="-122"/>
                <a:cs typeface="Calibri" pitchFamily="34" charset="-120"/>
              </a:rPr>
              <a:t>PROMPT — dán vào Claude</a:t>
            </a:r>
            <a:endParaRPr lang="en-US" sz="1100" dirty="0"/>
          </a:p>
        </p:txBody>
      </p:sp>
      <p:sp>
        <p:nvSpPr>
          <p:cNvPr id="11" name="Text 7"/>
          <p:cNvSpPr txBox="1"/>
          <p:nvPr/>
        </p:nvSpPr>
        <p:spPr>
          <a:xfrm>
            <a:off x="822960" y="2423160"/>
            <a:ext cx="6400800" cy="3657600"/>
          </a:xfrm>
          <a:prstGeom prst="rect">
            <a:avLst/>
          </a:prstGeom>
          <a:noFill/>
          <a:ln/>
        </p:spPr>
        <p:txBody>
          <a:bodyPr wrap="square" lIns="0" tIns="0" rIns="0" bIns="0" rtlCol="0" anchor="t">
            <a:normAutofit/>
          </a:bodyPr>
          <a:lstStyle/>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Lập kế hoạch 30 ngày sau khóa học, bắt đầu từ 28/09/2026,</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theo khung Phụ lục D.2: tuần 1 báo cáo ngày + mã kết quả</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chuẩn trên tổng đài; tuần 2 đối soát công hằng tuần; tuần 3</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dashboard cho trưởng ca và HR; tuần 4 chốt công bằng Skill</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người mới chạy thử theo SOP.</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Xuất bảng: Tuần | Việc (1 việc/dòng, bắt đầu bằng động từ)</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Người chịu trách nhiệm (1 tên) | Người hỗ trợ</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 Hạn (ngày cụ thể) | Chỉ số đo | Nguồn đo.</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Thêm: (1) việc "dọn nợ" từ vướng mắc dưới đây, (2) 1 dòng</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họp xem lại 15 phút cuối mỗi tuần, (3) bảng D.3 có cột Trước.</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Chỗ chưa có tên người → ghi "CHƯA CÓ NGƯỜI", không tự điền.</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Vướng mắc còn mở: ngưỡng 🟡 chưa chốt; Điều 3.2 vs 3.3;</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EXT2099 chưa có mã tổng đài.</a:t>
            </a:r>
            <a:endParaRPr lang="en-US" sz="1300" dirty="0"/>
          </a:p>
          <a:p>
            <a:pPr indent="0" marL="0">
              <a:spcAft>
                <a:spcPts val="200"/>
              </a:spcAft>
              <a:buNone/>
            </a:pPr>
            <a:r>
              <a:rPr lang="en-US" sz="1300" dirty="0">
                <a:solidFill>
                  <a:srgbClr val="E8EEF3"/>
                </a:solidFill>
                <a:latin typeface="Courier New" pitchFamily="34" charset="0"/>
                <a:ea typeface="Courier New" pitchFamily="34" charset="-122"/>
                <a:cs typeface="Courier New" pitchFamily="34" charset="-120"/>
              </a:rPr>
              <a:t>Cột Trước của D.3: [DÁN]</a:t>
            </a:r>
            <a:endParaRPr lang="en-US" sz="1300" dirty="0"/>
          </a:p>
        </p:txBody>
      </p:sp>
      <p:sp>
        <p:nvSpPr>
          <p:cNvPr id="12" name="Text 8"/>
          <p:cNvSpPr txBox="1"/>
          <p:nvPr/>
        </p:nvSpPr>
        <p:spPr>
          <a:xfrm>
            <a:off x="7818120" y="1691640"/>
            <a:ext cx="3824935" cy="411480"/>
          </a:xfrm>
          <a:prstGeom prst="rect">
            <a:avLst/>
          </a:prstGeom>
          <a:noFill/>
          <a:ln/>
        </p:spPr>
        <p:txBody>
          <a:bodyPr wrap="square" lIns="0" tIns="0" rIns="0" bIns="0" rtlCol="0" anchor="t"/>
          <a:lstStyle/>
          <a:p>
            <a:pPr indent="0" marL="0">
              <a:buNone/>
            </a:pPr>
            <a:r>
              <a:rPr lang="en-US" sz="1700" b="1" dirty="0">
                <a:solidFill>
                  <a:srgbClr val="1B2A38"/>
                </a:solidFill>
                <a:latin typeface="Cambria" pitchFamily="34" charset="0"/>
                <a:ea typeface="Cambria" pitchFamily="34" charset="-122"/>
                <a:cs typeface="Cambria" pitchFamily="34" charset="-120"/>
              </a:rPr>
              <a:t>Vì sao viết như vậy?</a:t>
            </a:r>
            <a:endParaRPr lang="en-US" sz="1700" dirty="0"/>
          </a:p>
        </p:txBody>
      </p:sp>
      <p:sp>
        <p:nvSpPr>
          <p:cNvPr id="13" name="Text 9"/>
          <p:cNvSpPr txBox="1"/>
          <p:nvPr/>
        </p:nvSpPr>
        <p:spPr>
          <a:xfrm>
            <a:off x="7818120" y="2240280"/>
            <a:ext cx="3824935" cy="4023360"/>
          </a:xfrm>
          <a:prstGeom prst="rect">
            <a:avLst/>
          </a:prstGeom>
          <a:noFill/>
          <a:ln/>
        </p:spPr>
        <p:txBody>
          <a:bodyPr wrap="square" lIns="0" tIns="0" rIns="0" bIns="0" rtlCol="0" anchor="t">
            <a:normAutofit/>
          </a:bodyPr>
          <a:lstStyle/>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“1 tên”:</a:t>
            </a:r>
            <a:pPr indent="0" marL="0">
              <a:buNone/>
            </a:pPr>
            <a:r>
              <a:rPr lang="en-US" sz="1400" dirty="0">
                <a:solidFill>
                  <a:srgbClr val="1B2A38"/>
                </a:solidFill>
                <a:latin typeface="Calibri" pitchFamily="34" charset="0"/>
                <a:ea typeface="Calibri" pitchFamily="34" charset="-122"/>
                <a:cs typeface="Calibri" pitchFamily="34" charset="-120"/>
              </a:rPr>
              <a:t> việc của mọi người là việc của không ai.</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“CHƯA CÓ NGƯỜI”:</a:t>
            </a:r>
            <a:pPr indent="0" marL="0">
              <a:buNone/>
            </a:pPr>
            <a:r>
              <a:rPr lang="en-US" sz="1400" dirty="0">
                <a:solidFill>
                  <a:srgbClr val="1B2A38"/>
                </a:solidFill>
                <a:latin typeface="Calibri" pitchFamily="34" charset="0"/>
                <a:ea typeface="Calibri" pitchFamily="34" charset="-122"/>
                <a:cs typeface="Calibri" pitchFamily="34" charset="-120"/>
              </a:rPr>
              <a:t> ô trống hiện rõ buộc lãnh đạo phải quyết.</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Hạn là ngày cụ thể:</a:t>
            </a:r>
            <a:pPr indent="0" marL="0">
              <a:buNone/>
            </a:pPr>
            <a:r>
              <a:rPr lang="en-US" sz="1400" dirty="0">
                <a:solidFill>
                  <a:srgbClr val="1B2A38"/>
                </a:solidFill>
                <a:latin typeface="Calibri" pitchFamily="34" charset="0"/>
                <a:ea typeface="Calibri" pitchFamily="34" charset="-122"/>
                <a:cs typeface="Calibri" pitchFamily="34" charset="-120"/>
              </a:rPr>
              <a:t> không “cuối tuần”, tránh ngày lễ và ngày chốt lương.</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Chỉ số đo được:</a:t>
            </a:r>
            <a:pPr indent="0" marL="0">
              <a:buNone/>
            </a:pPr>
            <a:r>
              <a:rPr lang="en-US" sz="1400" dirty="0">
                <a:solidFill>
                  <a:srgbClr val="1B2A38"/>
                </a:solidFill>
                <a:latin typeface="Calibri" pitchFamily="34" charset="0"/>
                <a:ea typeface="Calibri" pitchFamily="34" charset="-122"/>
                <a:cs typeface="Calibri" pitchFamily="34" charset="-120"/>
              </a:rPr>
              <a:t> có con số và nguồn đo, không “nâng cao hiệu quả”.</a:t>
            </a:r>
            <a:endParaRPr lang="en-US" sz="1400" dirty="0"/>
          </a:p>
          <a:p>
            <a:pPr marL="228600" indent="-228600">
              <a:spcAft>
                <a:spcPts val="800"/>
              </a:spcAft>
              <a:buSzPct val="100000"/>
              <a:buChar char="•"/>
            </a:pPr>
            <a:r>
              <a:rPr lang="en-US" sz="1400" b="1" dirty="0">
                <a:solidFill>
                  <a:srgbClr val="1B2A38"/>
                </a:solidFill>
                <a:latin typeface="Calibri" pitchFamily="34" charset="0"/>
                <a:ea typeface="Calibri" pitchFamily="34" charset="-122"/>
                <a:cs typeface="Calibri" pitchFamily="34" charset="-120"/>
              </a:rPr>
              <a:t>Dọn nợ:</a:t>
            </a:r>
            <a:pPr indent="0" marL="0">
              <a:buNone/>
            </a:pPr>
            <a:r>
              <a:rPr lang="en-US" sz="1400" dirty="0">
                <a:solidFill>
                  <a:srgbClr val="1B2A38"/>
                </a:solidFill>
                <a:latin typeface="Calibri" pitchFamily="34" charset="0"/>
                <a:ea typeface="Calibri" pitchFamily="34" charset="-122"/>
                <a:cs typeface="Calibri" pitchFamily="34" charset="-120"/>
              </a:rPr>
              <a:t> mỗi vướng mắc của Lab 5.1–5.3 thành một dòng có người.</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91056" cy="292608"/>
          </a:xfrm>
          <a:prstGeom prst="roundRect">
            <a:avLst>
              <a:gd name="adj" fmla="val 50000"/>
            </a:avLst>
          </a:prstGeom>
          <a:solidFill>
            <a:srgbClr val="DDF1E5"/>
          </a:solidFill>
          <a:ln w="12700">
            <a:solidFill>
              <a:srgbClr val="DDF1E5"/>
            </a:solidFill>
            <a:prstDash val="solid"/>
          </a:ln>
        </p:spPr>
      </p:sp>
      <p:sp>
        <p:nvSpPr>
          <p:cNvPr id="3" name="Text 1"/>
          <p:cNvSpPr txBox="1"/>
          <p:nvPr/>
        </p:nvSpPr>
        <p:spPr>
          <a:xfrm>
            <a:off x="548640" y="384048"/>
            <a:ext cx="1591056" cy="292608"/>
          </a:xfrm>
          <a:prstGeom prst="rect">
            <a:avLst/>
          </a:prstGeom>
          <a:noFill/>
          <a:ln/>
        </p:spPr>
        <p:txBody>
          <a:bodyPr wrap="square" lIns="0" tIns="0" rIns="0" bIns="0" rtlCol="0" anchor="ctr"/>
          <a:lstStyle/>
          <a:p>
            <a:pPr algn="ctr" indent="0" marL="0">
              <a:buNone/>
            </a:pPr>
            <a:r>
              <a:rPr lang="en-US" sz="1050" b="1" spc="150" kern="0" dirty="0">
                <a:solidFill>
                  <a:srgbClr val="2E8B57"/>
                </a:solidFill>
                <a:latin typeface="Calibri" pitchFamily="34" charset="0"/>
                <a:ea typeface="Calibri" pitchFamily="34" charset="-122"/>
                <a:cs typeface="Calibri" pitchFamily="34" charset="-120"/>
              </a:rPr>
              <a:t>KẾT QUẢ MONG ĐỢI</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Kết quả mong đợi Lab 5.4 — kế hoạch Sao Việt (trích)</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Kỳ 28/09–27/10/2026 · Champion: anh Tùng (Vận hành), chị Mai (HR) · hỗ trợ: anh Khoa · duyệt: chị Hạnh</a:t>
            </a:r>
            <a:endParaRPr lang="en-US" sz="1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887553"/>
                <a:gridCol w="4260255"/>
                <a:gridCol w="1331330"/>
                <a:gridCol w="1686351"/>
                <a:gridCol w="2928926"/>
              </a:tblGrid>
              <a:tr h="40233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Tuần</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Việc</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Phụ trách</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Hạn</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Chỉ số đo</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4023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Chạy Skill “Báo cáo ngày” mỗi sáng, gửi CEO sau khi duyệt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Anh Tùng</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28/09–03/10</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100% ngày có báo cáo trước 8h</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023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Cài danh mục mã kết quả chuẩn 2 cấp lên tổng đài</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Anh Khoa</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03/10</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 95% cuộc outbound có mã chuẩn</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Cấp mã tổng đài cho thực tập sinh (EXT2099)</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Chị Mai</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30/09</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0 mã agent lạ trong báo cáo ngày</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023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Chốt công tháng 9 bằng Skill (theo lịch chốt thật)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Chị Mai</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03/10</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Thời gian chốt ≤ 1,5 ngày</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Đối soát công hằng tuần, xử lý hết nhóm B và C</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Chị Mai</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05/10 · 12/10</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Chênh lệch chưa giải thích &lt; 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023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Chốt điểm mơ hồ nội quy (Điều 3.2 vs 3.3, OT không đăng ký)</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Chị Mai</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09/10</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Bảng quy tắc công v3 được ký duyệt</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Trưởng ca dùng dashboard trong họp đầu ca mọi ca</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Anh Tùng</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12–17/10</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Mọi trưởng ca dùng hằng ngày</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023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Người mới (bạn Linh) tự chạy theo SOP-VH-01 và SOP-HR-01</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Bạn Linh</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23/10</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Tự làm xong, số khớp bản Champion</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rgbClr val="1B2A38"/>
                          </a:solidFill>
                          <a:latin typeface="Calibri" pitchFamily="34" charset="0"/>
                          <a:ea typeface="Calibri" pitchFamily="34" charset="-122"/>
                          <a:cs typeface="Calibri" pitchFamily="34" charset="-120"/>
                        </a:rPr>
                        <a:t>Mỗi tuần</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Họp xem lại 15’ chiều thứ Sáu: chỉ số + 1 vướng mắc</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Chị Hạnh</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02, 09, 16, 23/10</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250" dirty="0">
                          <a:solidFill>
                            <a:srgbClr val="1B2A38"/>
                          </a:solidFill>
                          <a:latin typeface="Calibri" pitchFamily="34" charset="0"/>
                          <a:ea typeface="Calibri" pitchFamily="34" charset="-122"/>
                          <a:cs typeface="Calibri" pitchFamily="34" charset="-120"/>
                        </a:rPr>
                        <a:t>4/4 buổi diễn ra</a:t>
                      </a:r>
                      <a:endParaRPr lang="en-US" sz="12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TRÌNH BÀY</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Trình bày cuối khóa: “Trước / Sau” trong 5 phút</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sp>
        <p:nvSpPr>
          <p:cNvPr id="7" name="Text 4"/>
          <p:cNvSpPr txBox="1"/>
          <p:nvPr/>
        </p:nvSpPr>
        <p:spPr>
          <a:xfrm>
            <a:off x="548640" y="1645920"/>
            <a:ext cx="11094415" cy="502920"/>
          </a:xfrm>
          <a:prstGeom prst="rect">
            <a:avLst/>
          </a:prstGeom>
          <a:noFill/>
          <a:ln/>
        </p:spPr>
        <p:txBody>
          <a:bodyPr wrap="square" lIns="0" tIns="0" rIns="0" bIns="0" rtlCol="0" anchor="t"/>
          <a:lstStyle/>
          <a:p>
            <a:pPr indent="0" marL="0">
              <a:buNone/>
            </a:pPr>
            <a:r>
              <a:rPr lang="en-US" sz="1600" i="1" dirty="0">
                <a:solidFill>
                  <a:srgbClr val="6B7785"/>
                </a:solidFill>
                <a:latin typeface="Calibri" pitchFamily="34" charset="0"/>
                <a:ea typeface="Calibri" pitchFamily="34" charset="-122"/>
                <a:cs typeface="Calibri" pitchFamily="34" charset="-120"/>
              </a:rPr>
              <a:t>Mỗi nhóm 5 phút + 3 phút hỏi đáp. CEO chỉ đọc tiêu đề — mỗi tiêu đề là một câu kết luận.</a:t>
            </a:r>
            <a:endParaRPr lang="en-US" sz="1600" dirty="0"/>
          </a:p>
        </p:txBody>
      </p:sp>
      <p:sp>
        <p:nvSpPr>
          <p:cNvPr id="8" name="Shape 5"/>
          <p:cNvSpPr/>
          <p:nvPr/>
        </p:nvSpPr>
        <p:spPr>
          <a:xfrm>
            <a:off x="548640" y="2240280"/>
            <a:ext cx="3515258" cy="1874520"/>
          </a:xfrm>
          <a:prstGeom prst="roundRect">
            <a:avLst>
              <a:gd name="adj" fmla="val 4878"/>
            </a:avLst>
          </a:prstGeom>
          <a:solidFill>
            <a:srgbClr val="F2F4F6"/>
          </a:solidFill>
          <a:ln w="12700">
            <a:solidFill>
              <a:srgbClr val="F2F4F6"/>
            </a:solidFill>
            <a:prstDash val="solid"/>
          </a:ln>
        </p:spPr>
      </p:sp>
      <p:sp>
        <p:nvSpPr>
          <p:cNvPr id="9" name="Shape 6"/>
          <p:cNvSpPr/>
          <p:nvPr/>
        </p:nvSpPr>
        <p:spPr>
          <a:xfrm>
            <a:off x="777240" y="2468880"/>
            <a:ext cx="457200" cy="457200"/>
          </a:xfrm>
          <a:prstGeom prst="roundRect">
            <a:avLst>
              <a:gd name="adj" fmla="val 22000"/>
            </a:avLst>
          </a:prstGeom>
          <a:solidFill>
            <a:srgbClr val="2B3E50"/>
          </a:solidFill>
          <a:ln w="12700">
            <a:solidFill>
              <a:srgbClr val="2B3E50"/>
            </a:solidFill>
            <a:prstDash val="solid"/>
          </a:ln>
        </p:spPr>
      </p:sp>
      <p:pic>
        <p:nvPicPr>
          <p:cNvPr id="10" name="Image 0" descr="preencoded.png">    </p:cNvPr>
          <p:cNvPicPr>
            <a:picLocks noChangeAspect="1"/>
          </p:cNvPicPr>
          <p:nvPr/>
        </p:nvPicPr>
        <p:blipFill>
          <a:blip r:embed="rId1"/>
          <a:stretch>
            <a:fillRect/>
          </a:stretch>
        </p:blipFill>
        <p:spPr>
          <a:xfrm>
            <a:off x="886968" y="2578608"/>
            <a:ext cx="237744" cy="237744"/>
          </a:xfrm>
          <a:prstGeom prst="rect">
            <a:avLst/>
          </a:prstGeom>
        </p:spPr>
      </p:pic>
      <p:sp>
        <p:nvSpPr>
          <p:cNvPr id="11" name="Text 7"/>
          <p:cNvSpPr txBox="1"/>
          <p:nvPr/>
        </p:nvSpPr>
        <p:spPr>
          <a:xfrm>
            <a:off x="1417320" y="2468880"/>
            <a:ext cx="2417978" cy="457200"/>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1 · Vấn đề</a:t>
            </a:r>
            <a:endParaRPr lang="en-US" sz="1650" dirty="0"/>
          </a:p>
        </p:txBody>
      </p:sp>
      <p:sp>
        <p:nvSpPr>
          <p:cNvPr id="12" name="Text 8"/>
          <p:cNvSpPr txBox="1"/>
          <p:nvPr/>
        </p:nvSpPr>
        <p:spPr>
          <a:xfrm>
            <a:off x="777240" y="3090672"/>
            <a:ext cx="3058058" cy="868680"/>
          </a:xfrm>
          <a:prstGeom prst="rect">
            <a:avLst/>
          </a:prstGeom>
          <a:noFill/>
          <a:ln/>
        </p:spPr>
        <p:txBody>
          <a:bodyPr wrap="square" lIns="0" tIns="0" rIns="0" bIns="0" rtlCol="0" anchor="t">
            <a:normAutofit/>
          </a:bodyPr>
          <a:lstStyle/>
          <a:p>
            <a:pPr indent="0" marL="0">
              <a:buNone/>
            </a:pPr>
            <a:r>
              <a:rPr lang="en-US" sz="1400" dirty="0">
                <a:solidFill>
                  <a:srgbClr val="1B2A38"/>
                </a:solidFill>
                <a:latin typeface="Calibri" pitchFamily="34" charset="0"/>
                <a:ea typeface="Calibri" pitchFamily="34" charset="-122"/>
                <a:cs typeface="Calibri" pitchFamily="34" charset="-120"/>
              </a:rPr>
              <a:t>30 giây — một câu chuyện thật trước khóa: hai con số cho cùng một ngày, 3 ngày chốt công.</a:t>
            </a:r>
            <a:endParaRPr lang="en-US" sz="1400" dirty="0"/>
          </a:p>
        </p:txBody>
      </p:sp>
      <p:sp>
        <p:nvSpPr>
          <p:cNvPr id="13" name="Shape 9"/>
          <p:cNvSpPr/>
          <p:nvPr/>
        </p:nvSpPr>
        <p:spPr>
          <a:xfrm>
            <a:off x="4338218" y="2240280"/>
            <a:ext cx="3515258" cy="1874520"/>
          </a:xfrm>
          <a:prstGeom prst="roundRect">
            <a:avLst>
              <a:gd name="adj" fmla="val 4878"/>
            </a:avLst>
          </a:prstGeom>
          <a:solidFill>
            <a:srgbClr val="F2F4F6"/>
          </a:solidFill>
          <a:ln w="12700">
            <a:solidFill>
              <a:srgbClr val="F2F4F6"/>
            </a:solidFill>
            <a:prstDash val="solid"/>
          </a:ln>
        </p:spPr>
      </p:sp>
      <p:sp>
        <p:nvSpPr>
          <p:cNvPr id="14" name="Shape 10"/>
          <p:cNvSpPr/>
          <p:nvPr/>
        </p:nvSpPr>
        <p:spPr>
          <a:xfrm>
            <a:off x="4566818" y="2468880"/>
            <a:ext cx="457200" cy="457200"/>
          </a:xfrm>
          <a:prstGeom prst="roundRect">
            <a:avLst>
              <a:gd name="adj" fmla="val 22000"/>
            </a:avLst>
          </a:prstGeom>
          <a:solidFill>
            <a:srgbClr val="2B3E50"/>
          </a:solidFill>
          <a:ln w="12700">
            <a:solidFill>
              <a:srgbClr val="2B3E50"/>
            </a:solidFill>
            <a:prstDash val="solid"/>
          </a:ln>
        </p:spPr>
      </p:sp>
      <p:pic>
        <p:nvPicPr>
          <p:cNvPr id="15" name="Image 1" descr="preencoded.png">    </p:cNvPr>
          <p:cNvPicPr>
            <a:picLocks noChangeAspect="1"/>
          </p:cNvPicPr>
          <p:nvPr/>
        </p:nvPicPr>
        <p:blipFill>
          <a:blip r:embed="rId2"/>
          <a:stretch>
            <a:fillRect/>
          </a:stretch>
        </p:blipFill>
        <p:spPr>
          <a:xfrm>
            <a:off x="4676546" y="2578608"/>
            <a:ext cx="237744" cy="237744"/>
          </a:xfrm>
          <a:prstGeom prst="rect">
            <a:avLst/>
          </a:prstGeom>
        </p:spPr>
      </p:pic>
      <p:sp>
        <p:nvSpPr>
          <p:cNvPr id="16" name="Text 11"/>
          <p:cNvSpPr txBox="1"/>
          <p:nvPr/>
        </p:nvSpPr>
        <p:spPr>
          <a:xfrm>
            <a:off x="5206898" y="2468880"/>
            <a:ext cx="2417978" cy="457200"/>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2 · Bảng Trước / Sau</a:t>
            </a:r>
            <a:endParaRPr lang="en-US" sz="1650" dirty="0"/>
          </a:p>
        </p:txBody>
      </p:sp>
      <p:sp>
        <p:nvSpPr>
          <p:cNvPr id="17" name="Text 12"/>
          <p:cNvSpPr txBox="1"/>
          <p:nvPr/>
        </p:nvSpPr>
        <p:spPr>
          <a:xfrm>
            <a:off x="4566818" y="3090672"/>
            <a:ext cx="3058058" cy="868680"/>
          </a:xfrm>
          <a:prstGeom prst="rect">
            <a:avLst/>
          </a:prstGeom>
          <a:noFill/>
          <a:ln/>
        </p:spPr>
        <p:txBody>
          <a:bodyPr wrap="square" lIns="0" tIns="0" rIns="0" bIns="0" rtlCol="0" anchor="t">
            <a:normAutofit/>
          </a:bodyPr>
          <a:lstStyle/>
          <a:p>
            <a:pPr indent="0" marL="0">
              <a:buNone/>
            </a:pPr>
            <a:r>
              <a:rPr lang="en-US" sz="1400" dirty="0">
                <a:solidFill>
                  <a:srgbClr val="1B2A38"/>
                </a:solidFill>
                <a:latin typeface="Calibri" pitchFamily="34" charset="0"/>
                <a:ea typeface="Calibri" pitchFamily="34" charset="-122"/>
                <a:cs typeface="Calibri" pitchFamily="34" charset="-120"/>
              </a:rPr>
              <a:t>90 giây — bảng D.3 với 4–5 chỉ số: Trước – Sau – Chênh lệch. Đây là slide CEO chụp lại.</a:t>
            </a:r>
            <a:endParaRPr lang="en-US" sz="1400" dirty="0"/>
          </a:p>
        </p:txBody>
      </p:sp>
      <p:sp>
        <p:nvSpPr>
          <p:cNvPr id="18" name="Shape 13"/>
          <p:cNvSpPr/>
          <p:nvPr/>
        </p:nvSpPr>
        <p:spPr>
          <a:xfrm>
            <a:off x="8127797" y="2240280"/>
            <a:ext cx="3515258" cy="1874520"/>
          </a:xfrm>
          <a:prstGeom prst="roundRect">
            <a:avLst>
              <a:gd name="adj" fmla="val 4878"/>
            </a:avLst>
          </a:prstGeom>
          <a:solidFill>
            <a:srgbClr val="F2F4F6"/>
          </a:solidFill>
          <a:ln w="12700">
            <a:solidFill>
              <a:srgbClr val="F2F4F6"/>
            </a:solidFill>
            <a:prstDash val="solid"/>
          </a:ln>
        </p:spPr>
      </p:sp>
      <p:sp>
        <p:nvSpPr>
          <p:cNvPr id="19" name="Shape 14"/>
          <p:cNvSpPr/>
          <p:nvPr/>
        </p:nvSpPr>
        <p:spPr>
          <a:xfrm>
            <a:off x="8356397" y="2468880"/>
            <a:ext cx="457200" cy="457200"/>
          </a:xfrm>
          <a:prstGeom prst="roundRect">
            <a:avLst>
              <a:gd name="adj" fmla="val 22000"/>
            </a:avLst>
          </a:prstGeom>
          <a:solidFill>
            <a:srgbClr val="2B3E50"/>
          </a:solidFill>
          <a:ln w="12700">
            <a:solidFill>
              <a:srgbClr val="2B3E50"/>
            </a:solidFill>
            <a:prstDash val="solid"/>
          </a:ln>
        </p:spPr>
      </p:sp>
      <p:pic>
        <p:nvPicPr>
          <p:cNvPr id="20" name="Image 2" descr="preencoded.png">    </p:cNvPr>
          <p:cNvPicPr>
            <a:picLocks noChangeAspect="1"/>
          </p:cNvPicPr>
          <p:nvPr/>
        </p:nvPicPr>
        <p:blipFill>
          <a:blip r:embed="rId3"/>
          <a:stretch>
            <a:fillRect/>
          </a:stretch>
        </p:blipFill>
        <p:spPr>
          <a:xfrm>
            <a:off x="8466125" y="2578608"/>
            <a:ext cx="237744" cy="237744"/>
          </a:xfrm>
          <a:prstGeom prst="rect">
            <a:avLst/>
          </a:prstGeom>
        </p:spPr>
      </p:pic>
      <p:sp>
        <p:nvSpPr>
          <p:cNvPr id="21" name="Text 15"/>
          <p:cNvSpPr txBox="1"/>
          <p:nvPr/>
        </p:nvSpPr>
        <p:spPr>
          <a:xfrm>
            <a:off x="8996477" y="2468880"/>
            <a:ext cx="2417978" cy="457200"/>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3 · Phát hiện đắt giá</a:t>
            </a:r>
            <a:endParaRPr lang="en-US" sz="1650" dirty="0"/>
          </a:p>
        </p:txBody>
      </p:sp>
      <p:sp>
        <p:nvSpPr>
          <p:cNvPr id="22" name="Text 16"/>
          <p:cNvSpPr txBox="1"/>
          <p:nvPr/>
        </p:nvSpPr>
        <p:spPr>
          <a:xfrm>
            <a:off x="8356397" y="3090672"/>
            <a:ext cx="3058058" cy="868680"/>
          </a:xfrm>
          <a:prstGeom prst="rect">
            <a:avLst/>
          </a:prstGeom>
          <a:noFill/>
          <a:ln/>
        </p:spPr>
        <p:txBody>
          <a:bodyPr wrap="square" lIns="0" tIns="0" rIns="0" bIns="0" rtlCol="0" anchor="t">
            <a:normAutofit/>
          </a:bodyPr>
          <a:lstStyle/>
          <a:p>
            <a:pPr indent="0" marL="0">
              <a:buNone/>
            </a:pPr>
            <a:r>
              <a:rPr lang="en-US" sz="1400" dirty="0">
                <a:solidFill>
                  <a:srgbClr val="1B2A38"/>
                </a:solidFill>
                <a:latin typeface="Calibri" pitchFamily="34" charset="0"/>
                <a:ea typeface="Calibri" pitchFamily="34" charset="-122"/>
                <a:cs typeface="Calibri" pitchFamily="34" charset="-120"/>
              </a:rPr>
              <a:t>60 giây — một lỗi trước đây không ai thấy, quy ra giờ hoặc tiền. Vd: tổng đài đếm cả 48 chặng chuyển.</a:t>
            </a:r>
            <a:endParaRPr lang="en-US" sz="1400" dirty="0"/>
          </a:p>
        </p:txBody>
      </p:sp>
      <p:sp>
        <p:nvSpPr>
          <p:cNvPr id="23" name="Shape 17"/>
          <p:cNvSpPr/>
          <p:nvPr/>
        </p:nvSpPr>
        <p:spPr>
          <a:xfrm>
            <a:off x="548640" y="4389120"/>
            <a:ext cx="3515258" cy="1874520"/>
          </a:xfrm>
          <a:prstGeom prst="roundRect">
            <a:avLst>
              <a:gd name="adj" fmla="val 4878"/>
            </a:avLst>
          </a:prstGeom>
          <a:solidFill>
            <a:srgbClr val="F2F4F6"/>
          </a:solidFill>
          <a:ln w="12700">
            <a:solidFill>
              <a:srgbClr val="F2F4F6"/>
            </a:solidFill>
            <a:prstDash val="solid"/>
          </a:ln>
        </p:spPr>
      </p:sp>
      <p:sp>
        <p:nvSpPr>
          <p:cNvPr id="24" name="Shape 18"/>
          <p:cNvSpPr/>
          <p:nvPr/>
        </p:nvSpPr>
        <p:spPr>
          <a:xfrm>
            <a:off x="777240" y="4617720"/>
            <a:ext cx="457200" cy="457200"/>
          </a:xfrm>
          <a:prstGeom prst="roundRect">
            <a:avLst>
              <a:gd name="adj" fmla="val 22000"/>
            </a:avLst>
          </a:prstGeom>
          <a:solidFill>
            <a:srgbClr val="2B3E50"/>
          </a:solidFill>
          <a:ln w="12700">
            <a:solidFill>
              <a:srgbClr val="2B3E50"/>
            </a:solidFill>
            <a:prstDash val="solid"/>
          </a:ln>
        </p:spPr>
      </p:sp>
      <p:pic>
        <p:nvPicPr>
          <p:cNvPr id="25" name="Image 3" descr="preencoded.png">    </p:cNvPr>
          <p:cNvPicPr>
            <a:picLocks noChangeAspect="1"/>
          </p:cNvPicPr>
          <p:nvPr/>
        </p:nvPicPr>
        <p:blipFill>
          <a:blip r:embed="rId4"/>
          <a:stretch>
            <a:fillRect/>
          </a:stretch>
        </p:blipFill>
        <p:spPr>
          <a:xfrm>
            <a:off x="886968" y="4727448"/>
            <a:ext cx="237744" cy="237744"/>
          </a:xfrm>
          <a:prstGeom prst="rect">
            <a:avLst/>
          </a:prstGeom>
        </p:spPr>
      </p:pic>
      <p:sp>
        <p:nvSpPr>
          <p:cNvPr id="26" name="Text 19"/>
          <p:cNvSpPr txBox="1"/>
          <p:nvPr/>
        </p:nvSpPr>
        <p:spPr>
          <a:xfrm>
            <a:off x="1417320" y="4617720"/>
            <a:ext cx="2417978" cy="457200"/>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4 · Demo 1 phút</a:t>
            </a:r>
            <a:endParaRPr lang="en-US" sz="1650" dirty="0"/>
          </a:p>
        </p:txBody>
      </p:sp>
      <p:sp>
        <p:nvSpPr>
          <p:cNvPr id="27" name="Text 20"/>
          <p:cNvSpPr txBox="1"/>
          <p:nvPr/>
        </p:nvSpPr>
        <p:spPr>
          <a:xfrm>
            <a:off x="777240" y="5239512"/>
            <a:ext cx="3058058" cy="868680"/>
          </a:xfrm>
          <a:prstGeom prst="rect">
            <a:avLst/>
          </a:prstGeom>
          <a:noFill/>
          <a:ln/>
        </p:spPr>
        <p:txBody>
          <a:bodyPr wrap="square" lIns="0" tIns="0" rIns="0" bIns="0" rtlCol="0" anchor="t">
            <a:normAutofit/>
          </a:bodyPr>
          <a:lstStyle/>
          <a:p>
            <a:pPr indent="0" marL="0">
              <a:buNone/>
            </a:pPr>
            <a:r>
              <a:rPr lang="en-US" sz="1400" dirty="0">
                <a:solidFill>
                  <a:srgbClr val="1B2A38"/>
                </a:solidFill>
                <a:latin typeface="Calibri" pitchFamily="34" charset="0"/>
                <a:ea typeface="Calibri" pitchFamily="34" charset="-122"/>
                <a:cs typeface="Calibri" pitchFamily="34" charset="-120"/>
              </a:rPr>
              <a:t>60 giây — gõ “làm báo cáo sáng…” trực tiếp hoặc ảnh chụp. Thấy tận mắt mới tin là “một lệnh”.</a:t>
            </a:r>
            <a:endParaRPr lang="en-US" sz="1400" dirty="0"/>
          </a:p>
        </p:txBody>
      </p:sp>
      <p:sp>
        <p:nvSpPr>
          <p:cNvPr id="28" name="Shape 21"/>
          <p:cNvSpPr/>
          <p:nvPr/>
        </p:nvSpPr>
        <p:spPr>
          <a:xfrm>
            <a:off x="4338218" y="4389120"/>
            <a:ext cx="3515258" cy="1874520"/>
          </a:xfrm>
          <a:prstGeom prst="roundRect">
            <a:avLst>
              <a:gd name="adj" fmla="val 4878"/>
            </a:avLst>
          </a:prstGeom>
          <a:solidFill>
            <a:srgbClr val="F2F4F6"/>
          </a:solidFill>
          <a:ln w="12700">
            <a:solidFill>
              <a:srgbClr val="F2F4F6"/>
            </a:solidFill>
            <a:prstDash val="solid"/>
          </a:ln>
        </p:spPr>
      </p:sp>
      <p:sp>
        <p:nvSpPr>
          <p:cNvPr id="29" name="Shape 22"/>
          <p:cNvSpPr/>
          <p:nvPr/>
        </p:nvSpPr>
        <p:spPr>
          <a:xfrm>
            <a:off x="4566818" y="4617720"/>
            <a:ext cx="457200" cy="457200"/>
          </a:xfrm>
          <a:prstGeom prst="roundRect">
            <a:avLst>
              <a:gd name="adj" fmla="val 22000"/>
            </a:avLst>
          </a:prstGeom>
          <a:solidFill>
            <a:srgbClr val="2B3E50"/>
          </a:solidFill>
          <a:ln w="12700">
            <a:solidFill>
              <a:srgbClr val="2B3E50"/>
            </a:solidFill>
            <a:prstDash val="solid"/>
          </a:ln>
        </p:spPr>
      </p:sp>
      <p:pic>
        <p:nvPicPr>
          <p:cNvPr id="30" name="Image 4" descr="preencoded.png">    </p:cNvPr>
          <p:cNvPicPr>
            <a:picLocks noChangeAspect="1"/>
          </p:cNvPicPr>
          <p:nvPr/>
        </p:nvPicPr>
        <p:blipFill>
          <a:blip r:embed="rId5"/>
          <a:stretch>
            <a:fillRect/>
          </a:stretch>
        </p:blipFill>
        <p:spPr>
          <a:xfrm>
            <a:off x="4676546" y="4727448"/>
            <a:ext cx="237744" cy="237744"/>
          </a:xfrm>
          <a:prstGeom prst="rect">
            <a:avLst/>
          </a:prstGeom>
        </p:spPr>
      </p:pic>
      <p:sp>
        <p:nvSpPr>
          <p:cNvPr id="31" name="Text 23"/>
          <p:cNvSpPr txBox="1"/>
          <p:nvPr/>
        </p:nvSpPr>
        <p:spPr>
          <a:xfrm>
            <a:off x="5206898" y="4617720"/>
            <a:ext cx="2417978" cy="457200"/>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5 · Kế hoạch 30 ngày</a:t>
            </a:r>
            <a:endParaRPr lang="en-US" sz="1650" dirty="0"/>
          </a:p>
        </p:txBody>
      </p:sp>
      <p:sp>
        <p:nvSpPr>
          <p:cNvPr id="32" name="Text 24"/>
          <p:cNvSpPr txBox="1"/>
          <p:nvPr/>
        </p:nvSpPr>
        <p:spPr>
          <a:xfrm>
            <a:off x="4566818" y="5239512"/>
            <a:ext cx="3058058" cy="868680"/>
          </a:xfrm>
          <a:prstGeom prst="rect">
            <a:avLst/>
          </a:prstGeom>
          <a:noFill/>
          <a:ln/>
        </p:spPr>
        <p:txBody>
          <a:bodyPr wrap="square" lIns="0" tIns="0" rIns="0" bIns="0" rtlCol="0" anchor="t">
            <a:normAutofit/>
          </a:bodyPr>
          <a:lstStyle/>
          <a:p>
            <a:pPr indent="0" marL="0">
              <a:buNone/>
            </a:pPr>
            <a:r>
              <a:rPr lang="en-US" sz="1400" dirty="0">
                <a:solidFill>
                  <a:srgbClr val="1B2A38"/>
                </a:solidFill>
                <a:latin typeface="Calibri" pitchFamily="34" charset="0"/>
                <a:ea typeface="Calibri" pitchFamily="34" charset="-122"/>
                <a:cs typeface="Calibri" pitchFamily="34" charset="-120"/>
              </a:rPr>
              <a:t>60 giây — 2 AI Champion, 4 mốc, 1 việc cần CEO quyết. Kết thúc bằng hành động.</a:t>
            </a:r>
            <a:endParaRPr lang="en-US" sz="1400" dirty="0"/>
          </a:p>
        </p:txBody>
      </p:sp>
      <p:sp>
        <p:nvSpPr>
          <p:cNvPr id="33" name="Shape 25"/>
          <p:cNvSpPr/>
          <p:nvPr/>
        </p:nvSpPr>
        <p:spPr>
          <a:xfrm>
            <a:off x="8127797" y="4389120"/>
            <a:ext cx="3515258" cy="1874520"/>
          </a:xfrm>
          <a:prstGeom prst="roundRect">
            <a:avLst>
              <a:gd name="adj" fmla="val 4878"/>
            </a:avLst>
          </a:prstGeom>
          <a:solidFill>
            <a:srgbClr val="F8E1DE"/>
          </a:solidFill>
          <a:ln w="12700">
            <a:solidFill>
              <a:srgbClr val="F8E1DE"/>
            </a:solidFill>
            <a:prstDash val="solid"/>
          </a:ln>
        </p:spPr>
      </p:sp>
      <p:sp>
        <p:nvSpPr>
          <p:cNvPr id="34" name="Shape 26"/>
          <p:cNvSpPr/>
          <p:nvPr/>
        </p:nvSpPr>
        <p:spPr>
          <a:xfrm>
            <a:off x="8356397" y="4617720"/>
            <a:ext cx="457200" cy="457200"/>
          </a:xfrm>
          <a:prstGeom prst="roundRect">
            <a:avLst>
              <a:gd name="adj" fmla="val 22000"/>
            </a:avLst>
          </a:prstGeom>
          <a:solidFill>
            <a:srgbClr val="C0392B"/>
          </a:solidFill>
          <a:ln w="12700">
            <a:solidFill>
              <a:srgbClr val="C0392B"/>
            </a:solidFill>
            <a:prstDash val="solid"/>
          </a:ln>
        </p:spPr>
      </p:sp>
      <p:pic>
        <p:nvPicPr>
          <p:cNvPr id="35" name="Image 5" descr="preencoded.png">    </p:cNvPr>
          <p:cNvPicPr>
            <a:picLocks noChangeAspect="1"/>
          </p:cNvPicPr>
          <p:nvPr/>
        </p:nvPicPr>
        <p:blipFill>
          <a:blip r:embed="rId6"/>
          <a:stretch>
            <a:fillRect/>
          </a:stretch>
        </p:blipFill>
        <p:spPr>
          <a:xfrm>
            <a:off x="8466125" y="4727448"/>
            <a:ext cx="237744" cy="237744"/>
          </a:xfrm>
          <a:prstGeom prst="rect">
            <a:avLst/>
          </a:prstGeom>
        </p:spPr>
      </p:pic>
      <p:sp>
        <p:nvSpPr>
          <p:cNvPr id="36" name="Text 27"/>
          <p:cNvSpPr txBox="1"/>
          <p:nvPr/>
        </p:nvSpPr>
        <p:spPr>
          <a:xfrm>
            <a:off x="8996477" y="4617720"/>
            <a:ext cx="2417978" cy="457200"/>
          </a:xfrm>
          <a:prstGeom prst="rect">
            <a:avLst/>
          </a:prstGeom>
          <a:noFill/>
          <a:ln/>
        </p:spPr>
        <p:txBody>
          <a:bodyPr wrap="square" lIns="0" tIns="0" rIns="0" bIns="0" rtlCol="0" anchor="ctr">
            <a:normAutofit/>
          </a:bodyPr>
          <a:lstStyle/>
          <a:p>
            <a:pPr indent="0" marL="0">
              <a:buNone/>
            </a:pPr>
            <a:r>
              <a:rPr lang="en-US" sz="1650" b="1" dirty="0">
                <a:solidFill>
                  <a:srgbClr val="1B2A38"/>
                </a:solidFill>
                <a:latin typeface="Calibri" pitchFamily="34" charset="0"/>
                <a:ea typeface="Calibri" pitchFamily="34" charset="-122"/>
                <a:cs typeface="Calibri" pitchFamily="34" charset="-120"/>
              </a:rPr>
              <a:t>Không buộc tội cá nhân</a:t>
            </a:r>
            <a:endParaRPr lang="en-US" sz="1650" dirty="0"/>
          </a:p>
        </p:txBody>
      </p:sp>
      <p:sp>
        <p:nvSpPr>
          <p:cNvPr id="37" name="Text 28"/>
          <p:cNvSpPr txBox="1"/>
          <p:nvPr/>
        </p:nvSpPr>
        <p:spPr>
          <a:xfrm>
            <a:off x="8356397" y="5239512"/>
            <a:ext cx="3058058" cy="868680"/>
          </a:xfrm>
          <a:prstGeom prst="rect">
            <a:avLst/>
          </a:prstGeom>
          <a:noFill/>
          <a:ln/>
        </p:spPr>
        <p:txBody>
          <a:bodyPr wrap="square" lIns="0" tIns="0" rIns="0" bIns="0" rtlCol="0" anchor="t">
            <a:normAutofit/>
          </a:bodyPr>
          <a:lstStyle/>
          <a:p>
            <a:pPr indent="0" marL="0">
              <a:buNone/>
            </a:pPr>
            <a:r>
              <a:rPr lang="en-US" sz="1400" dirty="0">
                <a:solidFill>
                  <a:srgbClr val="1B2A38"/>
                </a:solidFill>
                <a:latin typeface="Calibri" pitchFamily="34" charset="0"/>
                <a:ea typeface="Calibri" pitchFamily="34" charset="-122"/>
                <a:cs typeface="Calibri" pitchFamily="34" charset="-120"/>
              </a:rPr>
              <a:t>Không đưa tên kèm “gian lận”, “chấm công hộ”. NV0114 là “cần xác minh”. Đánh dấu mọi số ước tính.</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982980" cy="292608"/>
          </a:xfrm>
          <a:prstGeom prst="roundRect">
            <a:avLst>
              <a:gd name="adj" fmla="val 50000"/>
            </a:avLst>
          </a:prstGeom>
          <a:solidFill>
            <a:srgbClr val="ECE6F5"/>
          </a:solidFill>
          <a:ln w="12700">
            <a:solidFill>
              <a:srgbClr val="ECE6F5"/>
            </a:solidFill>
            <a:prstDash val="solid"/>
          </a:ln>
        </p:spPr>
      </p:sp>
      <p:sp>
        <p:nvSpPr>
          <p:cNvPr id="3" name="Text 1"/>
          <p:cNvSpPr txBox="1"/>
          <p:nvPr/>
        </p:nvSpPr>
        <p:spPr>
          <a:xfrm>
            <a:off x="548640" y="384048"/>
            <a:ext cx="982980" cy="292608"/>
          </a:xfrm>
          <a:prstGeom prst="rect">
            <a:avLst/>
          </a:prstGeom>
          <a:noFill/>
          <a:ln/>
        </p:spPr>
        <p:txBody>
          <a:bodyPr wrap="square" lIns="0" tIns="0" rIns="0" bIns="0" rtlCol="0" anchor="ctr"/>
          <a:lstStyle/>
          <a:p>
            <a:pPr algn="ctr" indent="0" marL="0">
              <a:buNone/>
            </a:pPr>
            <a:r>
              <a:rPr lang="en-US" sz="1050" b="1" spc="150" kern="0" dirty="0">
                <a:solidFill>
                  <a:srgbClr val="6E4E9E"/>
                </a:solidFill>
                <a:latin typeface="Calibri" pitchFamily="34" charset="0"/>
                <a:ea typeface="Calibri" pitchFamily="34" charset="-122"/>
                <a:cs typeface="Calibri" pitchFamily="34" charset="-120"/>
              </a:rPr>
              <a:t>TRÌNH BÀY</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Bảng Trước / Sau (D.3) &amp; cách chấm điểm khóa</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498080" cy="914400"/>
        </p:xfrm>
        <a:graphic>
          <a:graphicData uri="http://schemas.openxmlformats.org/drawingml/2006/table">
            <a:tbl>
              <a:tblPr/>
              <a:tblGrid>
                <a:gridCol w="2011680"/>
                <a:gridCol w="1463040"/>
                <a:gridCol w="2377440"/>
                <a:gridCol w="1645920"/>
              </a:tblGrid>
              <a:tr h="45720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Chỉ số</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Trước</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Sau (chạy thử)</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Chênh lệch</a:t>
                      </a:r>
                      <a:endParaRPr lang="en-US" sz="135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B2A38"/>
                    </a:solidFill>
                  </a:tcPr>
                </a:tc>
              </a:tr>
              <a:tr h="45720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Giờ/tuần tổng hợp sản lượng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~6 giờ (khảo sát)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~40 phút (5 × 8’, nhật ký)</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b="1" dirty="0">
                          <a:solidFill>
                            <a:srgbClr val="2E8B57"/>
                          </a:solidFill>
                          <a:latin typeface="Calibri" pitchFamily="34" charset="0"/>
                          <a:ea typeface="Calibri" pitchFamily="34" charset="-122"/>
                          <a:cs typeface="Calibri" pitchFamily="34" charset="-120"/>
                        </a:rPr>
                        <a:t>−89%</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5720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Ngày công chốt công tháng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3 ngày</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~1 ngày (ước tính: Skill + xử lý 11 ca B–C)</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b="1" dirty="0">
                          <a:solidFill>
                            <a:srgbClr val="2E8B57"/>
                          </a:solidFill>
                          <a:latin typeface="Calibri" pitchFamily="34" charset="0"/>
                          <a:ea typeface="Calibri" pitchFamily="34" charset="-122"/>
                          <a:cs typeface="Calibri" pitchFamily="34" charset="-120"/>
                        </a:rPr>
                        <a:t>−67% (cần xác nhận)</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Lỗi / cờ phát hiện</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Không đo</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63 trùng, 22 UTC, 592 mã sai…; 40 cờ công, 11 cần hành động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5720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Tranh chấp về công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Đếm nhóm chat tháng 8</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Đếm cùng nguồn tháng 9</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Mục tiêu −50%</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Giờ công lãng phí</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Không đo</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21,8 giờ/14 ngày (6,4 đã rõ + 15,4 chờ xác minh)</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 2,1 triệu đ/tháng (giả định)</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57200">
                <a:tc>
                  <a:txBody>
                    <a:bodyPr/>
                    <a:lstStyle/>
                    <a:p>
                      <a:pPr indent="0" marL="0">
                        <a:buNone/>
                      </a:pPr>
                      <a:r>
                        <a:rPr lang="en-US" sz="1300" b="1" dirty="0">
                          <a:solidFill>
                            <a:srgbClr val="1B2A38"/>
                          </a:solidFill>
                          <a:latin typeface="Calibri" pitchFamily="34" charset="0"/>
                          <a:ea typeface="Calibri" pitchFamily="34" charset="-122"/>
                          <a:cs typeface="Calibri" pitchFamily="34" charset="-120"/>
                        </a:rPr>
                        <a:t>Cuộc thành công / giờ công</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1,31 (TB 10–16/09)</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1,24 (17/09)</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00" dirty="0">
                          <a:solidFill>
                            <a:srgbClr val="1B2A38"/>
                          </a:solidFill>
                          <a:latin typeface="Calibri" pitchFamily="34" charset="0"/>
                          <a:ea typeface="Calibri" pitchFamily="34" charset="-122"/>
                          <a:cs typeface="Calibri" pitchFamily="34" charset="-120"/>
                        </a:rPr>
                        <a:t>Theo dõi tuần 4</a:t>
                      </a:r>
                      <a:endParaRPr lang="en-US" sz="1300" dirty="0">
                        <a:latin typeface="Calibri" charset="0"/>
                        <a:ea typeface="Calibri" charset="0"/>
                        <a:cs typeface="Calibri" charset="0"/>
                      </a:endParaRPr>
                    </a:p>
                  </a:txBody>
                  <a:tcPr marL="101600" marR="101600" marT="50800" marB="508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696712"/>
            <a:ext cx="7498080" cy="566928"/>
          </a:xfrm>
          <a:prstGeom prst="roundRect">
            <a:avLst>
              <a:gd name="adj" fmla="val 12903"/>
            </a:avLst>
          </a:prstGeom>
          <a:solidFill>
            <a:srgbClr val="FBE7DA"/>
          </a:solidFill>
          <a:ln w="12700">
            <a:solidFill>
              <a:srgbClr val="FBE7DA"/>
            </a:solidFill>
            <a:prstDash val="solid"/>
          </a:ln>
        </p:spPr>
      </p:sp>
      <p:sp>
        <p:nvSpPr>
          <p:cNvPr id="9" name="Text 5"/>
          <p:cNvSpPr txBox="1"/>
          <p:nvPr/>
        </p:nvSpPr>
        <p:spPr>
          <a:xfrm>
            <a:off x="731520" y="5696712"/>
            <a:ext cx="7132320" cy="566928"/>
          </a:xfrm>
          <a:prstGeom prst="rect">
            <a:avLst/>
          </a:prstGeom>
          <a:noFill/>
          <a:ln/>
        </p:spPr>
        <p:txBody>
          <a:bodyPr wrap="square" lIns="0" tIns="0" rIns="0" bIns="0" rtlCol="0" anchor="ctr"/>
          <a:lstStyle/>
          <a:p>
            <a:pPr indent="0" marL="0">
              <a:buNone/>
            </a:pPr>
            <a:r>
              <a:rPr lang="en-US" sz="1250" dirty="0">
                <a:solidFill>
                  <a:srgbClr val="1B2A38"/>
                </a:solidFill>
                <a:latin typeface="Calibri" pitchFamily="34" charset="0"/>
                <a:ea typeface="Calibri" pitchFamily="34" charset="-122"/>
                <a:cs typeface="Calibri" pitchFamily="34" charset="-120"/>
              </a:rPr>
              <a:t>Ô ước tính / giả định phải đánh dấu và thay bằng số thật. Chưa đủ 30 ngày → ghi “Sau 1 tuần (chạy thử)”.</a:t>
            </a:r>
            <a:endParaRPr lang="en-US" sz="1250" dirty="0"/>
          </a:p>
        </p:txBody>
      </p:sp>
      <p:sp>
        <p:nvSpPr>
          <p:cNvPr id="10" name="Shape 6"/>
          <p:cNvSpPr/>
          <p:nvPr/>
        </p:nvSpPr>
        <p:spPr>
          <a:xfrm>
            <a:off x="8366760" y="1691640"/>
            <a:ext cx="3276295" cy="4572000"/>
          </a:xfrm>
          <a:prstGeom prst="roundRect">
            <a:avLst>
              <a:gd name="adj" fmla="val 2791"/>
            </a:avLst>
          </a:prstGeom>
          <a:solidFill>
            <a:srgbClr val="ECE6F5"/>
          </a:solidFill>
          <a:ln w="12700">
            <a:solidFill>
              <a:srgbClr val="ECE6F5"/>
            </a:solidFill>
            <a:prstDash val="solid"/>
          </a:ln>
        </p:spPr>
      </p:sp>
      <p:sp>
        <p:nvSpPr>
          <p:cNvPr id="11" name="Shape 7"/>
          <p:cNvSpPr/>
          <p:nvPr/>
        </p:nvSpPr>
        <p:spPr>
          <a:xfrm>
            <a:off x="8567928" y="1874520"/>
            <a:ext cx="457200" cy="457200"/>
          </a:xfrm>
          <a:prstGeom prst="roundRect">
            <a:avLst>
              <a:gd name="adj" fmla="val 22000"/>
            </a:avLst>
          </a:prstGeom>
          <a:solidFill>
            <a:srgbClr val="6E4E9E"/>
          </a:solidFill>
          <a:ln w="12700">
            <a:solidFill>
              <a:srgbClr val="6E4E9E"/>
            </a:solidFill>
            <a:prstDash val="solid"/>
          </a:ln>
        </p:spPr>
      </p:sp>
      <p:pic>
        <p:nvPicPr>
          <p:cNvPr id="12" name="Image 0" descr="preencoded.png">    </p:cNvPr>
          <p:cNvPicPr>
            <a:picLocks noChangeAspect="1"/>
          </p:cNvPicPr>
          <p:nvPr/>
        </p:nvPicPr>
        <p:blipFill>
          <a:blip r:embed="rId1"/>
          <a:stretch>
            <a:fillRect/>
          </a:stretch>
        </p:blipFill>
        <p:spPr>
          <a:xfrm>
            <a:off x="8677656" y="1984248"/>
            <a:ext cx="237744" cy="237744"/>
          </a:xfrm>
          <a:prstGeom prst="rect">
            <a:avLst/>
          </a:prstGeom>
        </p:spPr>
      </p:pic>
      <p:sp>
        <p:nvSpPr>
          <p:cNvPr id="13" name="Text 8"/>
          <p:cNvSpPr txBox="1"/>
          <p:nvPr/>
        </p:nvSpPr>
        <p:spPr>
          <a:xfrm>
            <a:off x="9144000" y="1874520"/>
            <a:ext cx="2361895" cy="457200"/>
          </a:xfrm>
          <a:prstGeom prst="rect">
            <a:avLst/>
          </a:prstGeom>
          <a:noFill/>
          <a:ln/>
        </p:spPr>
        <p:txBody>
          <a:bodyPr wrap="square" lIns="0" tIns="0" rIns="0" bIns="0" rtlCol="0" anchor="ctr"/>
          <a:lstStyle/>
          <a:p>
            <a:pPr indent="0" marL="0">
              <a:buNone/>
            </a:pPr>
            <a:r>
              <a:rPr lang="en-US" sz="1600" b="1" dirty="0">
                <a:solidFill>
                  <a:srgbClr val="1B2A38"/>
                </a:solidFill>
                <a:latin typeface="Cambria" pitchFamily="34" charset="0"/>
                <a:ea typeface="Cambria" pitchFamily="34" charset="-122"/>
                <a:cs typeface="Cambria" pitchFamily="34" charset="-120"/>
              </a:rPr>
              <a:t>Đánh giá khóa (D.1)</a:t>
            </a:r>
            <a:endParaRPr lang="en-US" sz="1600" dirty="0"/>
          </a:p>
        </p:txBody>
      </p:sp>
      <p:sp>
        <p:nvSpPr>
          <p:cNvPr id="14" name="Text 9"/>
          <p:cNvSpPr txBox="1"/>
          <p:nvPr/>
        </p:nvSpPr>
        <p:spPr>
          <a:xfrm>
            <a:off x="8567928" y="2514600"/>
            <a:ext cx="1005840" cy="566928"/>
          </a:xfrm>
          <a:prstGeom prst="rect">
            <a:avLst/>
          </a:prstGeom>
          <a:noFill/>
          <a:ln/>
        </p:spPr>
        <p:txBody>
          <a:bodyPr wrap="square" lIns="0" tIns="0" rIns="0" bIns="0" rtlCol="0" anchor="ctr"/>
          <a:lstStyle/>
          <a:p>
            <a:pPr indent="0" marL="0">
              <a:buNone/>
            </a:pPr>
            <a:r>
              <a:rPr lang="en-US" sz="2600" b="1" dirty="0">
                <a:solidFill>
                  <a:srgbClr val="6E4E9E"/>
                </a:solidFill>
                <a:latin typeface="Cambria" pitchFamily="34" charset="0"/>
                <a:ea typeface="Cambria" pitchFamily="34" charset="-122"/>
                <a:cs typeface="Cambria" pitchFamily="34" charset="-120"/>
              </a:rPr>
              <a:t>40%</a:t>
            </a:r>
            <a:endParaRPr lang="en-US" sz="2600" dirty="0"/>
          </a:p>
        </p:txBody>
      </p:sp>
      <p:sp>
        <p:nvSpPr>
          <p:cNvPr id="15" name="Text 10"/>
          <p:cNvSpPr txBox="1"/>
          <p:nvPr/>
        </p:nvSpPr>
        <p:spPr>
          <a:xfrm>
            <a:off x="9601200" y="2514600"/>
            <a:ext cx="1858975" cy="566928"/>
          </a:xfrm>
          <a:prstGeom prst="rect">
            <a:avLst/>
          </a:prstGeom>
          <a:noFill/>
          <a:ln/>
        </p:spPr>
        <p:txBody>
          <a:bodyPr wrap="square" lIns="0" tIns="0" rIns="0" bIns="0" rtlCol="0" anchor="ctr"/>
          <a:lstStyle/>
          <a:p>
            <a:pPr indent="0" marL="0">
              <a:buNone/>
            </a:pPr>
            <a:r>
              <a:rPr lang="en-US" sz="1300" b="1" dirty="0">
                <a:solidFill>
                  <a:srgbClr val="1B2A38"/>
                </a:solidFill>
                <a:latin typeface="Calibri" pitchFamily="34" charset="0"/>
                <a:ea typeface="Calibri" pitchFamily="34" charset="-122"/>
                <a:cs typeface="Calibri" pitchFamily="34" charset="-120"/>
              </a:rPr>
              <a:t>Hoàn thành 5 bài thực hành tại nhà</a:t>
            </a:r>
            <a:endParaRPr lang="en-US" sz="1300" dirty="0"/>
          </a:p>
        </p:txBody>
      </p:sp>
      <p:sp>
        <p:nvSpPr>
          <p:cNvPr id="16" name="Text 11"/>
          <p:cNvSpPr txBox="1"/>
          <p:nvPr/>
        </p:nvSpPr>
        <p:spPr>
          <a:xfrm>
            <a:off x="8567928" y="3172968"/>
            <a:ext cx="1005840" cy="566928"/>
          </a:xfrm>
          <a:prstGeom prst="rect">
            <a:avLst/>
          </a:prstGeom>
          <a:noFill/>
          <a:ln/>
        </p:spPr>
        <p:txBody>
          <a:bodyPr wrap="square" lIns="0" tIns="0" rIns="0" bIns="0" rtlCol="0" anchor="ctr"/>
          <a:lstStyle/>
          <a:p>
            <a:pPr indent="0" marL="0">
              <a:buNone/>
            </a:pPr>
            <a:r>
              <a:rPr lang="en-US" sz="2600" b="1" dirty="0">
                <a:solidFill>
                  <a:srgbClr val="6E4E9E"/>
                </a:solidFill>
                <a:latin typeface="Cambria" pitchFamily="34" charset="0"/>
                <a:ea typeface="Cambria" pitchFamily="34" charset="-122"/>
                <a:cs typeface="Cambria" pitchFamily="34" charset="-120"/>
              </a:rPr>
              <a:t>30%</a:t>
            </a:r>
            <a:endParaRPr lang="en-US" sz="2600" dirty="0"/>
          </a:p>
        </p:txBody>
      </p:sp>
      <p:sp>
        <p:nvSpPr>
          <p:cNvPr id="17" name="Text 12"/>
          <p:cNvSpPr txBox="1"/>
          <p:nvPr/>
        </p:nvSpPr>
        <p:spPr>
          <a:xfrm>
            <a:off x="9601200" y="3172968"/>
            <a:ext cx="1858975" cy="566928"/>
          </a:xfrm>
          <a:prstGeom prst="rect">
            <a:avLst/>
          </a:prstGeom>
          <a:noFill/>
          <a:ln/>
        </p:spPr>
        <p:txBody>
          <a:bodyPr wrap="square" lIns="0" tIns="0" rIns="0" bIns="0" rtlCol="0" anchor="ctr"/>
          <a:lstStyle/>
          <a:p>
            <a:pPr indent="0" marL="0">
              <a:buNone/>
            </a:pPr>
            <a:r>
              <a:rPr lang="en-US" sz="1300" b="1" dirty="0">
                <a:solidFill>
                  <a:srgbClr val="1B2A38"/>
                </a:solidFill>
                <a:latin typeface="Calibri" pitchFamily="34" charset="0"/>
                <a:ea typeface="Calibri" pitchFamily="34" charset="-122"/>
                <a:cs typeface="Calibri" pitchFamily="34" charset="-120"/>
              </a:rPr>
              <a:t>Sản phẩm trên lớp được áp dụng thật</a:t>
            </a:r>
            <a:endParaRPr lang="en-US" sz="1300" dirty="0"/>
          </a:p>
        </p:txBody>
      </p:sp>
      <p:sp>
        <p:nvSpPr>
          <p:cNvPr id="18" name="Text 13"/>
          <p:cNvSpPr txBox="1"/>
          <p:nvPr/>
        </p:nvSpPr>
        <p:spPr>
          <a:xfrm>
            <a:off x="8567928" y="3831336"/>
            <a:ext cx="1005840" cy="566928"/>
          </a:xfrm>
          <a:prstGeom prst="rect">
            <a:avLst/>
          </a:prstGeom>
          <a:noFill/>
          <a:ln/>
        </p:spPr>
        <p:txBody>
          <a:bodyPr wrap="square" lIns="0" tIns="0" rIns="0" bIns="0" rtlCol="0" anchor="ctr"/>
          <a:lstStyle/>
          <a:p>
            <a:pPr indent="0" marL="0">
              <a:buNone/>
            </a:pPr>
            <a:r>
              <a:rPr lang="en-US" sz="2600" b="1" dirty="0">
                <a:solidFill>
                  <a:srgbClr val="6E4E9E"/>
                </a:solidFill>
                <a:latin typeface="Cambria" pitchFamily="34" charset="0"/>
                <a:ea typeface="Cambria" pitchFamily="34" charset="-122"/>
                <a:cs typeface="Cambria" pitchFamily="34" charset="-120"/>
              </a:rPr>
              <a:t>30%</a:t>
            </a:r>
            <a:endParaRPr lang="en-US" sz="2600" dirty="0"/>
          </a:p>
        </p:txBody>
      </p:sp>
      <p:sp>
        <p:nvSpPr>
          <p:cNvPr id="19" name="Text 14"/>
          <p:cNvSpPr txBox="1"/>
          <p:nvPr/>
        </p:nvSpPr>
        <p:spPr>
          <a:xfrm>
            <a:off x="9601200" y="3831336"/>
            <a:ext cx="1858975" cy="566928"/>
          </a:xfrm>
          <a:prstGeom prst="rect">
            <a:avLst/>
          </a:prstGeom>
          <a:noFill/>
          <a:ln/>
        </p:spPr>
        <p:txBody>
          <a:bodyPr wrap="square" lIns="0" tIns="0" rIns="0" bIns="0" rtlCol="0" anchor="ctr"/>
          <a:lstStyle/>
          <a:p>
            <a:pPr indent="0" marL="0">
              <a:buNone/>
            </a:pPr>
            <a:r>
              <a:rPr lang="en-US" sz="1300" b="1" dirty="0">
                <a:solidFill>
                  <a:srgbClr val="1B2A38"/>
                </a:solidFill>
                <a:latin typeface="Calibri" pitchFamily="34" charset="0"/>
                <a:ea typeface="Calibri" pitchFamily="34" charset="-122"/>
                <a:cs typeface="Calibri" pitchFamily="34" charset="-120"/>
              </a:rPr>
              <a:t>Trình bày cuối khóa Trước / Sau</a:t>
            </a:r>
            <a:endParaRPr lang="en-US" sz="1300" dirty="0"/>
          </a:p>
        </p:txBody>
      </p:sp>
      <p:sp>
        <p:nvSpPr>
          <p:cNvPr id="20" name="Shape 15"/>
          <p:cNvSpPr/>
          <p:nvPr/>
        </p:nvSpPr>
        <p:spPr>
          <a:xfrm>
            <a:off x="8567928" y="4581144"/>
            <a:ext cx="2873959" cy="0"/>
          </a:xfrm>
          <a:prstGeom prst="line">
            <a:avLst/>
          </a:prstGeom>
          <a:noFill/>
          <a:ln w="12700">
            <a:solidFill>
              <a:srgbClr val="C9BEDD"/>
            </a:solidFill>
            <a:prstDash val="solid"/>
          </a:ln>
        </p:spPr>
      </p:sp>
      <p:sp>
        <p:nvSpPr>
          <p:cNvPr id="21" name="Text 16"/>
          <p:cNvSpPr txBox="1"/>
          <p:nvPr/>
        </p:nvSpPr>
        <p:spPr>
          <a:xfrm>
            <a:off x="8567928" y="4672584"/>
            <a:ext cx="2873959" cy="292608"/>
          </a:xfrm>
          <a:prstGeom prst="rect">
            <a:avLst/>
          </a:prstGeom>
          <a:noFill/>
          <a:ln/>
        </p:spPr>
        <p:txBody>
          <a:bodyPr wrap="square" lIns="0" tIns="0" rIns="0" bIns="0" rtlCol="0" anchor="t"/>
          <a:lstStyle/>
          <a:p>
            <a:pPr indent="0" marL="0">
              <a:buNone/>
            </a:pPr>
            <a:r>
              <a:rPr lang="en-US" sz="1250" b="1" dirty="0">
                <a:solidFill>
                  <a:srgbClr val="6E4E9E"/>
                </a:solidFill>
                <a:latin typeface="Calibri" pitchFamily="34" charset="0"/>
                <a:ea typeface="Calibri" pitchFamily="34" charset="-122"/>
                <a:cs typeface="Calibri" pitchFamily="34" charset="-120"/>
              </a:rPr>
              <a:t>Chấm phần trình bày (30 điểm)</a:t>
            </a:r>
            <a:endParaRPr lang="en-US" sz="1250" dirty="0"/>
          </a:p>
        </p:txBody>
      </p:sp>
      <p:sp>
        <p:nvSpPr>
          <p:cNvPr id="22" name="Text 17"/>
          <p:cNvSpPr txBox="1"/>
          <p:nvPr/>
        </p:nvSpPr>
        <p:spPr>
          <a:xfrm>
            <a:off x="8567928" y="4992624"/>
            <a:ext cx="2873959" cy="1179576"/>
          </a:xfrm>
          <a:prstGeom prst="rect">
            <a:avLst/>
          </a:prstGeom>
          <a:noFill/>
          <a:ln/>
        </p:spPr>
        <p:txBody>
          <a:bodyPr wrap="square" lIns="0" tIns="0" rIns="0" bIns="0" rtlCol="0" anchor="t"/>
          <a:lstStyle/>
          <a:p>
            <a:pPr marL="228600" indent="-228600">
              <a:spcAft>
                <a:spcPts val="300"/>
              </a:spcAft>
              <a:buSzPct val="100000"/>
              <a:buChar char="•"/>
            </a:pPr>
            <a:r>
              <a:rPr lang="en-US" sz="1200" b="1" dirty="0">
                <a:solidFill>
                  <a:srgbClr val="1B2A38"/>
                </a:solidFill>
                <a:latin typeface="Calibri" pitchFamily="34" charset="0"/>
                <a:ea typeface="Calibri" pitchFamily="34" charset="-122"/>
                <a:cs typeface="Calibri" pitchFamily="34" charset="-120"/>
              </a:rPr>
              <a:t>8</a:t>
            </a:r>
            <a:pPr indent="0" marL="0">
              <a:buNone/>
            </a:pPr>
            <a:r>
              <a:rPr lang="en-US" sz="1200" dirty="0">
                <a:solidFill>
                  <a:srgbClr val="1B2A38"/>
                </a:solidFill>
                <a:latin typeface="Calibri" pitchFamily="34" charset="0"/>
                <a:ea typeface="Calibri" pitchFamily="34" charset="-122"/>
                <a:cs typeface="Calibri" pitchFamily="34" charset="-120"/>
              </a:rPr>
              <a:t> · cột Trước đáng tin, có nguồn</a:t>
            </a:r>
            <a:endParaRPr lang="en-US" sz="1200" dirty="0"/>
          </a:p>
          <a:p>
            <a:pPr marL="228600" indent="-228600">
              <a:spcAft>
                <a:spcPts val="300"/>
              </a:spcAft>
              <a:buSzPct val="100000"/>
              <a:buChar char="•"/>
            </a:pPr>
            <a:r>
              <a:rPr lang="en-US" sz="1200" b="1" dirty="0">
                <a:solidFill>
                  <a:srgbClr val="1B2A38"/>
                </a:solidFill>
                <a:latin typeface="Calibri" pitchFamily="34" charset="0"/>
                <a:ea typeface="Calibri" pitchFamily="34" charset="-122"/>
                <a:cs typeface="Calibri" pitchFamily="34" charset="-120"/>
              </a:rPr>
              <a:t>8</a:t>
            </a:r>
            <a:pPr indent="0" marL="0">
              <a:buNone/>
            </a:pPr>
            <a:r>
              <a:rPr lang="en-US" sz="1200" dirty="0">
                <a:solidFill>
                  <a:srgbClr val="1B2A38"/>
                </a:solidFill>
                <a:latin typeface="Calibri" pitchFamily="34" charset="0"/>
                <a:ea typeface="Calibri" pitchFamily="34" charset="-122"/>
                <a:cs typeface="Calibri" pitchFamily="34" charset="-120"/>
              </a:rPr>
              <a:t> · số Sau từ dữ liệu thật, đối chiếu được</a:t>
            </a:r>
            <a:endParaRPr lang="en-US" sz="1200" dirty="0"/>
          </a:p>
          <a:p>
            <a:pPr marL="228600" indent="-228600">
              <a:spcAft>
                <a:spcPts val="300"/>
              </a:spcAft>
              <a:buSzPct val="100000"/>
              <a:buChar char="•"/>
            </a:pPr>
            <a:r>
              <a:rPr lang="en-US" sz="1200" b="1" dirty="0">
                <a:solidFill>
                  <a:srgbClr val="1B2A38"/>
                </a:solidFill>
                <a:latin typeface="Calibri" pitchFamily="34" charset="0"/>
                <a:ea typeface="Calibri" pitchFamily="34" charset="-122"/>
                <a:cs typeface="Calibri" pitchFamily="34" charset="-120"/>
              </a:rPr>
              <a:t>5</a:t>
            </a:r>
            <a:pPr indent="0" marL="0">
              <a:buNone/>
            </a:pPr>
            <a:r>
              <a:rPr lang="en-US" sz="1200" dirty="0">
                <a:solidFill>
                  <a:srgbClr val="1B2A38"/>
                </a:solidFill>
                <a:latin typeface="Calibri" pitchFamily="34" charset="0"/>
                <a:ea typeface="Calibri" pitchFamily="34" charset="-122"/>
                <a:cs typeface="Calibri" pitchFamily="34" charset="-120"/>
              </a:rPr>
              <a:t> · một phát hiện có giá trị kinh doanh</a:t>
            </a:r>
            <a:endParaRPr lang="en-US" sz="1200" dirty="0"/>
          </a:p>
          <a:p>
            <a:pPr marL="228600" indent="-228600">
              <a:spcAft>
                <a:spcPts val="300"/>
              </a:spcAft>
              <a:buSzPct val="100000"/>
              <a:buChar char="•"/>
            </a:pPr>
            <a:r>
              <a:rPr lang="en-US" sz="1200" b="1" dirty="0">
                <a:solidFill>
                  <a:srgbClr val="1B2A38"/>
                </a:solidFill>
                <a:latin typeface="Calibri" pitchFamily="34" charset="0"/>
                <a:ea typeface="Calibri" pitchFamily="34" charset="-122"/>
                <a:cs typeface="Calibri" pitchFamily="34" charset="-120"/>
              </a:rPr>
              <a:t>5</a:t>
            </a:r>
            <a:pPr indent="0" marL="0">
              <a:buNone/>
            </a:pPr>
            <a:r>
              <a:rPr lang="en-US" sz="1200" dirty="0">
                <a:solidFill>
                  <a:srgbClr val="1B2A38"/>
                </a:solidFill>
                <a:latin typeface="Calibri" pitchFamily="34" charset="0"/>
                <a:ea typeface="Calibri" pitchFamily="34" charset="-122"/>
                <a:cs typeface="Calibri" pitchFamily="34" charset="-120"/>
              </a:rPr>
              <a:t> · kế hoạch 30 ngày cụ thể</a:t>
            </a:r>
            <a:endParaRPr lang="en-US" sz="1200" dirty="0"/>
          </a:p>
          <a:p>
            <a:pPr marL="228600" indent="-228600">
              <a:spcAft>
                <a:spcPts val="300"/>
              </a:spcAft>
              <a:buSzPct val="100000"/>
              <a:buChar char="•"/>
            </a:pPr>
            <a:r>
              <a:rPr lang="en-US" sz="1200" b="1" dirty="0">
                <a:solidFill>
                  <a:srgbClr val="1B2A38"/>
                </a:solidFill>
                <a:latin typeface="Calibri" pitchFamily="34" charset="0"/>
                <a:ea typeface="Calibri" pitchFamily="34" charset="-122"/>
                <a:cs typeface="Calibri" pitchFamily="34" charset="-120"/>
              </a:rPr>
              <a:t>4</a:t>
            </a:r>
            <a:pPr indent="0" marL="0">
              <a:buNone/>
            </a:pPr>
            <a:r>
              <a:rPr lang="en-US" sz="1200" dirty="0">
                <a:solidFill>
                  <a:srgbClr val="1B2A38"/>
                </a:solidFill>
                <a:latin typeface="Calibri" pitchFamily="34" charset="0"/>
                <a:ea typeface="Calibri" pitchFamily="34" charset="-122"/>
                <a:cs typeface="Calibri" pitchFamily="34" charset="-120"/>
              </a:rPr>
              <a:t> · đúng 5 phút, trả lời bằng số</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77924" cy="292608"/>
          </a:xfrm>
          <a:prstGeom prst="roundRect">
            <a:avLst>
              <a:gd name="adj" fmla="val 50000"/>
            </a:avLst>
          </a:prstGeom>
          <a:solidFill>
            <a:srgbClr val="FBE7DA"/>
          </a:solidFill>
          <a:ln w="12700">
            <a:solidFill>
              <a:srgbClr val="FBE7DA"/>
            </a:solidFill>
            <a:prstDash val="solid"/>
          </a:ln>
        </p:spPr>
      </p:sp>
      <p:sp>
        <p:nvSpPr>
          <p:cNvPr id="3" name="Text 1"/>
          <p:cNvSpPr txBox="1"/>
          <p:nvPr/>
        </p:nvSpPr>
        <p:spPr>
          <a:xfrm>
            <a:off x="548640" y="384048"/>
            <a:ext cx="1677924" cy="292608"/>
          </a:xfrm>
          <a:prstGeom prst="rect">
            <a:avLst/>
          </a:prstGeom>
          <a:noFill/>
          <a:ln/>
        </p:spPr>
        <p:txBody>
          <a:bodyPr wrap="square" lIns="0" tIns="0" rIns="0" bIns="0" rtlCol="0" anchor="ctr"/>
          <a:lstStyle/>
          <a:p>
            <a:pPr algn="ctr" indent="0" marL="0">
              <a:buNone/>
            </a:pPr>
            <a:r>
              <a:rPr lang="en-US" sz="1050" b="1" spc="150" kern="0" dirty="0">
                <a:solidFill>
                  <a:srgbClr val="D9773A"/>
                </a:solidFill>
                <a:latin typeface="Calibri" pitchFamily="34" charset="0"/>
                <a:ea typeface="Calibri" pitchFamily="34" charset="-122"/>
                <a:cs typeface="Calibri" pitchFamily="34" charset="-120"/>
              </a:rPr>
              <a:t>THỰC HÀNH TẠI NHÀ</a:t>
            </a:r>
            <a:endParaRPr lang="en-US" sz="1050" dirty="0"/>
          </a:p>
        </p:txBody>
      </p:sp>
      <p:sp>
        <p:nvSpPr>
          <p:cNvPr id="4" name="Text 2"/>
          <p:cNvSpPr txBox="1"/>
          <p:nvPr/>
        </p:nvSpPr>
        <p:spPr>
          <a:xfrm>
            <a:off x="548640" y="749808"/>
            <a:ext cx="11094415" cy="731520"/>
          </a:xfrm>
          <a:prstGeom prst="rect">
            <a:avLst/>
          </a:prstGeom>
          <a:noFill/>
          <a:ln/>
        </p:spPr>
        <p:txBody>
          <a:bodyPr wrap="square" lIns="0" tIns="0" rIns="0" bIns="0" rtlCol="0" anchor="ctr">
            <a:normAutofit/>
          </a:bodyPr>
          <a:lstStyle/>
          <a:p>
            <a:pPr indent="0" marL="0">
              <a:buNone/>
            </a:pPr>
            <a:r>
              <a:rPr lang="en-US" sz="3000" b="1" dirty="0">
                <a:solidFill>
                  <a:srgbClr val="1B2A38"/>
                </a:solidFill>
                <a:latin typeface="Cambria" pitchFamily="34" charset="0"/>
                <a:ea typeface="Cambria" pitchFamily="34" charset="-122"/>
                <a:cs typeface="Cambria" pitchFamily="34" charset="-120"/>
              </a:rPr>
              <a:t>Thực hành tại nhà (1 giờ — tuần sau khóa học)</a:t>
            </a:r>
            <a:endParaRPr lang="en-US" sz="3000" dirty="0"/>
          </a:p>
        </p:txBody>
      </p:sp>
      <p:sp>
        <p:nvSpPr>
          <p:cNvPr id="5" name="Text 3"/>
          <p:cNvSpPr txBox="1"/>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Buổi 5 · Báo cáo tự động, SOP &amp; bàn giao</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223760" cy="914400"/>
        </p:xfrm>
        <a:graphic>
          <a:graphicData uri="http://schemas.openxmlformats.org/drawingml/2006/table">
            <a:tbl>
              <a:tblPr/>
              <a:tblGrid>
                <a:gridCol w="731520"/>
                <a:gridCol w="5303520"/>
                <a:gridCol w="118872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Bước</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977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Việc làm</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977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Thời gian</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D9773A"/>
                    </a:solidFill>
                  </a:tcPr>
                </a:tc>
              </a:tr>
              <a:tr h="411480">
                <a:tc>
                  <a:txBody>
                    <a:bodyPr/>
                    <a:lstStyle/>
                    <a:p>
                      <a:pPr algn="ctr" indent="0" marL="0">
                        <a:buNone/>
                      </a:pPr>
                      <a:r>
                        <a:rPr lang="en-US" sz="1500" b="1" dirty="0">
                          <a:solidFill>
                            <a:srgbClr val="1B2A38"/>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Chạy Skill “Báo cáo ngày” 5 ngày liên tiếp theo đúng SOP-VH-01, duyệt rồi gửi CEO trước 8h.</a:t>
                      </a:r>
                      <a:endParaRPr lang="en-US" sz="135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400" b="1" dirty="0">
                          <a:solidFill>
                            <a:srgbClr val="D9773A"/>
                          </a:solidFill>
                          <a:latin typeface="Calibri" pitchFamily="34" charset="0"/>
                          <a:ea typeface="Calibri" pitchFamily="34" charset="-122"/>
                          <a:cs typeface="Calibri" pitchFamily="34" charset="-120"/>
                        </a:rPr>
                        <a:t>5 × 8’</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11480">
                <a:tc>
                  <a:txBody>
                    <a:bodyPr/>
                    <a:lstStyle/>
                    <a:p>
                      <a:pPr algn="ctr" indent="0" marL="0">
                        <a:buNone/>
                      </a:pPr>
                      <a:r>
                        <a:rPr lang="en-US" sz="1500" b="1" dirty="0">
                          <a:solidFill>
                            <a:srgbClr val="1B2A38"/>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Sau mỗi lần gửi, ghi 1 dòng nhật ký: số phút, đúng ngay lần đầu?, ngoại lệ mới, phản hồi CEO.</a:t>
                      </a:r>
                      <a:endParaRPr lang="en-US" sz="135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9773A"/>
                          </a:solidFill>
                          <a:latin typeface="Calibri" pitchFamily="34" charset="0"/>
                          <a:ea typeface="Calibri" pitchFamily="34" charset="-122"/>
                          <a:cs typeface="Calibri" pitchFamily="34" charset="-120"/>
                        </a:rPr>
                        <a:t>trong 8’</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11480">
                <a:tc>
                  <a:txBody>
                    <a:bodyPr/>
                    <a:lstStyle/>
                    <a:p>
                      <a:pPr algn="ctr" indent="0" marL="0">
                        <a:buNone/>
                      </a:pPr>
                      <a:r>
                        <a:rPr lang="en-US" sz="1500" b="1" dirty="0">
                          <a:solidFill>
                            <a:srgbClr val="1B2A38"/>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Cho 1 người chưa từng làm đọc SOP và tự chạy báo cáo 1 ngày; chỉ quan sát, ghi mọi chỗ họ vướng.</a:t>
                      </a:r>
                      <a:endParaRPr lang="en-US" sz="135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c>
                  <a:txBody>
                    <a:bodyPr/>
                    <a:lstStyle/>
                    <a:p>
                      <a:pPr algn="ctr" indent="0" marL="0">
                        <a:buNone/>
                      </a:pPr>
                      <a:r>
                        <a:rPr lang="en-US" sz="1400" b="1" dirty="0">
                          <a:solidFill>
                            <a:srgbClr val="D9773A"/>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4F6"/>
                    </a:solidFill>
                  </a:tcPr>
                </a:tc>
              </a:tr>
              <a:tr h="411480">
                <a:tc>
                  <a:txBody>
                    <a:bodyPr/>
                    <a:lstStyle/>
                    <a:p>
                      <a:pPr algn="ctr" indent="0" marL="0">
                        <a:buNone/>
                      </a:pPr>
                      <a:r>
                        <a:rPr lang="en-US" sz="1500" b="1" dirty="0">
                          <a:solidFill>
                            <a:srgbClr val="1B2A38"/>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350" dirty="0">
                          <a:solidFill>
                            <a:srgbClr val="1B2A38"/>
                          </a:solidFill>
                          <a:latin typeface="Calibri" pitchFamily="34" charset="0"/>
                          <a:ea typeface="Calibri" pitchFamily="34" charset="-122"/>
                          <a:cs typeface="Calibri" pitchFamily="34" charset="-120"/>
                        </a:rPr>
                        <a:t>Sửa SOP v2 theo từng chỗ vướng, thêm mục “Lịch sử phiên bản”.</a:t>
                      </a:r>
                      <a:endParaRPr lang="en-US" sz="135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9773A"/>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76200" marB="762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
        <p:nvSpPr>
          <p:cNvPr id="8" name="Shape 4"/>
          <p:cNvSpPr/>
          <p:nvPr/>
        </p:nvSpPr>
        <p:spPr>
          <a:xfrm>
            <a:off x="8092440" y="1691640"/>
            <a:ext cx="3550615" cy="2240280"/>
          </a:xfrm>
          <a:prstGeom prst="roundRect">
            <a:avLst>
              <a:gd name="adj" fmla="val 4082"/>
            </a:avLst>
          </a:prstGeom>
          <a:solidFill>
            <a:srgbClr val="1B2A38"/>
          </a:solidFill>
          <a:ln w="12700">
            <a:solidFill>
              <a:srgbClr val="1B2A38"/>
            </a:solidFill>
            <a:prstDash val="solid"/>
          </a:ln>
        </p:spPr>
      </p:sp>
      <p:sp>
        <p:nvSpPr>
          <p:cNvPr id="9" name="Shape 5"/>
          <p:cNvSpPr/>
          <p:nvPr/>
        </p:nvSpPr>
        <p:spPr>
          <a:xfrm>
            <a:off x="8321040" y="1920240"/>
            <a:ext cx="457200" cy="457200"/>
          </a:xfrm>
          <a:prstGeom prst="roundRect">
            <a:avLst>
              <a:gd name="adj" fmla="val 22000"/>
            </a:avLst>
          </a:prstGeom>
          <a:solidFill>
            <a:srgbClr val="D9773A"/>
          </a:solidFill>
          <a:ln w="12700">
            <a:solidFill>
              <a:srgbClr val="D9773A"/>
            </a:solidFill>
            <a:prstDash val="solid"/>
          </a:ln>
        </p:spPr>
      </p:sp>
      <p:pic>
        <p:nvPicPr>
          <p:cNvPr id="10" name="Image 0" descr="preencoded.png">    </p:cNvPr>
          <p:cNvPicPr>
            <a:picLocks noChangeAspect="1"/>
          </p:cNvPicPr>
          <p:nvPr/>
        </p:nvPicPr>
        <p:blipFill>
          <a:blip r:embed="rId1"/>
          <a:stretch>
            <a:fillRect/>
          </a:stretch>
        </p:blipFill>
        <p:spPr>
          <a:xfrm>
            <a:off x="8430768" y="2029968"/>
            <a:ext cx="237744" cy="237744"/>
          </a:xfrm>
          <a:prstGeom prst="rect">
            <a:avLst/>
          </a:prstGeom>
        </p:spPr>
      </p:pic>
      <p:sp>
        <p:nvSpPr>
          <p:cNvPr id="11" name="Text 6"/>
          <p:cNvSpPr txBox="1"/>
          <p:nvPr/>
        </p:nvSpPr>
        <p:spPr>
          <a:xfrm>
            <a:off x="8915400" y="1920240"/>
            <a:ext cx="2544775"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Nộp bài</a:t>
            </a:r>
            <a:endParaRPr lang="en-US" sz="1800" dirty="0"/>
          </a:p>
        </p:txBody>
      </p:sp>
      <p:sp>
        <p:nvSpPr>
          <p:cNvPr id="12" name="Text 7"/>
          <p:cNvSpPr txBox="1"/>
          <p:nvPr/>
        </p:nvSpPr>
        <p:spPr>
          <a:xfrm>
            <a:off x="8321040" y="2514600"/>
            <a:ext cx="3093415" cy="1325880"/>
          </a:xfrm>
          <a:prstGeom prst="rect">
            <a:avLst/>
          </a:prstGeom>
          <a:noFill/>
          <a:ln/>
        </p:spPr>
        <p:txBody>
          <a:bodyPr wrap="square" lIns="0" tIns="0" rIns="0" bIns="0" rtlCol="0" anchor="t">
            <a:normAutofit/>
          </a:bodyPr>
          <a:lstStyle/>
          <a:p>
            <a:pPr indent="0" marL="0">
              <a:buNone/>
            </a:pPr>
            <a:r>
              <a:rPr lang="en-US" sz="1400" dirty="0">
                <a:solidFill>
                  <a:srgbClr val="E6ECF1"/>
                </a:solidFill>
                <a:latin typeface="Calibri" pitchFamily="34" charset="0"/>
                <a:ea typeface="Calibri" pitchFamily="34" charset="-122"/>
                <a:cs typeface="Calibri" pitchFamily="34" charset="-120"/>
              </a:rPr>
              <a:t>5 báo cáo ngày (có dòng đối chiếu tổng) + nhật ký 5 ngày + SOP v2 + phản hồi của CEO.</a:t>
            </a:r>
            <a:endParaRPr lang="en-US" sz="1400" dirty="0"/>
          </a:p>
        </p:txBody>
      </p:sp>
      <p:sp>
        <p:nvSpPr>
          <p:cNvPr id="13" name="Shape 8"/>
          <p:cNvSpPr/>
          <p:nvPr/>
        </p:nvSpPr>
        <p:spPr>
          <a:xfrm>
            <a:off x="8092440" y="4160520"/>
            <a:ext cx="3550615" cy="2103120"/>
          </a:xfrm>
          <a:prstGeom prst="roundRect">
            <a:avLst>
              <a:gd name="adj" fmla="val 4348"/>
            </a:avLst>
          </a:prstGeom>
          <a:solidFill>
            <a:srgbClr val="FBE7DA"/>
          </a:solidFill>
          <a:ln w="12700">
            <a:solidFill>
              <a:srgbClr val="FBE7DA"/>
            </a:solidFill>
            <a:prstDash val="solid"/>
          </a:ln>
        </p:spPr>
      </p:sp>
      <p:sp>
        <p:nvSpPr>
          <p:cNvPr id="14" name="Text 9"/>
          <p:cNvSpPr txBox="1"/>
          <p:nvPr/>
        </p:nvSpPr>
        <p:spPr>
          <a:xfrm>
            <a:off x="8321040" y="4343400"/>
            <a:ext cx="3093415" cy="173736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Chưa có dữ liệu thật?</a:t>
            </a:r>
            <a:pPr indent="0" marL="0">
              <a:buNone/>
            </a:pPr>
            <a:r>
              <a:rPr lang="en-US" sz="1300" dirty="0">
                <a:solidFill>
                  <a:srgbClr val="1B2A38"/>
                </a:solidFill>
                <a:latin typeface="Calibri" pitchFamily="34" charset="0"/>
                <a:ea typeface="Calibri" pitchFamily="34" charset="-122"/>
                <a:cs typeface="Calibri" pitchFamily="34" charset="-120"/>
              </a:rPr>
              <a:t> Chạy bộ mẫu ngày 14–18/09; “CEO” là đồng nghiệp hoặc Claude đóng vai anh Phong.</a:t>
            </a:r>
            <a:endParaRPr lang="en-US" sz="1300" dirty="0"/>
          </a:p>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Tự kiểm:</a:t>
            </a:r>
            <a:pPr indent="0" marL="0">
              <a:buNone/>
            </a:pPr>
            <a:r>
              <a:rPr lang="en-US" sz="1300" dirty="0">
                <a:solidFill>
                  <a:srgbClr val="1B2A38"/>
                </a:solidFill>
                <a:latin typeface="Calibri" pitchFamily="34" charset="0"/>
                <a:ea typeface="Calibri" pitchFamily="34" charset="-122"/>
                <a:cs typeface="Calibri" pitchFamily="34" charset="-120"/>
              </a:rPr>
              <a:t> 14/09 CS-VT phải 🔴 (nghe máy 88,9% &lt; 90%).</a:t>
            </a:r>
            <a:endParaRPr lang="en-US" sz="1300" dirty="0"/>
          </a:p>
          <a:p>
            <a:pPr marL="228600" indent="-228600">
              <a:spcAft>
                <a:spcPts val="600"/>
              </a:spcAft>
              <a:buSzPct val="100000"/>
              <a:buChar char="•"/>
            </a:pPr>
            <a:r>
              <a:rPr lang="en-US" sz="1300" b="1" dirty="0">
                <a:solidFill>
                  <a:srgbClr val="1B2A38"/>
                </a:solidFill>
                <a:latin typeface="Calibri" pitchFamily="34" charset="0"/>
                <a:ea typeface="Calibri" pitchFamily="34" charset="-122"/>
                <a:cs typeface="Calibri" pitchFamily="34" charset="-120"/>
              </a:rPr>
              <a:t>Rubric 100 điểm:</a:t>
            </a:r>
            <a:pPr indent="0" marL="0">
              <a:buNone/>
            </a:pPr>
            <a:r>
              <a:rPr lang="en-US" sz="1300" dirty="0">
                <a:solidFill>
                  <a:srgbClr val="1B2A38"/>
                </a:solidFill>
                <a:latin typeface="Calibri" pitchFamily="34" charset="0"/>
                <a:ea typeface="Calibri" pitchFamily="34" charset="-122"/>
                <a:cs typeface="Calibri" pitchFamily="34" charset="-120"/>
              </a:rPr>
              <a:t> ebook → Buổi 5 → Thực hành tại nhà.</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A38"/>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Tổng kết toàn khóa: 5 buổi → 5 bộ sản phẩm</a:t>
            </a:r>
            <a:endParaRPr lang="en-US" sz="3000" dirty="0"/>
          </a:p>
        </p:txBody>
      </p:sp>
      <p:sp>
        <p:nvSpPr>
          <p:cNvPr id="4" name="Text 1"/>
          <p:cNvSpPr txBox="1"/>
          <p:nvPr/>
        </p:nvSpPr>
        <p:spPr>
          <a:xfrm>
            <a:off x="548640" y="1417320"/>
            <a:ext cx="6766560" cy="411480"/>
          </a:xfrm>
          <a:prstGeom prst="rect">
            <a:avLst/>
          </a:prstGeom>
          <a:noFill/>
          <a:ln/>
        </p:spPr>
        <p:txBody>
          <a:bodyPr wrap="square" lIns="0" tIns="0" rIns="0" bIns="0" rtlCol="0" anchor="t"/>
          <a:lstStyle/>
          <a:p>
            <a:pPr indent="0" marL="0">
              <a:buNone/>
            </a:pPr>
            <a:r>
              <a:rPr lang="en-US" sz="1500" b="1" spc="100" kern="0" dirty="0">
                <a:solidFill>
                  <a:srgbClr val="D9773A"/>
                </a:solidFill>
                <a:latin typeface="Calibri" pitchFamily="34" charset="0"/>
                <a:ea typeface="Calibri" pitchFamily="34" charset="-122"/>
                <a:cs typeface="Calibri" pitchFamily="34" charset="-120"/>
              </a:rPr>
              <a:t>5 BUỔI — MỖI BUỔI MỘT SẢN PHẨM DÙNG NGAY</a:t>
            </a:r>
            <a:endParaRPr lang="en-US" sz="1500" dirty="0"/>
          </a:p>
        </p:txBody>
      </p:sp>
      <p:sp>
        <p:nvSpPr>
          <p:cNvPr id="5" name="Text 2"/>
          <p:cNvSpPr txBox="1"/>
          <p:nvPr/>
        </p:nvSpPr>
        <p:spPr>
          <a:xfrm>
            <a:off x="548640" y="1920240"/>
            <a:ext cx="6766560" cy="274320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rgbClr val="FFFFFF"/>
                </a:solidFill>
                <a:latin typeface="Calibri" pitchFamily="34" charset="0"/>
                <a:ea typeface="Calibri" pitchFamily="34" charset="-122"/>
                <a:cs typeface="Calibri" pitchFamily="34" charset="-120"/>
              </a:rPr>
              <a:t>Buổi 1 · Dữ liệu chuẩn trước:</a:t>
            </a:r>
            <a:pPr indent="0" marL="0">
              <a:buNone/>
            </a:pPr>
            <a:r>
              <a:rPr lang="en-US" sz="1500" dirty="0">
                <a:solidFill>
                  <a:srgbClr val="E6ECF1"/>
                </a:solidFill>
                <a:latin typeface="Calibri" pitchFamily="34" charset="0"/>
                <a:ea typeface="Calibri" pitchFamily="34" charset="-122"/>
                <a:cs typeface="Calibri" pitchFamily="34" charset="-120"/>
              </a:rPr>
              <a:t> Project “Vận hành &amp; Chấm công”, từ điển dữ liệu v1, bảng nối mã</a:t>
            </a:r>
            <a:endParaRPr lang="en-US" sz="1500" dirty="0"/>
          </a:p>
          <a:p>
            <a:pPr marL="228600" indent="-228600">
              <a:spcAft>
                <a:spcPts val="1000"/>
              </a:spcAft>
              <a:buSzPct val="100000"/>
              <a:buChar char="•"/>
            </a:pPr>
            <a:r>
              <a:rPr lang="en-US" sz="1500" b="1" dirty="0">
                <a:solidFill>
                  <a:srgbClr val="FFFFFF"/>
                </a:solidFill>
                <a:latin typeface="Calibri" pitchFamily="34" charset="0"/>
                <a:ea typeface="Calibri" pitchFamily="34" charset="-122"/>
                <a:cs typeface="Calibri" pitchFamily="34" charset="-120"/>
              </a:rPr>
              <a:t>Buổi 2 · Sản lượng:</a:t>
            </a:r>
            <a:pPr indent="0" marL="0">
              <a:buNone/>
            </a:pPr>
            <a:r>
              <a:rPr lang="en-US" sz="1500" dirty="0">
                <a:solidFill>
                  <a:srgbClr val="E6ECF1"/>
                </a:solidFill>
                <a:latin typeface="Calibri" pitchFamily="34" charset="0"/>
                <a:ea typeface="Calibri" pitchFamily="34" charset="-122"/>
                <a:cs typeface="Calibri" pitchFamily="34" charset="-120"/>
              </a:rPr>
              <a:t> mã kết quả 2 cấp, quy tắc làm sạch, bảng sản lượng tự động</a:t>
            </a:r>
            <a:endParaRPr lang="en-US" sz="1500" dirty="0"/>
          </a:p>
          <a:p>
            <a:pPr marL="228600" indent="-228600">
              <a:spcAft>
                <a:spcPts val="1000"/>
              </a:spcAft>
              <a:buSzPct val="100000"/>
              <a:buChar char="•"/>
            </a:pPr>
            <a:r>
              <a:rPr lang="en-US" sz="1500" b="1" dirty="0">
                <a:solidFill>
                  <a:srgbClr val="FFFFFF"/>
                </a:solidFill>
                <a:latin typeface="Calibri" pitchFamily="34" charset="0"/>
                <a:ea typeface="Calibri" pitchFamily="34" charset="-122"/>
                <a:cs typeface="Calibri" pitchFamily="34" charset="-120"/>
              </a:rPr>
              <a:t>Buổi 3 · Chấm công:</a:t>
            </a:r>
            <a:pPr indent="0" marL="0">
              <a:buNone/>
            </a:pPr>
            <a:r>
              <a:rPr lang="en-US" sz="1500" dirty="0">
                <a:solidFill>
                  <a:srgbClr val="E6ECF1"/>
                </a:solidFill>
                <a:latin typeface="Calibri" pitchFamily="34" charset="0"/>
                <a:ea typeface="Calibri" pitchFamily="34" charset="-122"/>
                <a:cs typeface="Calibri" pitchFamily="34" charset="-120"/>
              </a:rPr>
              <a:t> bảng quy tắc công, bảng công tháng, đối soát 3 lớp (40 cờ)</a:t>
            </a:r>
            <a:endParaRPr lang="en-US" sz="1500" dirty="0"/>
          </a:p>
          <a:p>
            <a:pPr marL="228600" indent="-228600">
              <a:spcAft>
                <a:spcPts val="1000"/>
              </a:spcAft>
              <a:buSzPct val="100000"/>
              <a:buChar char="•"/>
            </a:pPr>
            <a:r>
              <a:rPr lang="en-US" sz="1500" b="1" dirty="0">
                <a:solidFill>
                  <a:srgbClr val="FFFFFF"/>
                </a:solidFill>
                <a:latin typeface="Calibri" pitchFamily="34" charset="0"/>
                <a:ea typeface="Calibri" pitchFamily="34" charset="-122"/>
                <a:cs typeface="Calibri" pitchFamily="34" charset="-120"/>
              </a:rPr>
              <a:t>Buổi 4 · KPI:</a:t>
            </a:r>
            <a:pPr indent="0" marL="0">
              <a:buNone/>
            </a:pPr>
            <a:r>
              <a:rPr lang="en-US" sz="1500" dirty="0">
                <a:solidFill>
                  <a:srgbClr val="E6ECF1"/>
                </a:solidFill>
                <a:latin typeface="Calibri" pitchFamily="34" charset="0"/>
                <a:ea typeface="Calibri" pitchFamily="34" charset="-122"/>
                <a:cs typeface="Calibri" pitchFamily="34" charset="-120"/>
              </a:rPr>
              <a:t> từ điển chỉ số, scorecard agent, dashboard 3 tab</a:t>
            </a:r>
            <a:endParaRPr lang="en-US" sz="1500" dirty="0"/>
          </a:p>
          <a:p>
            <a:pPr marL="228600" indent="-228600">
              <a:spcAft>
                <a:spcPts val="1000"/>
              </a:spcAft>
              <a:buSzPct val="100000"/>
              <a:buChar char="•"/>
            </a:pPr>
            <a:r>
              <a:rPr lang="en-US" sz="1500" b="1" dirty="0">
                <a:solidFill>
                  <a:srgbClr val="FFFFFF"/>
                </a:solidFill>
                <a:latin typeface="Calibri" pitchFamily="34" charset="0"/>
                <a:ea typeface="Calibri" pitchFamily="34" charset="-122"/>
                <a:cs typeface="Calibri" pitchFamily="34" charset="-120"/>
              </a:rPr>
              <a:t>Buổi 5 · Bàn giao:</a:t>
            </a:r>
            <a:pPr indent="0" marL="0">
              <a:buNone/>
            </a:pPr>
            <a:r>
              <a:rPr lang="en-US" sz="1500" dirty="0">
                <a:solidFill>
                  <a:srgbClr val="E6ECF1"/>
                </a:solidFill>
                <a:latin typeface="Calibri" pitchFamily="34" charset="0"/>
                <a:ea typeface="Calibri" pitchFamily="34" charset="-122"/>
                <a:cs typeface="Calibri" pitchFamily="34" charset="-120"/>
              </a:rPr>
              <a:t> 2 Skill, báo cáo ngày cho CEO, 2 SOP, kế hoạch 30 ngày — không phụ thuộc người</a:t>
            </a:r>
            <a:endParaRPr lang="en-US" sz="1500" dirty="0"/>
          </a:p>
        </p:txBody>
      </p:sp>
      <p:sp>
        <p:nvSpPr>
          <p:cNvPr id="6" name="Shape 3"/>
          <p:cNvSpPr/>
          <p:nvPr/>
        </p:nvSpPr>
        <p:spPr>
          <a:xfrm>
            <a:off x="548640" y="4800600"/>
            <a:ext cx="6766560" cy="1325880"/>
          </a:xfrm>
          <a:prstGeom prst="roundRect">
            <a:avLst>
              <a:gd name="adj" fmla="val 6897"/>
            </a:avLst>
          </a:prstGeom>
          <a:solidFill>
            <a:srgbClr val="2B3E50"/>
          </a:solidFill>
          <a:ln w="12700">
            <a:solidFill>
              <a:srgbClr val="2B3E50"/>
            </a:solidFill>
            <a:prstDash val="solid"/>
          </a:ln>
        </p:spPr>
      </p:sp>
      <p:sp>
        <p:nvSpPr>
          <p:cNvPr id="7" name="Shape 4"/>
          <p:cNvSpPr/>
          <p:nvPr/>
        </p:nvSpPr>
        <p:spPr>
          <a:xfrm>
            <a:off x="777240" y="5001768"/>
            <a:ext cx="411480" cy="411480"/>
          </a:xfrm>
          <a:prstGeom prst="roundRect">
            <a:avLst>
              <a:gd name="adj" fmla="val 22000"/>
            </a:avLst>
          </a:prstGeom>
          <a:solidFill>
            <a:srgbClr val="2E7D7A"/>
          </a:solidFill>
          <a:ln w="12700">
            <a:solidFill>
              <a:srgbClr val="2E7D7A"/>
            </a:solidFill>
            <a:prstDash val="solid"/>
          </a:ln>
        </p:spPr>
      </p:sp>
      <p:pic>
        <p:nvPicPr>
          <p:cNvPr id="8" name="Image 0" descr="preencoded.png">    </p:cNvPr>
          <p:cNvPicPr>
            <a:picLocks noChangeAspect="1"/>
          </p:cNvPicPr>
          <p:nvPr/>
        </p:nvPicPr>
        <p:blipFill>
          <a:blip r:embed="rId1"/>
          <a:stretch>
            <a:fillRect/>
          </a:stretch>
        </p:blipFill>
        <p:spPr>
          <a:xfrm>
            <a:off x="875995" y="5100523"/>
            <a:ext cx="213970" cy="213970"/>
          </a:xfrm>
          <a:prstGeom prst="rect">
            <a:avLst/>
          </a:prstGeom>
        </p:spPr>
      </p:pic>
      <p:sp>
        <p:nvSpPr>
          <p:cNvPr id="9" name="Text 5"/>
          <p:cNvSpPr txBox="1"/>
          <p:nvPr/>
        </p:nvSpPr>
        <p:spPr>
          <a:xfrm>
            <a:off x="1325880" y="5001768"/>
            <a:ext cx="576072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Nguyên tắc mang về</a:t>
            </a:r>
            <a:endParaRPr lang="en-US" sz="1400" dirty="0"/>
          </a:p>
        </p:txBody>
      </p:sp>
      <p:sp>
        <p:nvSpPr>
          <p:cNvPr id="10" name="Text 6"/>
          <p:cNvSpPr txBox="1"/>
          <p:nvPr/>
        </p:nvSpPr>
        <p:spPr>
          <a:xfrm>
            <a:off x="777240" y="5486400"/>
            <a:ext cx="6309360" cy="548640"/>
          </a:xfrm>
          <a:prstGeom prst="rect">
            <a:avLst/>
          </a:prstGeom>
          <a:noFill/>
          <a:ln/>
        </p:spPr>
        <p:txBody>
          <a:bodyPr wrap="square" lIns="0" tIns="0" rIns="0" bIns="0" rtlCol="0" anchor="t"/>
          <a:lstStyle/>
          <a:p>
            <a:pPr indent="0" marL="0">
              <a:buNone/>
            </a:pPr>
            <a:r>
              <a:rPr lang="en-US" sz="1300" dirty="0">
                <a:solidFill>
                  <a:srgbClr val="C9D3DD"/>
                </a:solidFill>
                <a:latin typeface="Calibri" pitchFamily="34" charset="0"/>
                <a:ea typeface="Calibri" pitchFamily="34" charset="-122"/>
                <a:cs typeface="Calibri" pitchFamily="34" charset="-120"/>
              </a:rPr>
              <a:t>Dữ liệu chuẩn trước, AI sau  ·  Tổng sau làm sạch + số bị loại = tổng gốc</a:t>
            </a:r>
            <a:endParaRPr lang="en-US" sz="1300" dirty="0"/>
          </a:p>
          <a:p>
            <a:pPr indent="0" marL="0">
              <a:buNone/>
            </a:pPr>
            <a:r>
              <a:rPr lang="en-US" sz="1300" dirty="0">
                <a:solidFill>
                  <a:srgbClr val="C9D3DD"/>
                </a:solidFill>
                <a:latin typeface="Calibri" pitchFamily="34" charset="0"/>
                <a:ea typeface="Calibri" pitchFamily="34" charset="-122"/>
                <a:cs typeface="Calibri" pitchFamily="34" charset="-120"/>
              </a:rPr>
              <a:t>AI gắn cờ, người kết luận  ·  Cặp chỉ số đối trọng  ·  Không phụ thuộc người</a:t>
            </a:r>
            <a:endParaRPr lang="en-US" sz="1300" dirty="0"/>
          </a:p>
        </p:txBody>
      </p:sp>
      <p:sp>
        <p:nvSpPr>
          <p:cNvPr id="11" name="Shape 7"/>
          <p:cNvSpPr/>
          <p:nvPr/>
        </p:nvSpPr>
        <p:spPr>
          <a:xfrm>
            <a:off x="7680960" y="1417320"/>
            <a:ext cx="3962095" cy="4709160"/>
          </a:xfrm>
          <a:prstGeom prst="roundRect">
            <a:avLst>
              <a:gd name="adj" fmla="val 2769"/>
            </a:avLst>
          </a:prstGeom>
          <a:solidFill>
            <a:srgbClr val="2B3E50"/>
          </a:solidFill>
          <a:ln w="12700">
            <a:solidFill>
              <a:srgbClr val="2B3E50"/>
            </a:solidFill>
            <a:prstDash val="solid"/>
          </a:ln>
        </p:spPr>
      </p:sp>
      <p:sp>
        <p:nvSpPr>
          <p:cNvPr id="12" name="Shape 8"/>
          <p:cNvSpPr/>
          <p:nvPr/>
        </p:nvSpPr>
        <p:spPr>
          <a:xfrm>
            <a:off x="7955280" y="1691640"/>
            <a:ext cx="502920" cy="502920"/>
          </a:xfrm>
          <a:prstGeom prst="roundRect">
            <a:avLst>
              <a:gd name="adj" fmla="val 22000"/>
            </a:avLst>
          </a:prstGeom>
          <a:solidFill>
            <a:srgbClr val="D9773A"/>
          </a:solidFill>
          <a:ln w="12700">
            <a:solidFill>
              <a:srgbClr val="D9773A"/>
            </a:solidFill>
            <a:prstDash val="solid"/>
          </a:ln>
        </p:spPr>
      </p:sp>
      <p:pic>
        <p:nvPicPr>
          <p:cNvPr id="13" name="Image 1" descr="preencoded.png">    </p:cNvPr>
          <p:cNvPicPr>
            <a:picLocks noChangeAspect="1"/>
          </p:cNvPicPr>
          <p:nvPr/>
        </p:nvPicPr>
        <p:blipFill>
          <a:blip r:embed="rId2"/>
          <a:stretch>
            <a:fillRect/>
          </a:stretch>
        </p:blipFill>
        <p:spPr>
          <a:xfrm>
            <a:off x="8075981" y="1812341"/>
            <a:ext cx="261518" cy="261518"/>
          </a:xfrm>
          <a:prstGeom prst="rect">
            <a:avLst/>
          </a:prstGeom>
        </p:spPr>
      </p:pic>
      <p:sp>
        <p:nvSpPr>
          <p:cNvPr id="14" name="Text 9"/>
          <p:cNvSpPr txBox="1"/>
          <p:nvPr/>
        </p:nvSpPr>
        <p:spPr>
          <a:xfrm>
            <a:off x="8595360" y="1691640"/>
            <a:ext cx="2864815"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Sau khóa học: 30 ngày</a:t>
            </a:r>
            <a:endParaRPr lang="en-US" sz="1800" dirty="0"/>
          </a:p>
        </p:txBody>
      </p:sp>
      <p:sp>
        <p:nvSpPr>
          <p:cNvPr id="15" name="Text 10"/>
          <p:cNvSpPr txBox="1"/>
          <p:nvPr/>
        </p:nvSpPr>
        <p:spPr>
          <a:xfrm>
            <a:off x="7955280" y="2423160"/>
            <a:ext cx="3413455" cy="3520440"/>
          </a:xfrm>
          <a:prstGeom prst="rect">
            <a:avLst/>
          </a:prstGeom>
          <a:noFill/>
          <a:ln/>
        </p:spPr>
        <p:txBody>
          <a:bodyPr wrap="square" lIns="0" tIns="0" rIns="0" bIns="0" rtlCol="0" anchor="t"/>
          <a:lstStyle/>
          <a:p>
            <a:pPr marL="228600" indent="-228600">
              <a:spcAft>
                <a:spcPts val="900"/>
              </a:spcAft>
              <a:buSzPct val="100000"/>
              <a:buChar char="•"/>
            </a:pPr>
            <a:r>
              <a:rPr lang="en-US" sz="1450" b="1" dirty="0">
                <a:solidFill>
                  <a:srgbClr val="D9773A"/>
                </a:solidFill>
                <a:latin typeface="Calibri" pitchFamily="34" charset="0"/>
                <a:ea typeface="Calibri" pitchFamily="34" charset="-122"/>
                <a:cs typeface="Calibri" pitchFamily="34" charset="-120"/>
              </a:rPr>
              <a:t>Tuần 1:</a:t>
            </a:r>
            <a:pPr indent="0" marL="0">
              <a:buNone/>
            </a:pPr>
            <a:r>
              <a:rPr lang="en-US" sz="1450" dirty="0">
                <a:solidFill>
                  <a:srgbClr val="E6ECF1"/>
                </a:solidFill>
                <a:latin typeface="Calibri" pitchFamily="34" charset="0"/>
                <a:ea typeface="Calibri" pitchFamily="34" charset="-122"/>
                <a:cs typeface="Calibri" pitchFamily="34" charset="-120"/>
              </a:rPr>
              <a:t> 100% ngày có báo cáo trước 8h; cài mã kết quả chuẩn</a:t>
            </a:r>
            <a:endParaRPr lang="en-US" sz="1450" dirty="0"/>
          </a:p>
          <a:p>
            <a:pPr marL="228600" indent="-228600">
              <a:spcAft>
                <a:spcPts val="900"/>
              </a:spcAft>
              <a:buSzPct val="100000"/>
              <a:buChar char="•"/>
            </a:pPr>
            <a:r>
              <a:rPr lang="en-US" sz="1450" b="1" dirty="0">
                <a:solidFill>
                  <a:srgbClr val="D9773A"/>
                </a:solidFill>
                <a:latin typeface="Calibri" pitchFamily="34" charset="0"/>
                <a:ea typeface="Calibri" pitchFamily="34" charset="-122"/>
                <a:cs typeface="Calibri" pitchFamily="34" charset="-120"/>
              </a:rPr>
              <a:t>Tuần 2:</a:t>
            </a:r>
            <a:pPr indent="0" marL="0">
              <a:buNone/>
            </a:pPr>
            <a:r>
              <a:rPr lang="en-US" sz="1450" dirty="0">
                <a:solidFill>
                  <a:srgbClr val="E6ECF1"/>
                </a:solidFill>
                <a:latin typeface="Calibri" pitchFamily="34" charset="0"/>
                <a:ea typeface="Calibri" pitchFamily="34" charset="-122"/>
                <a:cs typeface="Calibri" pitchFamily="34" charset="-120"/>
              </a:rPr>
              <a:t> đối soát công hằng tuần, chênh lệch chưa giải thích &lt; 2%</a:t>
            </a:r>
            <a:endParaRPr lang="en-US" sz="1450" dirty="0"/>
          </a:p>
          <a:p>
            <a:pPr marL="228600" indent="-228600">
              <a:spcAft>
                <a:spcPts val="900"/>
              </a:spcAft>
              <a:buSzPct val="100000"/>
              <a:buChar char="•"/>
            </a:pPr>
            <a:r>
              <a:rPr lang="en-US" sz="1450" b="1" dirty="0">
                <a:solidFill>
                  <a:srgbClr val="D9773A"/>
                </a:solidFill>
                <a:latin typeface="Calibri" pitchFamily="34" charset="0"/>
                <a:ea typeface="Calibri" pitchFamily="34" charset="-122"/>
                <a:cs typeface="Calibri" pitchFamily="34" charset="-120"/>
              </a:rPr>
              <a:t>Tuần 3:</a:t>
            </a:r>
            <a:pPr indent="0" marL="0">
              <a:buNone/>
            </a:pPr>
            <a:r>
              <a:rPr lang="en-US" sz="1450" dirty="0">
                <a:solidFill>
                  <a:srgbClr val="E6ECF1"/>
                </a:solidFill>
                <a:latin typeface="Calibri" pitchFamily="34" charset="0"/>
                <a:ea typeface="Calibri" pitchFamily="34" charset="-122"/>
                <a:cs typeface="Calibri" pitchFamily="34" charset="-120"/>
              </a:rPr>
              <a:t> trưởng ca dùng dashboard mọi ca; HR dùng tab HR</a:t>
            </a:r>
            <a:endParaRPr lang="en-US" sz="1450" dirty="0"/>
          </a:p>
          <a:p>
            <a:pPr marL="228600" indent="-228600">
              <a:spcAft>
                <a:spcPts val="900"/>
              </a:spcAft>
              <a:buSzPct val="100000"/>
              <a:buChar char="•"/>
            </a:pPr>
            <a:r>
              <a:rPr lang="en-US" sz="1450" b="1" dirty="0">
                <a:solidFill>
                  <a:srgbClr val="D9773A"/>
                </a:solidFill>
                <a:latin typeface="Calibri" pitchFamily="34" charset="0"/>
                <a:ea typeface="Calibri" pitchFamily="34" charset="-122"/>
                <a:cs typeface="Calibri" pitchFamily="34" charset="-120"/>
              </a:rPr>
              <a:t>Tuần 4:</a:t>
            </a:r>
            <a:pPr indent="0" marL="0">
              <a:buNone/>
            </a:pPr>
            <a:r>
              <a:rPr lang="en-US" sz="1450" dirty="0">
                <a:solidFill>
                  <a:srgbClr val="E6ECF1"/>
                </a:solidFill>
                <a:latin typeface="Calibri" pitchFamily="34" charset="0"/>
                <a:ea typeface="Calibri" pitchFamily="34" charset="-122"/>
                <a:cs typeface="Calibri" pitchFamily="34" charset="-120"/>
              </a:rPr>
              <a:t> chốt công bằng Skill, nhanh hơn ≥ 50%; người mới chạy theo SOP</a:t>
            </a:r>
            <a:endParaRPr lang="en-US" sz="1450" dirty="0"/>
          </a:p>
          <a:p>
            <a:pPr marL="228600" indent="-228600">
              <a:spcAft>
                <a:spcPts val="900"/>
              </a:spcAft>
              <a:buSzPct val="100000"/>
              <a:buChar char="•"/>
            </a:pPr>
            <a:r>
              <a:rPr lang="en-US" sz="1450" b="1" dirty="0">
                <a:solidFill>
                  <a:srgbClr val="D9773A"/>
                </a:solidFill>
                <a:latin typeface="Calibri" pitchFamily="34" charset="0"/>
                <a:ea typeface="Calibri" pitchFamily="34" charset="-122"/>
                <a:cs typeface="Calibri" pitchFamily="34" charset="-120"/>
              </a:rPr>
              <a:t>Cuối kỳ:</a:t>
            </a:r>
            <a:pPr indent="0" marL="0">
              <a:buNone/>
            </a:pPr>
            <a:r>
              <a:rPr lang="en-US" sz="1450" dirty="0">
                <a:solidFill>
                  <a:srgbClr val="E6ECF1"/>
                </a:solidFill>
                <a:latin typeface="Calibri" pitchFamily="34" charset="0"/>
                <a:ea typeface="Calibri" pitchFamily="34" charset="-122"/>
                <a:cs typeface="Calibri" pitchFamily="34" charset="-120"/>
              </a:rPr>
              <a:t> điền cột “Sau 30 ngày” của D.3 — bằng chứng cho CEO</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Sao Việt Contact Center (hư cấu)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5 — Báo cáo tự động, SOP &amp; bàn giao</dc:title>
  <dc:subject>PptxGenJS Presentation</dc:subject>
  <dc:creator>Claude cho Callcenter</dc:creator>
  <cp:lastModifiedBy>Claude cho Callcenter</cp:lastModifiedBy>
  <cp:revision>1</cp:revision>
  <dcterms:created xsi:type="dcterms:W3CDTF">2026-10-01T07:27:05Z</dcterms:created>
  <dcterms:modified xsi:type="dcterms:W3CDTF">2026-10-01T07:27:05Z</dcterms:modified>
</cp:coreProperties>
</file>