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1 phút. Giới thiệu khóa học 5 buổi, nhấn mạnh: mỗi buổi đều mang về một sản phẩm dùng được ngay hôm sau. Ebook đi kèm có đầy đủ bài đọc, lab, đáp án — học viên mở song song.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nhanh 3 mục tiêu. Hỏi lớp: ai đã từng dùng Claude/ChatGPT với file Excel? Kết quả có đáng tin không? Dẫn vào nguyên tắc "đối chiếu tổng".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kiến thức, 75% thực hành. Nhắc giờ giấc: lab là phần chính, phần lý thuyết sẽ đi nhanh và quay lại khi làm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Nếu đã có khảo sát trước buổi 1, thay số Sao Việt bằng số thật của lớp. Mời CEO/Trưởng vận hành nói 1 phút về mục tiêu. Ghi lại số "Trước" — dùng cho bài trình bày cuối khóa (buổi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3 câu học viên phải nhớ khi ra về. Ví dụ "63 dòng trùng" là số thật trong bộ dữ liệu mẫu — sẽ tự tìm thấy ở Lab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nhanh (nếu có mạng): upload danh_sach_agent.csv, hỏi "có bao nhiêu agent mỗi dự án?". Nhấn mạnh: khi phân tích file, yêu cầu Claude TÍNH bằng code trên dữ liệu, không ước lượng. Giao diện Claude có thể thay đổi — mô tả theo chức năng, không theo vị trí nút.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Ẩn dụ: Project như một nhân viên mới đã được onboard kỹ — có sẵn hồ sơ, nội quy, và biết luật làm việc của phòng.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Kể ví dụ: hỏi một con số khi chưa upload dữ liệu → AI vẫn trả lời trơn tru. Đó là lý do custom instructions có dòng "thiếu thì hỏi lại". Chi tiết ở Phụ lục C của 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chữ C cuối (Ràng buộc) — đây là phần người mới hay bỏ quên nhất và là phần chặn sai số. Trong Project, phần R và một phần C đã nằm sẵn trong custom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Nếu có mạng: chạy thật 2 prompt trên call_log_2026-09.csv để lớp thấy khác biệt. Prompt đầy đủ ở slide Lab 1.2 và Phụ lục B của 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Hỏi lớp: muốn biết "giờ có mặt" của NV0109 ngày 07/09 thì cần mấy nguồn? (chấm công + lịch ca). "Năng suất mỗi giờ công"? (cả 3 nguồn). Đó là lý do khóa nối quan trọng.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cần lớp nhớ số. Mục đích: cho thấy lỗi nối mã có thật và đếm được. Học viên sẽ tự tìm ra ở Lab 1.2 và xử lý ở Lab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ĐÁP ÁN: B. B nói rõ thiếu dữ liệu, dẫn đúng mục tiêu có trong danh_sach_du_an.csv, và chỉ việc cần làm. A là hallucination. C đúng định nghĩa nhưng né câu hỏi. D không giúp gì và không giải thích lý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 vòng lớp kiểm tra bước 4. Câu 2 và 3 quan trọng hơn câu 1: chứng tỏ custom instructions đang hoạt động. Đáp án chi tiết: ebook buổi 1, Lab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học viên copy từ ebook (Lab 1.1) thay vì gõ lại. Giải thích từng dòng theo cột bên phải.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Lỗi thường gặp khi chạy: Claude chỉ đọc 100 dòng đầu → yêu cầu "tính bằng code trên toàn bộ file". Nếu Claude coi 539 cuộc ABANDONED trống mã là lỗi → hỏi lại: khách bỏ máy khi chờ thì đã có agent chưa?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học viên copy prompt từ ebook (Lab 1.2) hoặc Phụ lục B. Nhấn mạnh câu "Tính bằng code trên toàn bộ file" — thiếu câu này Claude có thể chỉ đọc vài trăm dòng đầu rồi suy ra cả file. Sau khi Claude trả kết quả, việc đầu tiên là đối chiếu tổng số dòng = 29.515.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Đếm trên file gốc 29.515 dòng. Nếu Claude bỏ trùng trước rồi mới đếm, có thể ra 551 / 590 / 250 — đều chấp nhận được, miễn nói rõ đang đếm trên tập nào. Lời giải đầy đủ: ebook → Giải pháp → Buổi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Gợi ý thêm: danh_sach_agent.csv có một ngày vào làm "lạ" (NV0117: 27/09/2026 — sau kỳ dữ liệu). Học viên tinh ý sẽ thấy. Đây là lỗi hồ sơ HR, cần báo HR sửa.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chỉ là trích 8/14 cột của call log. Bản đầy đủ cho cả 3 nguồn: ebook → Giải pháp → Buổi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ĐÁP ÁN: C. Cuộc bỏ máy chưa từng được nối tới agent nên trống mã là đúng nghiệp vụ — xóa đi sẽ làm tỷ lệ bỏ máy biến mất. 14 cuộc đã nghe mà không có agent mới là lỗi cần tra lại tổng đài. D là bịa dữ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Giảng viên chốt: lỗi dữ liệu là bình thường, không có lỗi mới đáng lo. Quan trọng là có danh sách, có số đếm, có người duyệt.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Giao bài 5 phút cuối. Nhắc: bài về nhà chiếm 40% điểm đánh giá khóa học.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thúc đúng giờ. Nhắc nhóm chat lớp để hỏi bài.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38"/>
        </a:solidFill>
      </p:bgPr>
    </p:bg>
    <p:spTree>
      <p:nvGrpSpPr>
        <p:cNvPr id="1" name=""/>
        <p:cNvGrpSpPr/>
        <p:nvPr/>
      </p:nvGrpSpPr>
      <p:grpSpPr>
        <a:xfrm>
          <a:off x="0" y="0"/>
          <a:ext cx="0" cy="0"/>
          <a:chOff x="0" y="0"/>
          <a:chExt cx="0" cy="0"/>
        </a:xfrm>
      </p:grpSpPr>
      <p:sp>
        <p:nvSpPr>
          <p:cNvPr id="3" name="Text 0"/>
          <p:cNvSpPr txBox="1"/>
          <p:nvPr/>
        </p:nvSpPr>
        <p:spPr>
          <a:xfrm>
            <a:off x="548640" y="640080"/>
            <a:ext cx="3657600" cy="365760"/>
          </a:xfrm>
          <a:prstGeom prst="rect">
            <a:avLst/>
          </a:prstGeom>
          <a:noFill/>
          <a:ln/>
        </p:spPr>
        <p:txBody>
          <a:bodyPr wrap="square" lIns="0" tIns="0" rIns="0" bIns="0" rtlCol="0" anchor="t"/>
          <a:lstStyle/>
          <a:p>
            <a:pPr indent="0" marL="0">
              <a:buNone/>
            </a:pPr>
            <a:r>
              <a:rPr lang="en-US" sz="1400" b="1" spc="300" kern="0" dirty="0">
                <a:solidFill>
                  <a:srgbClr val="D9773A"/>
                </a:solidFill>
                <a:latin typeface="Calibri" pitchFamily="34" charset="0"/>
                <a:ea typeface="Calibri" pitchFamily="34" charset="-122"/>
                <a:cs typeface="Calibri" pitchFamily="34" charset="-120"/>
              </a:rPr>
              <a:t>BUỔI 1 / 5</a:t>
            </a:r>
            <a:endParaRPr lang="en-US" sz="1400" dirty="0"/>
          </a:p>
        </p:txBody>
      </p:sp>
      <p:sp>
        <p:nvSpPr>
          <p:cNvPr id="4" name="Text 1"/>
          <p:cNvSpPr txBox="1"/>
          <p:nvPr/>
        </p:nvSpPr>
        <p:spPr>
          <a:xfrm>
            <a:off x="548640" y="1051560"/>
            <a:ext cx="7498080" cy="1737360"/>
          </a:xfrm>
          <a:prstGeom prst="rect">
            <a:avLst/>
          </a:prstGeom>
          <a:noFill/>
          <a:ln/>
        </p:spPr>
        <p:txBody>
          <a:bodyPr wrap="square" lIns="0" tIns="0" rIns="0" bIns="0" rtlCol="0" anchor="t">
            <a:normAutofit/>
          </a:bodyPr>
          <a:lstStyle/>
          <a:p>
            <a:pPr indent="0" marL="0">
              <a:buNone/>
            </a:pPr>
            <a:r>
              <a:rPr lang="en-US" sz="4000" b="1" dirty="0">
                <a:solidFill>
                  <a:srgbClr val="FFFFFF"/>
                </a:solidFill>
                <a:latin typeface="Cambria" pitchFamily="34" charset="0"/>
                <a:ea typeface="Cambria" pitchFamily="34" charset="-122"/>
                <a:cs typeface="Cambria" pitchFamily="34" charset="-120"/>
              </a:rPr>
              <a:t>Nền tảng Claude &amp;</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chuẩn bị dữ liệu</a:t>
            </a:r>
            <a:endParaRPr lang="en-US" sz="4000" dirty="0"/>
          </a:p>
        </p:txBody>
      </p:sp>
      <p:sp>
        <p:nvSpPr>
          <p:cNvPr id="5" name="Text 2"/>
          <p:cNvSpPr txBox="1"/>
          <p:nvPr/>
        </p:nvSpPr>
        <p:spPr>
          <a:xfrm>
            <a:off x="548640" y="2880360"/>
            <a:ext cx="7132320" cy="822960"/>
          </a:xfrm>
          <a:prstGeom prst="rect">
            <a:avLst/>
          </a:prstGeom>
          <a:noFill/>
          <a:ln/>
        </p:spPr>
        <p:txBody>
          <a:bodyPr wrap="square" lIns="0" tIns="0" rIns="0" bIns="0" rtlCol="0" anchor="t"/>
          <a:lstStyle/>
          <a:p>
            <a:pPr indent="0" marL="0">
              <a:buNone/>
            </a:pPr>
            <a:r>
              <a:rPr lang="en-US" sz="1700" i="1" dirty="0">
                <a:solidFill>
                  <a:srgbClr val="C9D3DD"/>
                </a:solidFill>
                <a:latin typeface="Calibri" pitchFamily="34" charset="0"/>
                <a:ea typeface="Calibri" pitchFamily="34" charset="-122"/>
                <a:cs typeface="Calibri" pitchFamily="34" charset="-120"/>
              </a:rPr>
              <a:t>Dữ liệu chuẩn trước, AI sau. Hôm nay ta dựng “nhà kho” chung và soi lỗi trong dữ liệu thật.</a:t>
            </a:r>
            <a:endParaRPr lang="en-US" sz="1700" dirty="0"/>
          </a:p>
        </p:txBody>
      </p:sp>
      <p:sp>
        <p:nvSpPr>
          <p:cNvPr id="6" name="Text 3"/>
          <p:cNvSpPr txBox="1"/>
          <p:nvPr/>
        </p:nvSpPr>
        <p:spPr>
          <a:xfrm>
            <a:off x="548640" y="5989320"/>
            <a:ext cx="7315200" cy="320040"/>
          </a:xfrm>
          <a:prstGeom prst="rect">
            <a:avLst/>
          </a:prstGeom>
          <a:noFill/>
          <a:ln/>
        </p:spPr>
        <p:txBody>
          <a:bodyPr wrap="square" lIns="0" tIns="0" rIns="0" bIns="0" rtlCol="0" anchor="t"/>
          <a:lstStyle/>
          <a:p>
            <a:pPr indent="0" marL="0">
              <a:buNone/>
            </a:pPr>
            <a:r>
              <a:rPr lang="en-US" sz="1200" dirty="0">
                <a:solidFill>
                  <a:srgbClr val="9AA8B6"/>
                </a:solidFill>
                <a:latin typeface="Calibri" pitchFamily="34" charset="0"/>
                <a:ea typeface="Calibri" pitchFamily="34" charset="-122"/>
                <a:cs typeface="Calibri" pitchFamily="34" charset="-120"/>
              </a:rPr>
              <a:t>Claude cho Callcenter · Số hóa sản lượng cuộc gọi &amp; chấm công</a:t>
            </a:r>
            <a:endParaRPr lang="en-US" sz="1200" dirty="0"/>
          </a:p>
        </p:txBody>
      </p:sp>
      <p:sp>
        <p:nvSpPr>
          <p:cNvPr id="7" name="Text 4"/>
          <p:cNvSpPr txBox="1"/>
          <p:nvPr/>
        </p:nvSpPr>
        <p:spPr>
          <a:xfrm>
            <a:off x="548640" y="3886200"/>
            <a:ext cx="7132320" cy="320040"/>
          </a:xfrm>
          <a:prstGeom prst="rect">
            <a:avLst/>
          </a:prstGeom>
          <a:noFill/>
          <a:ln/>
        </p:spPr>
        <p:txBody>
          <a:bodyPr wrap="square" lIns="0" tIns="0" rIns="0" bIns="0" rtlCol="0" anchor="t"/>
          <a:lstStyle/>
          <a:p>
            <a:pPr indent="0" marL="0">
              <a:buNone/>
            </a:pPr>
            <a:r>
              <a:rPr lang="en-US" sz="1300" dirty="0">
                <a:solidFill>
                  <a:srgbClr val="D9773A"/>
                </a:solidFill>
                <a:latin typeface="Calibri" pitchFamily="34" charset="0"/>
                <a:ea typeface="Calibri" pitchFamily="34" charset="-122"/>
                <a:cs typeface="Calibri" pitchFamily="34" charset="-120"/>
              </a:rPr>
              <a:t>2 giờ trên lớp + 1 giờ thực hành tại nhà</a:t>
            </a:r>
            <a:endParaRPr lang="en-US" sz="1300" dirty="0"/>
          </a:p>
        </p:txBody>
      </p:sp>
      <p:sp>
        <p:nvSpPr>
          <p:cNvPr id="8" name="Shape 5"/>
          <p:cNvSpPr/>
          <p:nvPr/>
        </p:nvSpPr>
        <p:spPr>
          <a:xfrm>
            <a:off x="8001000" y="640080"/>
            <a:ext cx="3642055" cy="5486400"/>
          </a:xfrm>
          <a:prstGeom prst="roundRect">
            <a:avLst>
              <a:gd name="adj" fmla="val 3013"/>
            </a:avLst>
          </a:prstGeom>
          <a:solidFill>
            <a:srgbClr val="2B3E50"/>
          </a:solidFill>
          <a:ln w="12700">
            <a:solidFill>
              <a:srgbClr val="2B3E50"/>
            </a:solidFill>
            <a:prstDash val="solid"/>
          </a:ln>
        </p:spPr>
      </p:sp>
      <p:sp>
        <p:nvSpPr>
          <p:cNvPr id="9" name="Shape 6"/>
          <p:cNvSpPr/>
          <p:nvPr/>
        </p:nvSpPr>
        <p:spPr>
          <a:xfrm>
            <a:off x="8321040" y="914400"/>
            <a:ext cx="548640" cy="548640"/>
          </a:xfrm>
          <a:prstGeom prst="roundRect">
            <a:avLst>
              <a:gd name="adj" fmla="val 22000"/>
            </a:avLst>
          </a:prstGeom>
          <a:solidFill>
            <a:srgbClr val="D9773A"/>
          </a:solidFill>
          <a:ln w="12700">
            <a:solidFill>
              <a:srgbClr val="D9773A"/>
            </a:solidFill>
            <a:prstDash val="solid"/>
          </a:ln>
        </p:spPr>
      </p:sp>
      <p:pic>
        <p:nvPicPr>
          <p:cNvPr id="10" name="Image 0" descr="preencoded.png">    </p:cNvPr>
          <p:cNvPicPr>
            <a:picLocks noChangeAspect="1"/>
          </p:cNvPicPr>
          <p:nvPr/>
        </p:nvPicPr>
        <p:blipFill>
          <a:blip r:embed="rId1"/>
          <a:stretch>
            <a:fillRect/>
          </a:stretch>
        </p:blipFill>
        <p:spPr>
          <a:xfrm>
            <a:off x="8452714" y="1046074"/>
            <a:ext cx="285293" cy="285293"/>
          </a:xfrm>
          <a:prstGeom prst="rect">
            <a:avLst/>
          </a:prstGeom>
        </p:spPr>
      </p:pic>
      <p:sp>
        <p:nvSpPr>
          <p:cNvPr id="11" name="Text 7"/>
          <p:cNvSpPr txBox="1"/>
          <p:nvPr/>
        </p:nvSpPr>
        <p:spPr>
          <a:xfrm>
            <a:off x="9006840" y="914400"/>
            <a:ext cx="2453335" cy="5486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Sản phẩm mang về</a:t>
            </a:r>
            <a:endParaRPr lang="en-US" sz="1800" dirty="0"/>
          </a:p>
        </p:txBody>
      </p:sp>
      <p:sp>
        <p:nvSpPr>
          <p:cNvPr id="12" name="Text 8"/>
          <p:cNvSpPr txBox="1"/>
          <p:nvPr/>
        </p:nvSpPr>
        <p:spPr>
          <a:xfrm>
            <a:off x="8321040" y="1737360"/>
            <a:ext cx="3047695" cy="4114800"/>
          </a:xfrm>
          <a:prstGeom prst="rect">
            <a:avLst/>
          </a:prstGeom>
          <a:noFill/>
          <a:ln/>
        </p:spPr>
        <p:txBody>
          <a:bodyPr wrap="square" lIns="0" tIns="0" rIns="0" bIns="0" rtlCol="0" anchor="t"/>
          <a:lstStyle/>
          <a:p>
            <a:pPr marL="228600" indent="-228600">
              <a:spcAft>
                <a:spcPts val="1000"/>
              </a:spcAft>
              <a:buSzPct val="100000"/>
              <a:buChar char="•"/>
            </a:pPr>
            <a:r>
              <a:rPr lang="en-US" sz="1450" b="1" dirty="0">
                <a:solidFill>
                  <a:srgbClr val="E6ECF1"/>
                </a:solidFill>
                <a:latin typeface="Calibri" pitchFamily="34" charset="0"/>
                <a:ea typeface="Calibri" pitchFamily="34" charset="-122"/>
                <a:cs typeface="Calibri" pitchFamily="34" charset="-120"/>
              </a:rPr>
              <a:t>Project “Vận hành &amp; Chấm công”</a:t>
            </a:r>
            <a:pPr indent="0" marL="0">
              <a:buNone/>
            </a:pPr>
            <a:r>
              <a:rPr lang="en-US" sz="1450" dirty="0">
                <a:solidFill>
                  <a:srgbClr val="E6ECF1"/>
                </a:solidFill>
                <a:latin typeface="Calibri" pitchFamily="34" charset="0"/>
                <a:ea typeface="Calibri" pitchFamily="34" charset="-122"/>
                <a:cs typeface="Calibri" pitchFamily="34" charset="-120"/>
              </a:rPr>
              <a:t> dùng chung cho cả nhóm</a:t>
            </a:r>
            <a:endParaRPr lang="en-US" sz="1450" dirty="0"/>
          </a:p>
          <a:p>
            <a:pPr marL="228600" indent="-228600">
              <a:spcAft>
                <a:spcPts val="1000"/>
              </a:spcAft>
              <a:buSzPct val="100000"/>
              <a:buChar char="•"/>
            </a:pPr>
            <a:r>
              <a:rPr lang="en-US" sz="1450" b="1" dirty="0">
                <a:solidFill>
                  <a:srgbClr val="E6ECF1"/>
                </a:solidFill>
                <a:latin typeface="Calibri" pitchFamily="34" charset="0"/>
                <a:ea typeface="Calibri" pitchFamily="34" charset="-122"/>
                <a:cs typeface="Calibri" pitchFamily="34" charset="-120"/>
              </a:rPr>
              <a:t>Từ điển dữ liệu v1</a:t>
            </a:r>
            <a:pPr indent="0" marL="0">
              <a:buNone/>
            </a:pPr>
            <a:r>
              <a:rPr lang="en-US" sz="1450" dirty="0">
                <a:solidFill>
                  <a:srgbClr val="E6ECF1"/>
                </a:solidFill>
                <a:latin typeface="Calibri" pitchFamily="34" charset="0"/>
                <a:ea typeface="Calibri" pitchFamily="34" charset="-122"/>
                <a:cs typeface="Calibri" pitchFamily="34" charset="-120"/>
              </a:rPr>
              <a:t> cho 3 nguồn: call log, trạng thái agent, chấm công</a:t>
            </a:r>
            <a:endParaRPr lang="en-US" sz="1450" dirty="0"/>
          </a:p>
          <a:p>
            <a:pPr marL="228600" indent="-228600">
              <a:spcAft>
                <a:spcPts val="1000"/>
              </a:spcAft>
              <a:buSzPct val="100000"/>
              <a:buChar char="•"/>
            </a:pPr>
            <a:r>
              <a:rPr lang="en-US" sz="1450" b="1" dirty="0">
                <a:solidFill>
                  <a:srgbClr val="E6ECF1"/>
                </a:solidFill>
                <a:latin typeface="Calibri" pitchFamily="34" charset="0"/>
                <a:ea typeface="Calibri" pitchFamily="34" charset="-122"/>
                <a:cs typeface="Calibri" pitchFamily="34" charset="-120"/>
              </a:rPr>
              <a:t>Bảng nối mã</a:t>
            </a:r>
            <a:pPr indent="0" marL="0">
              <a:buNone/>
            </a:pPr>
            <a:r>
              <a:rPr lang="en-US" sz="1450" dirty="0">
                <a:solidFill>
                  <a:srgbClr val="E6ECF1"/>
                </a:solidFill>
                <a:latin typeface="Calibri" pitchFamily="34" charset="0"/>
                <a:ea typeface="Calibri" pitchFamily="34" charset="-122"/>
                <a:cs typeface="Calibri" pitchFamily="34" charset="-120"/>
              </a:rPr>
              <a:t> mã tổng đài ↔ mã nhân viên</a:t>
            </a:r>
            <a:endParaRPr lang="en-US" sz="1450" dirty="0"/>
          </a:p>
          <a:p>
            <a:pPr marL="228600" indent="-228600">
              <a:spcAft>
                <a:spcPts val="1000"/>
              </a:spcAft>
              <a:buSzPct val="100000"/>
              <a:buChar char="•"/>
            </a:pPr>
            <a:r>
              <a:rPr lang="en-US" sz="1450" b="1" dirty="0">
                <a:solidFill>
                  <a:srgbClr val="E6ECF1"/>
                </a:solidFill>
                <a:latin typeface="Calibri" pitchFamily="34" charset="0"/>
                <a:ea typeface="Calibri" pitchFamily="34" charset="-122"/>
                <a:cs typeface="Calibri" pitchFamily="34" charset="-120"/>
              </a:rPr>
              <a:t>Danh sách lỗi dữ liệu</a:t>
            </a:r>
            <a:pPr indent="0" marL="0">
              <a:buNone/>
            </a:pPr>
            <a:r>
              <a:rPr lang="en-US" sz="1450" dirty="0">
                <a:solidFill>
                  <a:srgbClr val="E6ECF1"/>
                </a:solidFill>
                <a:latin typeface="Calibri" pitchFamily="34" charset="0"/>
                <a:ea typeface="Calibri" pitchFamily="34" charset="-122"/>
                <a:cs typeface="Calibri" pitchFamily="34" charset="-120"/>
              </a:rPr>
              <a:t> của tháng 9 (đã đếm, chưa sửa)</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896112" cy="292608"/>
          </a:xfrm>
          <a:prstGeom prst="roundRect">
            <a:avLst>
              <a:gd name="adj" fmla="val 50000"/>
            </a:avLst>
          </a:prstGeom>
          <a:solidFill>
            <a:srgbClr val="F2F4F6"/>
          </a:solidFill>
          <a:ln w="12700">
            <a:solidFill>
              <a:srgbClr val="F2F4F6"/>
            </a:solidFill>
            <a:prstDash val="solid"/>
          </a:ln>
        </p:spPr>
      </p:sp>
      <p:sp>
        <p:nvSpPr>
          <p:cNvPr id="3" name="Text 1"/>
          <p:cNvSpPr txBox="1"/>
          <p:nvPr/>
        </p:nvSpPr>
        <p:spPr>
          <a:xfrm>
            <a:off x="548640" y="384048"/>
            <a:ext cx="896112" cy="292608"/>
          </a:xfrm>
          <a:prstGeom prst="rect">
            <a:avLst/>
          </a:prstGeom>
          <a:noFill/>
          <a:ln/>
        </p:spPr>
        <p:txBody>
          <a:bodyPr wrap="square" lIns="0" tIns="0" rIns="0" bIns="0" rtlCol="0" anchor="ctr"/>
          <a:lstStyle/>
          <a:p>
            <a:pPr algn="ctr" indent="0" marL="0">
              <a:buNone/>
            </a:pPr>
            <a:r>
              <a:rPr lang="en-US" sz="1050" b="1" spc="150" kern="0" dirty="0">
                <a:solidFill>
                  <a:srgbClr val="2B3E50"/>
                </a:solidFill>
                <a:latin typeface="Calibri" pitchFamily="34" charset="0"/>
                <a:ea typeface="Calibri" pitchFamily="34" charset="-122"/>
                <a:cs typeface="Calibri" pitchFamily="34" charset="-120"/>
              </a:rPr>
              <a:t>LỘ TRÌNH</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Mục tiêu buổi học</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1 · Nền tảng Claude &amp; dữ liệu</a:t>
            </a:r>
            <a:endParaRPr lang="en-US" sz="1000" dirty="0"/>
          </a:p>
        </p:txBody>
      </p:sp>
      <p:sp>
        <p:nvSpPr>
          <p:cNvPr id="7" name="Shape 4"/>
          <p:cNvSpPr/>
          <p:nvPr/>
        </p:nvSpPr>
        <p:spPr>
          <a:xfrm>
            <a:off x="548640" y="1691640"/>
            <a:ext cx="11094415" cy="1051560"/>
          </a:xfrm>
          <a:prstGeom prst="roundRect">
            <a:avLst>
              <a:gd name="adj" fmla="val 8696"/>
            </a:avLst>
          </a:prstGeom>
          <a:solidFill>
            <a:srgbClr val="F2F4F6"/>
          </a:solidFill>
          <a:ln w="12700">
            <a:solidFill>
              <a:srgbClr val="F2F4F6"/>
            </a:solidFill>
            <a:prstDash val="solid"/>
          </a:ln>
        </p:spPr>
      </p:sp>
      <p:sp>
        <p:nvSpPr>
          <p:cNvPr id="8" name="Shape 5"/>
          <p:cNvSpPr/>
          <p:nvPr/>
        </p:nvSpPr>
        <p:spPr>
          <a:xfrm>
            <a:off x="777240" y="1933956"/>
            <a:ext cx="566928" cy="566928"/>
          </a:xfrm>
          <a:prstGeom prst="roundRect">
            <a:avLst>
              <a:gd name="adj" fmla="val 22000"/>
            </a:avLst>
          </a:prstGeom>
          <a:solidFill>
            <a:srgbClr val="D9773A"/>
          </a:solidFill>
          <a:ln w="12700">
            <a:solidFill>
              <a:srgbClr val="D9773A"/>
            </a:solidFill>
            <a:prstDash val="solid"/>
          </a:ln>
        </p:spPr>
      </p:sp>
      <p:pic>
        <p:nvPicPr>
          <p:cNvPr id="9" name="Image 0" descr="preencoded.png">    </p:cNvPr>
          <p:cNvPicPr>
            <a:picLocks noChangeAspect="1"/>
          </p:cNvPicPr>
          <p:nvPr/>
        </p:nvPicPr>
        <p:blipFill>
          <a:blip r:embed="rId1"/>
          <a:stretch>
            <a:fillRect/>
          </a:stretch>
        </p:blipFill>
        <p:spPr>
          <a:xfrm>
            <a:off x="913303" y="2070019"/>
            <a:ext cx="294803" cy="294803"/>
          </a:xfrm>
          <a:prstGeom prst="rect">
            <a:avLst/>
          </a:prstGeom>
        </p:spPr>
      </p:pic>
      <p:sp>
        <p:nvSpPr>
          <p:cNvPr id="10" name="Text 6"/>
          <p:cNvSpPr txBox="1"/>
          <p:nvPr/>
        </p:nvSpPr>
        <p:spPr>
          <a:xfrm>
            <a:off x="1554480" y="1819656"/>
            <a:ext cx="9966960" cy="384048"/>
          </a:xfrm>
          <a:prstGeom prst="rect">
            <a:avLst/>
          </a:prstGeom>
          <a:noFill/>
          <a:ln/>
        </p:spPr>
        <p:txBody>
          <a:bodyPr wrap="square" lIns="0" tIns="0" rIns="0" bIns="0" rtlCol="0" anchor="ctr"/>
          <a:lstStyle/>
          <a:p>
            <a:pPr indent="0" marL="0">
              <a:buNone/>
            </a:pPr>
            <a:r>
              <a:rPr lang="en-US" sz="1800" b="1" dirty="0">
                <a:solidFill>
                  <a:srgbClr val="1B2A38"/>
                </a:solidFill>
                <a:latin typeface="Calibri" pitchFamily="34" charset="0"/>
                <a:ea typeface="Calibri" pitchFamily="34" charset="-122"/>
                <a:cs typeface="Calibri" pitchFamily="34" charset="-120"/>
              </a:rPr>
              <a:t>Dùng được các tính năng Claude cần cho khóa học</a:t>
            </a:r>
            <a:endParaRPr lang="en-US" sz="1800" dirty="0"/>
          </a:p>
        </p:txBody>
      </p:sp>
      <p:sp>
        <p:nvSpPr>
          <p:cNvPr id="11" name="Text 7"/>
          <p:cNvSpPr txBox="1"/>
          <p:nvPr/>
        </p:nvSpPr>
        <p:spPr>
          <a:xfrm>
            <a:off x="1554480" y="2194560"/>
            <a:ext cx="9966960" cy="484632"/>
          </a:xfrm>
          <a:prstGeom prst="rect">
            <a:avLst/>
          </a:prstGeom>
          <a:noFill/>
          <a:ln/>
        </p:spPr>
        <p:txBody>
          <a:bodyPr wrap="square" lIns="0" tIns="0" rIns="0" bIns="0" rtlCol="0" anchor="t"/>
          <a:lstStyle/>
          <a:p>
            <a:pPr indent="0" marL="0">
              <a:buNone/>
            </a:pPr>
            <a:r>
              <a:rPr lang="en-US" sz="1400" dirty="0">
                <a:solidFill>
                  <a:srgbClr val="6B7785"/>
                </a:solidFill>
                <a:latin typeface="Calibri" pitchFamily="34" charset="0"/>
                <a:ea typeface="Calibri" pitchFamily="34" charset="-122"/>
                <a:cs typeface="Calibri" pitchFamily="34" charset="-120"/>
              </a:rPr>
              <a:t>Chat với file, Projects, Artifacts, Skills — biết khi nào dùng cái nào, và khi nào KHÔNG nên dùng.</a:t>
            </a:r>
            <a:endParaRPr lang="en-US" sz="1400" dirty="0"/>
          </a:p>
        </p:txBody>
      </p:sp>
      <p:sp>
        <p:nvSpPr>
          <p:cNvPr id="12" name="Shape 8"/>
          <p:cNvSpPr/>
          <p:nvPr/>
        </p:nvSpPr>
        <p:spPr>
          <a:xfrm>
            <a:off x="548640" y="2971800"/>
            <a:ext cx="11094415" cy="1051560"/>
          </a:xfrm>
          <a:prstGeom prst="roundRect">
            <a:avLst>
              <a:gd name="adj" fmla="val 8696"/>
            </a:avLst>
          </a:prstGeom>
          <a:solidFill>
            <a:srgbClr val="F2F4F6"/>
          </a:solidFill>
          <a:ln w="12700">
            <a:solidFill>
              <a:srgbClr val="F2F4F6"/>
            </a:solidFill>
            <a:prstDash val="solid"/>
          </a:ln>
        </p:spPr>
      </p:sp>
      <p:sp>
        <p:nvSpPr>
          <p:cNvPr id="13" name="Shape 9"/>
          <p:cNvSpPr/>
          <p:nvPr/>
        </p:nvSpPr>
        <p:spPr>
          <a:xfrm>
            <a:off x="777240" y="3214116"/>
            <a:ext cx="566928" cy="566928"/>
          </a:xfrm>
          <a:prstGeom prst="roundRect">
            <a:avLst>
              <a:gd name="adj" fmla="val 22000"/>
            </a:avLst>
          </a:prstGeom>
          <a:solidFill>
            <a:srgbClr val="D9773A"/>
          </a:solidFill>
          <a:ln w="12700">
            <a:solidFill>
              <a:srgbClr val="D9773A"/>
            </a:solidFill>
            <a:prstDash val="solid"/>
          </a:ln>
        </p:spPr>
      </p:sp>
      <p:pic>
        <p:nvPicPr>
          <p:cNvPr id="14" name="Image 1" descr="preencoded.png">    </p:cNvPr>
          <p:cNvPicPr>
            <a:picLocks noChangeAspect="1"/>
          </p:cNvPicPr>
          <p:nvPr/>
        </p:nvPicPr>
        <p:blipFill>
          <a:blip r:embed="rId2"/>
          <a:stretch>
            <a:fillRect/>
          </a:stretch>
        </p:blipFill>
        <p:spPr>
          <a:xfrm>
            <a:off x="913303" y="3350179"/>
            <a:ext cx="294803" cy="294803"/>
          </a:xfrm>
          <a:prstGeom prst="rect">
            <a:avLst/>
          </a:prstGeom>
        </p:spPr>
      </p:pic>
      <p:sp>
        <p:nvSpPr>
          <p:cNvPr id="15" name="Text 10"/>
          <p:cNvSpPr txBox="1"/>
          <p:nvPr/>
        </p:nvSpPr>
        <p:spPr>
          <a:xfrm>
            <a:off x="1554480" y="3099816"/>
            <a:ext cx="9966960" cy="384048"/>
          </a:xfrm>
          <a:prstGeom prst="rect">
            <a:avLst/>
          </a:prstGeom>
          <a:noFill/>
          <a:ln/>
        </p:spPr>
        <p:txBody>
          <a:bodyPr wrap="square" lIns="0" tIns="0" rIns="0" bIns="0" rtlCol="0" anchor="ctr"/>
          <a:lstStyle/>
          <a:p>
            <a:pPr indent="0" marL="0">
              <a:buNone/>
            </a:pPr>
            <a:r>
              <a:rPr lang="en-US" sz="1800" b="1" dirty="0">
                <a:solidFill>
                  <a:srgbClr val="1B2A38"/>
                </a:solidFill>
                <a:latin typeface="Calibri" pitchFamily="34" charset="0"/>
                <a:ea typeface="Calibri" pitchFamily="34" charset="-122"/>
                <a:cs typeface="Calibri" pitchFamily="34" charset="-120"/>
              </a:rPr>
              <a:t>Viết prompt phân tích dữ liệu theo công thức R-C-T-F-C</a:t>
            </a:r>
            <a:endParaRPr lang="en-US" sz="1800" dirty="0"/>
          </a:p>
        </p:txBody>
      </p:sp>
      <p:sp>
        <p:nvSpPr>
          <p:cNvPr id="16" name="Text 11"/>
          <p:cNvSpPr txBox="1"/>
          <p:nvPr/>
        </p:nvSpPr>
        <p:spPr>
          <a:xfrm>
            <a:off x="1554480" y="3474720"/>
            <a:ext cx="9966960" cy="484632"/>
          </a:xfrm>
          <a:prstGeom prst="rect">
            <a:avLst/>
          </a:prstGeom>
          <a:noFill/>
          <a:ln/>
        </p:spPr>
        <p:txBody>
          <a:bodyPr wrap="square" lIns="0" tIns="0" rIns="0" bIns="0" rtlCol="0" anchor="t"/>
          <a:lstStyle/>
          <a:p>
            <a:pPr indent="0" marL="0">
              <a:buNone/>
            </a:pPr>
            <a:r>
              <a:rPr lang="en-US" sz="1400" dirty="0">
                <a:solidFill>
                  <a:srgbClr val="6B7785"/>
                </a:solidFill>
                <a:latin typeface="Calibri" pitchFamily="34" charset="0"/>
                <a:ea typeface="Calibri" pitchFamily="34" charset="-122"/>
                <a:cs typeface="Calibri" pitchFamily="34" charset="-120"/>
              </a:rPr>
              <a:t>Vai trò – Bối cảnh – Nhiệm vụ – Định dạng – Ràng buộc. Prompt đủ 5 phần cho kết quả kiểm chứng được.</a:t>
            </a:r>
            <a:endParaRPr lang="en-US" sz="1400" dirty="0"/>
          </a:p>
        </p:txBody>
      </p:sp>
      <p:sp>
        <p:nvSpPr>
          <p:cNvPr id="17" name="Shape 12"/>
          <p:cNvSpPr/>
          <p:nvPr/>
        </p:nvSpPr>
        <p:spPr>
          <a:xfrm>
            <a:off x="548640" y="4251960"/>
            <a:ext cx="11094415" cy="1051560"/>
          </a:xfrm>
          <a:prstGeom prst="roundRect">
            <a:avLst>
              <a:gd name="adj" fmla="val 8696"/>
            </a:avLst>
          </a:prstGeom>
          <a:solidFill>
            <a:srgbClr val="F2F4F6"/>
          </a:solidFill>
          <a:ln w="12700">
            <a:solidFill>
              <a:srgbClr val="F2F4F6"/>
            </a:solidFill>
            <a:prstDash val="solid"/>
          </a:ln>
        </p:spPr>
      </p:sp>
      <p:sp>
        <p:nvSpPr>
          <p:cNvPr id="18" name="Shape 13"/>
          <p:cNvSpPr/>
          <p:nvPr/>
        </p:nvSpPr>
        <p:spPr>
          <a:xfrm>
            <a:off x="777240" y="4494276"/>
            <a:ext cx="566928" cy="566928"/>
          </a:xfrm>
          <a:prstGeom prst="roundRect">
            <a:avLst>
              <a:gd name="adj" fmla="val 22000"/>
            </a:avLst>
          </a:prstGeom>
          <a:solidFill>
            <a:srgbClr val="D9773A"/>
          </a:solidFill>
          <a:ln w="12700">
            <a:solidFill>
              <a:srgbClr val="D9773A"/>
            </a:solidFill>
            <a:prstDash val="solid"/>
          </a:ln>
        </p:spPr>
      </p:sp>
      <p:pic>
        <p:nvPicPr>
          <p:cNvPr id="19" name="Image 2" descr="preencoded.png">    </p:cNvPr>
          <p:cNvPicPr>
            <a:picLocks noChangeAspect="1"/>
          </p:cNvPicPr>
          <p:nvPr/>
        </p:nvPicPr>
        <p:blipFill>
          <a:blip r:embed="rId3"/>
          <a:stretch>
            <a:fillRect/>
          </a:stretch>
        </p:blipFill>
        <p:spPr>
          <a:xfrm>
            <a:off x="913303" y="4630339"/>
            <a:ext cx="294803" cy="294803"/>
          </a:xfrm>
          <a:prstGeom prst="rect">
            <a:avLst/>
          </a:prstGeom>
        </p:spPr>
      </p:pic>
      <p:sp>
        <p:nvSpPr>
          <p:cNvPr id="20" name="Text 14"/>
          <p:cNvSpPr txBox="1"/>
          <p:nvPr/>
        </p:nvSpPr>
        <p:spPr>
          <a:xfrm>
            <a:off x="1554480" y="4379976"/>
            <a:ext cx="9966960" cy="384048"/>
          </a:xfrm>
          <a:prstGeom prst="rect">
            <a:avLst/>
          </a:prstGeom>
          <a:noFill/>
          <a:ln/>
        </p:spPr>
        <p:txBody>
          <a:bodyPr wrap="square" lIns="0" tIns="0" rIns="0" bIns="0" rtlCol="0" anchor="ctr"/>
          <a:lstStyle/>
          <a:p>
            <a:pPr indent="0" marL="0">
              <a:buNone/>
            </a:pPr>
            <a:r>
              <a:rPr lang="en-US" sz="1800" b="1" dirty="0">
                <a:solidFill>
                  <a:srgbClr val="1B2A38"/>
                </a:solidFill>
                <a:latin typeface="Calibri" pitchFamily="34" charset="0"/>
                <a:ea typeface="Calibri" pitchFamily="34" charset="-122"/>
                <a:cs typeface="Calibri" pitchFamily="34" charset="-120"/>
              </a:rPr>
              <a:t>Hiểu cấu trúc 3 nguồn dữ liệu và xây Từ điển dữ liệu v1</a:t>
            </a:r>
            <a:endParaRPr lang="en-US" sz="1800" dirty="0"/>
          </a:p>
        </p:txBody>
      </p:sp>
      <p:sp>
        <p:nvSpPr>
          <p:cNvPr id="21" name="Text 15"/>
          <p:cNvSpPr txBox="1"/>
          <p:nvPr/>
        </p:nvSpPr>
        <p:spPr>
          <a:xfrm>
            <a:off x="1554480" y="4754880"/>
            <a:ext cx="9966960" cy="484632"/>
          </a:xfrm>
          <a:prstGeom prst="rect">
            <a:avLst/>
          </a:prstGeom>
          <a:noFill/>
          <a:ln/>
        </p:spPr>
        <p:txBody>
          <a:bodyPr wrap="square" lIns="0" tIns="0" rIns="0" bIns="0" rtlCol="0" anchor="t"/>
          <a:lstStyle/>
          <a:p>
            <a:pPr indent="0" marL="0">
              <a:buNone/>
            </a:pPr>
            <a:r>
              <a:rPr lang="en-US" sz="1400" dirty="0">
                <a:solidFill>
                  <a:srgbClr val="6B7785"/>
                </a:solidFill>
                <a:latin typeface="Calibri" pitchFamily="34" charset="0"/>
                <a:ea typeface="Calibri" pitchFamily="34" charset="-122"/>
                <a:cs typeface="Calibri" pitchFamily="34" charset="-120"/>
              </a:rPr>
              <a:t>Mỗi dòng là gì, khóa nối là gì, lỗi nào hay gặp nhất — và chốt bảng nối mã agent ↔ nhân viên.</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896112" cy="292608"/>
          </a:xfrm>
          <a:prstGeom prst="roundRect">
            <a:avLst>
              <a:gd name="adj" fmla="val 50000"/>
            </a:avLst>
          </a:prstGeom>
          <a:solidFill>
            <a:srgbClr val="F2F4F6"/>
          </a:solidFill>
          <a:ln w="12700">
            <a:solidFill>
              <a:srgbClr val="F2F4F6"/>
            </a:solidFill>
            <a:prstDash val="solid"/>
          </a:ln>
        </p:spPr>
      </p:sp>
      <p:sp>
        <p:nvSpPr>
          <p:cNvPr id="3" name="Text 1"/>
          <p:cNvSpPr txBox="1"/>
          <p:nvPr/>
        </p:nvSpPr>
        <p:spPr>
          <a:xfrm>
            <a:off x="548640" y="384048"/>
            <a:ext cx="896112" cy="292608"/>
          </a:xfrm>
          <a:prstGeom prst="rect">
            <a:avLst/>
          </a:prstGeom>
          <a:noFill/>
          <a:ln/>
        </p:spPr>
        <p:txBody>
          <a:bodyPr wrap="square" lIns="0" tIns="0" rIns="0" bIns="0" rtlCol="0" anchor="ctr"/>
          <a:lstStyle/>
          <a:p>
            <a:pPr algn="ctr" indent="0" marL="0">
              <a:buNone/>
            </a:pPr>
            <a:r>
              <a:rPr lang="en-US" sz="1050" b="1" spc="150" kern="0" dirty="0">
                <a:solidFill>
                  <a:srgbClr val="2B3E50"/>
                </a:solidFill>
                <a:latin typeface="Calibri" pitchFamily="34" charset="0"/>
                <a:ea typeface="Calibri" pitchFamily="34" charset="-122"/>
                <a:cs typeface="Calibri" pitchFamily="34" charset="-120"/>
              </a:rPr>
              <a:t>LỘ TRÌNH</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Lịch 120 phút</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1 · Nền tảng Claude &amp; dữ liệu</a:t>
            </a:r>
            <a:endParaRPr lang="en-US" sz="1000" dirty="0"/>
          </a:p>
        </p:txBody>
      </p:sp>
      <p:sp>
        <p:nvSpPr>
          <p:cNvPr id="7" name="Shape 4"/>
          <p:cNvSpPr/>
          <p:nvPr/>
        </p:nvSpPr>
        <p:spPr>
          <a:xfrm>
            <a:off x="548640" y="1783080"/>
            <a:ext cx="887959" cy="502920"/>
          </a:xfrm>
          <a:prstGeom prst="rect">
            <a:avLst/>
          </a:prstGeom>
          <a:solidFill>
            <a:srgbClr val="6E4E9E"/>
          </a:solidFill>
          <a:ln w="12700">
            <a:solidFill>
              <a:srgbClr val="6E4E9E"/>
            </a:solidFill>
            <a:prstDash val="solid"/>
          </a:ln>
        </p:spPr>
      </p:sp>
      <p:sp>
        <p:nvSpPr>
          <p:cNvPr id="8" name="Text 5"/>
          <p:cNvSpPr txBox="1"/>
          <p:nvPr/>
        </p:nvSpPr>
        <p:spPr>
          <a:xfrm>
            <a:off x="548640" y="1783080"/>
            <a:ext cx="887959"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9" name="Shape 6"/>
          <p:cNvSpPr/>
          <p:nvPr/>
        </p:nvSpPr>
        <p:spPr>
          <a:xfrm>
            <a:off x="1473175" y="1783080"/>
            <a:ext cx="2737028" cy="502920"/>
          </a:xfrm>
          <a:prstGeom prst="rect">
            <a:avLst/>
          </a:prstGeom>
          <a:solidFill>
            <a:srgbClr val="D9773A"/>
          </a:solidFill>
          <a:ln w="12700">
            <a:solidFill>
              <a:srgbClr val="D9773A"/>
            </a:solidFill>
            <a:prstDash val="solid"/>
          </a:ln>
        </p:spPr>
      </p:sp>
      <p:sp>
        <p:nvSpPr>
          <p:cNvPr id="10" name="Text 7"/>
          <p:cNvSpPr txBox="1"/>
          <p:nvPr/>
        </p:nvSpPr>
        <p:spPr>
          <a:xfrm>
            <a:off x="1473175" y="1783080"/>
            <a:ext cx="2737028"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30’</a:t>
            </a:r>
            <a:endParaRPr lang="en-US" sz="1300" dirty="0"/>
          </a:p>
        </p:txBody>
      </p:sp>
      <p:sp>
        <p:nvSpPr>
          <p:cNvPr id="11" name="Shape 8"/>
          <p:cNvSpPr/>
          <p:nvPr/>
        </p:nvSpPr>
        <p:spPr>
          <a:xfrm>
            <a:off x="4246778" y="1783080"/>
            <a:ext cx="5972899" cy="502920"/>
          </a:xfrm>
          <a:prstGeom prst="rect">
            <a:avLst/>
          </a:prstGeom>
          <a:solidFill>
            <a:srgbClr val="2E7D7A"/>
          </a:solidFill>
          <a:ln w="12700">
            <a:solidFill>
              <a:srgbClr val="2E7D7A"/>
            </a:solidFill>
            <a:prstDash val="solid"/>
          </a:ln>
        </p:spPr>
      </p:sp>
      <p:sp>
        <p:nvSpPr>
          <p:cNvPr id="12" name="Text 9"/>
          <p:cNvSpPr txBox="1"/>
          <p:nvPr/>
        </p:nvSpPr>
        <p:spPr>
          <a:xfrm>
            <a:off x="4246778" y="1783080"/>
            <a:ext cx="5972899"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65’</a:t>
            </a:r>
            <a:endParaRPr lang="en-US" sz="1300" dirty="0"/>
          </a:p>
        </p:txBody>
      </p:sp>
      <p:sp>
        <p:nvSpPr>
          <p:cNvPr id="13" name="Shape 10"/>
          <p:cNvSpPr/>
          <p:nvPr/>
        </p:nvSpPr>
        <p:spPr>
          <a:xfrm>
            <a:off x="10256253" y="1783080"/>
            <a:ext cx="887959" cy="502920"/>
          </a:xfrm>
          <a:prstGeom prst="rect">
            <a:avLst/>
          </a:prstGeom>
          <a:solidFill>
            <a:srgbClr val="6E4E9E"/>
          </a:solidFill>
          <a:ln w="12700">
            <a:solidFill>
              <a:srgbClr val="6E4E9E"/>
            </a:solidFill>
            <a:prstDash val="solid"/>
          </a:ln>
        </p:spPr>
      </p:sp>
      <p:sp>
        <p:nvSpPr>
          <p:cNvPr id="14" name="Text 11"/>
          <p:cNvSpPr txBox="1"/>
          <p:nvPr/>
        </p:nvSpPr>
        <p:spPr>
          <a:xfrm>
            <a:off x="10256253" y="1783080"/>
            <a:ext cx="887959"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15" name="Shape 12"/>
          <p:cNvSpPr/>
          <p:nvPr/>
        </p:nvSpPr>
        <p:spPr>
          <a:xfrm>
            <a:off x="11180788" y="1783080"/>
            <a:ext cx="425691" cy="502920"/>
          </a:xfrm>
          <a:prstGeom prst="rect">
            <a:avLst/>
          </a:prstGeom>
          <a:solidFill>
            <a:srgbClr val="D9773A"/>
          </a:solidFill>
          <a:ln w="12700">
            <a:solidFill>
              <a:srgbClr val="D9773A"/>
            </a:solidFill>
            <a:prstDash val="solid"/>
          </a:ln>
        </p:spPr>
      </p:sp>
      <p:sp>
        <p:nvSpPr>
          <p:cNvPr id="16" name="Shape 13"/>
          <p:cNvSpPr/>
          <p:nvPr/>
        </p:nvSpPr>
        <p:spPr>
          <a:xfrm>
            <a:off x="548640" y="2743200"/>
            <a:ext cx="201168" cy="201168"/>
          </a:xfrm>
          <a:prstGeom prst="ellipse">
            <a:avLst/>
          </a:prstGeom>
          <a:solidFill>
            <a:srgbClr val="6E4E9E"/>
          </a:solidFill>
          <a:ln w="12700">
            <a:solidFill>
              <a:srgbClr val="6E4E9E"/>
            </a:solidFill>
            <a:prstDash val="solid"/>
          </a:ln>
        </p:spPr>
      </p:sp>
      <p:sp>
        <p:nvSpPr>
          <p:cNvPr id="17" name="Text 14"/>
          <p:cNvSpPr txBox="1"/>
          <p:nvPr/>
        </p:nvSpPr>
        <p:spPr>
          <a:xfrm>
            <a:off x="914400" y="2651760"/>
            <a:ext cx="1188720" cy="384048"/>
          </a:xfrm>
          <a:prstGeom prst="rect">
            <a:avLst/>
          </a:prstGeom>
          <a:noFill/>
          <a:ln/>
        </p:spPr>
        <p:txBody>
          <a:bodyPr wrap="square" lIns="0" tIns="0" rIns="0" bIns="0" rtlCol="0" anchor="t"/>
          <a:lstStyle/>
          <a:p>
            <a:pPr indent="0" marL="0">
              <a:buNone/>
            </a:pPr>
            <a:r>
              <a:rPr lang="en-US" sz="1500" b="1" dirty="0">
                <a:solidFill>
                  <a:srgbClr val="6E4E9E"/>
                </a:solidFill>
                <a:latin typeface="Calibri" pitchFamily="34" charset="0"/>
                <a:ea typeface="Calibri" pitchFamily="34" charset="-122"/>
                <a:cs typeface="Calibri" pitchFamily="34" charset="-120"/>
              </a:rPr>
              <a:t>0–10</a:t>
            </a:r>
            <a:endParaRPr lang="en-US" sz="1500" dirty="0"/>
          </a:p>
        </p:txBody>
      </p:sp>
      <p:sp>
        <p:nvSpPr>
          <p:cNvPr id="18" name="Text 15"/>
          <p:cNvSpPr txBox="1"/>
          <p:nvPr/>
        </p:nvSpPr>
        <p:spPr>
          <a:xfrm>
            <a:off x="2148840" y="2651760"/>
            <a:ext cx="9418320" cy="667512"/>
          </a:xfrm>
          <a:prstGeom prst="rect">
            <a:avLst/>
          </a:prstGeom>
          <a:noFill/>
          <a:ln/>
        </p:spPr>
        <p:txBody>
          <a:bodyPr wrap="square" lIns="0" tIns="0" rIns="0" bIns="0" rtlCol="0" anchor="t"/>
          <a:lstStyle/>
          <a:p>
            <a:pPr indent="0" marL="0">
              <a:buNone/>
            </a:pPr>
            <a:r>
              <a:rPr lang="en-US" sz="1500" dirty="0">
                <a:solidFill>
                  <a:srgbClr val="1B2A38"/>
                </a:solidFill>
                <a:latin typeface="Calibri" pitchFamily="34" charset="0"/>
                <a:ea typeface="Calibri" pitchFamily="34" charset="-122"/>
                <a:cs typeface="Calibri" pitchFamily="34" charset="-120"/>
              </a:rPr>
              <a:t>Khai mạc · kết quả khảo sát (mất bao nhiêu giờ, lỗi nào hay gặp) · CEO nêu mục tiêu</a:t>
            </a:r>
            <a:endParaRPr lang="en-US" sz="1500" dirty="0"/>
          </a:p>
        </p:txBody>
      </p:sp>
      <p:sp>
        <p:nvSpPr>
          <p:cNvPr id="19" name="Shape 16"/>
          <p:cNvSpPr/>
          <p:nvPr/>
        </p:nvSpPr>
        <p:spPr>
          <a:xfrm>
            <a:off x="548640" y="3456432"/>
            <a:ext cx="201168" cy="201168"/>
          </a:xfrm>
          <a:prstGeom prst="ellipse">
            <a:avLst/>
          </a:prstGeom>
          <a:solidFill>
            <a:srgbClr val="D9773A"/>
          </a:solidFill>
          <a:ln w="12700">
            <a:solidFill>
              <a:srgbClr val="D9773A"/>
            </a:solidFill>
            <a:prstDash val="solid"/>
          </a:ln>
        </p:spPr>
      </p:sp>
      <p:sp>
        <p:nvSpPr>
          <p:cNvPr id="20" name="Text 17"/>
          <p:cNvSpPr txBox="1"/>
          <p:nvPr/>
        </p:nvSpPr>
        <p:spPr>
          <a:xfrm>
            <a:off x="914400" y="3364992"/>
            <a:ext cx="1188720" cy="384048"/>
          </a:xfrm>
          <a:prstGeom prst="rect">
            <a:avLst/>
          </a:prstGeom>
          <a:noFill/>
          <a:ln/>
        </p:spPr>
        <p:txBody>
          <a:bodyPr wrap="square" lIns="0" tIns="0" rIns="0" bIns="0" rtlCol="0" anchor="t"/>
          <a:lstStyle/>
          <a:p>
            <a:pPr indent="0" marL="0">
              <a:buNone/>
            </a:pPr>
            <a:r>
              <a:rPr lang="en-US" sz="1500" b="1" dirty="0">
                <a:solidFill>
                  <a:srgbClr val="D9773A"/>
                </a:solidFill>
                <a:latin typeface="Calibri" pitchFamily="34" charset="0"/>
                <a:ea typeface="Calibri" pitchFamily="34" charset="-122"/>
                <a:cs typeface="Calibri" pitchFamily="34" charset="-120"/>
              </a:rPr>
              <a:t>10–40</a:t>
            </a:r>
            <a:endParaRPr lang="en-US" sz="1500" dirty="0"/>
          </a:p>
        </p:txBody>
      </p:sp>
      <p:sp>
        <p:nvSpPr>
          <p:cNvPr id="21" name="Text 18"/>
          <p:cNvSpPr txBox="1"/>
          <p:nvPr/>
        </p:nvSpPr>
        <p:spPr>
          <a:xfrm>
            <a:off x="2148840" y="3364992"/>
            <a:ext cx="9418320" cy="667512"/>
          </a:xfrm>
          <a:prstGeom prst="rect">
            <a:avLst/>
          </a:prstGeom>
          <a:noFill/>
          <a:ln/>
        </p:spPr>
        <p:txBody>
          <a:bodyPr wrap="square" lIns="0" tIns="0" rIns="0" bIns="0" rtlCol="0" anchor="t"/>
          <a:lstStyle/>
          <a:p>
            <a:pPr indent="0" marL="0">
              <a:buNone/>
            </a:pPr>
            <a:r>
              <a:rPr lang="en-US" sz="1500" dirty="0">
                <a:solidFill>
                  <a:srgbClr val="1B2A38"/>
                </a:solidFill>
                <a:latin typeface="Calibri" pitchFamily="34" charset="0"/>
                <a:ea typeface="Calibri" pitchFamily="34" charset="-122"/>
                <a:cs typeface="Calibri" pitchFamily="34" charset="-120"/>
              </a:rPr>
              <a:t>Claude làm được gì · giới hạn &amp; an toàn · công thức R-C-T-F-C · giải phẫu 3 nguồn dữ liệu</a:t>
            </a:r>
            <a:endParaRPr lang="en-US" sz="1500" dirty="0"/>
          </a:p>
        </p:txBody>
      </p:sp>
      <p:sp>
        <p:nvSpPr>
          <p:cNvPr id="22" name="Shape 19"/>
          <p:cNvSpPr/>
          <p:nvPr/>
        </p:nvSpPr>
        <p:spPr>
          <a:xfrm>
            <a:off x="548640" y="4169664"/>
            <a:ext cx="201168" cy="201168"/>
          </a:xfrm>
          <a:prstGeom prst="ellipse">
            <a:avLst/>
          </a:prstGeom>
          <a:solidFill>
            <a:srgbClr val="2E7D7A"/>
          </a:solidFill>
          <a:ln w="12700">
            <a:solidFill>
              <a:srgbClr val="2E7D7A"/>
            </a:solidFill>
            <a:prstDash val="solid"/>
          </a:ln>
        </p:spPr>
      </p:sp>
      <p:sp>
        <p:nvSpPr>
          <p:cNvPr id="23" name="Text 20"/>
          <p:cNvSpPr txBox="1"/>
          <p:nvPr/>
        </p:nvSpPr>
        <p:spPr>
          <a:xfrm>
            <a:off x="914400" y="4078224"/>
            <a:ext cx="1188720" cy="384048"/>
          </a:xfrm>
          <a:prstGeom prst="rect">
            <a:avLst/>
          </a:prstGeom>
          <a:noFill/>
          <a:ln/>
        </p:spPr>
        <p:txBody>
          <a:bodyPr wrap="square" lIns="0" tIns="0" rIns="0" bIns="0" rtlCol="0" anchor="t"/>
          <a:lstStyle/>
          <a:p>
            <a:pPr indent="0" marL="0">
              <a:buNone/>
            </a:pPr>
            <a:r>
              <a:rPr lang="en-US" sz="1500" b="1" dirty="0">
                <a:solidFill>
                  <a:srgbClr val="2E7D7A"/>
                </a:solidFill>
                <a:latin typeface="Calibri" pitchFamily="34" charset="0"/>
                <a:ea typeface="Calibri" pitchFamily="34" charset="-122"/>
                <a:cs typeface="Calibri" pitchFamily="34" charset="-120"/>
              </a:rPr>
              <a:t>40–105</a:t>
            </a:r>
            <a:endParaRPr lang="en-US" sz="1500" dirty="0"/>
          </a:p>
        </p:txBody>
      </p:sp>
      <p:sp>
        <p:nvSpPr>
          <p:cNvPr id="24" name="Text 21"/>
          <p:cNvSpPr txBox="1"/>
          <p:nvPr/>
        </p:nvSpPr>
        <p:spPr>
          <a:xfrm>
            <a:off x="2148840" y="4078224"/>
            <a:ext cx="9418320" cy="667512"/>
          </a:xfrm>
          <a:prstGeom prst="rect">
            <a:avLst/>
          </a:prstGeom>
          <a:noFill/>
          <a:ln/>
        </p:spPr>
        <p:txBody>
          <a:bodyPr wrap="square" lIns="0" tIns="0" rIns="0" bIns="0" rtlCol="0" anchor="t"/>
          <a:lstStyle/>
          <a:p>
            <a:pPr indent="0" marL="0">
              <a:buNone/>
            </a:pPr>
            <a:r>
              <a:rPr lang="en-US" sz="1500" dirty="0">
                <a:solidFill>
                  <a:srgbClr val="1B2A38"/>
                </a:solidFill>
                <a:latin typeface="Calibri" pitchFamily="34" charset="0"/>
                <a:ea typeface="Calibri" pitchFamily="34" charset="-122"/>
                <a:cs typeface="Calibri" pitchFamily="34" charset="-120"/>
              </a:rPr>
              <a:t>Lab 1.1 Tạo Project (15’) · Lab 1.2 Kiểm tra chất lượng call log (25’) · Lab 1.3 Từ điển dữ liệu (25’)</a:t>
            </a:r>
            <a:endParaRPr lang="en-US" sz="1500" dirty="0"/>
          </a:p>
        </p:txBody>
      </p:sp>
      <p:sp>
        <p:nvSpPr>
          <p:cNvPr id="25" name="Shape 22"/>
          <p:cNvSpPr/>
          <p:nvPr/>
        </p:nvSpPr>
        <p:spPr>
          <a:xfrm>
            <a:off x="548640" y="4882896"/>
            <a:ext cx="201168" cy="201168"/>
          </a:xfrm>
          <a:prstGeom prst="ellipse">
            <a:avLst/>
          </a:prstGeom>
          <a:solidFill>
            <a:srgbClr val="6E4E9E"/>
          </a:solidFill>
          <a:ln w="12700">
            <a:solidFill>
              <a:srgbClr val="6E4E9E"/>
            </a:solidFill>
            <a:prstDash val="solid"/>
          </a:ln>
        </p:spPr>
      </p:sp>
      <p:sp>
        <p:nvSpPr>
          <p:cNvPr id="26" name="Text 23"/>
          <p:cNvSpPr txBox="1"/>
          <p:nvPr/>
        </p:nvSpPr>
        <p:spPr>
          <a:xfrm>
            <a:off x="914400" y="4791456"/>
            <a:ext cx="1188720" cy="384048"/>
          </a:xfrm>
          <a:prstGeom prst="rect">
            <a:avLst/>
          </a:prstGeom>
          <a:noFill/>
          <a:ln/>
        </p:spPr>
        <p:txBody>
          <a:bodyPr wrap="square" lIns="0" tIns="0" rIns="0" bIns="0" rtlCol="0" anchor="t"/>
          <a:lstStyle/>
          <a:p>
            <a:pPr indent="0" marL="0">
              <a:buNone/>
            </a:pPr>
            <a:r>
              <a:rPr lang="en-US" sz="1500" b="1" dirty="0">
                <a:solidFill>
                  <a:srgbClr val="6E4E9E"/>
                </a:solidFill>
                <a:latin typeface="Calibri" pitchFamily="34" charset="0"/>
                <a:ea typeface="Calibri" pitchFamily="34" charset="-122"/>
                <a:cs typeface="Calibri" pitchFamily="34" charset="-120"/>
              </a:rPr>
              <a:t>105–115</a:t>
            </a:r>
            <a:endParaRPr lang="en-US" sz="1500" dirty="0"/>
          </a:p>
        </p:txBody>
      </p:sp>
      <p:sp>
        <p:nvSpPr>
          <p:cNvPr id="27" name="Text 24"/>
          <p:cNvSpPr txBox="1"/>
          <p:nvPr/>
        </p:nvSpPr>
        <p:spPr>
          <a:xfrm>
            <a:off x="2148840" y="4791456"/>
            <a:ext cx="9418320" cy="667512"/>
          </a:xfrm>
          <a:prstGeom prst="rect">
            <a:avLst/>
          </a:prstGeom>
          <a:noFill/>
          <a:ln/>
        </p:spPr>
        <p:txBody>
          <a:bodyPr wrap="square" lIns="0" tIns="0" rIns="0" bIns="0" rtlCol="0" anchor="t"/>
          <a:lstStyle/>
          <a:p>
            <a:pPr indent="0" marL="0">
              <a:buNone/>
            </a:pPr>
            <a:r>
              <a:rPr lang="en-US" sz="1500" dirty="0">
                <a:solidFill>
                  <a:srgbClr val="1B2A38"/>
                </a:solidFill>
                <a:latin typeface="Calibri" pitchFamily="34" charset="0"/>
                <a:ea typeface="Calibri" pitchFamily="34" charset="-122"/>
                <a:cs typeface="Calibri" pitchFamily="34" charset="-120"/>
              </a:rPr>
              <a:t>2 nhóm trình bày các lỗi dữ liệu tìm được</a:t>
            </a:r>
            <a:endParaRPr lang="en-US" sz="1500" dirty="0"/>
          </a:p>
        </p:txBody>
      </p:sp>
      <p:sp>
        <p:nvSpPr>
          <p:cNvPr id="28" name="Shape 25"/>
          <p:cNvSpPr/>
          <p:nvPr/>
        </p:nvSpPr>
        <p:spPr>
          <a:xfrm>
            <a:off x="548640" y="5596128"/>
            <a:ext cx="201168" cy="201168"/>
          </a:xfrm>
          <a:prstGeom prst="ellipse">
            <a:avLst/>
          </a:prstGeom>
          <a:solidFill>
            <a:srgbClr val="D9773A"/>
          </a:solidFill>
          <a:ln w="12700">
            <a:solidFill>
              <a:srgbClr val="D9773A"/>
            </a:solidFill>
            <a:prstDash val="solid"/>
          </a:ln>
        </p:spPr>
      </p:sp>
      <p:sp>
        <p:nvSpPr>
          <p:cNvPr id="29" name="Text 26"/>
          <p:cNvSpPr txBox="1"/>
          <p:nvPr/>
        </p:nvSpPr>
        <p:spPr>
          <a:xfrm>
            <a:off x="914400" y="5504688"/>
            <a:ext cx="1188720" cy="384048"/>
          </a:xfrm>
          <a:prstGeom prst="rect">
            <a:avLst/>
          </a:prstGeom>
          <a:noFill/>
          <a:ln/>
        </p:spPr>
        <p:txBody>
          <a:bodyPr wrap="square" lIns="0" tIns="0" rIns="0" bIns="0" rtlCol="0" anchor="t"/>
          <a:lstStyle/>
          <a:p>
            <a:pPr indent="0" marL="0">
              <a:buNone/>
            </a:pPr>
            <a:r>
              <a:rPr lang="en-US" sz="1500" b="1" dirty="0">
                <a:solidFill>
                  <a:srgbClr val="D9773A"/>
                </a:solidFill>
                <a:latin typeface="Calibri" pitchFamily="34" charset="0"/>
                <a:ea typeface="Calibri" pitchFamily="34" charset="-122"/>
                <a:cs typeface="Calibri" pitchFamily="34" charset="-120"/>
              </a:rPr>
              <a:t>115–120</a:t>
            </a:r>
            <a:endParaRPr lang="en-US" sz="1500" dirty="0"/>
          </a:p>
        </p:txBody>
      </p:sp>
      <p:sp>
        <p:nvSpPr>
          <p:cNvPr id="30" name="Text 27"/>
          <p:cNvSpPr txBox="1"/>
          <p:nvPr/>
        </p:nvSpPr>
        <p:spPr>
          <a:xfrm>
            <a:off x="2148840" y="5504688"/>
            <a:ext cx="9418320" cy="667512"/>
          </a:xfrm>
          <a:prstGeom prst="rect">
            <a:avLst/>
          </a:prstGeom>
          <a:noFill/>
          <a:ln/>
        </p:spPr>
        <p:txBody>
          <a:bodyPr wrap="square" lIns="0" tIns="0" rIns="0" bIns="0" rtlCol="0" anchor="t"/>
          <a:lstStyle/>
          <a:p>
            <a:pPr indent="0" marL="0">
              <a:buNone/>
            </a:pPr>
            <a:r>
              <a:rPr lang="en-US" sz="1500" dirty="0">
                <a:solidFill>
                  <a:srgbClr val="1B2A38"/>
                </a:solidFill>
                <a:latin typeface="Calibri" pitchFamily="34" charset="0"/>
                <a:ea typeface="Calibri" pitchFamily="34" charset="-122"/>
                <a:cs typeface="Calibri" pitchFamily="34" charset="-120"/>
              </a:rPr>
              <a:t>Giao bài thực hành tại nhà</a:t>
            </a:r>
            <a:endParaRPr lang="en-US" sz="15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677924" cy="292608"/>
          </a:xfrm>
          <a:prstGeom prst="roundRect">
            <a:avLst>
              <a:gd name="adj" fmla="val 50000"/>
            </a:avLst>
          </a:prstGeom>
          <a:solidFill>
            <a:srgbClr val="ECE6F5"/>
          </a:solidFill>
          <a:ln w="12700">
            <a:solidFill>
              <a:srgbClr val="ECE6F5"/>
            </a:solidFill>
            <a:prstDash val="solid"/>
          </a:ln>
        </p:spPr>
      </p:sp>
      <p:sp>
        <p:nvSpPr>
          <p:cNvPr id="3" name="Text 1"/>
          <p:cNvSpPr txBox="1"/>
          <p:nvPr/>
        </p:nvSpPr>
        <p:spPr>
          <a:xfrm>
            <a:off x="548640" y="384048"/>
            <a:ext cx="1677924" cy="292608"/>
          </a:xfrm>
          <a:prstGeom prst="rect">
            <a:avLst/>
          </a:prstGeom>
          <a:noFill/>
          <a:ln/>
        </p:spPr>
        <p:txBody>
          <a:bodyPr wrap="square" lIns="0" tIns="0" rIns="0" bIns="0" rtlCol="0" anchor="ctr"/>
          <a:lstStyle/>
          <a:p>
            <a:pPr algn="ctr" indent="0" marL="0">
              <a:buNone/>
            </a:pPr>
            <a:r>
              <a:rPr lang="en-US" sz="1050" b="1" spc="150" kern="0" dirty="0">
                <a:solidFill>
                  <a:srgbClr val="6E4E9E"/>
                </a:solidFill>
                <a:latin typeface="Calibri" pitchFamily="34" charset="0"/>
                <a:ea typeface="Calibri" pitchFamily="34" charset="-122"/>
                <a:cs typeface="Calibri" pitchFamily="34" charset="-120"/>
              </a:rPr>
              <a:t>REVIEW BÀI VỀ NHÀ</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Bức tranh trước khóa học ở Sao Việt</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1 · Nền tảng Claude &amp; dữ liệu</a:t>
            </a:r>
            <a:endParaRPr lang="en-US" sz="1000" dirty="0"/>
          </a:p>
        </p:txBody>
      </p:sp>
      <p:sp>
        <p:nvSpPr>
          <p:cNvPr id="7" name="Text 4"/>
          <p:cNvSpPr txBox="1"/>
          <p:nvPr/>
        </p:nvSpPr>
        <p:spPr>
          <a:xfrm>
            <a:off x="548640" y="1645920"/>
            <a:ext cx="11094415" cy="502920"/>
          </a:xfrm>
          <a:prstGeom prst="rect">
            <a:avLst/>
          </a:prstGeom>
          <a:noFill/>
          <a:ln/>
        </p:spPr>
        <p:txBody>
          <a:bodyPr wrap="square" lIns="0" tIns="0" rIns="0" bIns="0" rtlCol="0" anchor="t"/>
          <a:lstStyle/>
          <a:p>
            <a:pPr indent="0" marL="0">
              <a:buNone/>
            </a:pPr>
            <a:r>
              <a:rPr lang="en-US" sz="1600" i="1" dirty="0">
                <a:solidFill>
                  <a:srgbClr val="6B7785"/>
                </a:solidFill>
                <a:latin typeface="Calibri" pitchFamily="34" charset="0"/>
                <a:ea typeface="Calibri" pitchFamily="34" charset="-122"/>
                <a:cs typeface="Calibri" pitchFamily="34" charset="-120"/>
              </a:rPr>
              <a:t>Tình huống minh họa (hư cấu) — thay bằng kết quả khảo sát thật của lớp bạn.</a:t>
            </a:r>
            <a:endParaRPr lang="en-US" sz="1600" dirty="0"/>
          </a:p>
        </p:txBody>
      </p:sp>
      <p:sp>
        <p:nvSpPr>
          <p:cNvPr id="8" name="Shape 5"/>
          <p:cNvSpPr/>
          <p:nvPr/>
        </p:nvSpPr>
        <p:spPr>
          <a:xfrm>
            <a:off x="548640" y="2286000"/>
            <a:ext cx="2567864" cy="3200400"/>
          </a:xfrm>
          <a:prstGeom prst="roundRect">
            <a:avLst>
              <a:gd name="adj" fmla="val 3561"/>
            </a:avLst>
          </a:prstGeom>
          <a:solidFill>
            <a:srgbClr val="F2F4F6"/>
          </a:solidFill>
          <a:ln w="12700">
            <a:solidFill>
              <a:srgbClr val="F2F4F6"/>
            </a:solidFill>
            <a:prstDash val="solid"/>
          </a:ln>
        </p:spPr>
      </p:sp>
      <p:sp>
        <p:nvSpPr>
          <p:cNvPr id="9" name="Text 6"/>
          <p:cNvSpPr txBox="1"/>
          <p:nvPr/>
        </p:nvSpPr>
        <p:spPr>
          <a:xfrm>
            <a:off x="777240" y="2468880"/>
            <a:ext cx="2110664" cy="1005840"/>
          </a:xfrm>
          <a:prstGeom prst="rect">
            <a:avLst/>
          </a:prstGeom>
          <a:noFill/>
          <a:ln/>
        </p:spPr>
        <p:txBody>
          <a:bodyPr wrap="square" lIns="0" tIns="0" rIns="0" bIns="0" rtlCol="0" anchor="ctr"/>
          <a:lstStyle/>
          <a:p>
            <a:pPr indent="0" marL="0">
              <a:buNone/>
            </a:pPr>
            <a:r>
              <a:rPr lang="en-US" sz="4400" b="1" dirty="0">
                <a:solidFill>
                  <a:srgbClr val="D9773A"/>
                </a:solidFill>
                <a:latin typeface="Cambria" pitchFamily="34" charset="0"/>
                <a:ea typeface="Cambria" pitchFamily="34" charset="-122"/>
                <a:cs typeface="Cambria" pitchFamily="34" charset="-120"/>
              </a:rPr>
              <a:t>6 giờ</a:t>
            </a:r>
            <a:endParaRPr lang="en-US" sz="4400" dirty="0"/>
          </a:p>
        </p:txBody>
      </p:sp>
      <p:sp>
        <p:nvSpPr>
          <p:cNvPr id="10" name="Text 7"/>
          <p:cNvSpPr txBox="1"/>
          <p:nvPr/>
        </p:nvSpPr>
        <p:spPr>
          <a:xfrm>
            <a:off x="777240" y="3520440"/>
            <a:ext cx="2110664" cy="658368"/>
          </a:xfrm>
          <a:prstGeom prst="rect">
            <a:avLst/>
          </a:prstGeom>
          <a:noFill/>
          <a:ln/>
        </p:spPr>
        <p:txBody>
          <a:bodyPr wrap="square" lIns="0" tIns="0" rIns="0" bIns="0" rtlCol="0" anchor="t"/>
          <a:lstStyle/>
          <a:p>
            <a:pPr indent="0" marL="0">
              <a:buNone/>
            </a:pPr>
            <a:r>
              <a:rPr lang="en-US" sz="1550" b="1" dirty="0">
                <a:solidFill>
                  <a:srgbClr val="1B2A38"/>
                </a:solidFill>
                <a:latin typeface="Calibri" pitchFamily="34" charset="0"/>
                <a:ea typeface="Calibri" pitchFamily="34" charset="-122"/>
                <a:cs typeface="Calibri" pitchFamily="34" charset="-120"/>
              </a:rPr>
              <a:t>mỗi tuần tổng hợp sản lượng</a:t>
            </a:r>
            <a:endParaRPr lang="en-US" sz="1550" dirty="0"/>
          </a:p>
        </p:txBody>
      </p:sp>
      <p:sp>
        <p:nvSpPr>
          <p:cNvPr id="11" name="Text 8"/>
          <p:cNvSpPr txBox="1"/>
          <p:nvPr/>
        </p:nvSpPr>
        <p:spPr>
          <a:xfrm>
            <a:off x="777240" y="4233672"/>
            <a:ext cx="2110664" cy="1143000"/>
          </a:xfrm>
          <a:prstGeom prst="rect">
            <a:avLst/>
          </a:prstGeom>
          <a:noFill/>
          <a:ln/>
        </p:spPr>
        <p:txBody>
          <a:bodyPr wrap="square" lIns="0" tIns="0" rIns="0" bIns="0" rtlCol="0" anchor="t"/>
          <a:lstStyle/>
          <a:p>
            <a:pPr indent="0" marL="0">
              <a:buNone/>
            </a:pPr>
            <a:r>
              <a:rPr lang="en-US" sz="1250" dirty="0">
                <a:solidFill>
                  <a:srgbClr val="6B7785"/>
                </a:solidFill>
                <a:latin typeface="Calibri" pitchFamily="34" charset="0"/>
                <a:ea typeface="Calibri" pitchFamily="34" charset="-122"/>
                <a:cs typeface="Calibri" pitchFamily="34" charset="-120"/>
              </a:rPr>
              <a:t>Copy-paste từ tổng đài sang Excel, mỗi trưởng ca một file riêng.</a:t>
            </a:r>
            <a:endParaRPr lang="en-US" sz="1250" dirty="0"/>
          </a:p>
        </p:txBody>
      </p:sp>
      <p:sp>
        <p:nvSpPr>
          <p:cNvPr id="12" name="Shape 9"/>
          <p:cNvSpPr/>
          <p:nvPr/>
        </p:nvSpPr>
        <p:spPr>
          <a:xfrm>
            <a:off x="3390824" y="2286000"/>
            <a:ext cx="2567864" cy="3200400"/>
          </a:xfrm>
          <a:prstGeom prst="roundRect">
            <a:avLst>
              <a:gd name="adj" fmla="val 3561"/>
            </a:avLst>
          </a:prstGeom>
          <a:solidFill>
            <a:srgbClr val="F2F4F6"/>
          </a:solidFill>
          <a:ln w="12700">
            <a:solidFill>
              <a:srgbClr val="F2F4F6"/>
            </a:solidFill>
            <a:prstDash val="solid"/>
          </a:ln>
        </p:spPr>
      </p:sp>
      <p:sp>
        <p:nvSpPr>
          <p:cNvPr id="13" name="Text 10"/>
          <p:cNvSpPr txBox="1"/>
          <p:nvPr/>
        </p:nvSpPr>
        <p:spPr>
          <a:xfrm>
            <a:off x="3619424" y="2468880"/>
            <a:ext cx="2110664" cy="1005840"/>
          </a:xfrm>
          <a:prstGeom prst="rect">
            <a:avLst/>
          </a:prstGeom>
          <a:noFill/>
          <a:ln/>
        </p:spPr>
        <p:txBody>
          <a:bodyPr wrap="square" lIns="0" tIns="0" rIns="0" bIns="0" rtlCol="0" anchor="ctr"/>
          <a:lstStyle/>
          <a:p>
            <a:pPr indent="0" marL="0">
              <a:buNone/>
            </a:pPr>
            <a:r>
              <a:rPr lang="en-US" sz="4400" b="1" dirty="0">
                <a:solidFill>
                  <a:srgbClr val="D9773A"/>
                </a:solidFill>
                <a:latin typeface="Cambria" pitchFamily="34" charset="0"/>
                <a:ea typeface="Cambria" pitchFamily="34" charset="-122"/>
                <a:cs typeface="Cambria" pitchFamily="34" charset="-120"/>
              </a:rPr>
              <a:t>3 ngày</a:t>
            </a:r>
            <a:endParaRPr lang="en-US" sz="4400" dirty="0"/>
          </a:p>
        </p:txBody>
      </p:sp>
      <p:sp>
        <p:nvSpPr>
          <p:cNvPr id="14" name="Text 11"/>
          <p:cNvSpPr txBox="1"/>
          <p:nvPr/>
        </p:nvSpPr>
        <p:spPr>
          <a:xfrm>
            <a:off x="3619424" y="3520440"/>
            <a:ext cx="2110664" cy="658368"/>
          </a:xfrm>
          <a:prstGeom prst="rect">
            <a:avLst/>
          </a:prstGeom>
          <a:noFill/>
          <a:ln/>
        </p:spPr>
        <p:txBody>
          <a:bodyPr wrap="square" lIns="0" tIns="0" rIns="0" bIns="0" rtlCol="0" anchor="t"/>
          <a:lstStyle/>
          <a:p>
            <a:pPr indent="0" marL="0">
              <a:buNone/>
            </a:pPr>
            <a:r>
              <a:rPr lang="en-US" sz="1550" b="1" dirty="0">
                <a:solidFill>
                  <a:srgbClr val="1B2A38"/>
                </a:solidFill>
                <a:latin typeface="Calibri" pitchFamily="34" charset="0"/>
                <a:ea typeface="Calibri" pitchFamily="34" charset="-122"/>
                <a:cs typeface="Calibri" pitchFamily="34" charset="-120"/>
              </a:rPr>
              <a:t>mỗi tháng để chốt công</a:t>
            </a:r>
            <a:endParaRPr lang="en-US" sz="1550" dirty="0"/>
          </a:p>
        </p:txBody>
      </p:sp>
      <p:sp>
        <p:nvSpPr>
          <p:cNvPr id="15" name="Text 12"/>
          <p:cNvSpPr txBox="1"/>
          <p:nvPr/>
        </p:nvSpPr>
        <p:spPr>
          <a:xfrm>
            <a:off x="3619424" y="4233672"/>
            <a:ext cx="2110664" cy="1143000"/>
          </a:xfrm>
          <a:prstGeom prst="rect">
            <a:avLst/>
          </a:prstGeom>
          <a:noFill/>
          <a:ln/>
        </p:spPr>
        <p:txBody>
          <a:bodyPr wrap="square" lIns="0" tIns="0" rIns="0" bIns="0" rtlCol="0" anchor="t"/>
          <a:lstStyle/>
          <a:p>
            <a:pPr indent="0" marL="0">
              <a:buNone/>
            </a:pPr>
            <a:r>
              <a:rPr lang="en-US" sz="1250" dirty="0">
                <a:solidFill>
                  <a:srgbClr val="6B7785"/>
                </a:solidFill>
                <a:latin typeface="Calibri" pitchFamily="34" charset="0"/>
                <a:ea typeface="Calibri" pitchFamily="34" charset="-122"/>
                <a:cs typeface="Calibri" pitchFamily="34" charset="-120"/>
              </a:rPr>
              <a:t>Đối chiếu tay máy chấm công với lịch ca, đơn phép, OT.</a:t>
            </a:r>
            <a:endParaRPr lang="en-US" sz="1250" dirty="0"/>
          </a:p>
        </p:txBody>
      </p:sp>
      <p:sp>
        <p:nvSpPr>
          <p:cNvPr id="16" name="Shape 13"/>
          <p:cNvSpPr/>
          <p:nvPr/>
        </p:nvSpPr>
        <p:spPr>
          <a:xfrm>
            <a:off x="6233008" y="2286000"/>
            <a:ext cx="2567864" cy="3200400"/>
          </a:xfrm>
          <a:prstGeom prst="roundRect">
            <a:avLst>
              <a:gd name="adj" fmla="val 3561"/>
            </a:avLst>
          </a:prstGeom>
          <a:solidFill>
            <a:srgbClr val="F2F4F6"/>
          </a:solidFill>
          <a:ln w="12700">
            <a:solidFill>
              <a:srgbClr val="F2F4F6"/>
            </a:solidFill>
            <a:prstDash val="solid"/>
          </a:ln>
        </p:spPr>
      </p:sp>
      <p:sp>
        <p:nvSpPr>
          <p:cNvPr id="17" name="Text 14"/>
          <p:cNvSpPr txBox="1"/>
          <p:nvPr/>
        </p:nvSpPr>
        <p:spPr>
          <a:xfrm>
            <a:off x="6461608" y="2468880"/>
            <a:ext cx="2110664" cy="1005840"/>
          </a:xfrm>
          <a:prstGeom prst="rect">
            <a:avLst/>
          </a:prstGeom>
          <a:noFill/>
          <a:ln/>
        </p:spPr>
        <p:txBody>
          <a:bodyPr wrap="square" lIns="0" tIns="0" rIns="0" bIns="0" rtlCol="0" anchor="ctr"/>
          <a:lstStyle/>
          <a:p>
            <a:pPr indent="0" marL="0">
              <a:buNone/>
            </a:pPr>
            <a:r>
              <a:rPr lang="en-US" sz="4400" b="1" dirty="0">
                <a:solidFill>
                  <a:srgbClr val="D9773A"/>
                </a:solidFill>
                <a:latin typeface="Cambria" pitchFamily="34" charset="0"/>
                <a:ea typeface="Cambria" pitchFamily="34" charset="-122"/>
                <a:cs typeface="Cambria" pitchFamily="34" charset="-120"/>
              </a:rPr>
              <a:t>3+</a:t>
            </a:r>
            <a:endParaRPr lang="en-US" sz="4400" dirty="0"/>
          </a:p>
        </p:txBody>
      </p:sp>
      <p:sp>
        <p:nvSpPr>
          <p:cNvPr id="18" name="Text 15"/>
          <p:cNvSpPr txBox="1"/>
          <p:nvPr/>
        </p:nvSpPr>
        <p:spPr>
          <a:xfrm>
            <a:off x="6461608" y="3520440"/>
            <a:ext cx="2110664" cy="658368"/>
          </a:xfrm>
          <a:prstGeom prst="rect">
            <a:avLst/>
          </a:prstGeom>
          <a:noFill/>
          <a:ln/>
        </p:spPr>
        <p:txBody>
          <a:bodyPr wrap="square" lIns="0" tIns="0" rIns="0" bIns="0" rtlCol="0" anchor="t"/>
          <a:lstStyle/>
          <a:p>
            <a:pPr indent="0" marL="0">
              <a:buNone/>
            </a:pPr>
            <a:r>
              <a:rPr lang="en-US" sz="1550" b="1" dirty="0">
                <a:solidFill>
                  <a:srgbClr val="1B2A38"/>
                </a:solidFill>
                <a:latin typeface="Calibri" pitchFamily="34" charset="0"/>
                <a:ea typeface="Calibri" pitchFamily="34" charset="-122"/>
                <a:cs typeface="Calibri" pitchFamily="34" charset="-120"/>
              </a:rPr>
              <a:t>con số khác nhau cho cùng một chỉ số</a:t>
            </a:r>
            <a:endParaRPr lang="en-US" sz="1550" dirty="0"/>
          </a:p>
        </p:txBody>
      </p:sp>
      <p:sp>
        <p:nvSpPr>
          <p:cNvPr id="19" name="Text 16"/>
          <p:cNvSpPr txBox="1"/>
          <p:nvPr/>
        </p:nvSpPr>
        <p:spPr>
          <a:xfrm>
            <a:off x="6461608" y="4233672"/>
            <a:ext cx="2110664" cy="1143000"/>
          </a:xfrm>
          <a:prstGeom prst="rect">
            <a:avLst/>
          </a:prstGeom>
          <a:noFill/>
          <a:ln/>
        </p:spPr>
        <p:txBody>
          <a:bodyPr wrap="square" lIns="0" tIns="0" rIns="0" bIns="0" rtlCol="0" anchor="t"/>
          <a:lstStyle/>
          <a:p>
            <a:pPr indent="0" marL="0">
              <a:buNone/>
            </a:pPr>
            <a:r>
              <a:rPr lang="en-US" sz="1250" dirty="0">
                <a:solidFill>
                  <a:srgbClr val="6B7785"/>
                </a:solidFill>
                <a:latin typeface="Calibri" pitchFamily="34" charset="0"/>
                <a:ea typeface="Calibri" pitchFamily="34" charset="-122"/>
                <a:cs typeface="Calibri" pitchFamily="34" charset="-120"/>
              </a:rPr>
              <a:t>Vận hành, HR và tổng đài mỗi bên một số “tổng cuộc gọi”.</a:t>
            </a:r>
            <a:endParaRPr lang="en-US" sz="1250" dirty="0"/>
          </a:p>
        </p:txBody>
      </p:sp>
      <p:sp>
        <p:nvSpPr>
          <p:cNvPr id="20" name="Shape 17"/>
          <p:cNvSpPr/>
          <p:nvPr/>
        </p:nvSpPr>
        <p:spPr>
          <a:xfrm>
            <a:off x="9075191" y="2286000"/>
            <a:ext cx="2567864" cy="3200400"/>
          </a:xfrm>
          <a:prstGeom prst="roundRect">
            <a:avLst>
              <a:gd name="adj" fmla="val 3561"/>
            </a:avLst>
          </a:prstGeom>
          <a:solidFill>
            <a:srgbClr val="FBE7DA"/>
          </a:solidFill>
          <a:ln w="12700">
            <a:solidFill>
              <a:srgbClr val="FBE7DA"/>
            </a:solidFill>
            <a:prstDash val="solid"/>
          </a:ln>
        </p:spPr>
      </p:sp>
      <p:sp>
        <p:nvSpPr>
          <p:cNvPr id="21" name="Text 18"/>
          <p:cNvSpPr txBox="1"/>
          <p:nvPr/>
        </p:nvSpPr>
        <p:spPr>
          <a:xfrm>
            <a:off x="9303791" y="2468880"/>
            <a:ext cx="2110664" cy="1005840"/>
          </a:xfrm>
          <a:prstGeom prst="rect">
            <a:avLst/>
          </a:prstGeom>
          <a:noFill/>
          <a:ln/>
        </p:spPr>
        <p:txBody>
          <a:bodyPr wrap="square" lIns="0" tIns="0" rIns="0" bIns="0" rtlCol="0" anchor="ctr"/>
          <a:lstStyle/>
          <a:p>
            <a:pPr indent="0" marL="0">
              <a:buNone/>
            </a:pPr>
            <a:r>
              <a:rPr lang="en-US" sz="4400" b="1" dirty="0">
                <a:solidFill>
                  <a:srgbClr val="D9773A"/>
                </a:solidFill>
                <a:latin typeface="Cambria" pitchFamily="34" charset="0"/>
                <a:ea typeface="Cambria" pitchFamily="34" charset="-122"/>
                <a:cs typeface="Cambria" pitchFamily="34" charset="-120"/>
              </a:rPr>
              <a:t>3 câu</a:t>
            </a:r>
            <a:endParaRPr lang="en-US" sz="4400" dirty="0"/>
          </a:p>
        </p:txBody>
      </p:sp>
      <p:sp>
        <p:nvSpPr>
          <p:cNvPr id="22" name="Text 19"/>
          <p:cNvSpPr txBox="1"/>
          <p:nvPr/>
        </p:nvSpPr>
        <p:spPr>
          <a:xfrm>
            <a:off x="9303791" y="3520440"/>
            <a:ext cx="2110664" cy="658368"/>
          </a:xfrm>
          <a:prstGeom prst="rect">
            <a:avLst/>
          </a:prstGeom>
          <a:noFill/>
          <a:ln/>
        </p:spPr>
        <p:txBody>
          <a:bodyPr wrap="square" lIns="0" tIns="0" rIns="0" bIns="0" rtlCol="0" anchor="t"/>
          <a:lstStyle/>
          <a:p>
            <a:pPr indent="0" marL="0">
              <a:buNone/>
            </a:pPr>
            <a:r>
              <a:rPr lang="en-US" sz="1550" b="1" dirty="0">
                <a:solidFill>
                  <a:srgbClr val="1B2A38"/>
                </a:solidFill>
                <a:latin typeface="Calibri" pitchFamily="34" charset="0"/>
                <a:ea typeface="Calibri" pitchFamily="34" charset="-122"/>
                <a:cs typeface="Calibri" pitchFamily="34" charset="-120"/>
              </a:rPr>
              <a:t>CEO muốn biết lúc 8h sáng</a:t>
            </a:r>
            <a:endParaRPr lang="en-US" sz="1550" dirty="0"/>
          </a:p>
        </p:txBody>
      </p:sp>
      <p:sp>
        <p:nvSpPr>
          <p:cNvPr id="23" name="Text 20"/>
          <p:cNvSpPr txBox="1"/>
          <p:nvPr/>
        </p:nvSpPr>
        <p:spPr>
          <a:xfrm>
            <a:off x="9303791" y="4233672"/>
            <a:ext cx="2110664" cy="1143000"/>
          </a:xfrm>
          <a:prstGeom prst="rect">
            <a:avLst/>
          </a:prstGeom>
          <a:noFill/>
          <a:ln/>
        </p:spPr>
        <p:txBody>
          <a:bodyPr wrap="square" lIns="0" tIns="0" rIns="0" bIns="0" rtlCol="0" anchor="t"/>
          <a:lstStyle/>
          <a:p>
            <a:pPr indent="0" marL="0">
              <a:buNone/>
            </a:pPr>
            <a:r>
              <a:rPr lang="en-US" sz="1250" dirty="0">
                <a:solidFill>
                  <a:srgbClr val="6B7785"/>
                </a:solidFill>
                <a:latin typeface="Calibri" pitchFamily="34" charset="0"/>
                <a:ea typeface="Calibri" pitchFamily="34" charset="-122"/>
                <a:cs typeface="Calibri" pitchFamily="34" charset="-120"/>
              </a:rPr>
              <a:t>Hôm qua gọi được bao nhiêu? Hiệu quả không? Có gì bất thường?</a:t>
            </a:r>
            <a:endParaRPr lang="en-US" sz="1250" dirty="0"/>
          </a:p>
        </p:txBody>
      </p:sp>
      <p:sp>
        <p:nvSpPr>
          <p:cNvPr id="24" name="Shape 21"/>
          <p:cNvSpPr/>
          <p:nvPr/>
        </p:nvSpPr>
        <p:spPr>
          <a:xfrm>
            <a:off x="548640" y="5669280"/>
            <a:ext cx="11094415" cy="594360"/>
          </a:xfrm>
          <a:prstGeom prst="roundRect">
            <a:avLst>
              <a:gd name="adj" fmla="val 12308"/>
            </a:avLst>
          </a:prstGeom>
          <a:solidFill>
            <a:srgbClr val="F2F4F6"/>
          </a:solidFill>
          <a:ln w="12700">
            <a:solidFill>
              <a:srgbClr val="F2F4F6"/>
            </a:solidFill>
            <a:prstDash val="solid"/>
          </a:ln>
        </p:spPr>
      </p:sp>
      <p:sp>
        <p:nvSpPr>
          <p:cNvPr id="25" name="Text 22"/>
          <p:cNvSpPr txBox="1"/>
          <p:nvPr/>
        </p:nvSpPr>
        <p:spPr>
          <a:xfrm>
            <a:off x="777240" y="5669280"/>
            <a:ext cx="10637215" cy="594360"/>
          </a:xfrm>
          <a:prstGeom prst="rect">
            <a:avLst/>
          </a:prstGeom>
          <a:noFill/>
          <a:ln/>
        </p:spPr>
        <p:txBody>
          <a:bodyPr wrap="square" lIns="0" tIns="0" rIns="0" bIns="0" rtlCol="0" anchor="ctr">
            <a:normAutofit/>
          </a:bodyPr>
          <a:lstStyle/>
          <a:p>
            <a:pPr indent="0" marL="0">
              <a:buNone/>
            </a:pPr>
            <a:r>
              <a:rPr lang="en-US" sz="1350" dirty="0">
                <a:solidFill>
                  <a:srgbClr val="1B2A38"/>
                </a:solidFill>
                <a:latin typeface="Calibri" pitchFamily="34" charset="0"/>
                <a:ea typeface="Calibri" pitchFamily="34" charset="-122"/>
                <a:cs typeface="Calibri" pitchFamily="34" charset="-120"/>
              </a:rPr>
              <a:t>Mục tiêu khóa học: đưa các con số này về “một nguồn sự thật” và để Claude làm phần lặp lại — người chỉ duyệt.</a:t>
            </a:r>
            <a:endParaRPr lang="en-US" sz="13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982980" cy="292608"/>
          </a:xfrm>
          <a:prstGeom prst="roundRect">
            <a:avLst>
              <a:gd name="adj" fmla="val 50000"/>
            </a:avLst>
          </a:prstGeom>
          <a:solidFill>
            <a:srgbClr val="FBE7DA"/>
          </a:solidFill>
          <a:ln w="12700">
            <a:solidFill>
              <a:srgbClr val="FBE7DA"/>
            </a:solidFill>
            <a:prstDash val="solid"/>
          </a:ln>
        </p:spPr>
      </p:sp>
      <p:sp>
        <p:nvSpPr>
          <p:cNvPr id="3" name="Text 1"/>
          <p:cNvSpPr txBox="1"/>
          <p:nvPr/>
        </p:nvSpPr>
        <p:spPr>
          <a:xfrm>
            <a:off x="548640" y="384048"/>
            <a:ext cx="982980" cy="292608"/>
          </a:xfrm>
          <a:prstGeom prst="rect">
            <a:avLst/>
          </a:prstGeom>
          <a:noFill/>
          <a:ln/>
        </p:spPr>
        <p:txBody>
          <a:bodyPr wrap="square" lIns="0" tIns="0" rIns="0" bIns="0" rtlCol="0" anchor="ctr"/>
          <a:lstStyle/>
          <a:p>
            <a:pPr algn="ctr" indent="0" marL="0">
              <a:buNone/>
            </a:pPr>
            <a:r>
              <a:rPr lang="en-US" sz="1050" b="1" spc="150" kern="0" dirty="0">
                <a:solidFill>
                  <a:srgbClr val="D9773A"/>
                </a:solidFill>
                <a:latin typeface="Calibri" pitchFamily="34" charset="0"/>
                <a:ea typeface="Calibri" pitchFamily="34" charset="-122"/>
                <a:cs typeface="Calibri" pitchFamily="34" charset="-120"/>
              </a:rPr>
              <a:t>KIẾN THỨC</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3 nguyên tắc xuyên suốt khóa học</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1 · Nền tảng Claude &amp; dữ liệu</a:t>
            </a:r>
            <a:endParaRPr lang="en-US" sz="1000" dirty="0"/>
          </a:p>
        </p:txBody>
      </p:sp>
      <p:sp>
        <p:nvSpPr>
          <p:cNvPr id="7" name="Shape 4"/>
          <p:cNvSpPr/>
          <p:nvPr/>
        </p:nvSpPr>
        <p:spPr>
          <a:xfrm>
            <a:off x="548640" y="1691640"/>
            <a:ext cx="3515258" cy="4572000"/>
          </a:xfrm>
          <a:prstGeom prst="roundRect">
            <a:avLst>
              <a:gd name="adj" fmla="val 2601"/>
            </a:avLst>
          </a:prstGeom>
          <a:solidFill>
            <a:srgbClr val="FBE7DA"/>
          </a:solidFill>
          <a:ln w="12700">
            <a:solidFill>
              <a:srgbClr val="FBE7DA"/>
            </a:solidFill>
            <a:prstDash val="solid"/>
          </a:ln>
        </p:spPr>
      </p:sp>
      <p:sp>
        <p:nvSpPr>
          <p:cNvPr id="8" name="Shape 5"/>
          <p:cNvSpPr/>
          <p:nvPr/>
        </p:nvSpPr>
        <p:spPr>
          <a:xfrm>
            <a:off x="777240" y="1920240"/>
            <a:ext cx="566928" cy="566928"/>
          </a:xfrm>
          <a:prstGeom prst="roundRect">
            <a:avLst>
              <a:gd name="adj" fmla="val 22000"/>
            </a:avLst>
          </a:prstGeom>
          <a:solidFill>
            <a:srgbClr val="D9773A"/>
          </a:solidFill>
          <a:ln w="12700">
            <a:solidFill>
              <a:srgbClr val="D9773A"/>
            </a:solidFill>
            <a:prstDash val="solid"/>
          </a:ln>
        </p:spPr>
      </p:sp>
      <p:pic>
        <p:nvPicPr>
          <p:cNvPr id="9" name="Image 0" descr="preencoded.png">    </p:cNvPr>
          <p:cNvPicPr>
            <a:picLocks noChangeAspect="1"/>
          </p:cNvPicPr>
          <p:nvPr/>
        </p:nvPicPr>
        <p:blipFill>
          <a:blip r:embed="rId1"/>
          <a:stretch>
            <a:fillRect/>
          </a:stretch>
        </p:blipFill>
        <p:spPr>
          <a:xfrm>
            <a:off x="913303" y="2056303"/>
            <a:ext cx="294803" cy="294803"/>
          </a:xfrm>
          <a:prstGeom prst="rect">
            <a:avLst/>
          </a:prstGeom>
        </p:spPr>
      </p:pic>
      <p:sp>
        <p:nvSpPr>
          <p:cNvPr id="10" name="Text 6"/>
          <p:cNvSpPr txBox="1"/>
          <p:nvPr/>
        </p:nvSpPr>
        <p:spPr>
          <a:xfrm>
            <a:off x="1527048" y="1920240"/>
            <a:ext cx="2308250" cy="566928"/>
          </a:xfrm>
          <a:prstGeom prst="rect">
            <a:avLst/>
          </a:prstGeom>
          <a:noFill/>
          <a:ln/>
        </p:spPr>
        <p:txBody>
          <a:bodyPr wrap="square" lIns="0" tIns="0" rIns="0" bIns="0" rtlCol="0" anchor="ctr">
            <a:normAutofit/>
          </a:bodyPr>
          <a:lstStyle/>
          <a:p>
            <a:pPr indent="0" marL="0">
              <a:buNone/>
            </a:pPr>
            <a:r>
              <a:rPr lang="en-US" sz="1650" b="1" dirty="0">
                <a:solidFill>
                  <a:srgbClr val="1B2A38"/>
                </a:solidFill>
                <a:latin typeface="Calibri" pitchFamily="34" charset="0"/>
                <a:ea typeface="Calibri" pitchFamily="34" charset="-122"/>
                <a:cs typeface="Calibri" pitchFamily="34" charset="-120"/>
              </a:rPr>
              <a:t>Dữ liệu chuẩn trước, AI sau</a:t>
            </a:r>
            <a:endParaRPr lang="en-US" sz="1650" dirty="0"/>
          </a:p>
        </p:txBody>
      </p:sp>
      <p:sp>
        <p:nvSpPr>
          <p:cNvPr id="11" name="Text 7"/>
          <p:cNvSpPr txBox="1"/>
          <p:nvPr/>
        </p:nvSpPr>
        <p:spPr>
          <a:xfrm>
            <a:off x="777240" y="2651760"/>
            <a:ext cx="3058058" cy="3456432"/>
          </a:xfrm>
          <a:prstGeom prst="rect">
            <a:avLst/>
          </a:prstGeom>
          <a:noFill/>
          <a:ln/>
        </p:spPr>
        <p:txBody>
          <a:bodyPr wrap="square" lIns="0" tIns="0" rIns="0" bIns="0" rtlCol="0" anchor="t">
            <a:normAutofit/>
          </a:bodyPr>
          <a:lstStyle/>
          <a:p>
            <a:pPr indent="0" marL="0">
              <a:buNone/>
            </a:pPr>
            <a:r>
              <a:rPr lang="en-US" sz="1600" dirty="0">
                <a:solidFill>
                  <a:srgbClr val="1B2A38"/>
                </a:solidFill>
                <a:latin typeface="Calibri" pitchFamily="34" charset="0"/>
                <a:ea typeface="Calibri" pitchFamily="34" charset="-122"/>
                <a:cs typeface="Calibri" pitchFamily="34" charset="-120"/>
              </a:rPr>
              <a:t>AI trên dữ liệu bẩn chỉ cho ra kết quả sai nhanh hơn. 63 dòng trùng trong call log tháng 9 sẽ làm sản lượng “đẹp giả” nếu không ai soi.</a:t>
            </a:r>
            <a:endParaRPr lang="en-US" sz="1600" dirty="0"/>
          </a:p>
        </p:txBody>
      </p:sp>
      <p:sp>
        <p:nvSpPr>
          <p:cNvPr id="12" name="Shape 8"/>
          <p:cNvSpPr/>
          <p:nvPr/>
        </p:nvSpPr>
        <p:spPr>
          <a:xfrm>
            <a:off x="4338218" y="1691640"/>
            <a:ext cx="3515258" cy="4572000"/>
          </a:xfrm>
          <a:prstGeom prst="roundRect">
            <a:avLst>
              <a:gd name="adj" fmla="val 2601"/>
            </a:avLst>
          </a:prstGeom>
          <a:solidFill>
            <a:srgbClr val="DDEFEE"/>
          </a:solidFill>
          <a:ln w="12700">
            <a:solidFill>
              <a:srgbClr val="DDEFEE"/>
            </a:solidFill>
            <a:prstDash val="solid"/>
          </a:ln>
        </p:spPr>
      </p:sp>
      <p:sp>
        <p:nvSpPr>
          <p:cNvPr id="13" name="Shape 9"/>
          <p:cNvSpPr/>
          <p:nvPr/>
        </p:nvSpPr>
        <p:spPr>
          <a:xfrm>
            <a:off x="4566818" y="1920240"/>
            <a:ext cx="566928" cy="566928"/>
          </a:xfrm>
          <a:prstGeom prst="roundRect">
            <a:avLst>
              <a:gd name="adj" fmla="val 22000"/>
            </a:avLst>
          </a:prstGeom>
          <a:solidFill>
            <a:srgbClr val="2E7D7A"/>
          </a:solidFill>
          <a:ln w="12700">
            <a:solidFill>
              <a:srgbClr val="2E7D7A"/>
            </a:solidFill>
            <a:prstDash val="solid"/>
          </a:ln>
        </p:spPr>
      </p:sp>
      <p:pic>
        <p:nvPicPr>
          <p:cNvPr id="14" name="Image 1" descr="preencoded.png">    </p:cNvPr>
          <p:cNvPicPr>
            <a:picLocks noChangeAspect="1"/>
          </p:cNvPicPr>
          <p:nvPr/>
        </p:nvPicPr>
        <p:blipFill>
          <a:blip r:embed="rId2"/>
          <a:stretch>
            <a:fillRect/>
          </a:stretch>
        </p:blipFill>
        <p:spPr>
          <a:xfrm>
            <a:off x="4702881" y="2056303"/>
            <a:ext cx="294803" cy="294803"/>
          </a:xfrm>
          <a:prstGeom prst="rect">
            <a:avLst/>
          </a:prstGeom>
        </p:spPr>
      </p:pic>
      <p:sp>
        <p:nvSpPr>
          <p:cNvPr id="15" name="Text 10"/>
          <p:cNvSpPr txBox="1"/>
          <p:nvPr/>
        </p:nvSpPr>
        <p:spPr>
          <a:xfrm>
            <a:off x="5316626" y="1920240"/>
            <a:ext cx="2308250" cy="566928"/>
          </a:xfrm>
          <a:prstGeom prst="rect">
            <a:avLst/>
          </a:prstGeom>
          <a:noFill/>
          <a:ln/>
        </p:spPr>
        <p:txBody>
          <a:bodyPr wrap="square" lIns="0" tIns="0" rIns="0" bIns="0" rtlCol="0" anchor="ctr">
            <a:normAutofit/>
          </a:bodyPr>
          <a:lstStyle/>
          <a:p>
            <a:pPr indent="0" marL="0">
              <a:buNone/>
            </a:pPr>
            <a:r>
              <a:rPr lang="en-US" sz="1650" b="1" dirty="0">
                <a:solidFill>
                  <a:srgbClr val="1B2A38"/>
                </a:solidFill>
                <a:latin typeface="Calibri" pitchFamily="34" charset="0"/>
                <a:ea typeface="Calibri" pitchFamily="34" charset="-122"/>
                <a:cs typeface="Calibri" pitchFamily="34" charset="-120"/>
              </a:rPr>
              <a:t>AI đề xuất, người duyệt</a:t>
            </a:r>
            <a:endParaRPr lang="en-US" sz="1650" dirty="0"/>
          </a:p>
        </p:txBody>
      </p:sp>
      <p:sp>
        <p:nvSpPr>
          <p:cNvPr id="16" name="Text 11"/>
          <p:cNvSpPr txBox="1"/>
          <p:nvPr/>
        </p:nvSpPr>
        <p:spPr>
          <a:xfrm>
            <a:off x="4566818" y="2651760"/>
            <a:ext cx="3058058" cy="3456432"/>
          </a:xfrm>
          <a:prstGeom prst="rect">
            <a:avLst/>
          </a:prstGeom>
          <a:noFill/>
          <a:ln/>
        </p:spPr>
        <p:txBody>
          <a:bodyPr wrap="square" lIns="0" tIns="0" rIns="0" bIns="0" rtlCol="0" anchor="t">
            <a:normAutofit/>
          </a:bodyPr>
          <a:lstStyle/>
          <a:p>
            <a:pPr indent="0" marL="0">
              <a:buNone/>
            </a:pPr>
            <a:r>
              <a:rPr lang="en-US" sz="1600" dirty="0">
                <a:solidFill>
                  <a:srgbClr val="1B2A38"/>
                </a:solidFill>
                <a:latin typeface="Calibri" pitchFamily="34" charset="0"/>
                <a:ea typeface="Calibri" pitchFamily="34" charset="-122"/>
                <a:cs typeface="Calibri" pitchFamily="34" charset="-120"/>
              </a:rPr>
              <a:t>Claude kiểm tra, đề xuất quy tắc, gắn cờ bất thường. Con số chốt công, báo cáo gửi khách hàng, quyết định kỷ luật — luôn có người duyệt.</a:t>
            </a:r>
            <a:endParaRPr lang="en-US" sz="1600" dirty="0"/>
          </a:p>
        </p:txBody>
      </p:sp>
      <p:sp>
        <p:nvSpPr>
          <p:cNvPr id="17" name="Shape 12"/>
          <p:cNvSpPr/>
          <p:nvPr/>
        </p:nvSpPr>
        <p:spPr>
          <a:xfrm>
            <a:off x="8127797" y="1691640"/>
            <a:ext cx="3515258" cy="4572000"/>
          </a:xfrm>
          <a:prstGeom prst="roundRect">
            <a:avLst>
              <a:gd name="adj" fmla="val 2601"/>
            </a:avLst>
          </a:prstGeom>
          <a:solidFill>
            <a:srgbClr val="F2F4F6"/>
          </a:solidFill>
          <a:ln w="12700">
            <a:solidFill>
              <a:srgbClr val="F2F4F6"/>
            </a:solidFill>
            <a:prstDash val="solid"/>
          </a:ln>
        </p:spPr>
      </p:sp>
      <p:sp>
        <p:nvSpPr>
          <p:cNvPr id="18" name="Shape 13"/>
          <p:cNvSpPr/>
          <p:nvPr/>
        </p:nvSpPr>
        <p:spPr>
          <a:xfrm>
            <a:off x="8356397" y="1920240"/>
            <a:ext cx="566928" cy="566928"/>
          </a:xfrm>
          <a:prstGeom prst="roundRect">
            <a:avLst>
              <a:gd name="adj" fmla="val 22000"/>
            </a:avLst>
          </a:prstGeom>
          <a:solidFill>
            <a:srgbClr val="2B3E50"/>
          </a:solidFill>
          <a:ln w="12700">
            <a:solidFill>
              <a:srgbClr val="2B3E50"/>
            </a:solidFill>
            <a:prstDash val="solid"/>
          </a:ln>
        </p:spPr>
      </p:sp>
      <p:pic>
        <p:nvPicPr>
          <p:cNvPr id="19" name="Image 2" descr="preencoded.png">    </p:cNvPr>
          <p:cNvPicPr>
            <a:picLocks noChangeAspect="1"/>
          </p:cNvPicPr>
          <p:nvPr/>
        </p:nvPicPr>
        <p:blipFill>
          <a:blip r:embed="rId3"/>
          <a:stretch>
            <a:fillRect/>
          </a:stretch>
        </p:blipFill>
        <p:spPr>
          <a:xfrm>
            <a:off x="8492460" y="2056303"/>
            <a:ext cx="294803" cy="294803"/>
          </a:xfrm>
          <a:prstGeom prst="rect">
            <a:avLst/>
          </a:prstGeom>
        </p:spPr>
      </p:pic>
      <p:sp>
        <p:nvSpPr>
          <p:cNvPr id="20" name="Text 14"/>
          <p:cNvSpPr txBox="1"/>
          <p:nvPr/>
        </p:nvSpPr>
        <p:spPr>
          <a:xfrm>
            <a:off x="9106205" y="1920240"/>
            <a:ext cx="2308250" cy="566928"/>
          </a:xfrm>
          <a:prstGeom prst="rect">
            <a:avLst/>
          </a:prstGeom>
          <a:noFill/>
          <a:ln/>
        </p:spPr>
        <p:txBody>
          <a:bodyPr wrap="square" lIns="0" tIns="0" rIns="0" bIns="0" rtlCol="0" anchor="ctr">
            <a:normAutofit/>
          </a:bodyPr>
          <a:lstStyle/>
          <a:p>
            <a:pPr indent="0" marL="0">
              <a:buNone/>
            </a:pPr>
            <a:r>
              <a:rPr lang="en-US" sz="1650" b="1" dirty="0">
                <a:solidFill>
                  <a:srgbClr val="1B2A38"/>
                </a:solidFill>
                <a:latin typeface="Calibri" pitchFamily="34" charset="0"/>
                <a:ea typeface="Calibri" pitchFamily="34" charset="-122"/>
                <a:cs typeface="Calibri" pitchFamily="34" charset="-120"/>
              </a:rPr>
              <a:t>Có sản phẩm dùng ngay hôm sau</a:t>
            </a:r>
            <a:endParaRPr lang="en-US" sz="1650" dirty="0"/>
          </a:p>
        </p:txBody>
      </p:sp>
      <p:sp>
        <p:nvSpPr>
          <p:cNvPr id="21" name="Text 15"/>
          <p:cNvSpPr txBox="1"/>
          <p:nvPr/>
        </p:nvSpPr>
        <p:spPr>
          <a:xfrm>
            <a:off x="8356397" y="2651760"/>
            <a:ext cx="3058058" cy="3456432"/>
          </a:xfrm>
          <a:prstGeom prst="rect">
            <a:avLst/>
          </a:prstGeom>
          <a:noFill/>
          <a:ln/>
        </p:spPr>
        <p:txBody>
          <a:bodyPr wrap="square" lIns="0" tIns="0" rIns="0" bIns="0" rtlCol="0" anchor="t">
            <a:normAutofit/>
          </a:bodyPr>
          <a:lstStyle/>
          <a:p>
            <a:pPr indent="0" marL="0">
              <a:buNone/>
            </a:pPr>
            <a:r>
              <a:rPr lang="en-US" sz="1600" dirty="0">
                <a:solidFill>
                  <a:srgbClr val="1B2A38"/>
                </a:solidFill>
                <a:latin typeface="Calibri" pitchFamily="34" charset="0"/>
                <a:ea typeface="Calibri" pitchFamily="34" charset="-122"/>
                <a:cs typeface="Calibri" pitchFamily="34" charset="-120"/>
              </a:rPr>
              <a:t>Mỗi buổi kết thúc bằng một thứ chạy được trên dữ liệu thật: Project, bảng sản lượng, bảng công, dashboard, Skill.</a:t>
            </a:r>
            <a:endParaRPr lang="en-US" sz="16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982980" cy="292608"/>
          </a:xfrm>
          <a:prstGeom prst="roundRect">
            <a:avLst>
              <a:gd name="adj" fmla="val 50000"/>
            </a:avLst>
          </a:prstGeom>
          <a:solidFill>
            <a:srgbClr val="FBE7DA"/>
          </a:solidFill>
          <a:ln w="12700">
            <a:solidFill>
              <a:srgbClr val="FBE7DA"/>
            </a:solidFill>
            <a:prstDash val="solid"/>
          </a:ln>
        </p:spPr>
      </p:sp>
      <p:sp>
        <p:nvSpPr>
          <p:cNvPr id="3" name="Text 1"/>
          <p:cNvSpPr txBox="1"/>
          <p:nvPr/>
        </p:nvSpPr>
        <p:spPr>
          <a:xfrm>
            <a:off x="548640" y="384048"/>
            <a:ext cx="982980" cy="292608"/>
          </a:xfrm>
          <a:prstGeom prst="rect">
            <a:avLst/>
          </a:prstGeom>
          <a:noFill/>
          <a:ln/>
        </p:spPr>
        <p:txBody>
          <a:bodyPr wrap="square" lIns="0" tIns="0" rIns="0" bIns="0" rtlCol="0" anchor="ctr"/>
          <a:lstStyle/>
          <a:p>
            <a:pPr algn="ctr" indent="0" marL="0">
              <a:buNone/>
            </a:pPr>
            <a:r>
              <a:rPr lang="en-US" sz="1050" b="1" spc="150" kern="0" dirty="0">
                <a:solidFill>
                  <a:srgbClr val="D9773A"/>
                </a:solidFill>
                <a:latin typeface="Calibri" pitchFamily="34" charset="0"/>
                <a:ea typeface="Calibri" pitchFamily="34" charset="-122"/>
                <a:cs typeface="Calibri" pitchFamily="34" charset="-120"/>
              </a:rPr>
              <a:t>KIẾN THỨC</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Claude làm được gì cho Vận hành &amp; HR</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1 · Nền tảng Claude &amp; dữ liệu</a:t>
            </a:r>
            <a:endParaRPr lang="en-US" sz="1000" dirty="0"/>
          </a:p>
        </p:txBody>
      </p:sp>
      <p:sp>
        <p:nvSpPr>
          <p:cNvPr id="7" name="Shape 4"/>
          <p:cNvSpPr/>
          <p:nvPr/>
        </p:nvSpPr>
        <p:spPr>
          <a:xfrm>
            <a:off x="548640" y="1691640"/>
            <a:ext cx="3515258" cy="2148840"/>
          </a:xfrm>
          <a:prstGeom prst="roundRect">
            <a:avLst>
              <a:gd name="adj" fmla="val 4255"/>
            </a:avLst>
          </a:prstGeom>
          <a:solidFill>
            <a:srgbClr val="F2F4F6"/>
          </a:solidFill>
          <a:ln w="12700">
            <a:solidFill>
              <a:srgbClr val="F2F4F6"/>
            </a:solidFill>
            <a:prstDash val="solid"/>
          </a:ln>
        </p:spPr>
      </p:sp>
      <p:sp>
        <p:nvSpPr>
          <p:cNvPr id="8" name="Shape 5"/>
          <p:cNvSpPr/>
          <p:nvPr/>
        </p:nvSpPr>
        <p:spPr>
          <a:xfrm>
            <a:off x="777240" y="1920240"/>
            <a:ext cx="566928" cy="566928"/>
          </a:xfrm>
          <a:prstGeom prst="roundRect">
            <a:avLst>
              <a:gd name="adj" fmla="val 22000"/>
            </a:avLst>
          </a:prstGeom>
          <a:solidFill>
            <a:srgbClr val="2B3E50"/>
          </a:solidFill>
          <a:ln w="12700">
            <a:solidFill>
              <a:srgbClr val="2B3E50"/>
            </a:solidFill>
            <a:prstDash val="solid"/>
          </a:ln>
        </p:spPr>
      </p:sp>
      <p:pic>
        <p:nvPicPr>
          <p:cNvPr id="9" name="Image 0" descr="preencoded.png">    </p:cNvPr>
          <p:cNvPicPr>
            <a:picLocks noChangeAspect="1"/>
          </p:cNvPicPr>
          <p:nvPr/>
        </p:nvPicPr>
        <p:blipFill>
          <a:blip r:embed="rId1"/>
          <a:stretch>
            <a:fillRect/>
          </a:stretch>
        </p:blipFill>
        <p:spPr>
          <a:xfrm>
            <a:off x="913303" y="2056303"/>
            <a:ext cx="294803" cy="294803"/>
          </a:xfrm>
          <a:prstGeom prst="rect">
            <a:avLst/>
          </a:prstGeom>
        </p:spPr>
      </p:pic>
      <p:sp>
        <p:nvSpPr>
          <p:cNvPr id="10" name="Text 6"/>
          <p:cNvSpPr txBox="1"/>
          <p:nvPr/>
        </p:nvSpPr>
        <p:spPr>
          <a:xfrm>
            <a:off x="1527048" y="1920240"/>
            <a:ext cx="2308250" cy="566928"/>
          </a:xfrm>
          <a:prstGeom prst="rect">
            <a:avLst/>
          </a:prstGeom>
          <a:noFill/>
          <a:ln/>
        </p:spPr>
        <p:txBody>
          <a:bodyPr wrap="square" lIns="0" tIns="0" rIns="0" bIns="0" rtlCol="0" anchor="ctr">
            <a:normAutofit/>
          </a:bodyPr>
          <a:lstStyle/>
          <a:p>
            <a:pPr indent="0" marL="0">
              <a:buNone/>
            </a:pPr>
            <a:r>
              <a:rPr lang="en-US" sz="1650" b="1" dirty="0">
                <a:solidFill>
                  <a:srgbClr val="1B2A38"/>
                </a:solidFill>
                <a:latin typeface="Calibri" pitchFamily="34" charset="0"/>
                <a:ea typeface="Calibri" pitchFamily="34" charset="-122"/>
                <a:cs typeface="Calibri" pitchFamily="34" charset="-120"/>
              </a:rPr>
              <a:t>Chat + upload file</a:t>
            </a:r>
            <a:endParaRPr lang="en-US" sz="1650" dirty="0"/>
          </a:p>
        </p:txBody>
      </p:sp>
      <p:sp>
        <p:nvSpPr>
          <p:cNvPr id="11" name="Text 7"/>
          <p:cNvSpPr txBox="1"/>
          <p:nvPr/>
        </p:nvSpPr>
        <p:spPr>
          <a:xfrm>
            <a:off x="777240" y="2651760"/>
            <a:ext cx="3058058" cy="1033272"/>
          </a:xfrm>
          <a:prstGeom prst="rect">
            <a:avLst/>
          </a:prstGeom>
          <a:noFill/>
          <a:ln/>
        </p:spPr>
        <p:txBody>
          <a:bodyPr wrap="square" lIns="0" tIns="0" rIns="0" bIns="0" rtlCol="0" anchor="t">
            <a:normAutofit/>
          </a:bodyPr>
          <a:lstStyle/>
          <a:p>
            <a:pPr indent="0" marL="0">
              <a:buNone/>
            </a:pPr>
            <a:r>
              <a:rPr lang="en-US" sz="1450" dirty="0">
                <a:solidFill>
                  <a:srgbClr val="1B2A38"/>
                </a:solidFill>
                <a:latin typeface="Calibri" pitchFamily="34" charset="0"/>
                <a:ea typeface="Calibri" pitchFamily="34" charset="-122"/>
                <a:cs typeface="Calibri" pitchFamily="34" charset="-120"/>
              </a:rPr>
              <a:t>Đọc CSV/Excel, chạy code để tính đúng trên từng dòng, tìm lỗi, tóm tắt. Dùng cho: kiểm tra call log, đếm sản lượng.</a:t>
            </a:r>
            <a:endParaRPr lang="en-US" sz="1450" dirty="0"/>
          </a:p>
        </p:txBody>
      </p:sp>
      <p:sp>
        <p:nvSpPr>
          <p:cNvPr id="12" name="Shape 8"/>
          <p:cNvSpPr/>
          <p:nvPr/>
        </p:nvSpPr>
        <p:spPr>
          <a:xfrm>
            <a:off x="4338218" y="1691640"/>
            <a:ext cx="3515258" cy="2148840"/>
          </a:xfrm>
          <a:prstGeom prst="roundRect">
            <a:avLst>
              <a:gd name="adj" fmla="val 4255"/>
            </a:avLst>
          </a:prstGeom>
          <a:solidFill>
            <a:srgbClr val="F2F4F6"/>
          </a:solidFill>
          <a:ln w="12700">
            <a:solidFill>
              <a:srgbClr val="F2F4F6"/>
            </a:solidFill>
            <a:prstDash val="solid"/>
          </a:ln>
        </p:spPr>
      </p:sp>
      <p:sp>
        <p:nvSpPr>
          <p:cNvPr id="13" name="Shape 9"/>
          <p:cNvSpPr/>
          <p:nvPr/>
        </p:nvSpPr>
        <p:spPr>
          <a:xfrm>
            <a:off x="4566818" y="1920240"/>
            <a:ext cx="566928" cy="566928"/>
          </a:xfrm>
          <a:prstGeom prst="roundRect">
            <a:avLst>
              <a:gd name="adj" fmla="val 22000"/>
            </a:avLst>
          </a:prstGeom>
          <a:solidFill>
            <a:srgbClr val="2B3E50"/>
          </a:solidFill>
          <a:ln w="12700">
            <a:solidFill>
              <a:srgbClr val="2B3E50"/>
            </a:solidFill>
            <a:prstDash val="solid"/>
          </a:ln>
        </p:spPr>
      </p:sp>
      <p:pic>
        <p:nvPicPr>
          <p:cNvPr id="14" name="Image 1" descr="preencoded.png">    </p:cNvPr>
          <p:cNvPicPr>
            <a:picLocks noChangeAspect="1"/>
          </p:cNvPicPr>
          <p:nvPr/>
        </p:nvPicPr>
        <p:blipFill>
          <a:blip r:embed="rId2"/>
          <a:stretch>
            <a:fillRect/>
          </a:stretch>
        </p:blipFill>
        <p:spPr>
          <a:xfrm>
            <a:off x="4702881" y="2056303"/>
            <a:ext cx="294803" cy="294803"/>
          </a:xfrm>
          <a:prstGeom prst="rect">
            <a:avLst/>
          </a:prstGeom>
        </p:spPr>
      </p:pic>
      <p:sp>
        <p:nvSpPr>
          <p:cNvPr id="15" name="Text 10"/>
          <p:cNvSpPr txBox="1"/>
          <p:nvPr/>
        </p:nvSpPr>
        <p:spPr>
          <a:xfrm>
            <a:off x="5316626" y="1920240"/>
            <a:ext cx="2308250" cy="566928"/>
          </a:xfrm>
          <a:prstGeom prst="rect">
            <a:avLst/>
          </a:prstGeom>
          <a:noFill/>
          <a:ln/>
        </p:spPr>
        <p:txBody>
          <a:bodyPr wrap="square" lIns="0" tIns="0" rIns="0" bIns="0" rtlCol="0" anchor="ctr">
            <a:normAutofit/>
          </a:bodyPr>
          <a:lstStyle/>
          <a:p>
            <a:pPr indent="0" marL="0">
              <a:buNone/>
            </a:pPr>
            <a:r>
              <a:rPr lang="en-US" sz="1650" b="1" dirty="0">
                <a:solidFill>
                  <a:srgbClr val="1B2A38"/>
                </a:solidFill>
                <a:latin typeface="Calibri" pitchFamily="34" charset="0"/>
                <a:ea typeface="Calibri" pitchFamily="34" charset="-122"/>
                <a:cs typeface="Calibri" pitchFamily="34" charset="-120"/>
              </a:rPr>
              <a:t>Projects</a:t>
            </a:r>
            <a:endParaRPr lang="en-US" sz="1650" dirty="0"/>
          </a:p>
        </p:txBody>
      </p:sp>
      <p:sp>
        <p:nvSpPr>
          <p:cNvPr id="16" name="Text 11"/>
          <p:cNvSpPr txBox="1"/>
          <p:nvPr/>
        </p:nvSpPr>
        <p:spPr>
          <a:xfrm>
            <a:off x="4566818" y="2651760"/>
            <a:ext cx="3058058" cy="1033272"/>
          </a:xfrm>
          <a:prstGeom prst="rect">
            <a:avLst/>
          </a:prstGeom>
          <a:noFill/>
          <a:ln/>
        </p:spPr>
        <p:txBody>
          <a:bodyPr wrap="square" lIns="0" tIns="0" rIns="0" bIns="0" rtlCol="0" anchor="t">
            <a:normAutofit/>
          </a:bodyPr>
          <a:lstStyle/>
          <a:p>
            <a:pPr indent="0" marL="0">
              <a:buNone/>
            </a:pPr>
            <a:r>
              <a:rPr lang="en-US" sz="1450" dirty="0">
                <a:solidFill>
                  <a:srgbClr val="1B2A38"/>
                </a:solidFill>
                <a:latin typeface="Calibri" pitchFamily="34" charset="0"/>
                <a:ea typeface="Calibri" pitchFamily="34" charset="-122"/>
                <a:cs typeface="Calibri" pitchFamily="34" charset="-120"/>
              </a:rPr>
              <a:t>Kho tài liệu nền + chỉ dẫn cố định dùng chung. Không phải giải thích lại danh sách agent, nội quy mỗi lần.</a:t>
            </a:r>
            <a:endParaRPr lang="en-US" sz="1450" dirty="0"/>
          </a:p>
        </p:txBody>
      </p:sp>
      <p:sp>
        <p:nvSpPr>
          <p:cNvPr id="17" name="Shape 12"/>
          <p:cNvSpPr/>
          <p:nvPr/>
        </p:nvSpPr>
        <p:spPr>
          <a:xfrm>
            <a:off x="8127797" y="1691640"/>
            <a:ext cx="3515258" cy="2148840"/>
          </a:xfrm>
          <a:prstGeom prst="roundRect">
            <a:avLst>
              <a:gd name="adj" fmla="val 4255"/>
            </a:avLst>
          </a:prstGeom>
          <a:solidFill>
            <a:srgbClr val="F2F4F6"/>
          </a:solidFill>
          <a:ln w="12700">
            <a:solidFill>
              <a:srgbClr val="F2F4F6"/>
            </a:solidFill>
            <a:prstDash val="solid"/>
          </a:ln>
        </p:spPr>
      </p:sp>
      <p:sp>
        <p:nvSpPr>
          <p:cNvPr id="18" name="Shape 13"/>
          <p:cNvSpPr/>
          <p:nvPr/>
        </p:nvSpPr>
        <p:spPr>
          <a:xfrm>
            <a:off x="8356397" y="1920240"/>
            <a:ext cx="566928" cy="566928"/>
          </a:xfrm>
          <a:prstGeom prst="roundRect">
            <a:avLst>
              <a:gd name="adj" fmla="val 22000"/>
            </a:avLst>
          </a:prstGeom>
          <a:solidFill>
            <a:srgbClr val="2B3E50"/>
          </a:solidFill>
          <a:ln w="12700">
            <a:solidFill>
              <a:srgbClr val="2B3E50"/>
            </a:solidFill>
            <a:prstDash val="solid"/>
          </a:ln>
        </p:spPr>
      </p:sp>
      <p:pic>
        <p:nvPicPr>
          <p:cNvPr id="19" name="Image 2" descr="preencoded.png">    </p:cNvPr>
          <p:cNvPicPr>
            <a:picLocks noChangeAspect="1"/>
          </p:cNvPicPr>
          <p:nvPr/>
        </p:nvPicPr>
        <p:blipFill>
          <a:blip r:embed="rId3"/>
          <a:stretch>
            <a:fillRect/>
          </a:stretch>
        </p:blipFill>
        <p:spPr>
          <a:xfrm>
            <a:off x="8492460" y="2056303"/>
            <a:ext cx="294803" cy="294803"/>
          </a:xfrm>
          <a:prstGeom prst="rect">
            <a:avLst/>
          </a:prstGeom>
        </p:spPr>
      </p:pic>
      <p:sp>
        <p:nvSpPr>
          <p:cNvPr id="20" name="Text 14"/>
          <p:cNvSpPr txBox="1"/>
          <p:nvPr/>
        </p:nvSpPr>
        <p:spPr>
          <a:xfrm>
            <a:off x="9106205" y="1920240"/>
            <a:ext cx="2308250" cy="566928"/>
          </a:xfrm>
          <a:prstGeom prst="rect">
            <a:avLst/>
          </a:prstGeom>
          <a:noFill/>
          <a:ln/>
        </p:spPr>
        <p:txBody>
          <a:bodyPr wrap="square" lIns="0" tIns="0" rIns="0" bIns="0" rtlCol="0" anchor="ctr">
            <a:normAutofit/>
          </a:bodyPr>
          <a:lstStyle/>
          <a:p>
            <a:pPr indent="0" marL="0">
              <a:buNone/>
            </a:pPr>
            <a:r>
              <a:rPr lang="en-US" sz="1650" b="1" dirty="0">
                <a:solidFill>
                  <a:srgbClr val="1B2A38"/>
                </a:solidFill>
                <a:latin typeface="Calibri" pitchFamily="34" charset="0"/>
                <a:ea typeface="Calibri" pitchFamily="34" charset="-122"/>
                <a:cs typeface="Calibri" pitchFamily="34" charset="-120"/>
              </a:rPr>
              <a:t>Artifacts</a:t>
            </a:r>
            <a:endParaRPr lang="en-US" sz="1650" dirty="0"/>
          </a:p>
        </p:txBody>
      </p:sp>
      <p:sp>
        <p:nvSpPr>
          <p:cNvPr id="21" name="Text 15"/>
          <p:cNvSpPr txBox="1"/>
          <p:nvPr/>
        </p:nvSpPr>
        <p:spPr>
          <a:xfrm>
            <a:off x="8356397" y="2651760"/>
            <a:ext cx="3058058" cy="1033272"/>
          </a:xfrm>
          <a:prstGeom prst="rect">
            <a:avLst/>
          </a:prstGeom>
          <a:noFill/>
          <a:ln/>
        </p:spPr>
        <p:txBody>
          <a:bodyPr wrap="square" lIns="0" tIns="0" rIns="0" bIns="0" rtlCol="0" anchor="t">
            <a:normAutofit/>
          </a:bodyPr>
          <a:lstStyle/>
          <a:p>
            <a:pPr indent="0" marL="0">
              <a:buNone/>
            </a:pPr>
            <a:r>
              <a:rPr lang="en-US" sz="1450" dirty="0">
                <a:solidFill>
                  <a:srgbClr val="1B2A38"/>
                </a:solidFill>
                <a:latin typeface="Calibri" pitchFamily="34" charset="0"/>
                <a:ea typeface="Calibri" pitchFamily="34" charset="-122"/>
                <a:cs typeface="Calibri" pitchFamily="34" charset="-120"/>
              </a:rPr>
              <a:t>Tạo dashboard, công cụ tính toán dạng trang web ngay trong chat. Dùng ở buổi 4 cho dashboard 3 tab.</a:t>
            </a:r>
            <a:endParaRPr lang="en-US" sz="1450" dirty="0"/>
          </a:p>
        </p:txBody>
      </p:sp>
      <p:sp>
        <p:nvSpPr>
          <p:cNvPr id="22" name="Shape 16"/>
          <p:cNvSpPr/>
          <p:nvPr/>
        </p:nvSpPr>
        <p:spPr>
          <a:xfrm>
            <a:off x="548640" y="4114800"/>
            <a:ext cx="3515258" cy="2148840"/>
          </a:xfrm>
          <a:prstGeom prst="roundRect">
            <a:avLst>
              <a:gd name="adj" fmla="val 4255"/>
            </a:avLst>
          </a:prstGeom>
          <a:solidFill>
            <a:srgbClr val="F2F4F6"/>
          </a:solidFill>
          <a:ln w="12700">
            <a:solidFill>
              <a:srgbClr val="F2F4F6"/>
            </a:solidFill>
            <a:prstDash val="solid"/>
          </a:ln>
        </p:spPr>
      </p:sp>
      <p:sp>
        <p:nvSpPr>
          <p:cNvPr id="23" name="Shape 17"/>
          <p:cNvSpPr/>
          <p:nvPr/>
        </p:nvSpPr>
        <p:spPr>
          <a:xfrm>
            <a:off x="777240" y="4343400"/>
            <a:ext cx="566928" cy="566928"/>
          </a:xfrm>
          <a:prstGeom prst="roundRect">
            <a:avLst>
              <a:gd name="adj" fmla="val 22000"/>
            </a:avLst>
          </a:prstGeom>
          <a:solidFill>
            <a:srgbClr val="2B3E50"/>
          </a:solidFill>
          <a:ln w="12700">
            <a:solidFill>
              <a:srgbClr val="2B3E50"/>
            </a:solidFill>
            <a:prstDash val="solid"/>
          </a:ln>
        </p:spPr>
      </p:sp>
      <p:pic>
        <p:nvPicPr>
          <p:cNvPr id="24" name="Image 3" descr="preencoded.png">    </p:cNvPr>
          <p:cNvPicPr>
            <a:picLocks noChangeAspect="1"/>
          </p:cNvPicPr>
          <p:nvPr/>
        </p:nvPicPr>
        <p:blipFill>
          <a:blip r:embed="rId4"/>
          <a:stretch>
            <a:fillRect/>
          </a:stretch>
        </p:blipFill>
        <p:spPr>
          <a:xfrm>
            <a:off x="913303" y="4479463"/>
            <a:ext cx="294803" cy="294803"/>
          </a:xfrm>
          <a:prstGeom prst="rect">
            <a:avLst/>
          </a:prstGeom>
        </p:spPr>
      </p:pic>
      <p:sp>
        <p:nvSpPr>
          <p:cNvPr id="25" name="Text 18"/>
          <p:cNvSpPr txBox="1"/>
          <p:nvPr/>
        </p:nvSpPr>
        <p:spPr>
          <a:xfrm>
            <a:off x="1527048" y="4343400"/>
            <a:ext cx="2308250" cy="566928"/>
          </a:xfrm>
          <a:prstGeom prst="rect">
            <a:avLst/>
          </a:prstGeom>
          <a:noFill/>
          <a:ln/>
        </p:spPr>
        <p:txBody>
          <a:bodyPr wrap="square" lIns="0" tIns="0" rIns="0" bIns="0" rtlCol="0" anchor="ctr">
            <a:normAutofit/>
          </a:bodyPr>
          <a:lstStyle/>
          <a:p>
            <a:pPr indent="0" marL="0">
              <a:buNone/>
            </a:pPr>
            <a:r>
              <a:rPr lang="en-US" sz="1650" b="1" dirty="0">
                <a:solidFill>
                  <a:srgbClr val="1B2A38"/>
                </a:solidFill>
                <a:latin typeface="Calibri" pitchFamily="34" charset="0"/>
                <a:ea typeface="Calibri" pitchFamily="34" charset="-122"/>
                <a:cs typeface="Calibri" pitchFamily="34" charset="-120"/>
              </a:rPr>
              <a:t>Skills</a:t>
            </a:r>
            <a:endParaRPr lang="en-US" sz="1650" dirty="0"/>
          </a:p>
        </p:txBody>
      </p:sp>
      <p:sp>
        <p:nvSpPr>
          <p:cNvPr id="26" name="Text 19"/>
          <p:cNvSpPr txBox="1"/>
          <p:nvPr/>
        </p:nvSpPr>
        <p:spPr>
          <a:xfrm>
            <a:off x="777240" y="5074920"/>
            <a:ext cx="3058058" cy="1033272"/>
          </a:xfrm>
          <a:prstGeom prst="rect">
            <a:avLst/>
          </a:prstGeom>
          <a:noFill/>
          <a:ln/>
        </p:spPr>
        <p:txBody>
          <a:bodyPr wrap="square" lIns="0" tIns="0" rIns="0" bIns="0" rtlCol="0" anchor="t">
            <a:normAutofit/>
          </a:bodyPr>
          <a:lstStyle/>
          <a:p>
            <a:pPr indent="0" marL="0">
              <a:buNone/>
            </a:pPr>
            <a:r>
              <a:rPr lang="en-US" sz="1450" dirty="0">
                <a:solidFill>
                  <a:srgbClr val="1B2A38"/>
                </a:solidFill>
                <a:latin typeface="Calibri" pitchFamily="34" charset="0"/>
                <a:ea typeface="Calibri" pitchFamily="34" charset="-122"/>
                <a:cs typeface="Calibri" pitchFamily="34" charset="-120"/>
              </a:rPr>
              <a:t>Đóng gói quy trình lặp lại (“Báo cáo ngày”) để ai chạy cũng ra cùng định dạng. Buổi 5.</a:t>
            </a:r>
            <a:endParaRPr lang="en-US" sz="1450" dirty="0"/>
          </a:p>
        </p:txBody>
      </p:sp>
      <p:sp>
        <p:nvSpPr>
          <p:cNvPr id="27" name="Shape 20"/>
          <p:cNvSpPr/>
          <p:nvPr/>
        </p:nvSpPr>
        <p:spPr>
          <a:xfrm>
            <a:off x="4338218" y="4114800"/>
            <a:ext cx="3515258" cy="2148840"/>
          </a:xfrm>
          <a:prstGeom prst="roundRect">
            <a:avLst>
              <a:gd name="adj" fmla="val 4255"/>
            </a:avLst>
          </a:prstGeom>
          <a:solidFill>
            <a:srgbClr val="F2F4F6"/>
          </a:solidFill>
          <a:ln w="12700">
            <a:solidFill>
              <a:srgbClr val="F2F4F6"/>
            </a:solidFill>
            <a:prstDash val="solid"/>
          </a:ln>
        </p:spPr>
      </p:sp>
      <p:sp>
        <p:nvSpPr>
          <p:cNvPr id="28" name="Shape 21"/>
          <p:cNvSpPr/>
          <p:nvPr/>
        </p:nvSpPr>
        <p:spPr>
          <a:xfrm>
            <a:off x="4566818" y="4343400"/>
            <a:ext cx="566928" cy="566928"/>
          </a:xfrm>
          <a:prstGeom prst="roundRect">
            <a:avLst>
              <a:gd name="adj" fmla="val 22000"/>
            </a:avLst>
          </a:prstGeom>
          <a:solidFill>
            <a:srgbClr val="2B3E50"/>
          </a:solidFill>
          <a:ln w="12700">
            <a:solidFill>
              <a:srgbClr val="2B3E50"/>
            </a:solidFill>
            <a:prstDash val="solid"/>
          </a:ln>
        </p:spPr>
      </p:sp>
      <p:pic>
        <p:nvPicPr>
          <p:cNvPr id="29" name="Image 4" descr="preencoded.png">    </p:cNvPr>
          <p:cNvPicPr>
            <a:picLocks noChangeAspect="1"/>
          </p:cNvPicPr>
          <p:nvPr/>
        </p:nvPicPr>
        <p:blipFill>
          <a:blip r:embed="rId5"/>
          <a:stretch>
            <a:fillRect/>
          </a:stretch>
        </p:blipFill>
        <p:spPr>
          <a:xfrm>
            <a:off x="4702881" y="4479463"/>
            <a:ext cx="294803" cy="294803"/>
          </a:xfrm>
          <a:prstGeom prst="rect">
            <a:avLst/>
          </a:prstGeom>
        </p:spPr>
      </p:pic>
      <p:sp>
        <p:nvSpPr>
          <p:cNvPr id="30" name="Text 22"/>
          <p:cNvSpPr txBox="1"/>
          <p:nvPr/>
        </p:nvSpPr>
        <p:spPr>
          <a:xfrm>
            <a:off x="5316626" y="4343400"/>
            <a:ext cx="2308250" cy="566928"/>
          </a:xfrm>
          <a:prstGeom prst="rect">
            <a:avLst/>
          </a:prstGeom>
          <a:noFill/>
          <a:ln/>
        </p:spPr>
        <p:txBody>
          <a:bodyPr wrap="square" lIns="0" tIns="0" rIns="0" bIns="0" rtlCol="0" anchor="ctr">
            <a:normAutofit/>
          </a:bodyPr>
          <a:lstStyle/>
          <a:p>
            <a:pPr indent="0" marL="0">
              <a:buNone/>
            </a:pPr>
            <a:r>
              <a:rPr lang="en-US" sz="1650" b="1" dirty="0">
                <a:solidFill>
                  <a:srgbClr val="1B2A38"/>
                </a:solidFill>
                <a:latin typeface="Calibri" pitchFamily="34" charset="0"/>
                <a:ea typeface="Calibri" pitchFamily="34" charset="-122"/>
                <a:cs typeface="Calibri" pitchFamily="34" charset="-120"/>
              </a:rPr>
              <a:t>Claude in Excel / Sheets</a:t>
            </a:r>
            <a:endParaRPr lang="en-US" sz="1650" dirty="0"/>
          </a:p>
        </p:txBody>
      </p:sp>
      <p:sp>
        <p:nvSpPr>
          <p:cNvPr id="31" name="Text 23"/>
          <p:cNvSpPr txBox="1"/>
          <p:nvPr/>
        </p:nvSpPr>
        <p:spPr>
          <a:xfrm>
            <a:off x="4566818" y="5074920"/>
            <a:ext cx="3058058" cy="1033272"/>
          </a:xfrm>
          <a:prstGeom prst="rect">
            <a:avLst/>
          </a:prstGeom>
          <a:noFill/>
          <a:ln/>
        </p:spPr>
        <p:txBody>
          <a:bodyPr wrap="square" lIns="0" tIns="0" rIns="0" bIns="0" rtlCol="0" anchor="t">
            <a:normAutofit/>
          </a:bodyPr>
          <a:lstStyle/>
          <a:p>
            <a:pPr indent="0" marL="0">
              <a:buNone/>
            </a:pPr>
            <a:r>
              <a:rPr lang="en-US" sz="1450" dirty="0">
                <a:solidFill>
                  <a:srgbClr val="1B2A38"/>
                </a:solidFill>
                <a:latin typeface="Calibri" pitchFamily="34" charset="0"/>
                <a:ea typeface="Calibri" pitchFamily="34" charset="-122"/>
                <a:cs typeface="Calibri" pitchFamily="34" charset="-120"/>
              </a:rPr>
              <a:t>Làm việc ngay trong bảng tính: viết công thức, pivot, giải thích ô lỗi. Buổi 2–3.</a:t>
            </a:r>
            <a:endParaRPr lang="en-US" sz="1450" dirty="0"/>
          </a:p>
        </p:txBody>
      </p:sp>
      <p:sp>
        <p:nvSpPr>
          <p:cNvPr id="32" name="Shape 24"/>
          <p:cNvSpPr/>
          <p:nvPr/>
        </p:nvSpPr>
        <p:spPr>
          <a:xfrm>
            <a:off x="8127797" y="4114800"/>
            <a:ext cx="3515258" cy="2148840"/>
          </a:xfrm>
          <a:prstGeom prst="roundRect">
            <a:avLst>
              <a:gd name="adj" fmla="val 4255"/>
            </a:avLst>
          </a:prstGeom>
          <a:solidFill>
            <a:srgbClr val="F2F4F6"/>
          </a:solidFill>
          <a:ln w="12700">
            <a:solidFill>
              <a:srgbClr val="F2F4F6"/>
            </a:solidFill>
            <a:prstDash val="solid"/>
          </a:ln>
        </p:spPr>
      </p:sp>
      <p:sp>
        <p:nvSpPr>
          <p:cNvPr id="33" name="Shape 25"/>
          <p:cNvSpPr/>
          <p:nvPr/>
        </p:nvSpPr>
        <p:spPr>
          <a:xfrm>
            <a:off x="8356397" y="4343400"/>
            <a:ext cx="566928" cy="566928"/>
          </a:xfrm>
          <a:prstGeom prst="roundRect">
            <a:avLst>
              <a:gd name="adj" fmla="val 22000"/>
            </a:avLst>
          </a:prstGeom>
          <a:solidFill>
            <a:srgbClr val="2B3E50"/>
          </a:solidFill>
          <a:ln w="12700">
            <a:solidFill>
              <a:srgbClr val="2B3E50"/>
            </a:solidFill>
            <a:prstDash val="solid"/>
          </a:ln>
        </p:spPr>
      </p:sp>
      <p:pic>
        <p:nvPicPr>
          <p:cNvPr id="34" name="Image 5" descr="preencoded.png">    </p:cNvPr>
          <p:cNvPicPr>
            <a:picLocks noChangeAspect="1"/>
          </p:cNvPicPr>
          <p:nvPr/>
        </p:nvPicPr>
        <p:blipFill>
          <a:blip r:embed="rId6"/>
          <a:stretch>
            <a:fillRect/>
          </a:stretch>
        </p:blipFill>
        <p:spPr>
          <a:xfrm>
            <a:off x="8492460" y="4479463"/>
            <a:ext cx="294803" cy="294803"/>
          </a:xfrm>
          <a:prstGeom prst="rect">
            <a:avLst/>
          </a:prstGeom>
        </p:spPr>
      </p:pic>
      <p:sp>
        <p:nvSpPr>
          <p:cNvPr id="35" name="Text 26"/>
          <p:cNvSpPr txBox="1"/>
          <p:nvPr/>
        </p:nvSpPr>
        <p:spPr>
          <a:xfrm>
            <a:off x="9106205" y="4343400"/>
            <a:ext cx="2308250" cy="566928"/>
          </a:xfrm>
          <a:prstGeom prst="rect">
            <a:avLst/>
          </a:prstGeom>
          <a:noFill/>
          <a:ln/>
        </p:spPr>
        <p:txBody>
          <a:bodyPr wrap="square" lIns="0" tIns="0" rIns="0" bIns="0" rtlCol="0" anchor="ctr">
            <a:normAutofit/>
          </a:bodyPr>
          <a:lstStyle/>
          <a:p>
            <a:pPr indent="0" marL="0">
              <a:buNone/>
            </a:pPr>
            <a:r>
              <a:rPr lang="en-US" sz="1650" b="1" dirty="0">
                <a:solidFill>
                  <a:srgbClr val="1B2A38"/>
                </a:solidFill>
                <a:latin typeface="Calibri" pitchFamily="34" charset="0"/>
                <a:ea typeface="Calibri" pitchFamily="34" charset="-122"/>
                <a:cs typeface="Calibri" pitchFamily="34" charset="-120"/>
              </a:rPr>
              <a:t>Claude Code (cho IT)</a:t>
            </a:r>
            <a:endParaRPr lang="en-US" sz="1650" dirty="0"/>
          </a:p>
        </p:txBody>
      </p:sp>
      <p:sp>
        <p:nvSpPr>
          <p:cNvPr id="36" name="Text 27"/>
          <p:cNvSpPr txBox="1"/>
          <p:nvPr/>
        </p:nvSpPr>
        <p:spPr>
          <a:xfrm>
            <a:off x="8356397" y="5074920"/>
            <a:ext cx="3058058" cy="1033272"/>
          </a:xfrm>
          <a:prstGeom prst="rect">
            <a:avLst/>
          </a:prstGeom>
          <a:noFill/>
          <a:ln/>
        </p:spPr>
        <p:txBody>
          <a:bodyPr wrap="square" lIns="0" tIns="0" rIns="0" bIns="0" rtlCol="0" anchor="t">
            <a:normAutofit/>
          </a:bodyPr>
          <a:lstStyle/>
          <a:p>
            <a:pPr indent="0" marL="0">
              <a:buNone/>
            </a:pPr>
            <a:r>
              <a:rPr lang="en-US" sz="1450" dirty="0">
                <a:solidFill>
                  <a:srgbClr val="1B2A38"/>
                </a:solidFill>
                <a:latin typeface="Calibri" pitchFamily="34" charset="0"/>
                <a:ea typeface="Calibri" pitchFamily="34" charset="-122"/>
                <a:cs typeface="Calibri" pitchFamily="34" charset="-120"/>
              </a:rPr>
              <a:t>Viết script tự lấy dữ liệu tổng đài và máy chấm công, đổ vào Sheets mỗi ngày. Lab tùy chọn buổi 2, 5.</a:t>
            </a:r>
            <a:endParaRPr lang="en-US" sz="14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982980" cy="292608"/>
          </a:xfrm>
          <a:prstGeom prst="roundRect">
            <a:avLst>
              <a:gd name="adj" fmla="val 50000"/>
            </a:avLst>
          </a:prstGeom>
          <a:solidFill>
            <a:srgbClr val="FBE7DA"/>
          </a:solidFill>
          <a:ln w="12700">
            <a:solidFill>
              <a:srgbClr val="FBE7DA"/>
            </a:solidFill>
            <a:prstDash val="solid"/>
          </a:ln>
        </p:spPr>
      </p:sp>
      <p:sp>
        <p:nvSpPr>
          <p:cNvPr id="3" name="Text 1"/>
          <p:cNvSpPr txBox="1"/>
          <p:nvPr/>
        </p:nvSpPr>
        <p:spPr>
          <a:xfrm>
            <a:off x="548640" y="384048"/>
            <a:ext cx="982980" cy="292608"/>
          </a:xfrm>
          <a:prstGeom prst="rect">
            <a:avLst/>
          </a:prstGeom>
          <a:noFill/>
          <a:ln/>
        </p:spPr>
        <p:txBody>
          <a:bodyPr wrap="square" lIns="0" tIns="0" rIns="0" bIns="0" rtlCol="0" anchor="ctr"/>
          <a:lstStyle/>
          <a:p>
            <a:pPr algn="ctr" indent="0" marL="0">
              <a:buNone/>
            </a:pPr>
            <a:r>
              <a:rPr lang="en-US" sz="1050" b="1" spc="150" kern="0" dirty="0">
                <a:solidFill>
                  <a:srgbClr val="D9773A"/>
                </a:solidFill>
                <a:latin typeface="Calibri" pitchFamily="34" charset="0"/>
                <a:ea typeface="Calibri" pitchFamily="34" charset="-122"/>
                <a:cs typeface="Calibri" pitchFamily="34" charset="-120"/>
              </a:rPr>
              <a:t>KIẾN THỨC</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Project = “bộ nhớ chung” của phòng Vận hành &amp; HR</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1 · Nền tảng Claude &amp; dữ liệu</a:t>
            </a:r>
            <a:endParaRPr lang="en-US" sz="1000" dirty="0"/>
          </a:p>
        </p:txBody>
      </p:sp>
      <p:sp>
        <p:nvSpPr>
          <p:cNvPr id="7" name="Text 4"/>
          <p:cNvSpPr txBox="1"/>
          <p:nvPr/>
        </p:nvSpPr>
        <p:spPr>
          <a:xfrm>
            <a:off x="548640" y="1645920"/>
            <a:ext cx="11094415" cy="502920"/>
          </a:xfrm>
          <a:prstGeom prst="rect">
            <a:avLst/>
          </a:prstGeom>
          <a:noFill/>
          <a:ln/>
        </p:spPr>
        <p:txBody>
          <a:bodyPr wrap="square" lIns="0" tIns="0" rIns="0" bIns="0" rtlCol="0" anchor="t"/>
          <a:lstStyle/>
          <a:p>
            <a:pPr indent="0" marL="0">
              <a:buNone/>
            </a:pPr>
            <a:r>
              <a:rPr lang="en-US" sz="1600" i="1" dirty="0">
                <a:solidFill>
                  <a:srgbClr val="6B7785"/>
                </a:solidFill>
                <a:latin typeface="Calibri" pitchFamily="34" charset="0"/>
                <a:ea typeface="Calibri" pitchFamily="34" charset="-122"/>
                <a:cs typeface="Calibri" pitchFamily="34" charset="-120"/>
              </a:rPr>
              <a:t>Một lần thiết lập — mọi cuộc chat trong Project đều biết công ty bạn là ai.</a:t>
            </a:r>
            <a:endParaRPr lang="en-US" sz="1600" dirty="0"/>
          </a:p>
        </p:txBody>
      </p:sp>
      <p:sp>
        <p:nvSpPr>
          <p:cNvPr id="8" name="Shape 5"/>
          <p:cNvSpPr/>
          <p:nvPr/>
        </p:nvSpPr>
        <p:spPr>
          <a:xfrm>
            <a:off x="548640" y="2331720"/>
            <a:ext cx="2485568" cy="3017520"/>
          </a:xfrm>
          <a:prstGeom prst="roundRect">
            <a:avLst>
              <a:gd name="adj" fmla="val 3679"/>
            </a:avLst>
          </a:prstGeom>
          <a:solidFill>
            <a:srgbClr val="F2F4F6"/>
          </a:solidFill>
          <a:ln w="12700">
            <a:solidFill>
              <a:srgbClr val="F2F4F6"/>
            </a:solidFill>
            <a:prstDash val="solid"/>
          </a:ln>
        </p:spPr>
      </p:sp>
      <p:sp>
        <p:nvSpPr>
          <p:cNvPr id="9" name="Shape 6"/>
          <p:cNvSpPr/>
          <p:nvPr/>
        </p:nvSpPr>
        <p:spPr>
          <a:xfrm>
            <a:off x="749808" y="2532888"/>
            <a:ext cx="548640" cy="548640"/>
          </a:xfrm>
          <a:prstGeom prst="ellipse">
            <a:avLst/>
          </a:prstGeom>
          <a:solidFill>
            <a:srgbClr val="2B3E50"/>
          </a:solidFill>
          <a:ln w="12700">
            <a:solidFill>
              <a:srgbClr val="2B3E50"/>
            </a:solidFill>
            <a:prstDash val="solid"/>
          </a:ln>
        </p:spPr>
      </p:sp>
      <p:sp>
        <p:nvSpPr>
          <p:cNvPr id="10" name="Text 7"/>
          <p:cNvSpPr txBox="1"/>
          <p:nvPr/>
        </p:nvSpPr>
        <p:spPr>
          <a:xfrm>
            <a:off x="749808" y="253288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11" name="Text 8"/>
          <p:cNvSpPr txBox="1"/>
          <p:nvPr/>
        </p:nvSpPr>
        <p:spPr>
          <a:xfrm>
            <a:off x="749808" y="3200400"/>
            <a:ext cx="2083232" cy="685800"/>
          </a:xfrm>
          <a:prstGeom prst="rect">
            <a:avLst/>
          </a:prstGeom>
          <a:noFill/>
          <a:ln/>
        </p:spPr>
        <p:txBody>
          <a:bodyPr wrap="square" lIns="0" tIns="0" rIns="0" bIns="0" rtlCol="0" anchor="t">
            <a:normAutofit/>
          </a:bodyPr>
          <a:lstStyle/>
          <a:p>
            <a:pPr indent="0" marL="0">
              <a:buNone/>
            </a:pPr>
            <a:r>
              <a:rPr lang="en-US" sz="1700" b="1" dirty="0">
                <a:solidFill>
                  <a:srgbClr val="1B2A38"/>
                </a:solidFill>
                <a:latin typeface="Calibri" pitchFamily="34" charset="0"/>
                <a:ea typeface="Calibri" pitchFamily="34" charset="-122"/>
                <a:cs typeface="Calibri" pitchFamily="34" charset="-120"/>
              </a:rPr>
              <a:t>Tài liệu nền</a:t>
            </a:r>
            <a:endParaRPr lang="en-US" sz="1700" dirty="0"/>
          </a:p>
        </p:txBody>
      </p:sp>
      <p:sp>
        <p:nvSpPr>
          <p:cNvPr id="12" name="Text 9"/>
          <p:cNvSpPr txBox="1"/>
          <p:nvPr/>
        </p:nvSpPr>
        <p:spPr>
          <a:xfrm>
            <a:off x="749808" y="3904488"/>
            <a:ext cx="2083232" cy="1280160"/>
          </a:xfrm>
          <a:prstGeom prst="rect">
            <a:avLst/>
          </a:prstGeom>
          <a:noFill/>
          <a:ln/>
        </p:spPr>
        <p:txBody>
          <a:bodyPr wrap="square" lIns="0" tIns="0" rIns="0" bIns="0" rtlCol="0" anchor="t">
            <a:normAutofit/>
          </a:bodyPr>
          <a:lstStyle/>
          <a:p>
            <a:pPr marL="228600" indent="-228600">
              <a:spcAft>
                <a:spcPts val="500"/>
              </a:spcAft>
              <a:buSzPct val="100000"/>
              <a:buChar char="•"/>
            </a:pPr>
            <a:r>
              <a:rPr lang="en-US" sz="1400" dirty="0">
                <a:solidFill>
                  <a:srgbClr val="1B2A38"/>
                </a:solidFill>
                <a:latin typeface="Calibri" pitchFamily="34" charset="0"/>
                <a:ea typeface="Calibri" pitchFamily="34" charset="-122"/>
                <a:cs typeface="Calibri" pitchFamily="34" charset="-120"/>
              </a:rPr>
              <a:t>Danh sách agent</a:t>
            </a:r>
            <a:endParaRPr lang="en-US" sz="1400" dirty="0"/>
          </a:p>
          <a:p>
            <a:pPr marL="228600" indent="-228600">
              <a:spcAft>
                <a:spcPts val="500"/>
              </a:spcAft>
              <a:buSzPct val="100000"/>
              <a:buChar char="•"/>
            </a:pPr>
            <a:r>
              <a:rPr lang="en-US" sz="1400" dirty="0">
                <a:solidFill>
                  <a:srgbClr val="1B2A38"/>
                </a:solidFill>
                <a:latin typeface="Calibri" pitchFamily="34" charset="0"/>
                <a:ea typeface="Calibri" pitchFamily="34" charset="-122"/>
                <a:cs typeface="Calibri" pitchFamily="34" charset="-120"/>
              </a:rPr>
              <a:t>Nội quy chấm công</a:t>
            </a:r>
            <a:endParaRPr lang="en-US" sz="1400" dirty="0"/>
          </a:p>
          <a:p>
            <a:pPr marL="228600" indent="-228600">
              <a:spcAft>
                <a:spcPts val="500"/>
              </a:spcAft>
              <a:buSzPct val="100000"/>
              <a:buChar char="•"/>
            </a:pPr>
            <a:r>
              <a:rPr lang="en-US" sz="1400" dirty="0">
                <a:solidFill>
                  <a:srgbClr val="1B2A38"/>
                </a:solidFill>
                <a:latin typeface="Calibri" pitchFamily="34" charset="0"/>
                <a:ea typeface="Calibri" pitchFamily="34" charset="-122"/>
                <a:cs typeface="Calibri" pitchFamily="34" charset="-120"/>
              </a:rPr>
              <a:t>Danh sách dự án</a:t>
            </a:r>
            <a:endParaRPr lang="en-US" sz="1400" dirty="0"/>
          </a:p>
          <a:p>
            <a:pPr marL="228600" indent="-228600">
              <a:spcAft>
                <a:spcPts val="500"/>
              </a:spcAft>
              <a:buSzPct val="100000"/>
              <a:buChar char="•"/>
            </a:pPr>
            <a:r>
              <a:rPr lang="en-US" sz="1400" dirty="0">
                <a:solidFill>
                  <a:srgbClr val="1B2A38"/>
                </a:solidFill>
                <a:latin typeface="Calibri" pitchFamily="34" charset="0"/>
                <a:ea typeface="Calibri" pitchFamily="34" charset="-122"/>
                <a:cs typeface="Calibri" pitchFamily="34" charset="-120"/>
              </a:rPr>
              <a:t>Danh mục ca</a:t>
            </a:r>
            <a:endParaRPr lang="en-US" sz="1400" dirty="0"/>
          </a:p>
          <a:p>
            <a:pPr marL="228600" indent="-228600">
              <a:spcAft>
                <a:spcPts val="500"/>
              </a:spcAft>
              <a:buSzPct val="100000"/>
              <a:buChar char="•"/>
            </a:pPr>
            <a:r>
              <a:rPr lang="en-US" sz="1400" dirty="0">
                <a:solidFill>
                  <a:srgbClr val="1B2A38"/>
                </a:solidFill>
                <a:latin typeface="Calibri" pitchFamily="34" charset="0"/>
                <a:ea typeface="Calibri" pitchFamily="34" charset="-122"/>
                <a:cs typeface="Calibri" pitchFamily="34" charset="-120"/>
              </a:rPr>
              <a:t>Sau này: từ điển dữ liệu, chỉ số, quy tắc làm sạch</a:t>
            </a:r>
            <a:endParaRPr lang="en-US" sz="1400" dirty="0"/>
          </a:p>
        </p:txBody>
      </p:sp>
      <p:pic>
        <p:nvPicPr>
          <p:cNvPr id="13" name="Image 0" descr="preencoded.png">    </p:cNvPr>
          <p:cNvPicPr>
            <a:picLocks noChangeAspect="1"/>
          </p:cNvPicPr>
          <p:nvPr/>
        </p:nvPicPr>
        <p:blipFill>
          <a:blip r:embed="rId1"/>
          <a:stretch>
            <a:fillRect/>
          </a:stretch>
        </p:blipFill>
        <p:spPr>
          <a:xfrm>
            <a:off x="3116504" y="3730752"/>
            <a:ext cx="219456" cy="219456"/>
          </a:xfrm>
          <a:prstGeom prst="rect">
            <a:avLst/>
          </a:prstGeom>
        </p:spPr>
      </p:pic>
      <p:sp>
        <p:nvSpPr>
          <p:cNvPr id="14" name="Shape 10"/>
          <p:cNvSpPr/>
          <p:nvPr/>
        </p:nvSpPr>
        <p:spPr>
          <a:xfrm>
            <a:off x="3418256" y="2331720"/>
            <a:ext cx="2485568" cy="3017520"/>
          </a:xfrm>
          <a:prstGeom prst="roundRect">
            <a:avLst>
              <a:gd name="adj" fmla="val 3679"/>
            </a:avLst>
          </a:prstGeom>
          <a:solidFill>
            <a:srgbClr val="F2F4F6"/>
          </a:solidFill>
          <a:ln w="12700">
            <a:solidFill>
              <a:srgbClr val="F2F4F6"/>
            </a:solidFill>
            <a:prstDash val="solid"/>
          </a:ln>
        </p:spPr>
      </p:sp>
      <p:sp>
        <p:nvSpPr>
          <p:cNvPr id="15" name="Shape 11"/>
          <p:cNvSpPr/>
          <p:nvPr/>
        </p:nvSpPr>
        <p:spPr>
          <a:xfrm>
            <a:off x="3619424" y="2532888"/>
            <a:ext cx="548640" cy="548640"/>
          </a:xfrm>
          <a:prstGeom prst="ellipse">
            <a:avLst/>
          </a:prstGeom>
          <a:solidFill>
            <a:srgbClr val="2B3E50"/>
          </a:solidFill>
          <a:ln w="12700">
            <a:solidFill>
              <a:srgbClr val="2B3E50"/>
            </a:solidFill>
            <a:prstDash val="solid"/>
          </a:ln>
        </p:spPr>
      </p:sp>
      <p:sp>
        <p:nvSpPr>
          <p:cNvPr id="16" name="Text 12"/>
          <p:cNvSpPr txBox="1"/>
          <p:nvPr/>
        </p:nvSpPr>
        <p:spPr>
          <a:xfrm>
            <a:off x="3619424" y="253288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7" name="Text 13"/>
          <p:cNvSpPr txBox="1"/>
          <p:nvPr/>
        </p:nvSpPr>
        <p:spPr>
          <a:xfrm>
            <a:off x="3619424" y="3200400"/>
            <a:ext cx="2083232" cy="685800"/>
          </a:xfrm>
          <a:prstGeom prst="rect">
            <a:avLst/>
          </a:prstGeom>
          <a:noFill/>
          <a:ln/>
        </p:spPr>
        <p:txBody>
          <a:bodyPr wrap="square" lIns="0" tIns="0" rIns="0" bIns="0" rtlCol="0" anchor="t">
            <a:normAutofit/>
          </a:bodyPr>
          <a:lstStyle/>
          <a:p>
            <a:pPr indent="0" marL="0">
              <a:buNone/>
            </a:pPr>
            <a:r>
              <a:rPr lang="en-US" sz="1700" b="1" dirty="0">
                <a:solidFill>
                  <a:srgbClr val="1B2A38"/>
                </a:solidFill>
                <a:latin typeface="Calibri" pitchFamily="34" charset="0"/>
                <a:ea typeface="Calibri" pitchFamily="34" charset="-122"/>
                <a:cs typeface="Calibri" pitchFamily="34" charset="-120"/>
              </a:rPr>
              <a:t>Custom instructions</a:t>
            </a:r>
            <a:endParaRPr lang="en-US" sz="1700" dirty="0"/>
          </a:p>
        </p:txBody>
      </p:sp>
      <p:sp>
        <p:nvSpPr>
          <p:cNvPr id="18" name="Text 14"/>
          <p:cNvSpPr txBox="1"/>
          <p:nvPr/>
        </p:nvSpPr>
        <p:spPr>
          <a:xfrm>
            <a:off x="3619424" y="3904488"/>
            <a:ext cx="2083232" cy="1280160"/>
          </a:xfrm>
          <a:prstGeom prst="rect">
            <a:avLst/>
          </a:prstGeom>
          <a:noFill/>
          <a:ln/>
        </p:spPr>
        <p:txBody>
          <a:bodyPr wrap="square" lIns="0" tIns="0" rIns="0" bIns="0" rtlCol="0" anchor="t">
            <a:normAutofit/>
          </a:bodyPr>
          <a:lstStyle/>
          <a:p>
            <a:pPr marL="228600" indent="-228600">
              <a:spcAft>
                <a:spcPts val="500"/>
              </a:spcAft>
              <a:buSzPct val="100000"/>
              <a:buChar char="•"/>
            </a:pPr>
            <a:r>
              <a:rPr lang="en-US" sz="1400" dirty="0">
                <a:solidFill>
                  <a:srgbClr val="1B2A38"/>
                </a:solidFill>
                <a:latin typeface="Calibri" pitchFamily="34" charset="0"/>
                <a:ea typeface="Calibri" pitchFamily="34" charset="-122"/>
                <a:cs typeface="Calibri" pitchFamily="34" charset="-120"/>
              </a:rPr>
              <a:t>Vai trò + quy mô + dự án</a:t>
            </a:r>
            <a:endParaRPr lang="en-US" sz="1400" dirty="0"/>
          </a:p>
          <a:p>
            <a:pPr marL="228600" indent="-228600">
              <a:spcAft>
                <a:spcPts val="500"/>
              </a:spcAft>
              <a:buSzPct val="100000"/>
              <a:buChar char="•"/>
            </a:pPr>
            <a:r>
              <a:rPr lang="en-US" sz="1400" dirty="0">
                <a:solidFill>
                  <a:srgbClr val="1B2A38"/>
                </a:solidFill>
                <a:latin typeface="Calibri" pitchFamily="34" charset="0"/>
                <a:ea typeface="Calibri" pitchFamily="34" charset="-122"/>
                <a:cs typeface="Calibri" pitchFamily="34" charset="-120"/>
              </a:rPr>
              <a:t>Tính trên dữ liệu thực, ghi tổng số dòng</a:t>
            </a:r>
            <a:endParaRPr lang="en-US" sz="1400" dirty="0"/>
          </a:p>
          <a:p>
            <a:pPr marL="228600" indent="-228600">
              <a:spcAft>
                <a:spcPts val="500"/>
              </a:spcAft>
              <a:buSzPct val="100000"/>
              <a:buChar char="•"/>
            </a:pPr>
            <a:r>
              <a:rPr lang="en-US" sz="1400" dirty="0">
                <a:solidFill>
                  <a:srgbClr val="1B2A38"/>
                </a:solidFill>
                <a:latin typeface="Calibri" pitchFamily="34" charset="0"/>
                <a:ea typeface="Calibri" pitchFamily="34" charset="-122"/>
                <a:cs typeface="Calibri" pitchFamily="34" charset="-120"/>
              </a:rPr>
              <a:t>Thiếu thì hỏi, không sửa dữ liệu gốc</a:t>
            </a:r>
            <a:endParaRPr lang="en-US" sz="1400" dirty="0"/>
          </a:p>
        </p:txBody>
      </p:sp>
      <p:pic>
        <p:nvPicPr>
          <p:cNvPr id="19" name="Image 1" descr="preencoded.png">    </p:cNvPr>
          <p:cNvPicPr>
            <a:picLocks noChangeAspect="1"/>
          </p:cNvPicPr>
          <p:nvPr/>
        </p:nvPicPr>
        <p:blipFill>
          <a:blip r:embed="rId2"/>
          <a:stretch>
            <a:fillRect/>
          </a:stretch>
        </p:blipFill>
        <p:spPr>
          <a:xfrm>
            <a:off x="5986120" y="3730752"/>
            <a:ext cx="219456" cy="219456"/>
          </a:xfrm>
          <a:prstGeom prst="rect">
            <a:avLst/>
          </a:prstGeom>
        </p:spPr>
      </p:pic>
      <p:sp>
        <p:nvSpPr>
          <p:cNvPr id="20" name="Shape 15"/>
          <p:cNvSpPr/>
          <p:nvPr/>
        </p:nvSpPr>
        <p:spPr>
          <a:xfrm>
            <a:off x="6287872" y="2331720"/>
            <a:ext cx="2485568" cy="3017520"/>
          </a:xfrm>
          <a:prstGeom prst="roundRect">
            <a:avLst>
              <a:gd name="adj" fmla="val 3679"/>
            </a:avLst>
          </a:prstGeom>
          <a:solidFill>
            <a:srgbClr val="F2F4F6"/>
          </a:solidFill>
          <a:ln w="12700">
            <a:solidFill>
              <a:srgbClr val="F2F4F6"/>
            </a:solidFill>
            <a:prstDash val="solid"/>
          </a:ln>
        </p:spPr>
      </p:sp>
      <p:sp>
        <p:nvSpPr>
          <p:cNvPr id="21" name="Shape 16"/>
          <p:cNvSpPr/>
          <p:nvPr/>
        </p:nvSpPr>
        <p:spPr>
          <a:xfrm>
            <a:off x="6489040" y="2532888"/>
            <a:ext cx="548640" cy="548640"/>
          </a:xfrm>
          <a:prstGeom prst="ellipse">
            <a:avLst/>
          </a:prstGeom>
          <a:solidFill>
            <a:srgbClr val="2B3E50"/>
          </a:solidFill>
          <a:ln w="12700">
            <a:solidFill>
              <a:srgbClr val="2B3E50"/>
            </a:solidFill>
            <a:prstDash val="solid"/>
          </a:ln>
        </p:spPr>
      </p:sp>
      <p:sp>
        <p:nvSpPr>
          <p:cNvPr id="22" name="Text 17"/>
          <p:cNvSpPr txBox="1"/>
          <p:nvPr/>
        </p:nvSpPr>
        <p:spPr>
          <a:xfrm>
            <a:off x="6489040" y="253288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3" name="Text 18"/>
          <p:cNvSpPr txBox="1"/>
          <p:nvPr/>
        </p:nvSpPr>
        <p:spPr>
          <a:xfrm>
            <a:off x="6489040" y="3200400"/>
            <a:ext cx="2083232" cy="685800"/>
          </a:xfrm>
          <a:prstGeom prst="rect">
            <a:avLst/>
          </a:prstGeom>
          <a:noFill/>
          <a:ln/>
        </p:spPr>
        <p:txBody>
          <a:bodyPr wrap="square" lIns="0" tIns="0" rIns="0" bIns="0" rtlCol="0" anchor="t">
            <a:normAutofit/>
          </a:bodyPr>
          <a:lstStyle/>
          <a:p>
            <a:pPr indent="0" marL="0">
              <a:buNone/>
            </a:pPr>
            <a:r>
              <a:rPr lang="en-US" sz="1700" b="1" dirty="0">
                <a:solidFill>
                  <a:srgbClr val="1B2A38"/>
                </a:solidFill>
                <a:latin typeface="Calibri" pitchFamily="34" charset="0"/>
                <a:ea typeface="Calibri" pitchFamily="34" charset="-122"/>
                <a:cs typeface="Calibri" pitchFamily="34" charset="-120"/>
              </a:rPr>
              <a:t>Chat hằng ngày</a:t>
            </a:r>
            <a:endParaRPr lang="en-US" sz="1700" dirty="0"/>
          </a:p>
        </p:txBody>
      </p:sp>
      <p:sp>
        <p:nvSpPr>
          <p:cNvPr id="24" name="Text 19"/>
          <p:cNvSpPr txBox="1"/>
          <p:nvPr/>
        </p:nvSpPr>
        <p:spPr>
          <a:xfrm>
            <a:off x="6489040" y="3904488"/>
            <a:ext cx="2083232" cy="1280160"/>
          </a:xfrm>
          <a:prstGeom prst="rect">
            <a:avLst/>
          </a:prstGeom>
          <a:noFill/>
          <a:ln/>
        </p:spPr>
        <p:txBody>
          <a:bodyPr wrap="square" lIns="0" tIns="0" rIns="0" bIns="0" rtlCol="0" anchor="t">
            <a:normAutofit/>
          </a:bodyPr>
          <a:lstStyle/>
          <a:p>
            <a:pPr marL="228600" indent="-228600">
              <a:spcAft>
                <a:spcPts val="500"/>
              </a:spcAft>
              <a:buSzPct val="100000"/>
              <a:buChar char="•"/>
            </a:pPr>
            <a:r>
              <a:rPr lang="en-US" sz="1400" dirty="0">
                <a:solidFill>
                  <a:srgbClr val="1B2A38"/>
                </a:solidFill>
                <a:latin typeface="Calibri" pitchFamily="34" charset="0"/>
                <a:ea typeface="Calibri" pitchFamily="34" charset="-122"/>
                <a:cs typeface="Calibri" pitchFamily="34" charset="-120"/>
              </a:rPr>
              <a:t>Chỉ upload file mới (call log hôm qua)</a:t>
            </a:r>
            <a:endParaRPr lang="en-US" sz="1400" dirty="0"/>
          </a:p>
          <a:p>
            <a:pPr marL="228600" indent="-228600">
              <a:spcAft>
                <a:spcPts val="500"/>
              </a:spcAft>
              <a:buSzPct val="100000"/>
              <a:buChar char="•"/>
            </a:pPr>
            <a:r>
              <a:rPr lang="en-US" sz="1400" dirty="0">
                <a:solidFill>
                  <a:srgbClr val="1B2A38"/>
                </a:solidFill>
                <a:latin typeface="Calibri" pitchFamily="34" charset="0"/>
                <a:ea typeface="Calibri" pitchFamily="34" charset="-122"/>
                <a:cs typeface="Calibri" pitchFamily="34" charset="-120"/>
              </a:rPr>
              <a:t>Gọi “áp dụng quy tắc…”</a:t>
            </a:r>
            <a:endParaRPr lang="en-US" sz="1400" dirty="0"/>
          </a:p>
          <a:p>
            <a:pPr marL="228600" indent="-228600">
              <a:spcAft>
                <a:spcPts val="500"/>
              </a:spcAft>
              <a:buSzPct val="100000"/>
              <a:buChar char="•"/>
            </a:pPr>
            <a:r>
              <a:rPr lang="en-US" sz="1400" dirty="0">
                <a:solidFill>
                  <a:srgbClr val="1B2A38"/>
                </a:solidFill>
                <a:latin typeface="Calibri" pitchFamily="34" charset="0"/>
                <a:ea typeface="Calibri" pitchFamily="34" charset="-122"/>
                <a:cs typeface="Calibri" pitchFamily="34" charset="-120"/>
              </a:rPr>
              <a:t>Không giải thích lại bối cảnh</a:t>
            </a:r>
            <a:endParaRPr lang="en-US" sz="1400" dirty="0"/>
          </a:p>
        </p:txBody>
      </p:sp>
      <p:pic>
        <p:nvPicPr>
          <p:cNvPr id="25" name="Image 2" descr="preencoded.png">    </p:cNvPr>
          <p:cNvPicPr>
            <a:picLocks noChangeAspect="1"/>
          </p:cNvPicPr>
          <p:nvPr/>
        </p:nvPicPr>
        <p:blipFill>
          <a:blip r:embed="rId3"/>
          <a:stretch>
            <a:fillRect/>
          </a:stretch>
        </p:blipFill>
        <p:spPr>
          <a:xfrm>
            <a:off x="8855735" y="3730752"/>
            <a:ext cx="219456" cy="219456"/>
          </a:xfrm>
          <a:prstGeom prst="rect">
            <a:avLst/>
          </a:prstGeom>
        </p:spPr>
      </p:pic>
      <p:sp>
        <p:nvSpPr>
          <p:cNvPr id="26" name="Shape 20"/>
          <p:cNvSpPr/>
          <p:nvPr/>
        </p:nvSpPr>
        <p:spPr>
          <a:xfrm>
            <a:off x="9157487" y="2331720"/>
            <a:ext cx="2485568" cy="3017520"/>
          </a:xfrm>
          <a:prstGeom prst="roundRect">
            <a:avLst>
              <a:gd name="adj" fmla="val 3679"/>
            </a:avLst>
          </a:prstGeom>
          <a:solidFill>
            <a:srgbClr val="F2F4F6"/>
          </a:solidFill>
          <a:ln w="12700">
            <a:solidFill>
              <a:srgbClr val="F2F4F6"/>
            </a:solidFill>
            <a:prstDash val="solid"/>
          </a:ln>
        </p:spPr>
      </p:sp>
      <p:sp>
        <p:nvSpPr>
          <p:cNvPr id="27" name="Shape 21"/>
          <p:cNvSpPr/>
          <p:nvPr/>
        </p:nvSpPr>
        <p:spPr>
          <a:xfrm>
            <a:off x="9358655" y="2532888"/>
            <a:ext cx="548640" cy="548640"/>
          </a:xfrm>
          <a:prstGeom prst="ellipse">
            <a:avLst/>
          </a:prstGeom>
          <a:solidFill>
            <a:srgbClr val="D9773A"/>
          </a:solidFill>
          <a:ln w="12700">
            <a:solidFill>
              <a:srgbClr val="D9773A"/>
            </a:solidFill>
            <a:prstDash val="solid"/>
          </a:ln>
        </p:spPr>
      </p:sp>
      <p:sp>
        <p:nvSpPr>
          <p:cNvPr id="28" name="Text 22"/>
          <p:cNvSpPr txBox="1"/>
          <p:nvPr/>
        </p:nvSpPr>
        <p:spPr>
          <a:xfrm>
            <a:off x="9358655" y="253288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9" name="Text 23"/>
          <p:cNvSpPr txBox="1"/>
          <p:nvPr/>
        </p:nvSpPr>
        <p:spPr>
          <a:xfrm>
            <a:off x="9358655" y="3200400"/>
            <a:ext cx="2083232" cy="685800"/>
          </a:xfrm>
          <a:prstGeom prst="rect">
            <a:avLst/>
          </a:prstGeom>
          <a:noFill/>
          <a:ln/>
        </p:spPr>
        <p:txBody>
          <a:bodyPr wrap="square" lIns="0" tIns="0" rIns="0" bIns="0" rtlCol="0" anchor="t">
            <a:normAutofit/>
          </a:bodyPr>
          <a:lstStyle/>
          <a:p>
            <a:pPr indent="0" marL="0">
              <a:buNone/>
            </a:pPr>
            <a:r>
              <a:rPr lang="en-US" sz="1700" b="1" dirty="0">
                <a:solidFill>
                  <a:srgbClr val="1B2A38"/>
                </a:solidFill>
                <a:latin typeface="Calibri" pitchFamily="34" charset="0"/>
                <a:ea typeface="Calibri" pitchFamily="34" charset="-122"/>
                <a:cs typeface="Calibri" pitchFamily="34" charset="-120"/>
              </a:rPr>
              <a:t>Kết quả nhất quán</a:t>
            </a:r>
            <a:endParaRPr lang="en-US" sz="1700" dirty="0"/>
          </a:p>
        </p:txBody>
      </p:sp>
      <p:sp>
        <p:nvSpPr>
          <p:cNvPr id="30" name="Text 24"/>
          <p:cNvSpPr txBox="1"/>
          <p:nvPr/>
        </p:nvSpPr>
        <p:spPr>
          <a:xfrm>
            <a:off x="9358655" y="3904488"/>
            <a:ext cx="2083232" cy="1280160"/>
          </a:xfrm>
          <a:prstGeom prst="rect">
            <a:avLst/>
          </a:prstGeom>
          <a:noFill/>
          <a:ln/>
        </p:spPr>
        <p:txBody>
          <a:bodyPr wrap="square" lIns="0" tIns="0" rIns="0" bIns="0" rtlCol="0" anchor="t">
            <a:normAutofit/>
          </a:bodyPr>
          <a:lstStyle/>
          <a:p>
            <a:pPr marL="228600" indent="-228600">
              <a:spcAft>
                <a:spcPts val="500"/>
              </a:spcAft>
              <a:buSzPct val="100000"/>
              <a:buChar char="•"/>
            </a:pPr>
            <a:r>
              <a:rPr lang="en-US" sz="1400" dirty="0">
                <a:solidFill>
                  <a:srgbClr val="1B2A38"/>
                </a:solidFill>
                <a:latin typeface="Calibri" pitchFamily="34" charset="0"/>
                <a:ea typeface="Calibri" pitchFamily="34" charset="-122"/>
                <a:cs typeface="Calibri" pitchFamily="34" charset="-120"/>
              </a:rPr>
              <a:t>Cùng định nghĩa</a:t>
            </a:r>
            <a:endParaRPr lang="en-US" sz="1400" dirty="0"/>
          </a:p>
          <a:p>
            <a:pPr marL="228600" indent="-228600">
              <a:spcAft>
                <a:spcPts val="500"/>
              </a:spcAft>
              <a:buSzPct val="100000"/>
              <a:buChar char="•"/>
            </a:pPr>
            <a:r>
              <a:rPr lang="en-US" sz="1400" dirty="0">
                <a:solidFill>
                  <a:srgbClr val="1B2A38"/>
                </a:solidFill>
                <a:latin typeface="Calibri" pitchFamily="34" charset="0"/>
                <a:ea typeface="Calibri" pitchFamily="34" charset="-122"/>
                <a:cs typeface="Calibri" pitchFamily="34" charset="-120"/>
              </a:rPr>
              <a:t>Cùng định dạng</a:t>
            </a:r>
            <a:endParaRPr lang="en-US" sz="1400" dirty="0"/>
          </a:p>
          <a:p>
            <a:pPr marL="228600" indent="-228600">
              <a:spcAft>
                <a:spcPts val="500"/>
              </a:spcAft>
              <a:buSzPct val="100000"/>
              <a:buChar char="•"/>
            </a:pPr>
            <a:r>
              <a:rPr lang="en-US" sz="1400" dirty="0">
                <a:solidFill>
                  <a:srgbClr val="1B2A38"/>
                </a:solidFill>
                <a:latin typeface="Calibri" pitchFamily="34" charset="0"/>
                <a:ea typeface="Calibri" pitchFamily="34" charset="-122"/>
                <a:cs typeface="Calibri" pitchFamily="34" charset="-120"/>
              </a:rPr>
              <a:t>Ai trong nhóm hỏi cũng ra cùng số</a:t>
            </a:r>
            <a:endParaRPr lang="en-US" sz="1400" dirty="0"/>
          </a:p>
        </p:txBody>
      </p:sp>
      <p:sp>
        <p:nvSpPr>
          <p:cNvPr id="31" name="Shape 25"/>
          <p:cNvSpPr/>
          <p:nvPr/>
        </p:nvSpPr>
        <p:spPr>
          <a:xfrm>
            <a:off x="548640" y="5577840"/>
            <a:ext cx="11094415" cy="685800"/>
          </a:xfrm>
          <a:prstGeom prst="roundRect">
            <a:avLst>
              <a:gd name="adj" fmla="val 10667"/>
            </a:avLst>
          </a:prstGeom>
          <a:solidFill>
            <a:srgbClr val="FBE7DA"/>
          </a:solidFill>
          <a:ln w="12700">
            <a:solidFill>
              <a:srgbClr val="FBE7DA"/>
            </a:solidFill>
            <a:prstDash val="solid"/>
          </a:ln>
        </p:spPr>
      </p:sp>
      <p:sp>
        <p:nvSpPr>
          <p:cNvPr id="32" name="Text 26"/>
          <p:cNvSpPr txBox="1"/>
          <p:nvPr/>
        </p:nvSpPr>
        <p:spPr>
          <a:xfrm>
            <a:off x="777240" y="5577840"/>
            <a:ext cx="10637215" cy="685800"/>
          </a:xfrm>
          <a:prstGeom prst="rect">
            <a:avLst/>
          </a:prstGeom>
          <a:noFill/>
          <a:ln/>
        </p:spPr>
        <p:txBody>
          <a:bodyPr wrap="square" lIns="0" tIns="0" rIns="0" bIns="0" rtlCol="0" anchor="ctr">
            <a:normAutofit/>
          </a:bodyPr>
          <a:lstStyle/>
          <a:p>
            <a:pPr indent="0" marL="0">
              <a:buNone/>
            </a:pPr>
            <a:r>
              <a:rPr lang="en-US" sz="1400" dirty="0">
                <a:solidFill>
                  <a:srgbClr val="1B2A38"/>
                </a:solidFill>
                <a:latin typeface="Calibri" pitchFamily="34" charset="0"/>
                <a:ea typeface="Calibri" pitchFamily="34" charset="-122"/>
                <a:cs typeface="Calibri" pitchFamily="34" charset="-120"/>
              </a:rPr>
              <a:t>Dữ liệu lương/công cá nhân: để Project riêng, chỉ HR và quản lý liên quan được truy cập.</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635508" cy="292608"/>
          </a:xfrm>
          <a:prstGeom prst="roundRect">
            <a:avLst>
              <a:gd name="adj" fmla="val 50000"/>
            </a:avLst>
          </a:prstGeom>
          <a:solidFill>
            <a:srgbClr val="F8E1DE"/>
          </a:solidFill>
          <a:ln w="12700">
            <a:solidFill>
              <a:srgbClr val="F8E1DE"/>
            </a:solidFill>
            <a:prstDash val="solid"/>
          </a:ln>
        </p:spPr>
      </p:sp>
      <p:sp>
        <p:nvSpPr>
          <p:cNvPr id="3" name="Text 1"/>
          <p:cNvSpPr txBox="1"/>
          <p:nvPr/>
        </p:nvSpPr>
        <p:spPr>
          <a:xfrm>
            <a:off x="548640" y="384048"/>
            <a:ext cx="635508" cy="292608"/>
          </a:xfrm>
          <a:prstGeom prst="rect">
            <a:avLst/>
          </a:prstGeom>
          <a:noFill/>
          <a:ln/>
        </p:spPr>
        <p:txBody>
          <a:bodyPr wrap="square" lIns="0" tIns="0" rIns="0" bIns="0" rtlCol="0" anchor="ctr"/>
          <a:lstStyle/>
          <a:p>
            <a:pPr algn="ctr" indent="0" marL="0">
              <a:buNone/>
            </a:pPr>
            <a:r>
              <a:rPr lang="en-US" sz="1050" b="1" spc="150" kern="0" dirty="0">
                <a:solidFill>
                  <a:srgbClr val="C0392B"/>
                </a:solidFill>
                <a:latin typeface="Calibri" pitchFamily="34" charset="0"/>
                <a:ea typeface="Calibri" pitchFamily="34" charset="-122"/>
                <a:cs typeface="Calibri" pitchFamily="34" charset="-120"/>
              </a:rPr>
              <a:t>LƯU Ý</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Giới hạn của AI &amp; an toàn dữ liệu</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1 · Nền tảng Claude &amp; dữ liệu</a:t>
            </a:r>
            <a:endParaRPr lang="en-US" sz="1000" dirty="0"/>
          </a:p>
        </p:txBody>
      </p:sp>
      <p:sp>
        <p:nvSpPr>
          <p:cNvPr id="7" name="Shape 4"/>
          <p:cNvSpPr/>
          <p:nvPr/>
        </p:nvSpPr>
        <p:spPr>
          <a:xfrm>
            <a:off x="548640" y="1691640"/>
            <a:ext cx="5387188" cy="4572000"/>
          </a:xfrm>
          <a:prstGeom prst="roundRect">
            <a:avLst>
              <a:gd name="adj" fmla="val 2000"/>
            </a:avLst>
          </a:prstGeom>
          <a:solidFill>
            <a:srgbClr val="F8E1DE"/>
          </a:solidFill>
          <a:ln w="12700">
            <a:solidFill>
              <a:srgbClr val="F8E1DE"/>
            </a:solidFill>
            <a:prstDash val="solid"/>
          </a:ln>
        </p:spPr>
      </p:sp>
      <p:sp>
        <p:nvSpPr>
          <p:cNvPr id="8" name="Shape 5"/>
          <p:cNvSpPr/>
          <p:nvPr/>
        </p:nvSpPr>
        <p:spPr>
          <a:xfrm>
            <a:off x="777240" y="1920240"/>
            <a:ext cx="457200" cy="457200"/>
          </a:xfrm>
          <a:prstGeom prst="roundRect">
            <a:avLst>
              <a:gd name="adj" fmla="val 22000"/>
            </a:avLst>
          </a:prstGeom>
          <a:solidFill>
            <a:srgbClr val="C0392B"/>
          </a:solidFill>
          <a:ln w="12700">
            <a:solidFill>
              <a:srgbClr val="C0392B"/>
            </a:solidFill>
            <a:prstDash val="solid"/>
          </a:ln>
        </p:spPr>
      </p:sp>
      <p:pic>
        <p:nvPicPr>
          <p:cNvPr id="9" name="Image 0" descr="preencoded.png">    </p:cNvPr>
          <p:cNvPicPr>
            <a:picLocks noChangeAspect="1"/>
          </p:cNvPicPr>
          <p:nvPr/>
        </p:nvPicPr>
        <p:blipFill>
          <a:blip r:embed="rId1"/>
          <a:stretch>
            <a:fillRect/>
          </a:stretch>
        </p:blipFill>
        <p:spPr>
          <a:xfrm>
            <a:off x="886968" y="2029968"/>
            <a:ext cx="237744" cy="237744"/>
          </a:xfrm>
          <a:prstGeom prst="rect">
            <a:avLst/>
          </a:prstGeom>
        </p:spPr>
      </p:pic>
      <p:sp>
        <p:nvSpPr>
          <p:cNvPr id="10" name="Text 6"/>
          <p:cNvSpPr txBox="1"/>
          <p:nvPr/>
        </p:nvSpPr>
        <p:spPr>
          <a:xfrm>
            <a:off x="1417320" y="1920240"/>
            <a:ext cx="4289908" cy="457200"/>
          </a:xfrm>
          <a:prstGeom prst="rect">
            <a:avLst/>
          </a:prstGeom>
          <a:noFill/>
          <a:ln/>
        </p:spPr>
        <p:txBody>
          <a:bodyPr wrap="square" lIns="0" tIns="0" rIns="0" bIns="0" rtlCol="0" anchor="ctr"/>
          <a:lstStyle/>
          <a:p>
            <a:pPr indent="0" marL="0">
              <a:buNone/>
            </a:pPr>
            <a:r>
              <a:rPr lang="en-US" sz="1800" b="1" dirty="0">
                <a:solidFill>
                  <a:srgbClr val="C0392B"/>
                </a:solidFill>
                <a:latin typeface="Calibri" pitchFamily="34" charset="0"/>
                <a:ea typeface="Calibri" pitchFamily="34" charset="-122"/>
                <a:cs typeface="Calibri" pitchFamily="34" charset="-120"/>
              </a:rPr>
              <a:t>Giới hạn cần nhớ</a:t>
            </a:r>
            <a:endParaRPr lang="en-US" sz="1800" dirty="0"/>
          </a:p>
        </p:txBody>
      </p:sp>
      <p:sp>
        <p:nvSpPr>
          <p:cNvPr id="11" name="Text 7"/>
          <p:cNvSpPr txBox="1"/>
          <p:nvPr/>
        </p:nvSpPr>
        <p:spPr>
          <a:xfrm>
            <a:off x="822960" y="2560320"/>
            <a:ext cx="4838548" cy="3520440"/>
          </a:xfrm>
          <a:prstGeom prst="rect">
            <a:avLst/>
          </a:prstGeom>
          <a:noFill/>
          <a:ln/>
        </p:spPr>
        <p:txBody>
          <a:bodyPr wrap="square" lIns="0" tIns="0" rIns="0" bIns="0" rtlCol="0" anchor="t">
            <a:normAutofit/>
          </a:bodyPr>
          <a:lstStyle/>
          <a:p>
            <a:pPr marL="228600" indent="-228600">
              <a:spcAft>
                <a:spcPts val="700"/>
              </a:spcAft>
              <a:buSzPct val="100000"/>
              <a:buChar char="•"/>
            </a:pPr>
            <a:r>
              <a:rPr lang="en-US" sz="1500" b="1" dirty="0">
                <a:solidFill>
                  <a:srgbClr val="1B2A38"/>
                </a:solidFill>
                <a:latin typeface="Calibri" pitchFamily="34" charset="0"/>
                <a:ea typeface="Calibri" pitchFamily="34" charset="-122"/>
                <a:cs typeface="Calibri" pitchFamily="34" charset="-120"/>
              </a:rPr>
              <a:t>Có thể tính sai</a:t>
            </a:r>
            <a:pPr indent="0" marL="0">
              <a:buNone/>
            </a:pPr>
            <a:r>
              <a:rPr lang="en-US" sz="1500" dirty="0">
                <a:solidFill>
                  <a:srgbClr val="1B2A38"/>
                </a:solidFill>
                <a:latin typeface="Calibri" pitchFamily="34" charset="0"/>
                <a:ea typeface="Calibri" pitchFamily="34" charset="-122"/>
                <a:cs typeface="Calibri" pitchFamily="34" charset="-120"/>
              </a:rPr>
              <a:t> nếu không yêu cầu tính trên dữ liệu thực — nó “ước lượng” cho nhanh.</a:t>
            </a:r>
            <a:endParaRPr lang="en-US" sz="1500" dirty="0"/>
          </a:p>
          <a:p>
            <a:pPr marL="228600" indent="-228600">
              <a:spcAft>
                <a:spcPts val="700"/>
              </a:spcAft>
              <a:buSzPct val="100000"/>
              <a:buChar char="•"/>
            </a:pPr>
            <a:r>
              <a:rPr lang="en-US" sz="1500" b="1" dirty="0">
                <a:solidFill>
                  <a:srgbClr val="1B2A38"/>
                </a:solidFill>
                <a:latin typeface="Calibri" pitchFamily="34" charset="0"/>
                <a:ea typeface="Calibri" pitchFamily="34" charset="-122"/>
                <a:cs typeface="Calibri" pitchFamily="34" charset="-120"/>
              </a:rPr>
              <a:t>Có thể bịa</a:t>
            </a:r>
            <a:pPr indent="0" marL="0">
              <a:buNone/>
            </a:pPr>
            <a:r>
              <a:rPr lang="en-US" sz="1500" dirty="0">
                <a:solidFill>
                  <a:srgbClr val="1B2A38"/>
                </a:solidFill>
                <a:latin typeface="Calibri" pitchFamily="34" charset="0"/>
                <a:ea typeface="Calibri" pitchFamily="34" charset="-122"/>
                <a:cs typeface="Calibri" pitchFamily="34" charset="-120"/>
              </a:rPr>
              <a:t> (hallucination) khi thiếu dữ liệu: hỏi tỷ lệ nghe máy khi chưa upload call log vẫn có thể ra “91,5%”.</a:t>
            </a:r>
            <a:endParaRPr lang="en-US" sz="1500" dirty="0"/>
          </a:p>
          <a:p>
            <a:pPr marL="228600" indent="-228600">
              <a:spcAft>
                <a:spcPts val="700"/>
              </a:spcAft>
              <a:buSzPct val="100000"/>
              <a:buChar char="•"/>
            </a:pPr>
            <a:r>
              <a:rPr lang="en-US" sz="1500" b="1" dirty="0">
                <a:solidFill>
                  <a:srgbClr val="1B2A38"/>
                </a:solidFill>
                <a:latin typeface="Calibri" pitchFamily="34" charset="0"/>
                <a:ea typeface="Calibri" pitchFamily="34" charset="-122"/>
                <a:cs typeface="Calibri" pitchFamily="34" charset="-120"/>
              </a:rPr>
              <a:t>Luôn đối chiếu tổng:</a:t>
            </a:r>
            <a:pPr indent="0" marL="0">
              <a:buNone/>
            </a:pPr>
            <a:r>
              <a:rPr lang="en-US" sz="1500" dirty="0">
                <a:solidFill>
                  <a:srgbClr val="1B2A38"/>
                </a:solidFill>
                <a:latin typeface="Calibri" pitchFamily="34" charset="0"/>
                <a:ea typeface="Calibri" pitchFamily="34" charset="-122"/>
                <a:cs typeface="Calibri" pitchFamily="34" charset="-120"/>
              </a:rPr>
              <a:t> số sau làm sạch + số dòng bị loại = tổng số dòng gốc.</a:t>
            </a:r>
            <a:endParaRPr lang="en-US" sz="1500" dirty="0"/>
          </a:p>
          <a:p>
            <a:pPr marL="228600" indent="-228600">
              <a:spcAft>
                <a:spcPts val="700"/>
              </a:spcAft>
              <a:buSzPct val="100000"/>
              <a:buChar char="•"/>
            </a:pPr>
            <a:r>
              <a:rPr lang="en-US" sz="1500" b="1" dirty="0">
                <a:solidFill>
                  <a:srgbClr val="1B2A38"/>
                </a:solidFill>
                <a:latin typeface="Calibri" pitchFamily="34" charset="0"/>
                <a:ea typeface="Calibri" pitchFamily="34" charset="-122"/>
                <a:cs typeface="Calibri" pitchFamily="34" charset="-120"/>
              </a:rPr>
              <a:t>Không “nhớ” luật:</a:t>
            </a:r>
            <a:pPr indent="0" marL="0">
              <a:buNone/>
            </a:pPr>
            <a:r>
              <a:rPr lang="en-US" sz="1500" dirty="0">
                <a:solidFill>
                  <a:srgbClr val="1B2A38"/>
                </a:solidFill>
                <a:latin typeface="Calibri" pitchFamily="34" charset="0"/>
                <a:ea typeface="Calibri" pitchFamily="34" charset="-122"/>
                <a:cs typeface="Calibri" pitchFamily="34" charset="-120"/>
              </a:rPr>
              <a:t> hệ số OT, giờ đêm, ngày lễ là tham số HR xác nhận.</a:t>
            </a:r>
            <a:endParaRPr lang="en-US" sz="1500" dirty="0"/>
          </a:p>
        </p:txBody>
      </p:sp>
      <p:sp>
        <p:nvSpPr>
          <p:cNvPr id="12" name="Shape 8"/>
          <p:cNvSpPr/>
          <p:nvPr/>
        </p:nvSpPr>
        <p:spPr>
          <a:xfrm>
            <a:off x="6255868" y="1691640"/>
            <a:ext cx="5387188" cy="4572000"/>
          </a:xfrm>
          <a:prstGeom prst="roundRect">
            <a:avLst>
              <a:gd name="adj" fmla="val 2000"/>
            </a:avLst>
          </a:prstGeom>
          <a:solidFill>
            <a:srgbClr val="DDF1E5"/>
          </a:solidFill>
          <a:ln w="12700">
            <a:solidFill>
              <a:srgbClr val="DDF1E5"/>
            </a:solidFill>
            <a:prstDash val="solid"/>
          </a:ln>
        </p:spPr>
      </p:sp>
      <p:sp>
        <p:nvSpPr>
          <p:cNvPr id="13" name="Shape 9"/>
          <p:cNvSpPr/>
          <p:nvPr/>
        </p:nvSpPr>
        <p:spPr>
          <a:xfrm>
            <a:off x="6484468" y="1920240"/>
            <a:ext cx="457200" cy="457200"/>
          </a:xfrm>
          <a:prstGeom prst="roundRect">
            <a:avLst>
              <a:gd name="adj" fmla="val 22000"/>
            </a:avLst>
          </a:prstGeom>
          <a:solidFill>
            <a:srgbClr val="2E8B57"/>
          </a:solidFill>
          <a:ln w="12700">
            <a:solidFill>
              <a:srgbClr val="2E8B57"/>
            </a:solidFill>
            <a:prstDash val="solid"/>
          </a:ln>
        </p:spPr>
      </p:sp>
      <p:pic>
        <p:nvPicPr>
          <p:cNvPr id="14" name="Image 1" descr="preencoded.png">    </p:cNvPr>
          <p:cNvPicPr>
            <a:picLocks noChangeAspect="1"/>
          </p:cNvPicPr>
          <p:nvPr/>
        </p:nvPicPr>
        <p:blipFill>
          <a:blip r:embed="rId2"/>
          <a:stretch>
            <a:fillRect/>
          </a:stretch>
        </p:blipFill>
        <p:spPr>
          <a:xfrm>
            <a:off x="6594196" y="2029968"/>
            <a:ext cx="237744" cy="237744"/>
          </a:xfrm>
          <a:prstGeom prst="rect">
            <a:avLst/>
          </a:prstGeom>
        </p:spPr>
      </p:pic>
      <p:sp>
        <p:nvSpPr>
          <p:cNvPr id="15" name="Text 10"/>
          <p:cNvSpPr txBox="1"/>
          <p:nvPr/>
        </p:nvSpPr>
        <p:spPr>
          <a:xfrm>
            <a:off x="7124548" y="1920240"/>
            <a:ext cx="4289908" cy="4572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Quy tắc an toàn</a:t>
            </a:r>
            <a:endParaRPr lang="en-US" sz="1800" dirty="0"/>
          </a:p>
        </p:txBody>
      </p:sp>
      <p:sp>
        <p:nvSpPr>
          <p:cNvPr id="16" name="Text 11"/>
          <p:cNvSpPr txBox="1"/>
          <p:nvPr/>
        </p:nvSpPr>
        <p:spPr>
          <a:xfrm>
            <a:off x="6530188" y="2560320"/>
            <a:ext cx="4838548" cy="3520440"/>
          </a:xfrm>
          <a:prstGeom prst="rect">
            <a:avLst/>
          </a:prstGeom>
          <a:noFill/>
          <a:ln/>
        </p:spPr>
        <p:txBody>
          <a:bodyPr wrap="square" lIns="0" tIns="0" rIns="0" bIns="0" rtlCol="0" anchor="t">
            <a:normAutofit/>
          </a:bodyPr>
          <a:lstStyle/>
          <a:p>
            <a:pPr marL="228600" indent="-228600">
              <a:spcAft>
                <a:spcPts val="700"/>
              </a:spcAft>
              <a:buSzPct val="100000"/>
              <a:buChar char="•"/>
            </a:pPr>
            <a:r>
              <a:rPr lang="en-US" sz="1500" b="1" dirty="0">
                <a:solidFill>
                  <a:srgbClr val="1B2A38"/>
                </a:solidFill>
                <a:latin typeface="Calibri" pitchFamily="34" charset="0"/>
                <a:ea typeface="Calibri" pitchFamily="34" charset="-122"/>
                <a:cs typeface="Calibri" pitchFamily="34" charset="-120"/>
              </a:rPr>
              <a:t>Chỉ dùng tài khoản doanh nghiệp</a:t>
            </a:r>
            <a:pPr indent="0" marL="0">
              <a:buNone/>
            </a:pPr>
            <a:r>
              <a:rPr lang="en-US" sz="1500" dirty="0">
                <a:solidFill>
                  <a:srgbClr val="1B2A38"/>
                </a:solidFill>
                <a:latin typeface="Calibri" pitchFamily="34" charset="0"/>
                <a:ea typeface="Calibri" pitchFamily="34" charset="-122"/>
                <a:cs typeface="Calibri" pitchFamily="34" charset="-120"/>
              </a:rPr>
              <a:t> (Team/Enterprise) do công ty cấp.</a:t>
            </a:r>
            <a:endParaRPr lang="en-US" sz="1500" dirty="0"/>
          </a:p>
          <a:p>
            <a:pPr marL="228600" indent="-228600">
              <a:spcAft>
                <a:spcPts val="700"/>
              </a:spcAft>
              <a:buSzPct val="100000"/>
              <a:buChar char="•"/>
            </a:pPr>
            <a:r>
              <a:rPr lang="en-US" sz="1500" b="1" dirty="0">
                <a:solidFill>
                  <a:srgbClr val="1B2A38"/>
                </a:solidFill>
                <a:latin typeface="Calibri" pitchFamily="34" charset="0"/>
                <a:ea typeface="Calibri" pitchFamily="34" charset="-122"/>
                <a:cs typeface="Calibri" pitchFamily="34" charset="-120"/>
              </a:rPr>
              <a:t>Ẩn danh trước khi upload:</a:t>
            </a:r>
            <a:pPr indent="0" marL="0">
              <a:buNone/>
            </a:pPr>
            <a:r>
              <a:rPr lang="en-US" sz="1500" dirty="0">
                <a:solidFill>
                  <a:srgbClr val="1B2A38"/>
                </a:solidFill>
                <a:latin typeface="Calibri" pitchFamily="34" charset="0"/>
                <a:ea typeface="Calibri" pitchFamily="34" charset="-122"/>
                <a:cs typeface="Calibri" pitchFamily="34" charset="-120"/>
              </a:rPr>
              <a:t> SĐT khách → mã KHxxxxx; không đưa CCCD, số tài khoản.</a:t>
            </a:r>
            <a:endParaRPr lang="en-US" sz="1500" dirty="0"/>
          </a:p>
          <a:p>
            <a:pPr marL="228600" indent="-228600">
              <a:spcAft>
                <a:spcPts val="700"/>
              </a:spcAft>
              <a:buSzPct val="100000"/>
              <a:buChar char="•"/>
            </a:pPr>
            <a:r>
              <a:rPr lang="en-US" sz="1500" b="1" dirty="0">
                <a:solidFill>
                  <a:srgbClr val="1B2A38"/>
                </a:solidFill>
                <a:latin typeface="Calibri" pitchFamily="34" charset="0"/>
                <a:ea typeface="Calibri" pitchFamily="34" charset="-122"/>
                <a:cs typeface="Calibri" pitchFamily="34" charset="-120"/>
              </a:rPr>
              <a:t>Phân quyền:</a:t>
            </a:r>
            <a:pPr indent="0" marL="0">
              <a:buNone/>
            </a:pPr>
            <a:r>
              <a:rPr lang="en-US" sz="1500" dirty="0">
                <a:solidFill>
                  <a:srgbClr val="1B2A38"/>
                </a:solidFill>
                <a:latin typeface="Calibri" pitchFamily="34" charset="0"/>
                <a:ea typeface="Calibri" pitchFamily="34" charset="-122"/>
                <a:cs typeface="Calibri" pitchFamily="34" charset="-120"/>
              </a:rPr>
              <a:t> công/lương cá nhân chỉ trong Project của HR.</a:t>
            </a:r>
            <a:endParaRPr lang="en-US" sz="1500" dirty="0"/>
          </a:p>
          <a:p>
            <a:pPr marL="228600" indent="-228600">
              <a:spcAft>
                <a:spcPts val="700"/>
              </a:spcAft>
              <a:buSzPct val="100000"/>
              <a:buChar char="•"/>
            </a:pPr>
            <a:r>
              <a:rPr lang="en-US" sz="1500" b="1" dirty="0">
                <a:solidFill>
                  <a:srgbClr val="1B2A38"/>
                </a:solidFill>
                <a:latin typeface="Calibri" pitchFamily="34" charset="0"/>
                <a:ea typeface="Calibri" pitchFamily="34" charset="-122"/>
                <a:cs typeface="Calibri" pitchFamily="34" charset="-120"/>
              </a:rPr>
              <a:t>Tuân thủ</a:t>
            </a:r>
            <a:pPr indent="0" marL="0">
              <a:buNone/>
            </a:pPr>
            <a:r>
              <a:rPr lang="en-US" sz="1500" dirty="0">
                <a:solidFill>
                  <a:srgbClr val="1B2A38"/>
                </a:solidFill>
                <a:latin typeface="Calibri" pitchFamily="34" charset="0"/>
                <a:ea typeface="Calibri" pitchFamily="34" charset="-122"/>
                <a:cs typeface="Calibri" pitchFamily="34" charset="-120"/>
              </a:rPr>
              <a:t> Nghị định 13/2023/NĐ-CP và điều khoản bảo mật với khách hàng thuê dịch vụ.</a:t>
            </a:r>
            <a:endParaRPr lang="en-US" sz="1500" dirty="0"/>
          </a:p>
          <a:p>
            <a:pPr marL="228600" indent="-228600">
              <a:spcAft>
                <a:spcPts val="700"/>
              </a:spcAft>
              <a:buSzPct val="100000"/>
              <a:buChar char="•"/>
            </a:pPr>
            <a:r>
              <a:rPr lang="en-US" sz="1500" b="1" dirty="0">
                <a:solidFill>
                  <a:srgbClr val="1B2A38"/>
                </a:solidFill>
                <a:latin typeface="Calibri" pitchFamily="34" charset="0"/>
                <a:ea typeface="Calibri" pitchFamily="34" charset="-122"/>
                <a:cs typeface="Calibri" pitchFamily="34" charset="-120"/>
              </a:rPr>
              <a:t>AI không quyết định</a:t>
            </a:r>
            <a:pPr indent="0" marL="0">
              <a:buNone/>
            </a:pPr>
            <a:r>
              <a:rPr lang="en-US" sz="1500" dirty="0">
                <a:solidFill>
                  <a:srgbClr val="1B2A38"/>
                </a:solidFill>
                <a:latin typeface="Calibri" pitchFamily="34" charset="0"/>
                <a:ea typeface="Calibri" pitchFamily="34" charset="-122"/>
                <a:cs typeface="Calibri" pitchFamily="34" charset="-120"/>
              </a:rPr>
              <a:t> kỷ luật hay trừ công.</a:t>
            </a:r>
            <a:endParaRPr lang="en-US" sz="15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982980" cy="292608"/>
          </a:xfrm>
          <a:prstGeom prst="roundRect">
            <a:avLst>
              <a:gd name="adj" fmla="val 50000"/>
            </a:avLst>
          </a:prstGeom>
          <a:solidFill>
            <a:srgbClr val="FBE7DA"/>
          </a:solidFill>
          <a:ln w="12700">
            <a:solidFill>
              <a:srgbClr val="FBE7DA"/>
            </a:solidFill>
            <a:prstDash val="solid"/>
          </a:ln>
        </p:spPr>
      </p:sp>
      <p:sp>
        <p:nvSpPr>
          <p:cNvPr id="3" name="Text 1"/>
          <p:cNvSpPr txBox="1"/>
          <p:nvPr/>
        </p:nvSpPr>
        <p:spPr>
          <a:xfrm>
            <a:off x="548640" y="384048"/>
            <a:ext cx="982980" cy="292608"/>
          </a:xfrm>
          <a:prstGeom prst="rect">
            <a:avLst/>
          </a:prstGeom>
          <a:noFill/>
          <a:ln/>
        </p:spPr>
        <p:txBody>
          <a:bodyPr wrap="square" lIns="0" tIns="0" rIns="0" bIns="0" rtlCol="0" anchor="ctr"/>
          <a:lstStyle/>
          <a:p>
            <a:pPr algn="ctr" indent="0" marL="0">
              <a:buNone/>
            </a:pPr>
            <a:r>
              <a:rPr lang="en-US" sz="1050" b="1" spc="150" kern="0" dirty="0">
                <a:solidFill>
                  <a:srgbClr val="D9773A"/>
                </a:solidFill>
                <a:latin typeface="Calibri" pitchFamily="34" charset="0"/>
                <a:ea typeface="Calibri" pitchFamily="34" charset="-122"/>
                <a:cs typeface="Calibri" pitchFamily="34" charset="-120"/>
              </a:rPr>
              <a:t>KIẾN THỨC</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Công thức prompt R-C-T-F-C</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1 · Nền tảng Claude &amp; dữ liệu</a:t>
            </a:r>
            <a:endParaRPr lang="en-US" sz="1000" dirty="0"/>
          </a:p>
        </p:txBody>
      </p:sp>
      <p:sp>
        <p:nvSpPr>
          <p:cNvPr id="7" name="Text 4"/>
          <p:cNvSpPr txBox="1"/>
          <p:nvPr/>
        </p:nvSpPr>
        <p:spPr>
          <a:xfrm>
            <a:off x="548640" y="1645920"/>
            <a:ext cx="11094415" cy="502920"/>
          </a:xfrm>
          <a:prstGeom prst="rect">
            <a:avLst/>
          </a:prstGeom>
          <a:noFill/>
          <a:ln/>
        </p:spPr>
        <p:txBody>
          <a:bodyPr wrap="square" lIns="0" tIns="0" rIns="0" bIns="0" rtlCol="0" anchor="t"/>
          <a:lstStyle/>
          <a:p>
            <a:pPr indent="0" marL="0">
              <a:buNone/>
            </a:pPr>
            <a:r>
              <a:rPr lang="en-US" sz="1600" i="1" dirty="0">
                <a:solidFill>
                  <a:srgbClr val="6B7785"/>
                </a:solidFill>
                <a:latin typeface="Calibri" pitchFamily="34" charset="0"/>
                <a:ea typeface="Calibri" pitchFamily="34" charset="-122"/>
                <a:cs typeface="Calibri" pitchFamily="34" charset="-120"/>
              </a:rPr>
              <a:t>Claude không đọc được suy nghĩ của bạn — nó chỉ có đúng những gì bạn viết.</a:t>
            </a:r>
            <a:endParaRPr lang="en-US" sz="1600" dirty="0"/>
          </a:p>
        </p:txBody>
      </p:sp>
      <p:sp>
        <p:nvSpPr>
          <p:cNvPr id="8" name="Shape 5"/>
          <p:cNvSpPr/>
          <p:nvPr/>
        </p:nvSpPr>
        <p:spPr>
          <a:xfrm>
            <a:off x="548640" y="2331720"/>
            <a:ext cx="1911645" cy="3931920"/>
          </a:xfrm>
          <a:prstGeom prst="roundRect">
            <a:avLst>
              <a:gd name="adj" fmla="val 4783"/>
            </a:avLst>
          </a:prstGeom>
          <a:solidFill>
            <a:srgbClr val="F2F4F6"/>
          </a:solidFill>
          <a:ln w="12700">
            <a:solidFill>
              <a:srgbClr val="F2F4F6"/>
            </a:solidFill>
            <a:prstDash val="solid"/>
          </a:ln>
        </p:spPr>
      </p:sp>
      <p:sp>
        <p:nvSpPr>
          <p:cNvPr id="9" name="Shape 6"/>
          <p:cNvSpPr/>
          <p:nvPr/>
        </p:nvSpPr>
        <p:spPr>
          <a:xfrm>
            <a:off x="749808" y="2532888"/>
            <a:ext cx="548640" cy="548640"/>
          </a:xfrm>
          <a:prstGeom prst="ellipse">
            <a:avLst/>
          </a:prstGeom>
          <a:solidFill>
            <a:srgbClr val="2B3E50"/>
          </a:solidFill>
          <a:ln w="12700">
            <a:solidFill>
              <a:srgbClr val="2B3E50"/>
            </a:solidFill>
            <a:prstDash val="solid"/>
          </a:ln>
        </p:spPr>
      </p:sp>
      <p:sp>
        <p:nvSpPr>
          <p:cNvPr id="10" name="Text 7"/>
          <p:cNvSpPr txBox="1"/>
          <p:nvPr/>
        </p:nvSpPr>
        <p:spPr>
          <a:xfrm>
            <a:off x="749808" y="253288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R</a:t>
            </a:r>
            <a:endParaRPr lang="en-US" sz="2000" dirty="0"/>
          </a:p>
        </p:txBody>
      </p:sp>
      <p:sp>
        <p:nvSpPr>
          <p:cNvPr id="11" name="Text 8"/>
          <p:cNvSpPr txBox="1"/>
          <p:nvPr/>
        </p:nvSpPr>
        <p:spPr>
          <a:xfrm>
            <a:off x="749808" y="3200400"/>
            <a:ext cx="1509309" cy="685800"/>
          </a:xfrm>
          <a:prstGeom prst="rect">
            <a:avLst/>
          </a:prstGeom>
          <a:noFill/>
          <a:ln/>
        </p:spPr>
        <p:txBody>
          <a:bodyPr wrap="square" lIns="0" tIns="0" rIns="0" bIns="0" rtlCol="0" anchor="t">
            <a:normAutofit/>
          </a:bodyPr>
          <a:lstStyle/>
          <a:p>
            <a:pPr indent="0" marL="0">
              <a:buNone/>
            </a:pPr>
            <a:r>
              <a:rPr lang="en-US" sz="1500" b="1" dirty="0">
                <a:solidFill>
                  <a:srgbClr val="1B2A38"/>
                </a:solidFill>
                <a:latin typeface="Calibri" pitchFamily="34" charset="0"/>
                <a:ea typeface="Calibri" pitchFamily="34" charset="-122"/>
                <a:cs typeface="Calibri" pitchFamily="34" charset="-120"/>
              </a:rPr>
              <a:t>Vai trò</a:t>
            </a:r>
            <a:endParaRPr lang="en-US" sz="1500" dirty="0"/>
          </a:p>
        </p:txBody>
      </p:sp>
      <p:sp>
        <p:nvSpPr>
          <p:cNvPr id="12" name="Text 9"/>
          <p:cNvSpPr txBox="1"/>
          <p:nvPr/>
        </p:nvSpPr>
        <p:spPr>
          <a:xfrm>
            <a:off x="749808" y="3904488"/>
            <a:ext cx="1509309" cy="2194560"/>
          </a:xfrm>
          <a:prstGeom prst="rect">
            <a:avLst/>
          </a:prstGeom>
          <a:noFill/>
          <a:ln/>
        </p:spPr>
        <p:txBody>
          <a:bodyPr wrap="square" lIns="0" tIns="0" rIns="0" bIns="0" rtlCol="0" anchor="t">
            <a:normAutofit/>
          </a:bodyPr>
          <a:lstStyle/>
          <a:p>
            <a:pPr indent="0" marL="0">
              <a:buNone/>
            </a:pPr>
            <a:r>
              <a:rPr lang="en-US" sz="1550" dirty="0">
                <a:solidFill>
                  <a:srgbClr val="1B2A38"/>
                </a:solidFill>
                <a:latin typeface="Calibri" pitchFamily="34" charset="0"/>
                <a:ea typeface="Calibri" pitchFamily="34" charset="-122"/>
                <a:cs typeface="Calibri" pitchFamily="34" charset="-120"/>
              </a:rPr>
              <a:t>Đặt Claude vào đúng “ghế”: chuyên viên phân tích vận hành của callcenter 19 agent.</a:t>
            </a:r>
            <a:endParaRPr lang="en-US" sz="1550" dirty="0"/>
          </a:p>
        </p:txBody>
      </p:sp>
      <p:pic>
        <p:nvPicPr>
          <p:cNvPr id="13" name="Image 0" descr="preencoded.png">    </p:cNvPr>
          <p:cNvPicPr>
            <a:picLocks noChangeAspect="1"/>
          </p:cNvPicPr>
          <p:nvPr/>
        </p:nvPicPr>
        <p:blipFill>
          <a:blip r:embed="rId1"/>
          <a:stretch>
            <a:fillRect/>
          </a:stretch>
        </p:blipFill>
        <p:spPr>
          <a:xfrm>
            <a:off x="2542581" y="4187952"/>
            <a:ext cx="219456" cy="219456"/>
          </a:xfrm>
          <a:prstGeom prst="rect">
            <a:avLst/>
          </a:prstGeom>
        </p:spPr>
      </p:pic>
      <p:sp>
        <p:nvSpPr>
          <p:cNvPr id="14" name="Shape 10"/>
          <p:cNvSpPr/>
          <p:nvPr/>
        </p:nvSpPr>
        <p:spPr>
          <a:xfrm>
            <a:off x="2844333" y="2331720"/>
            <a:ext cx="1911645" cy="3931920"/>
          </a:xfrm>
          <a:prstGeom prst="roundRect">
            <a:avLst>
              <a:gd name="adj" fmla="val 4783"/>
            </a:avLst>
          </a:prstGeom>
          <a:solidFill>
            <a:srgbClr val="F2F4F6"/>
          </a:solidFill>
          <a:ln w="12700">
            <a:solidFill>
              <a:srgbClr val="F2F4F6"/>
            </a:solidFill>
            <a:prstDash val="solid"/>
          </a:ln>
        </p:spPr>
      </p:sp>
      <p:sp>
        <p:nvSpPr>
          <p:cNvPr id="15" name="Shape 11"/>
          <p:cNvSpPr/>
          <p:nvPr/>
        </p:nvSpPr>
        <p:spPr>
          <a:xfrm>
            <a:off x="3045501" y="2532888"/>
            <a:ext cx="548640" cy="548640"/>
          </a:xfrm>
          <a:prstGeom prst="ellipse">
            <a:avLst/>
          </a:prstGeom>
          <a:solidFill>
            <a:srgbClr val="2B3E50"/>
          </a:solidFill>
          <a:ln w="12700">
            <a:solidFill>
              <a:srgbClr val="2B3E50"/>
            </a:solidFill>
            <a:prstDash val="solid"/>
          </a:ln>
        </p:spPr>
      </p:sp>
      <p:sp>
        <p:nvSpPr>
          <p:cNvPr id="16" name="Text 12"/>
          <p:cNvSpPr txBox="1"/>
          <p:nvPr/>
        </p:nvSpPr>
        <p:spPr>
          <a:xfrm>
            <a:off x="3045501" y="253288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C</a:t>
            </a:r>
            <a:endParaRPr lang="en-US" sz="2000" dirty="0"/>
          </a:p>
        </p:txBody>
      </p:sp>
      <p:sp>
        <p:nvSpPr>
          <p:cNvPr id="17" name="Text 13"/>
          <p:cNvSpPr txBox="1"/>
          <p:nvPr/>
        </p:nvSpPr>
        <p:spPr>
          <a:xfrm>
            <a:off x="3045501" y="3200400"/>
            <a:ext cx="1509309" cy="685800"/>
          </a:xfrm>
          <a:prstGeom prst="rect">
            <a:avLst/>
          </a:prstGeom>
          <a:noFill/>
          <a:ln/>
        </p:spPr>
        <p:txBody>
          <a:bodyPr wrap="square" lIns="0" tIns="0" rIns="0" bIns="0" rtlCol="0" anchor="t">
            <a:normAutofit/>
          </a:bodyPr>
          <a:lstStyle/>
          <a:p>
            <a:pPr indent="0" marL="0">
              <a:buNone/>
            </a:pPr>
            <a:r>
              <a:rPr lang="en-US" sz="1500" b="1" dirty="0">
                <a:solidFill>
                  <a:srgbClr val="1B2A38"/>
                </a:solidFill>
                <a:latin typeface="Calibri" pitchFamily="34" charset="0"/>
                <a:ea typeface="Calibri" pitchFamily="34" charset="-122"/>
                <a:cs typeface="Calibri" pitchFamily="34" charset="-120"/>
              </a:rPr>
              <a:t>Bối cảnh</a:t>
            </a:r>
            <a:endParaRPr lang="en-US" sz="1500" dirty="0"/>
          </a:p>
        </p:txBody>
      </p:sp>
      <p:sp>
        <p:nvSpPr>
          <p:cNvPr id="18" name="Text 14"/>
          <p:cNvSpPr txBox="1"/>
          <p:nvPr/>
        </p:nvSpPr>
        <p:spPr>
          <a:xfrm>
            <a:off x="3045501" y="3904488"/>
            <a:ext cx="1509309" cy="2194560"/>
          </a:xfrm>
          <a:prstGeom prst="rect">
            <a:avLst/>
          </a:prstGeom>
          <a:noFill/>
          <a:ln/>
        </p:spPr>
        <p:txBody>
          <a:bodyPr wrap="square" lIns="0" tIns="0" rIns="0" bIns="0" rtlCol="0" anchor="t">
            <a:normAutofit/>
          </a:bodyPr>
          <a:lstStyle/>
          <a:p>
            <a:pPr indent="0" marL="0">
              <a:buNone/>
            </a:pPr>
            <a:r>
              <a:rPr lang="en-US" sz="1550" dirty="0">
                <a:solidFill>
                  <a:srgbClr val="1B2A38"/>
                </a:solidFill>
                <a:latin typeface="Calibri" pitchFamily="34" charset="0"/>
                <a:ea typeface="Calibri" pitchFamily="34" charset="-122"/>
                <a:cs typeface="Calibri" pitchFamily="34" charset="-120"/>
              </a:rPr>
              <a:t>File là gì, mỗi dòng là gì, kỳ nào, dự án nào. Thiếu → Claude đoán sai cột.</a:t>
            </a:r>
            <a:endParaRPr lang="en-US" sz="1550" dirty="0"/>
          </a:p>
        </p:txBody>
      </p:sp>
      <p:pic>
        <p:nvPicPr>
          <p:cNvPr id="19" name="Image 1" descr="preencoded.png">    </p:cNvPr>
          <p:cNvPicPr>
            <a:picLocks noChangeAspect="1"/>
          </p:cNvPicPr>
          <p:nvPr/>
        </p:nvPicPr>
        <p:blipFill>
          <a:blip r:embed="rId2"/>
          <a:stretch>
            <a:fillRect/>
          </a:stretch>
        </p:blipFill>
        <p:spPr>
          <a:xfrm>
            <a:off x="4838273" y="4187952"/>
            <a:ext cx="219456" cy="219456"/>
          </a:xfrm>
          <a:prstGeom prst="rect">
            <a:avLst/>
          </a:prstGeom>
        </p:spPr>
      </p:pic>
      <p:sp>
        <p:nvSpPr>
          <p:cNvPr id="20" name="Shape 15"/>
          <p:cNvSpPr/>
          <p:nvPr/>
        </p:nvSpPr>
        <p:spPr>
          <a:xfrm>
            <a:off x="5140025" y="2331720"/>
            <a:ext cx="1911645" cy="3931920"/>
          </a:xfrm>
          <a:prstGeom prst="roundRect">
            <a:avLst>
              <a:gd name="adj" fmla="val 4783"/>
            </a:avLst>
          </a:prstGeom>
          <a:solidFill>
            <a:srgbClr val="F2F4F6"/>
          </a:solidFill>
          <a:ln w="12700">
            <a:solidFill>
              <a:srgbClr val="F2F4F6"/>
            </a:solidFill>
            <a:prstDash val="solid"/>
          </a:ln>
        </p:spPr>
      </p:sp>
      <p:sp>
        <p:nvSpPr>
          <p:cNvPr id="21" name="Shape 16"/>
          <p:cNvSpPr/>
          <p:nvPr/>
        </p:nvSpPr>
        <p:spPr>
          <a:xfrm>
            <a:off x="5341193" y="2532888"/>
            <a:ext cx="548640" cy="548640"/>
          </a:xfrm>
          <a:prstGeom prst="ellipse">
            <a:avLst/>
          </a:prstGeom>
          <a:solidFill>
            <a:srgbClr val="2B3E50"/>
          </a:solidFill>
          <a:ln w="12700">
            <a:solidFill>
              <a:srgbClr val="2B3E50"/>
            </a:solidFill>
            <a:prstDash val="solid"/>
          </a:ln>
        </p:spPr>
      </p:sp>
      <p:sp>
        <p:nvSpPr>
          <p:cNvPr id="22" name="Text 17"/>
          <p:cNvSpPr txBox="1"/>
          <p:nvPr/>
        </p:nvSpPr>
        <p:spPr>
          <a:xfrm>
            <a:off x="5341193" y="253288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T</a:t>
            </a:r>
            <a:endParaRPr lang="en-US" sz="2000" dirty="0"/>
          </a:p>
        </p:txBody>
      </p:sp>
      <p:sp>
        <p:nvSpPr>
          <p:cNvPr id="23" name="Text 18"/>
          <p:cNvSpPr txBox="1"/>
          <p:nvPr/>
        </p:nvSpPr>
        <p:spPr>
          <a:xfrm>
            <a:off x="5341193" y="3200400"/>
            <a:ext cx="1509309" cy="685800"/>
          </a:xfrm>
          <a:prstGeom prst="rect">
            <a:avLst/>
          </a:prstGeom>
          <a:noFill/>
          <a:ln/>
        </p:spPr>
        <p:txBody>
          <a:bodyPr wrap="square" lIns="0" tIns="0" rIns="0" bIns="0" rtlCol="0" anchor="t">
            <a:normAutofit/>
          </a:bodyPr>
          <a:lstStyle/>
          <a:p>
            <a:pPr indent="0" marL="0">
              <a:buNone/>
            </a:pPr>
            <a:r>
              <a:rPr lang="en-US" sz="1500" b="1" dirty="0">
                <a:solidFill>
                  <a:srgbClr val="1B2A38"/>
                </a:solidFill>
                <a:latin typeface="Calibri" pitchFamily="34" charset="0"/>
                <a:ea typeface="Calibri" pitchFamily="34" charset="-122"/>
                <a:cs typeface="Calibri" pitchFamily="34" charset="-120"/>
              </a:rPr>
              <a:t>Nhiệm vụ</a:t>
            </a:r>
            <a:endParaRPr lang="en-US" sz="1500" dirty="0"/>
          </a:p>
        </p:txBody>
      </p:sp>
      <p:sp>
        <p:nvSpPr>
          <p:cNvPr id="24" name="Text 19"/>
          <p:cNvSpPr txBox="1"/>
          <p:nvPr/>
        </p:nvSpPr>
        <p:spPr>
          <a:xfrm>
            <a:off x="5341193" y="3904488"/>
            <a:ext cx="1509309" cy="2194560"/>
          </a:xfrm>
          <a:prstGeom prst="rect">
            <a:avLst/>
          </a:prstGeom>
          <a:noFill/>
          <a:ln/>
        </p:spPr>
        <p:txBody>
          <a:bodyPr wrap="square" lIns="0" tIns="0" rIns="0" bIns="0" rtlCol="0" anchor="t">
            <a:normAutofit/>
          </a:bodyPr>
          <a:lstStyle/>
          <a:p>
            <a:pPr indent="0" marL="0">
              <a:buNone/>
            </a:pPr>
            <a:r>
              <a:rPr lang="en-US" sz="1550" dirty="0">
                <a:solidFill>
                  <a:srgbClr val="1B2A38"/>
                </a:solidFill>
                <a:latin typeface="Calibri" pitchFamily="34" charset="0"/>
                <a:ea typeface="Calibri" pitchFamily="34" charset="-122"/>
                <a:cs typeface="Calibri" pitchFamily="34" charset="-120"/>
              </a:rPr>
              <a:t>Việc cụ thể, đánh số từng bước. Không phải “phân tích file này”.</a:t>
            </a:r>
            <a:endParaRPr lang="en-US" sz="1550" dirty="0"/>
          </a:p>
        </p:txBody>
      </p:sp>
      <p:pic>
        <p:nvPicPr>
          <p:cNvPr id="25" name="Image 2" descr="preencoded.png">    </p:cNvPr>
          <p:cNvPicPr>
            <a:picLocks noChangeAspect="1"/>
          </p:cNvPicPr>
          <p:nvPr/>
        </p:nvPicPr>
        <p:blipFill>
          <a:blip r:embed="rId3"/>
          <a:stretch>
            <a:fillRect/>
          </a:stretch>
        </p:blipFill>
        <p:spPr>
          <a:xfrm>
            <a:off x="7133966" y="4187952"/>
            <a:ext cx="219456" cy="219456"/>
          </a:xfrm>
          <a:prstGeom prst="rect">
            <a:avLst/>
          </a:prstGeom>
        </p:spPr>
      </p:pic>
      <p:sp>
        <p:nvSpPr>
          <p:cNvPr id="26" name="Shape 20"/>
          <p:cNvSpPr/>
          <p:nvPr/>
        </p:nvSpPr>
        <p:spPr>
          <a:xfrm>
            <a:off x="7435718" y="2331720"/>
            <a:ext cx="1911645" cy="3931920"/>
          </a:xfrm>
          <a:prstGeom prst="roundRect">
            <a:avLst>
              <a:gd name="adj" fmla="val 4783"/>
            </a:avLst>
          </a:prstGeom>
          <a:solidFill>
            <a:srgbClr val="F2F4F6"/>
          </a:solidFill>
          <a:ln w="12700">
            <a:solidFill>
              <a:srgbClr val="F2F4F6"/>
            </a:solidFill>
            <a:prstDash val="solid"/>
          </a:ln>
        </p:spPr>
      </p:sp>
      <p:sp>
        <p:nvSpPr>
          <p:cNvPr id="27" name="Shape 21"/>
          <p:cNvSpPr/>
          <p:nvPr/>
        </p:nvSpPr>
        <p:spPr>
          <a:xfrm>
            <a:off x="7636886" y="2532888"/>
            <a:ext cx="548640" cy="548640"/>
          </a:xfrm>
          <a:prstGeom prst="ellipse">
            <a:avLst/>
          </a:prstGeom>
          <a:solidFill>
            <a:srgbClr val="2B3E50"/>
          </a:solidFill>
          <a:ln w="12700">
            <a:solidFill>
              <a:srgbClr val="2B3E50"/>
            </a:solidFill>
            <a:prstDash val="solid"/>
          </a:ln>
        </p:spPr>
      </p:sp>
      <p:sp>
        <p:nvSpPr>
          <p:cNvPr id="28" name="Text 22"/>
          <p:cNvSpPr txBox="1"/>
          <p:nvPr/>
        </p:nvSpPr>
        <p:spPr>
          <a:xfrm>
            <a:off x="7636886" y="253288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F</a:t>
            </a:r>
            <a:endParaRPr lang="en-US" sz="2000" dirty="0"/>
          </a:p>
        </p:txBody>
      </p:sp>
      <p:sp>
        <p:nvSpPr>
          <p:cNvPr id="29" name="Text 23"/>
          <p:cNvSpPr txBox="1"/>
          <p:nvPr/>
        </p:nvSpPr>
        <p:spPr>
          <a:xfrm>
            <a:off x="7636886" y="3200400"/>
            <a:ext cx="1509309" cy="685800"/>
          </a:xfrm>
          <a:prstGeom prst="rect">
            <a:avLst/>
          </a:prstGeom>
          <a:noFill/>
          <a:ln/>
        </p:spPr>
        <p:txBody>
          <a:bodyPr wrap="square" lIns="0" tIns="0" rIns="0" bIns="0" rtlCol="0" anchor="t">
            <a:normAutofit/>
          </a:bodyPr>
          <a:lstStyle/>
          <a:p>
            <a:pPr indent="0" marL="0">
              <a:buNone/>
            </a:pPr>
            <a:r>
              <a:rPr lang="en-US" sz="1500" b="1" dirty="0">
                <a:solidFill>
                  <a:srgbClr val="1B2A38"/>
                </a:solidFill>
                <a:latin typeface="Calibri" pitchFamily="34" charset="0"/>
                <a:ea typeface="Calibri" pitchFamily="34" charset="-122"/>
                <a:cs typeface="Calibri" pitchFamily="34" charset="-120"/>
              </a:rPr>
              <a:t>Định dạng</a:t>
            </a:r>
            <a:endParaRPr lang="en-US" sz="1500" dirty="0"/>
          </a:p>
        </p:txBody>
      </p:sp>
      <p:sp>
        <p:nvSpPr>
          <p:cNvPr id="30" name="Text 24"/>
          <p:cNvSpPr txBox="1"/>
          <p:nvPr/>
        </p:nvSpPr>
        <p:spPr>
          <a:xfrm>
            <a:off x="7636886" y="3904488"/>
            <a:ext cx="1509309" cy="2194560"/>
          </a:xfrm>
          <a:prstGeom prst="rect">
            <a:avLst/>
          </a:prstGeom>
          <a:noFill/>
          <a:ln/>
        </p:spPr>
        <p:txBody>
          <a:bodyPr wrap="square" lIns="0" tIns="0" rIns="0" bIns="0" rtlCol="0" anchor="t">
            <a:normAutofit/>
          </a:bodyPr>
          <a:lstStyle/>
          <a:p>
            <a:pPr indent="0" marL="0">
              <a:buNone/>
            </a:pPr>
            <a:r>
              <a:rPr lang="en-US" sz="1550" dirty="0">
                <a:solidFill>
                  <a:srgbClr val="1B2A38"/>
                </a:solidFill>
                <a:latin typeface="Calibri" pitchFamily="34" charset="0"/>
                <a:ea typeface="Calibri" pitchFamily="34" charset="-122"/>
                <a:cs typeface="Calibri" pitchFamily="34" charset="-120"/>
              </a:rPr>
              <a:t>Bảng gì, cột gì, để dán vào Sheets. Định dạng rõ = so sánh được giữa các lần chạy.</a:t>
            </a:r>
            <a:endParaRPr lang="en-US" sz="1550" dirty="0"/>
          </a:p>
        </p:txBody>
      </p:sp>
      <p:pic>
        <p:nvPicPr>
          <p:cNvPr id="31" name="Image 3" descr="preencoded.png">    </p:cNvPr>
          <p:cNvPicPr>
            <a:picLocks noChangeAspect="1"/>
          </p:cNvPicPr>
          <p:nvPr/>
        </p:nvPicPr>
        <p:blipFill>
          <a:blip r:embed="rId4"/>
          <a:stretch>
            <a:fillRect/>
          </a:stretch>
        </p:blipFill>
        <p:spPr>
          <a:xfrm>
            <a:off x="9429659" y="4187952"/>
            <a:ext cx="219456" cy="219456"/>
          </a:xfrm>
          <a:prstGeom prst="rect">
            <a:avLst/>
          </a:prstGeom>
        </p:spPr>
      </p:pic>
      <p:sp>
        <p:nvSpPr>
          <p:cNvPr id="32" name="Shape 25"/>
          <p:cNvSpPr/>
          <p:nvPr/>
        </p:nvSpPr>
        <p:spPr>
          <a:xfrm>
            <a:off x="9731411" y="2331720"/>
            <a:ext cx="1911645" cy="3931920"/>
          </a:xfrm>
          <a:prstGeom prst="roundRect">
            <a:avLst>
              <a:gd name="adj" fmla="val 4783"/>
            </a:avLst>
          </a:prstGeom>
          <a:solidFill>
            <a:srgbClr val="F2F4F6"/>
          </a:solidFill>
          <a:ln w="12700">
            <a:solidFill>
              <a:srgbClr val="F2F4F6"/>
            </a:solidFill>
            <a:prstDash val="solid"/>
          </a:ln>
        </p:spPr>
      </p:sp>
      <p:sp>
        <p:nvSpPr>
          <p:cNvPr id="33" name="Shape 26"/>
          <p:cNvSpPr/>
          <p:nvPr/>
        </p:nvSpPr>
        <p:spPr>
          <a:xfrm>
            <a:off x="9932579" y="2532888"/>
            <a:ext cx="548640" cy="548640"/>
          </a:xfrm>
          <a:prstGeom prst="ellipse">
            <a:avLst/>
          </a:prstGeom>
          <a:solidFill>
            <a:srgbClr val="D9773A"/>
          </a:solidFill>
          <a:ln w="12700">
            <a:solidFill>
              <a:srgbClr val="D9773A"/>
            </a:solidFill>
            <a:prstDash val="solid"/>
          </a:ln>
        </p:spPr>
      </p:sp>
      <p:sp>
        <p:nvSpPr>
          <p:cNvPr id="34" name="Text 27"/>
          <p:cNvSpPr txBox="1"/>
          <p:nvPr/>
        </p:nvSpPr>
        <p:spPr>
          <a:xfrm>
            <a:off x="9932579" y="253288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C</a:t>
            </a:r>
            <a:endParaRPr lang="en-US" sz="2000" dirty="0"/>
          </a:p>
        </p:txBody>
      </p:sp>
      <p:sp>
        <p:nvSpPr>
          <p:cNvPr id="35" name="Text 28"/>
          <p:cNvSpPr txBox="1"/>
          <p:nvPr/>
        </p:nvSpPr>
        <p:spPr>
          <a:xfrm>
            <a:off x="9932579" y="3200400"/>
            <a:ext cx="1509309" cy="685800"/>
          </a:xfrm>
          <a:prstGeom prst="rect">
            <a:avLst/>
          </a:prstGeom>
          <a:noFill/>
          <a:ln/>
        </p:spPr>
        <p:txBody>
          <a:bodyPr wrap="square" lIns="0" tIns="0" rIns="0" bIns="0" rtlCol="0" anchor="t">
            <a:normAutofit/>
          </a:bodyPr>
          <a:lstStyle/>
          <a:p>
            <a:pPr indent="0" marL="0">
              <a:buNone/>
            </a:pPr>
            <a:r>
              <a:rPr lang="en-US" sz="1500" b="1" dirty="0">
                <a:solidFill>
                  <a:srgbClr val="1B2A38"/>
                </a:solidFill>
                <a:latin typeface="Calibri" pitchFamily="34" charset="0"/>
                <a:ea typeface="Calibri" pitchFamily="34" charset="-122"/>
                <a:cs typeface="Calibri" pitchFamily="34" charset="-120"/>
              </a:rPr>
              <a:t>Ràng buộc</a:t>
            </a:r>
            <a:endParaRPr lang="en-US" sz="1500" dirty="0"/>
          </a:p>
        </p:txBody>
      </p:sp>
      <p:sp>
        <p:nvSpPr>
          <p:cNvPr id="36" name="Text 29"/>
          <p:cNvSpPr txBox="1"/>
          <p:nvPr/>
        </p:nvSpPr>
        <p:spPr>
          <a:xfrm>
            <a:off x="9932579" y="3904488"/>
            <a:ext cx="1509309" cy="2194560"/>
          </a:xfrm>
          <a:prstGeom prst="rect">
            <a:avLst/>
          </a:prstGeom>
          <a:noFill/>
          <a:ln/>
        </p:spPr>
        <p:txBody>
          <a:bodyPr wrap="square" lIns="0" tIns="0" rIns="0" bIns="0" rtlCol="0" anchor="t">
            <a:normAutofit/>
          </a:bodyPr>
          <a:lstStyle/>
          <a:p>
            <a:pPr indent="0" marL="0">
              <a:buNone/>
            </a:pPr>
            <a:r>
              <a:rPr lang="en-US" sz="1550" dirty="0">
                <a:solidFill>
                  <a:srgbClr val="1B2A38"/>
                </a:solidFill>
                <a:latin typeface="Calibri" pitchFamily="34" charset="0"/>
                <a:ea typeface="Calibri" pitchFamily="34" charset="-122"/>
                <a:cs typeface="Calibri" pitchFamily="34" charset="-120"/>
              </a:rPr>
              <a:t>Tính trên dữ liệu thực, ghi tổng số dòng, chưa sửa gì cho đến khi duyệt.</a:t>
            </a:r>
            <a:endParaRPr lang="en-US" sz="15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48640" cy="292608"/>
          </a:xfrm>
          <a:prstGeom prst="roundRect">
            <a:avLst>
              <a:gd name="adj" fmla="val 50000"/>
            </a:avLst>
          </a:prstGeom>
          <a:solidFill>
            <a:srgbClr val="DDEFEE"/>
          </a:solidFill>
          <a:ln w="12700">
            <a:solidFill>
              <a:srgbClr val="DDEFEE"/>
            </a:solidFill>
            <a:prstDash val="solid"/>
          </a:ln>
        </p:spPr>
      </p:sp>
      <p:sp>
        <p:nvSpPr>
          <p:cNvPr id="3" name="Text 1"/>
          <p:cNvSpPr txBox="1"/>
          <p:nvPr/>
        </p:nvSpPr>
        <p:spPr>
          <a:xfrm>
            <a:off x="548640" y="384048"/>
            <a:ext cx="548640" cy="292608"/>
          </a:xfrm>
          <a:prstGeom prst="rect">
            <a:avLst/>
          </a:prstGeom>
          <a:noFill/>
          <a:ln/>
        </p:spPr>
        <p:txBody>
          <a:bodyPr wrap="square" lIns="0" tIns="0" rIns="0" bIns="0" rtlCol="0" anchor="ctr"/>
          <a:lstStyle/>
          <a:p>
            <a:pPr algn="ctr" indent="0" marL="0">
              <a:buNone/>
            </a:pPr>
            <a:r>
              <a:rPr lang="en-US" sz="1050" b="1" spc="150" kern="0" dirty="0">
                <a:solidFill>
                  <a:srgbClr val="2E7D7A"/>
                </a:solidFill>
                <a:latin typeface="Calibri" pitchFamily="34" charset="0"/>
                <a:ea typeface="Calibri" pitchFamily="34" charset="-122"/>
                <a:cs typeface="Calibri" pitchFamily="34" charset="-120"/>
              </a:rPr>
              <a:t>DEMO</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Demo: cùng một file call log, hai prompt</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1 · Nền tảng Claude &amp; dữ liệu</a:t>
            </a:r>
            <a:endParaRPr lang="en-US" sz="1000" dirty="0"/>
          </a:p>
        </p:txBody>
      </p:sp>
      <p:sp>
        <p:nvSpPr>
          <p:cNvPr id="7" name="Shape 4"/>
          <p:cNvSpPr/>
          <p:nvPr/>
        </p:nvSpPr>
        <p:spPr>
          <a:xfrm>
            <a:off x="548640" y="1691640"/>
            <a:ext cx="4525238" cy="4572000"/>
          </a:xfrm>
          <a:prstGeom prst="roundRect">
            <a:avLst>
              <a:gd name="adj" fmla="val 2021"/>
            </a:avLst>
          </a:prstGeom>
          <a:solidFill>
            <a:srgbClr val="F8E1DE"/>
          </a:solidFill>
          <a:ln w="12700">
            <a:solidFill>
              <a:srgbClr val="F8E1DE"/>
            </a:solidFill>
            <a:prstDash val="solid"/>
          </a:ln>
        </p:spPr>
      </p:sp>
      <p:sp>
        <p:nvSpPr>
          <p:cNvPr id="8" name="Shape 5"/>
          <p:cNvSpPr/>
          <p:nvPr/>
        </p:nvSpPr>
        <p:spPr>
          <a:xfrm>
            <a:off x="777240" y="1920240"/>
            <a:ext cx="457200" cy="457200"/>
          </a:xfrm>
          <a:prstGeom prst="roundRect">
            <a:avLst>
              <a:gd name="adj" fmla="val 22000"/>
            </a:avLst>
          </a:prstGeom>
          <a:solidFill>
            <a:srgbClr val="C0392B"/>
          </a:solidFill>
          <a:ln w="12700">
            <a:solidFill>
              <a:srgbClr val="C0392B"/>
            </a:solidFill>
            <a:prstDash val="solid"/>
          </a:ln>
        </p:spPr>
      </p:sp>
      <p:pic>
        <p:nvPicPr>
          <p:cNvPr id="9" name="Image 0" descr="preencoded.png">    </p:cNvPr>
          <p:cNvPicPr>
            <a:picLocks noChangeAspect="1"/>
          </p:cNvPicPr>
          <p:nvPr/>
        </p:nvPicPr>
        <p:blipFill>
          <a:blip r:embed="rId1"/>
          <a:stretch>
            <a:fillRect/>
          </a:stretch>
        </p:blipFill>
        <p:spPr>
          <a:xfrm>
            <a:off x="886968" y="2029968"/>
            <a:ext cx="237744" cy="237744"/>
          </a:xfrm>
          <a:prstGeom prst="rect">
            <a:avLst/>
          </a:prstGeom>
        </p:spPr>
      </p:pic>
      <p:sp>
        <p:nvSpPr>
          <p:cNvPr id="10" name="Text 6"/>
          <p:cNvSpPr txBox="1"/>
          <p:nvPr/>
        </p:nvSpPr>
        <p:spPr>
          <a:xfrm>
            <a:off x="1417320" y="1920240"/>
            <a:ext cx="3427958" cy="457200"/>
          </a:xfrm>
          <a:prstGeom prst="rect">
            <a:avLst/>
          </a:prstGeom>
          <a:noFill/>
          <a:ln/>
        </p:spPr>
        <p:txBody>
          <a:bodyPr wrap="square" lIns="0" tIns="0" rIns="0" bIns="0" rtlCol="0" anchor="ctr"/>
          <a:lstStyle/>
          <a:p>
            <a:pPr indent="0" marL="0">
              <a:buNone/>
            </a:pPr>
            <a:r>
              <a:rPr lang="en-US" sz="1800" b="1" dirty="0">
                <a:solidFill>
                  <a:srgbClr val="C0392B"/>
                </a:solidFill>
                <a:latin typeface="Calibri" pitchFamily="34" charset="0"/>
                <a:ea typeface="Calibri" pitchFamily="34" charset="-122"/>
                <a:cs typeface="Calibri" pitchFamily="34" charset="-120"/>
              </a:rPr>
              <a:t>Prompt thiếu</a:t>
            </a:r>
            <a:endParaRPr lang="en-US" sz="1800" dirty="0"/>
          </a:p>
        </p:txBody>
      </p:sp>
      <p:sp>
        <p:nvSpPr>
          <p:cNvPr id="11" name="Text 7"/>
          <p:cNvSpPr txBox="1"/>
          <p:nvPr/>
        </p:nvSpPr>
        <p:spPr>
          <a:xfrm>
            <a:off x="822960" y="2560320"/>
            <a:ext cx="3976598" cy="3520440"/>
          </a:xfrm>
          <a:prstGeom prst="rect">
            <a:avLst/>
          </a:prstGeom>
          <a:noFill/>
          <a:ln/>
        </p:spPr>
        <p:txBody>
          <a:bodyPr wrap="square" lIns="0" tIns="0" rIns="0" bIns="0" rtlCol="0" anchor="t">
            <a:normAutofit/>
          </a:bodyPr>
          <a:lstStyle/>
          <a:p>
            <a:pPr indent="0" marL="0">
              <a:buNone/>
            </a:pPr>
            <a:r>
              <a:rPr lang="en-US" sz="1500" dirty="0">
                <a:solidFill>
                  <a:srgbClr val="1B2A38"/>
                </a:solidFill>
                <a:latin typeface="Courier New" pitchFamily="34" charset="0"/>
                <a:ea typeface="Courier New" pitchFamily="34" charset="-122"/>
                <a:cs typeface="Courier New" pitchFamily="34" charset="-120"/>
              </a:rPr>
              <a:t>Phân tích file này giúp tôi.</a:t>
            </a:r>
            <a:endParaRPr lang="en-US" sz="1500" dirty="0"/>
          </a:p>
          <a:p>
            <a:pPr indent="0" marL="0">
              <a:buNone/>
            </a:pPr>
            <a:endParaRPr lang="en-US" sz="1500" dirty="0"/>
          </a:p>
          <a:p>
            <a:pPr indent="0" marL="0">
              <a:buNone/>
            </a:pPr>
            <a:r>
              <a:rPr lang="en-US" sz="1500" dirty="0">
                <a:solidFill>
                  <a:srgbClr val="1B2A38"/>
                </a:solidFill>
                <a:latin typeface="Courier New" pitchFamily="34" charset="0"/>
                <a:ea typeface="Courier New" pitchFamily="34" charset="-122"/>
                <a:cs typeface="Courier New" pitchFamily="34" charset="-120"/>
              </a:rPr>
              <a:t>→ Claude tự chọn hướng: tóm tắt chung, vài biểu đồ, không biết dòng nào là lỗi, không có tổng để đối chiếu.</a:t>
            </a:r>
            <a:endParaRPr lang="en-US" sz="1500" dirty="0"/>
          </a:p>
        </p:txBody>
      </p:sp>
      <p:sp>
        <p:nvSpPr>
          <p:cNvPr id="12" name="Shape 8"/>
          <p:cNvSpPr/>
          <p:nvPr/>
        </p:nvSpPr>
        <p:spPr>
          <a:xfrm>
            <a:off x="5393918" y="1691640"/>
            <a:ext cx="6249138" cy="4572000"/>
          </a:xfrm>
          <a:prstGeom prst="roundRect">
            <a:avLst>
              <a:gd name="adj" fmla="val 2000"/>
            </a:avLst>
          </a:prstGeom>
          <a:solidFill>
            <a:srgbClr val="DDF1E5"/>
          </a:solidFill>
          <a:ln w="12700">
            <a:solidFill>
              <a:srgbClr val="DDF1E5"/>
            </a:solidFill>
            <a:prstDash val="solid"/>
          </a:ln>
        </p:spPr>
      </p:sp>
      <p:sp>
        <p:nvSpPr>
          <p:cNvPr id="13" name="Shape 9"/>
          <p:cNvSpPr/>
          <p:nvPr/>
        </p:nvSpPr>
        <p:spPr>
          <a:xfrm>
            <a:off x="5622518" y="1920240"/>
            <a:ext cx="457200" cy="457200"/>
          </a:xfrm>
          <a:prstGeom prst="roundRect">
            <a:avLst>
              <a:gd name="adj" fmla="val 22000"/>
            </a:avLst>
          </a:prstGeom>
          <a:solidFill>
            <a:srgbClr val="2E8B57"/>
          </a:solidFill>
          <a:ln w="12700">
            <a:solidFill>
              <a:srgbClr val="2E8B57"/>
            </a:solidFill>
            <a:prstDash val="solid"/>
          </a:ln>
        </p:spPr>
      </p:sp>
      <p:pic>
        <p:nvPicPr>
          <p:cNvPr id="14" name="Image 1" descr="preencoded.png">    </p:cNvPr>
          <p:cNvPicPr>
            <a:picLocks noChangeAspect="1"/>
          </p:cNvPicPr>
          <p:nvPr/>
        </p:nvPicPr>
        <p:blipFill>
          <a:blip r:embed="rId2"/>
          <a:stretch>
            <a:fillRect/>
          </a:stretch>
        </p:blipFill>
        <p:spPr>
          <a:xfrm>
            <a:off x="5732246" y="2029968"/>
            <a:ext cx="237744" cy="237744"/>
          </a:xfrm>
          <a:prstGeom prst="rect">
            <a:avLst/>
          </a:prstGeom>
        </p:spPr>
      </p:pic>
      <p:sp>
        <p:nvSpPr>
          <p:cNvPr id="15" name="Text 10"/>
          <p:cNvSpPr txBox="1"/>
          <p:nvPr/>
        </p:nvSpPr>
        <p:spPr>
          <a:xfrm>
            <a:off x="6262598" y="1920240"/>
            <a:ext cx="5151858" cy="4572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Prompt đủ R-C-T-F-C</a:t>
            </a:r>
            <a:endParaRPr lang="en-US" sz="1800" dirty="0"/>
          </a:p>
        </p:txBody>
      </p:sp>
      <p:sp>
        <p:nvSpPr>
          <p:cNvPr id="16" name="Text 11"/>
          <p:cNvSpPr txBox="1"/>
          <p:nvPr/>
        </p:nvSpPr>
        <p:spPr>
          <a:xfrm>
            <a:off x="5668238" y="2560320"/>
            <a:ext cx="5700498" cy="3520440"/>
          </a:xfrm>
          <a:prstGeom prst="rect">
            <a:avLst/>
          </a:prstGeom>
          <a:noFill/>
          <a:ln/>
        </p:spPr>
        <p:txBody>
          <a:bodyPr wrap="square" lIns="0" tIns="0" rIns="0" bIns="0" rtlCol="0" anchor="t">
            <a:normAutofit/>
          </a:bodyPr>
          <a:lstStyle/>
          <a:p>
            <a:pPr indent="0" marL="0">
              <a:buNone/>
            </a:pPr>
            <a:r>
              <a:rPr lang="en-US" sz="1400" dirty="0">
                <a:solidFill>
                  <a:srgbClr val="1B2A38"/>
                </a:solidFill>
                <a:latin typeface="Courier New" pitchFamily="34" charset="0"/>
                <a:ea typeface="Courier New" pitchFamily="34" charset="-122"/>
                <a:cs typeface="Courier New" pitchFamily="34" charset="-120"/>
              </a:rPr>
              <a:t>[R] Bạn là chuyên viên phân tích vận hành.</a:t>
            </a:r>
            <a:endParaRPr lang="en-US" sz="1400" dirty="0"/>
          </a:p>
          <a:p>
            <a:pPr indent="0" marL="0">
              <a:buNone/>
            </a:pPr>
            <a:r>
              <a:rPr lang="en-US" sz="1400" dirty="0">
                <a:solidFill>
                  <a:srgbClr val="1B2A38"/>
                </a:solidFill>
                <a:latin typeface="Courier New" pitchFamily="34" charset="0"/>
                <a:ea typeface="Courier New" pitchFamily="34" charset="-122"/>
                <a:cs typeface="Courier New" pitchFamily="34" charset="-120"/>
              </a:rPr>
              <a:t>[C] File là call log tháng 9/2026, mỗi dòng = 1 cuộc gọi, 2 dự án TS-BH (outbound) và CS-VT (inbound).</a:t>
            </a:r>
            <a:endParaRPr lang="en-US" sz="1400" dirty="0"/>
          </a:p>
          <a:p>
            <a:pPr indent="0" marL="0">
              <a:buNone/>
            </a:pPr>
            <a:r>
              <a:rPr lang="en-US" sz="1400" dirty="0">
                <a:solidFill>
                  <a:srgbClr val="1B2A38"/>
                </a:solidFill>
                <a:latin typeface="Courier New" pitchFamily="34" charset="0"/>
                <a:ea typeface="Courier New" pitchFamily="34" charset="-122"/>
                <a:cs typeface="Courier New" pitchFamily="34" charset="-120"/>
              </a:rPr>
              <a:t>[T] 1. Mô tả cấu trúc. 2. Đếm dòng trùng mã cuộc gọi, thời lượng âm / 0 giây / &gt; 7200 giây, mã agent không có trong danh sách.</a:t>
            </a:r>
            <a:endParaRPr lang="en-US" sz="1400" dirty="0"/>
          </a:p>
          <a:p>
            <a:pPr indent="0" marL="0">
              <a:buNone/>
            </a:pPr>
            <a:r>
              <a:rPr lang="en-US" sz="1400" dirty="0">
                <a:solidFill>
                  <a:srgbClr val="1B2A38"/>
                </a:solidFill>
                <a:latin typeface="Courier New" pitchFamily="34" charset="0"/>
                <a:ea typeface="Courier New" pitchFamily="34" charset="-122"/>
                <a:cs typeface="Courier New" pitchFamily="34" charset="-120"/>
              </a:rPr>
              <a:t>[F] Bảng: loại lỗi | số dòng | 3 ví dụ | đề xuất xử lý.</a:t>
            </a:r>
            <a:endParaRPr lang="en-US" sz="1400" dirty="0"/>
          </a:p>
          <a:p>
            <a:pPr indent="0" marL="0">
              <a:buNone/>
            </a:pPr>
            <a:r>
              <a:rPr lang="en-US" sz="1400" dirty="0">
                <a:solidFill>
                  <a:srgbClr val="1B2A38"/>
                </a:solidFill>
                <a:latin typeface="Courier New" pitchFamily="34" charset="0"/>
                <a:ea typeface="Courier New" pitchFamily="34" charset="-122"/>
                <a:cs typeface="Courier New" pitchFamily="34" charset="-120"/>
              </a:rPr>
              <a:t>[C] Tính bằng code trên toàn bộ file, ghi tổng số dòng đã xử lý. Chưa sửa gì.</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982980" cy="292608"/>
          </a:xfrm>
          <a:prstGeom prst="roundRect">
            <a:avLst>
              <a:gd name="adj" fmla="val 50000"/>
            </a:avLst>
          </a:prstGeom>
          <a:solidFill>
            <a:srgbClr val="FBE7DA"/>
          </a:solidFill>
          <a:ln w="12700">
            <a:solidFill>
              <a:srgbClr val="FBE7DA"/>
            </a:solidFill>
            <a:prstDash val="solid"/>
          </a:ln>
        </p:spPr>
      </p:sp>
      <p:sp>
        <p:nvSpPr>
          <p:cNvPr id="3" name="Text 1"/>
          <p:cNvSpPr txBox="1"/>
          <p:nvPr/>
        </p:nvSpPr>
        <p:spPr>
          <a:xfrm>
            <a:off x="548640" y="384048"/>
            <a:ext cx="982980" cy="292608"/>
          </a:xfrm>
          <a:prstGeom prst="rect">
            <a:avLst/>
          </a:prstGeom>
          <a:noFill/>
          <a:ln/>
        </p:spPr>
        <p:txBody>
          <a:bodyPr wrap="square" lIns="0" tIns="0" rIns="0" bIns="0" rtlCol="0" anchor="ctr"/>
          <a:lstStyle/>
          <a:p>
            <a:pPr algn="ctr" indent="0" marL="0">
              <a:buNone/>
            </a:pPr>
            <a:r>
              <a:rPr lang="en-US" sz="1050" b="1" spc="150" kern="0" dirty="0">
                <a:solidFill>
                  <a:srgbClr val="D9773A"/>
                </a:solidFill>
                <a:latin typeface="Calibri" pitchFamily="34" charset="0"/>
                <a:ea typeface="Calibri" pitchFamily="34" charset="-122"/>
                <a:cs typeface="Calibri" pitchFamily="34" charset="-120"/>
              </a:rPr>
              <a:t>KIẾN THỨC</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Giải phẫu 3 nguồn dữ liệu</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1 · Nền tảng Claude &amp; dữ liệu</a:t>
            </a:r>
            <a:endParaRPr lang="en-US" sz="1000" dirty="0"/>
          </a:p>
        </p:txBody>
      </p:sp>
      <p:sp>
        <p:nvSpPr>
          <p:cNvPr id="7" name="Text 4"/>
          <p:cNvSpPr txBox="1"/>
          <p:nvPr/>
        </p:nvSpPr>
        <p:spPr>
          <a:xfrm>
            <a:off x="548640" y="1645920"/>
            <a:ext cx="11094415" cy="502920"/>
          </a:xfrm>
          <a:prstGeom prst="rect">
            <a:avLst/>
          </a:prstGeom>
          <a:noFill/>
          <a:ln/>
        </p:spPr>
        <p:txBody>
          <a:bodyPr wrap="square" lIns="0" tIns="0" rIns="0" bIns="0" rtlCol="0" anchor="t"/>
          <a:lstStyle/>
          <a:p>
            <a:pPr indent="0" marL="0">
              <a:buNone/>
            </a:pPr>
            <a:r>
              <a:rPr lang="en-US" sz="1600" i="1" dirty="0">
                <a:solidFill>
                  <a:srgbClr val="6B7785"/>
                </a:solidFill>
                <a:latin typeface="Calibri" pitchFamily="34" charset="0"/>
                <a:ea typeface="Calibri" pitchFamily="34" charset="-122"/>
                <a:cs typeface="Calibri" pitchFamily="34" charset="-120"/>
              </a:rPr>
              <a:t>Câu hỏi đầu tiên với mọi file: “mỗi dòng là một cái gì?” (grain)</a:t>
            </a:r>
            <a:endParaRPr lang="en-US" sz="1600" dirty="0"/>
          </a:p>
        </p:txBody>
      </p:sp>
      <p:sp>
        <p:nvSpPr>
          <p:cNvPr id="8" name="Shape 5"/>
          <p:cNvSpPr/>
          <p:nvPr/>
        </p:nvSpPr>
        <p:spPr>
          <a:xfrm>
            <a:off x="548640" y="2240280"/>
            <a:ext cx="3515258" cy="4023360"/>
          </a:xfrm>
          <a:prstGeom prst="roundRect">
            <a:avLst>
              <a:gd name="adj" fmla="val 2601"/>
            </a:avLst>
          </a:prstGeom>
          <a:solidFill>
            <a:srgbClr val="F2F4F6"/>
          </a:solidFill>
          <a:ln w="12700">
            <a:solidFill>
              <a:srgbClr val="F2F4F6"/>
            </a:solidFill>
            <a:prstDash val="solid"/>
          </a:ln>
        </p:spPr>
      </p:sp>
      <p:sp>
        <p:nvSpPr>
          <p:cNvPr id="9" name="Shape 6"/>
          <p:cNvSpPr/>
          <p:nvPr/>
        </p:nvSpPr>
        <p:spPr>
          <a:xfrm>
            <a:off x="777240" y="2468880"/>
            <a:ext cx="566928" cy="566928"/>
          </a:xfrm>
          <a:prstGeom prst="roundRect">
            <a:avLst>
              <a:gd name="adj" fmla="val 22000"/>
            </a:avLst>
          </a:prstGeom>
          <a:solidFill>
            <a:srgbClr val="2B3E50"/>
          </a:solidFill>
          <a:ln w="12700">
            <a:solidFill>
              <a:srgbClr val="2B3E50"/>
            </a:solidFill>
            <a:prstDash val="solid"/>
          </a:ln>
        </p:spPr>
      </p:sp>
      <p:pic>
        <p:nvPicPr>
          <p:cNvPr id="10" name="Image 0" descr="preencoded.png">    </p:cNvPr>
          <p:cNvPicPr>
            <a:picLocks noChangeAspect="1"/>
          </p:cNvPicPr>
          <p:nvPr/>
        </p:nvPicPr>
        <p:blipFill>
          <a:blip r:embed="rId1"/>
          <a:stretch>
            <a:fillRect/>
          </a:stretch>
        </p:blipFill>
        <p:spPr>
          <a:xfrm>
            <a:off x="913303" y="2604943"/>
            <a:ext cx="294803" cy="294803"/>
          </a:xfrm>
          <a:prstGeom prst="rect">
            <a:avLst/>
          </a:prstGeom>
        </p:spPr>
      </p:pic>
      <p:sp>
        <p:nvSpPr>
          <p:cNvPr id="11" name="Text 7"/>
          <p:cNvSpPr txBox="1"/>
          <p:nvPr/>
        </p:nvSpPr>
        <p:spPr>
          <a:xfrm>
            <a:off x="1527048" y="2468880"/>
            <a:ext cx="2308250" cy="566928"/>
          </a:xfrm>
          <a:prstGeom prst="rect">
            <a:avLst/>
          </a:prstGeom>
          <a:noFill/>
          <a:ln/>
        </p:spPr>
        <p:txBody>
          <a:bodyPr wrap="square" lIns="0" tIns="0" rIns="0" bIns="0" rtlCol="0" anchor="ctr">
            <a:normAutofit/>
          </a:bodyPr>
          <a:lstStyle/>
          <a:p>
            <a:pPr indent="0" marL="0">
              <a:buNone/>
            </a:pPr>
            <a:r>
              <a:rPr lang="en-US" sz="1650" b="1" dirty="0">
                <a:solidFill>
                  <a:srgbClr val="1B2A38"/>
                </a:solidFill>
                <a:latin typeface="Calibri" pitchFamily="34" charset="0"/>
                <a:ea typeface="Calibri" pitchFamily="34" charset="-122"/>
                <a:cs typeface="Calibri" pitchFamily="34" charset="-120"/>
              </a:rPr>
              <a:t>Call log (CDR)</a:t>
            </a:r>
            <a:endParaRPr lang="en-US" sz="1650" dirty="0"/>
          </a:p>
        </p:txBody>
      </p:sp>
      <p:sp>
        <p:nvSpPr>
          <p:cNvPr id="12" name="Text 8"/>
          <p:cNvSpPr txBox="1"/>
          <p:nvPr/>
        </p:nvSpPr>
        <p:spPr>
          <a:xfrm>
            <a:off x="777240" y="3200400"/>
            <a:ext cx="3058058" cy="2907792"/>
          </a:xfrm>
          <a:prstGeom prst="rect">
            <a:avLst/>
          </a:prstGeom>
          <a:noFill/>
          <a:ln/>
        </p:spPr>
        <p:txBody>
          <a:bodyPr wrap="square" lIns="0" tIns="0" rIns="0" bIns="0" rtlCol="0" anchor="t">
            <a:normAutofit/>
          </a:bodyPr>
          <a:lstStyle/>
          <a:p>
            <a:pPr marL="228600" indent="-228600">
              <a:spcAft>
                <a:spcPts val="500"/>
              </a:spcAft>
              <a:buSzPct val="100000"/>
              <a:buChar char="•"/>
            </a:pPr>
            <a:r>
              <a:rPr lang="en-US" sz="1500" b="1" dirty="0">
                <a:solidFill>
                  <a:srgbClr val="1B2A38"/>
                </a:solidFill>
                <a:latin typeface="Calibri" pitchFamily="34" charset="0"/>
                <a:ea typeface="Calibri" pitchFamily="34" charset="-122"/>
                <a:cs typeface="Calibri" pitchFamily="34" charset="-120"/>
              </a:rPr>
              <a:t>1 dòng = 1 cuộc gọi.</a:t>
            </a:r>
            <a:pPr indent="0" marL="0">
              <a:buNone/>
            </a:pPr>
            <a:endParaRPr lang="en-US" sz="1500" dirty="0"/>
          </a:p>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Mã cuộc gọi, thời điểm, hướng IN/OUT, mã agent EXT20xx</a:t>
            </a:r>
            <a:endParaRPr lang="en-US" sz="1500" dirty="0"/>
          </a:p>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Chờ / đàm thoại / giữ máy / ACW (giây)</a:t>
            </a:r>
            <a:endParaRPr lang="en-US" sz="1500" dirty="0"/>
          </a:p>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Trạng thái kết nối, ghi chú kết quả</a:t>
            </a:r>
            <a:endParaRPr lang="en-US" sz="1500" dirty="0"/>
          </a:p>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29.515 dòng · 14 ngày</a:t>
            </a:r>
            <a:endParaRPr lang="en-US" sz="1500" dirty="0"/>
          </a:p>
        </p:txBody>
      </p:sp>
      <p:sp>
        <p:nvSpPr>
          <p:cNvPr id="13" name="Shape 9"/>
          <p:cNvSpPr/>
          <p:nvPr/>
        </p:nvSpPr>
        <p:spPr>
          <a:xfrm>
            <a:off x="4338218" y="2240280"/>
            <a:ext cx="3515258" cy="4023360"/>
          </a:xfrm>
          <a:prstGeom prst="roundRect">
            <a:avLst>
              <a:gd name="adj" fmla="val 2601"/>
            </a:avLst>
          </a:prstGeom>
          <a:solidFill>
            <a:srgbClr val="F2F4F6"/>
          </a:solidFill>
          <a:ln w="12700">
            <a:solidFill>
              <a:srgbClr val="F2F4F6"/>
            </a:solidFill>
            <a:prstDash val="solid"/>
          </a:ln>
        </p:spPr>
      </p:sp>
      <p:sp>
        <p:nvSpPr>
          <p:cNvPr id="14" name="Shape 10"/>
          <p:cNvSpPr/>
          <p:nvPr/>
        </p:nvSpPr>
        <p:spPr>
          <a:xfrm>
            <a:off x="4566818" y="2468880"/>
            <a:ext cx="566928" cy="566928"/>
          </a:xfrm>
          <a:prstGeom prst="roundRect">
            <a:avLst>
              <a:gd name="adj" fmla="val 22000"/>
            </a:avLst>
          </a:prstGeom>
          <a:solidFill>
            <a:srgbClr val="2B3E50"/>
          </a:solidFill>
          <a:ln w="12700">
            <a:solidFill>
              <a:srgbClr val="2B3E50"/>
            </a:solidFill>
            <a:prstDash val="solid"/>
          </a:ln>
        </p:spPr>
      </p:sp>
      <p:pic>
        <p:nvPicPr>
          <p:cNvPr id="15" name="Image 1" descr="preencoded.png">    </p:cNvPr>
          <p:cNvPicPr>
            <a:picLocks noChangeAspect="1"/>
          </p:cNvPicPr>
          <p:nvPr/>
        </p:nvPicPr>
        <p:blipFill>
          <a:blip r:embed="rId2"/>
          <a:stretch>
            <a:fillRect/>
          </a:stretch>
        </p:blipFill>
        <p:spPr>
          <a:xfrm>
            <a:off x="4702881" y="2604943"/>
            <a:ext cx="294803" cy="294803"/>
          </a:xfrm>
          <a:prstGeom prst="rect">
            <a:avLst/>
          </a:prstGeom>
        </p:spPr>
      </p:pic>
      <p:sp>
        <p:nvSpPr>
          <p:cNvPr id="16" name="Text 11"/>
          <p:cNvSpPr txBox="1"/>
          <p:nvPr/>
        </p:nvSpPr>
        <p:spPr>
          <a:xfrm>
            <a:off x="5316626" y="2468880"/>
            <a:ext cx="2308250" cy="566928"/>
          </a:xfrm>
          <a:prstGeom prst="rect">
            <a:avLst/>
          </a:prstGeom>
          <a:noFill/>
          <a:ln/>
        </p:spPr>
        <p:txBody>
          <a:bodyPr wrap="square" lIns="0" tIns="0" rIns="0" bIns="0" rtlCol="0" anchor="ctr">
            <a:normAutofit/>
          </a:bodyPr>
          <a:lstStyle/>
          <a:p>
            <a:pPr indent="0" marL="0">
              <a:buNone/>
            </a:pPr>
            <a:r>
              <a:rPr lang="en-US" sz="1650" b="1" dirty="0">
                <a:solidFill>
                  <a:srgbClr val="1B2A38"/>
                </a:solidFill>
                <a:latin typeface="Calibri" pitchFamily="34" charset="0"/>
                <a:ea typeface="Calibri" pitchFamily="34" charset="-122"/>
                <a:cs typeface="Calibri" pitchFamily="34" charset="-120"/>
              </a:rPr>
              <a:t>Trạng thái agent</a:t>
            </a:r>
            <a:endParaRPr lang="en-US" sz="1650" dirty="0"/>
          </a:p>
        </p:txBody>
      </p:sp>
      <p:sp>
        <p:nvSpPr>
          <p:cNvPr id="17" name="Text 12"/>
          <p:cNvSpPr txBox="1"/>
          <p:nvPr/>
        </p:nvSpPr>
        <p:spPr>
          <a:xfrm>
            <a:off x="4566818" y="3200400"/>
            <a:ext cx="3058058" cy="2907792"/>
          </a:xfrm>
          <a:prstGeom prst="rect">
            <a:avLst/>
          </a:prstGeom>
          <a:noFill/>
          <a:ln/>
        </p:spPr>
        <p:txBody>
          <a:bodyPr wrap="square" lIns="0" tIns="0" rIns="0" bIns="0" rtlCol="0" anchor="t">
            <a:normAutofit/>
          </a:bodyPr>
          <a:lstStyle/>
          <a:p>
            <a:pPr marL="228600" indent="-228600">
              <a:spcAft>
                <a:spcPts val="500"/>
              </a:spcAft>
              <a:buSzPct val="100000"/>
              <a:buChar char="•"/>
            </a:pPr>
            <a:r>
              <a:rPr lang="en-US" sz="1500" b="1" dirty="0">
                <a:solidFill>
                  <a:srgbClr val="1B2A38"/>
                </a:solidFill>
                <a:latin typeface="Calibri" pitchFamily="34" charset="0"/>
                <a:ea typeface="Calibri" pitchFamily="34" charset="-122"/>
                <a:cs typeface="Calibri" pitchFamily="34" charset="-120"/>
              </a:rPr>
              <a:t>1 dòng = 1 lần đổi trạng thái.</a:t>
            </a:r>
            <a:pPr indent="0" marL="0">
              <a:buNone/>
            </a:pPr>
            <a:endParaRPr lang="en-US" sz="1500" dirty="0"/>
          </a:p>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LOGIN → READY ↔ NOT_READY → LOGOUT</a:t>
            </a:r>
            <a:endParaRPr lang="en-US" sz="1500" dirty="0"/>
          </a:p>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Lý do NOT_READY: nghỉ giữa ca, vệ sinh…</a:t>
            </a:r>
            <a:endParaRPr lang="en-US" sz="1500" dirty="0"/>
          </a:p>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Cho ra giờ đăng nhập, giờ sẵn sàng</a:t>
            </a:r>
            <a:endParaRPr lang="en-US" sz="1500" dirty="0"/>
          </a:p>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2.214 sự kiện</a:t>
            </a:r>
            <a:endParaRPr lang="en-US" sz="1500" dirty="0"/>
          </a:p>
        </p:txBody>
      </p:sp>
      <p:sp>
        <p:nvSpPr>
          <p:cNvPr id="18" name="Shape 13"/>
          <p:cNvSpPr/>
          <p:nvPr/>
        </p:nvSpPr>
        <p:spPr>
          <a:xfrm>
            <a:off x="8127797" y="2240280"/>
            <a:ext cx="3515258" cy="4023360"/>
          </a:xfrm>
          <a:prstGeom prst="roundRect">
            <a:avLst>
              <a:gd name="adj" fmla="val 2601"/>
            </a:avLst>
          </a:prstGeom>
          <a:solidFill>
            <a:srgbClr val="F2F4F6"/>
          </a:solidFill>
          <a:ln w="12700">
            <a:solidFill>
              <a:srgbClr val="F2F4F6"/>
            </a:solidFill>
            <a:prstDash val="solid"/>
          </a:ln>
        </p:spPr>
      </p:sp>
      <p:sp>
        <p:nvSpPr>
          <p:cNvPr id="19" name="Shape 14"/>
          <p:cNvSpPr/>
          <p:nvPr/>
        </p:nvSpPr>
        <p:spPr>
          <a:xfrm>
            <a:off x="8356397" y="2468880"/>
            <a:ext cx="566928" cy="566928"/>
          </a:xfrm>
          <a:prstGeom prst="roundRect">
            <a:avLst>
              <a:gd name="adj" fmla="val 22000"/>
            </a:avLst>
          </a:prstGeom>
          <a:solidFill>
            <a:srgbClr val="2B3E50"/>
          </a:solidFill>
          <a:ln w="12700">
            <a:solidFill>
              <a:srgbClr val="2B3E50"/>
            </a:solidFill>
            <a:prstDash val="solid"/>
          </a:ln>
        </p:spPr>
      </p:sp>
      <p:pic>
        <p:nvPicPr>
          <p:cNvPr id="20" name="Image 2" descr="preencoded.png">    </p:cNvPr>
          <p:cNvPicPr>
            <a:picLocks noChangeAspect="1"/>
          </p:cNvPicPr>
          <p:nvPr/>
        </p:nvPicPr>
        <p:blipFill>
          <a:blip r:embed="rId3"/>
          <a:stretch>
            <a:fillRect/>
          </a:stretch>
        </p:blipFill>
        <p:spPr>
          <a:xfrm>
            <a:off x="8492460" y="2604943"/>
            <a:ext cx="294803" cy="294803"/>
          </a:xfrm>
          <a:prstGeom prst="rect">
            <a:avLst/>
          </a:prstGeom>
        </p:spPr>
      </p:pic>
      <p:sp>
        <p:nvSpPr>
          <p:cNvPr id="21" name="Text 15"/>
          <p:cNvSpPr txBox="1"/>
          <p:nvPr/>
        </p:nvSpPr>
        <p:spPr>
          <a:xfrm>
            <a:off x="9106205" y="2468880"/>
            <a:ext cx="2308250" cy="566928"/>
          </a:xfrm>
          <a:prstGeom prst="rect">
            <a:avLst/>
          </a:prstGeom>
          <a:noFill/>
          <a:ln/>
        </p:spPr>
        <p:txBody>
          <a:bodyPr wrap="square" lIns="0" tIns="0" rIns="0" bIns="0" rtlCol="0" anchor="ctr">
            <a:normAutofit/>
          </a:bodyPr>
          <a:lstStyle/>
          <a:p>
            <a:pPr indent="0" marL="0">
              <a:buNone/>
            </a:pPr>
            <a:r>
              <a:rPr lang="en-US" sz="1650" b="1" dirty="0">
                <a:solidFill>
                  <a:srgbClr val="1B2A38"/>
                </a:solidFill>
                <a:latin typeface="Calibri" pitchFamily="34" charset="0"/>
                <a:ea typeface="Calibri" pitchFamily="34" charset="-122"/>
                <a:cs typeface="Calibri" pitchFamily="34" charset="-120"/>
              </a:rPr>
              <a:t>Chấm công</a:t>
            </a:r>
            <a:endParaRPr lang="en-US" sz="1650" dirty="0"/>
          </a:p>
        </p:txBody>
      </p:sp>
      <p:sp>
        <p:nvSpPr>
          <p:cNvPr id="22" name="Text 16"/>
          <p:cNvSpPr txBox="1"/>
          <p:nvPr/>
        </p:nvSpPr>
        <p:spPr>
          <a:xfrm>
            <a:off x="8356397" y="3200400"/>
            <a:ext cx="3058058" cy="2907792"/>
          </a:xfrm>
          <a:prstGeom prst="rect">
            <a:avLst/>
          </a:prstGeom>
          <a:noFill/>
          <a:ln/>
        </p:spPr>
        <p:txBody>
          <a:bodyPr wrap="square" lIns="0" tIns="0" rIns="0" bIns="0" rtlCol="0" anchor="t">
            <a:normAutofit/>
          </a:bodyPr>
          <a:lstStyle/>
          <a:p>
            <a:pPr marL="228600" indent="-228600">
              <a:spcAft>
                <a:spcPts val="500"/>
              </a:spcAft>
              <a:buSzPct val="100000"/>
              <a:buChar char="•"/>
            </a:pPr>
            <a:r>
              <a:rPr lang="en-US" sz="1500" b="1" dirty="0">
                <a:solidFill>
                  <a:srgbClr val="1B2A38"/>
                </a:solidFill>
                <a:latin typeface="Calibri" pitchFamily="34" charset="0"/>
                <a:ea typeface="Calibri" pitchFamily="34" charset="-122"/>
                <a:cs typeface="Calibri" pitchFamily="34" charset="-120"/>
              </a:rPr>
              <a:t>1 dòng = 1 lần quẹt vân tay.</a:t>
            </a:r>
            <a:pPr indent="0" marL="0">
              <a:buNone/>
            </a:pPr>
            <a:endParaRPr lang="en-US" sz="1500" dirty="0"/>
          </a:p>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Mã NV01xx, thời điểm quẹt, thiết bị</a:t>
            </a:r>
            <a:endParaRPr lang="en-US" sz="1500" dirty="0"/>
          </a:p>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Máy KHÔNG phân biệt vào/ra</a:t>
            </a:r>
            <a:endParaRPr lang="en-US" sz="1500" dirty="0"/>
          </a:p>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Ghép với lịch ca để ra giờ có mặt</a:t>
            </a:r>
            <a:endParaRPr lang="en-US" sz="1500" dirty="0"/>
          </a:p>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449 lượt quẹt</a:t>
            </a:r>
            <a:endParaRPr lang="en-US" sz="15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982980" cy="292608"/>
          </a:xfrm>
          <a:prstGeom prst="roundRect">
            <a:avLst>
              <a:gd name="adj" fmla="val 50000"/>
            </a:avLst>
          </a:prstGeom>
          <a:solidFill>
            <a:srgbClr val="FBE7DA"/>
          </a:solidFill>
          <a:ln w="12700">
            <a:solidFill>
              <a:srgbClr val="FBE7DA"/>
            </a:solidFill>
            <a:prstDash val="solid"/>
          </a:ln>
        </p:spPr>
      </p:sp>
      <p:sp>
        <p:nvSpPr>
          <p:cNvPr id="3" name="Text 1"/>
          <p:cNvSpPr txBox="1"/>
          <p:nvPr/>
        </p:nvSpPr>
        <p:spPr>
          <a:xfrm>
            <a:off x="548640" y="384048"/>
            <a:ext cx="982980" cy="292608"/>
          </a:xfrm>
          <a:prstGeom prst="rect">
            <a:avLst/>
          </a:prstGeom>
          <a:noFill/>
          <a:ln/>
        </p:spPr>
        <p:txBody>
          <a:bodyPr wrap="square" lIns="0" tIns="0" rIns="0" bIns="0" rtlCol="0" anchor="ctr"/>
          <a:lstStyle/>
          <a:p>
            <a:pPr algn="ctr" indent="0" marL="0">
              <a:buNone/>
            </a:pPr>
            <a:r>
              <a:rPr lang="en-US" sz="1050" b="1" spc="150" kern="0" dirty="0">
                <a:solidFill>
                  <a:srgbClr val="D9773A"/>
                </a:solidFill>
                <a:latin typeface="Calibri" pitchFamily="34" charset="0"/>
                <a:ea typeface="Calibri" pitchFamily="34" charset="-122"/>
                <a:cs typeface="Calibri" pitchFamily="34" charset="-120"/>
              </a:rPr>
              <a:t>KIẾN THỨC</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Khóa nối: mã tổng đài ↔ mã nhân viên — lỗi phổ biến nhất</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1 · Nền tảng Claude &amp; dữ liệu</a:t>
            </a:r>
            <a:endParaRPr lang="en-US" sz="1000" dirty="0"/>
          </a:p>
        </p:txBody>
      </p:sp>
      <p:sp>
        <p:nvSpPr>
          <p:cNvPr id="7" name="Text 4"/>
          <p:cNvSpPr txBox="1"/>
          <p:nvPr/>
        </p:nvSpPr>
        <p:spPr>
          <a:xfrm>
            <a:off x="548640" y="1645920"/>
            <a:ext cx="11094415" cy="502920"/>
          </a:xfrm>
          <a:prstGeom prst="rect">
            <a:avLst/>
          </a:prstGeom>
          <a:noFill/>
          <a:ln/>
        </p:spPr>
        <p:txBody>
          <a:bodyPr wrap="square" lIns="0" tIns="0" rIns="0" bIns="0" rtlCol="0" anchor="t"/>
          <a:lstStyle/>
          <a:p>
            <a:pPr indent="0" marL="0">
              <a:buNone/>
            </a:pPr>
            <a:r>
              <a:rPr lang="en-US" sz="1600" i="1" dirty="0">
                <a:solidFill>
                  <a:srgbClr val="6B7785"/>
                </a:solidFill>
                <a:latin typeface="Calibri" pitchFamily="34" charset="0"/>
                <a:ea typeface="Calibri" pitchFamily="34" charset="-122"/>
                <a:cs typeface="Calibri" pitchFamily="34" charset="-120"/>
              </a:rPr>
              <a:t>Call log dùng EXT20xx, máy chấm công dùng NV01xx. Nối sai = sản lượng “mất chủ”, công không khớp.</a:t>
            </a:r>
            <a:endParaRPr lang="en-US" sz="1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2240280"/>
          <a:ext cx="11094415" cy="914400"/>
        </p:xfrm>
        <a:graphic>
          <a:graphicData uri="http://schemas.openxmlformats.org/drawingml/2006/table">
            <a:tbl>
              <a:tblPr/>
              <a:tblGrid>
                <a:gridCol w="3328325"/>
                <a:gridCol w="3143418"/>
                <a:gridCol w="4622673"/>
              </a:tblGrid>
              <a:tr h="54864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Hiện tượng trong dữ liệu mẫu</a:t>
                      </a:r>
                      <a:endParaRPr lang="en-US" sz="15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Ví dụ</a:t>
                      </a:r>
                      <a:endParaRPr lang="en-US" sz="15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Hậu quả nếu không xử lý</a:t>
                      </a:r>
                      <a:endParaRPr lang="en-US" sz="15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r>
              <a:tr h="548640">
                <a:tc>
                  <a:txBody>
                    <a:bodyPr/>
                    <a:lstStyle/>
                    <a:p>
                      <a:pPr indent="0" marL="0">
                        <a:buNone/>
                      </a:pPr>
                      <a:r>
                        <a:rPr lang="en-US" sz="1450" b="1" dirty="0">
                          <a:solidFill>
                            <a:srgbClr val="1B2A38"/>
                          </a:solidFill>
                          <a:latin typeface="Calibri" pitchFamily="34" charset="0"/>
                          <a:ea typeface="Calibri" pitchFamily="34" charset="-122"/>
                          <a:cs typeface="Calibri" pitchFamily="34" charset="-120"/>
                        </a:rPr>
                        <a:t>Sai định dạng mã</a:t>
                      </a:r>
                      <a:endParaRPr lang="en-US" sz="14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450" dirty="0">
                          <a:solidFill>
                            <a:srgbClr val="1B2A38"/>
                          </a:solidFill>
                          <a:latin typeface="Calibri" pitchFamily="34" charset="0"/>
                          <a:ea typeface="Calibri" pitchFamily="34" charset="-122"/>
                          <a:cs typeface="Calibri" pitchFamily="34" charset="-120"/>
                        </a:rPr>
                        <a:t>ext2005 (chữ thường), EXT 2007 (dấu cách)</a:t>
                      </a:r>
                      <a:endParaRPr lang="en-US" sz="14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450" dirty="0">
                          <a:solidFill>
                            <a:srgbClr val="1B2A38"/>
                          </a:solidFill>
                          <a:latin typeface="Calibri" pitchFamily="34" charset="0"/>
                          <a:ea typeface="Calibri" pitchFamily="34" charset="-122"/>
                          <a:cs typeface="Calibri" pitchFamily="34" charset="-120"/>
                        </a:rPr>
                        <a:t>NV0105, NV0107 mất cả ngày sản lượng — 592 dòng</a:t>
                      </a:r>
                      <a:endParaRPr lang="en-US" sz="14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548640">
                <a:tc>
                  <a:txBody>
                    <a:bodyPr/>
                    <a:lstStyle/>
                    <a:p>
                      <a:pPr indent="0" marL="0">
                        <a:buNone/>
                      </a:pPr>
                      <a:r>
                        <a:rPr lang="en-US" sz="1450" b="1" dirty="0">
                          <a:solidFill>
                            <a:srgbClr val="1B2A38"/>
                          </a:solidFill>
                          <a:latin typeface="Calibri" pitchFamily="34" charset="0"/>
                          <a:ea typeface="Calibri" pitchFamily="34" charset="-122"/>
                          <a:cs typeface="Calibri" pitchFamily="34" charset="-120"/>
                        </a:rPr>
                        <a:t>HR chưa điền mã tổng đài</a:t>
                      </a:r>
                      <a:endParaRPr lang="en-US" sz="14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450" dirty="0">
                          <a:solidFill>
                            <a:srgbClr val="1B2A38"/>
                          </a:solidFill>
                          <a:latin typeface="Calibri" pitchFamily="34" charset="0"/>
                          <a:ea typeface="Calibri" pitchFamily="34" charset="-122"/>
                          <a:cs typeface="Calibri" pitchFamily="34" charset="-120"/>
                        </a:rPr>
                        <a:t>NV0118 vào làm 14/09, cột ma_tong_dai trống</a:t>
                      </a:r>
                      <a:endParaRPr lang="en-US" sz="14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450" dirty="0">
                          <a:solidFill>
                            <a:srgbClr val="1B2A38"/>
                          </a:solidFill>
                          <a:latin typeface="Calibri" pitchFamily="34" charset="0"/>
                          <a:ea typeface="Calibri" pitchFamily="34" charset="-122"/>
                          <a:cs typeface="Calibri" pitchFamily="34" charset="-120"/>
                        </a:rPr>
                        <a:t>357 cuộc của EXT2018 không gán được cho ai</a:t>
                      </a:r>
                      <a:endParaRPr lang="en-US" sz="14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548640">
                <a:tc>
                  <a:txBody>
                    <a:bodyPr/>
                    <a:lstStyle/>
                    <a:p>
                      <a:pPr indent="0" marL="0">
                        <a:buNone/>
                      </a:pPr>
                      <a:r>
                        <a:rPr lang="en-US" sz="1450" b="1" dirty="0">
                          <a:solidFill>
                            <a:srgbClr val="1B2A38"/>
                          </a:solidFill>
                          <a:latin typeface="Calibri" pitchFamily="34" charset="0"/>
                          <a:ea typeface="Calibri" pitchFamily="34" charset="-122"/>
                          <a:cs typeface="Calibri" pitchFamily="34" charset="-120"/>
                        </a:rPr>
                        <a:t>Mã lạ không có trong danh sách</a:t>
                      </a:r>
                      <a:endParaRPr lang="en-US" sz="14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450" dirty="0">
                          <a:solidFill>
                            <a:srgbClr val="1B2A38"/>
                          </a:solidFill>
                          <a:latin typeface="Calibri" pitchFamily="34" charset="0"/>
                          <a:ea typeface="Calibri" pitchFamily="34" charset="-122"/>
                          <a:cs typeface="Calibri" pitchFamily="34" charset="-120"/>
                        </a:rPr>
                        <a:t>EXT2099 gọi 16–19/09</a:t>
                      </a:r>
                      <a:endParaRPr lang="en-US" sz="14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450" dirty="0">
                          <a:solidFill>
                            <a:srgbClr val="1B2A38"/>
                          </a:solidFill>
                          <a:latin typeface="Calibri" pitchFamily="34" charset="0"/>
                          <a:ea typeface="Calibri" pitchFamily="34" charset="-122"/>
                          <a:cs typeface="Calibri" pitchFamily="34" charset="-120"/>
                        </a:rPr>
                        <a:t>251 cuộc của thực tập sinh lẫn vào sản lượng team</a:t>
                      </a:r>
                      <a:endParaRPr lang="en-US" sz="14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548640">
                <a:tc>
                  <a:txBody>
                    <a:bodyPr/>
                    <a:lstStyle/>
                    <a:p>
                      <a:pPr indent="0" marL="0">
                        <a:buNone/>
                      </a:pPr>
                      <a:r>
                        <a:rPr lang="en-US" sz="1450" b="1" dirty="0">
                          <a:solidFill>
                            <a:srgbClr val="1B2A38"/>
                          </a:solidFill>
                          <a:latin typeface="Calibri" pitchFamily="34" charset="0"/>
                          <a:ea typeface="Calibri" pitchFamily="34" charset="-122"/>
                          <a:cs typeface="Calibri" pitchFamily="34" charset="-120"/>
                        </a:rPr>
                        <a:t>Ô trống mã agent</a:t>
                      </a:r>
                      <a:endParaRPr lang="en-US" sz="14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450" dirty="0">
                          <a:solidFill>
                            <a:srgbClr val="1B2A38"/>
                          </a:solidFill>
                          <a:latin typeface="Calibri" pitchFamily="34" charset="0"/>
                          <a:ea typeface="Calibri" pitchFamily="34" charset="-122"/>
                          <a:cs typeface="Calibri" pitchFamily="34" charset="-120"/>
                        </a:rPr>
                        <a:t>539 cuộc khách bỏ máy + 14 cuộc đã nghe</a:t>
                      </a:r>
                      <a:endParaRPr lang="en-US" sz="14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450" dirty="0">
                          <a:solidFill>
                            <a:srgbClr val="1B2A38"/>
                          </a:solidFill>
                          <a:latin typeface="Calibri" pitchFamily="34" charset="0"/>
                          <a:ea typeface="Calibri" pitchFamily="34" charset="-122"/>
                          <a:cs typeface="Calibri" pitchFamily="34" charset="-120"/>
                        </a:rPr>
                        <a:t>Cuộc bỏ máy: hợp lệ. 14 cuộc đã nghe: lỗi thật</a:t>
                      </a:r>
                      <a:endParaRPr lang="en-US" sz="14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5669280"/>
            <a:ext cx="11094415" cy="594360"/>
          </a:xfrm>
          <a:prstGeom prst="roundRect">
            <a:avLst>
              <a:gd name="adj" fmla="val 12308"/>
            </a:avLst>
          </a:prstGeom>
          <a:solidFill>
            <a:srgbClr val="FBE7DA"/>
          </a:solidFill>
          <a:ln w="12700">
            <a:solidFill>
              <a:srgbClr val="FBE7DA"/>
            </a:solidFill>
            <a:prstDash val="solid"/>
          </a:ln>
        </p:spPr>
      </p:sp>
      <p:sp>
        <p:nvSpPr>
          <p:cNvPr id="10" name="Text 6"/>
          <p:cNvSpPr txBox="1"/>
          <p:nvPr/>
        </p:nvSpPr>
        <p:spPr>
          <a:xfrm>
            <a:off x="777240" y="5669280"/>
            <a:ext cx="10637215" cy="594360"/>
          </a:xfrm>
          <a:prstGeom prst="rect">
            <a:avLst/>
          </a:prstGeom>
          <a:noFill/>
          <a:ln/>
        </p:spPr>
        <p:txBody>
          <a:bodyPr wrap="square" lIns="0" tIns="0" rIns="0" bIns="0" rtlCol="0" anchor="ctr">
            <a:normAutofit/>
          </a:bodyPr>
          <a:lstStyle/>
          <a:p>
            <a:pPr indent="0" marL="0">
              <a:buNone/>
            </a:pPr>
            <a:r>
              <a:rPr lang="en-US" sz="1350" dirty="0">
                <a:solidFill>
                  <a:srgbClr val="1B2A38"/>
                </a:solidFill>
                <a:latin typeface="Calibri" pitchFamily="34" charset="0"/>
                <a:ea typeface="Calibri" pitchFamily="34" charset="-122"/>
                <a:cs typeface="Calibri" pitchFamily="34" charset="-120"/>
              </a:rPr>
              <a:t>Bài học: “ô trống” không phải lúc nào cũng là lỗi — phải hiểu nghiệp vụ mới phân loại đúng.</a:t>
            </a:r>
            <a:endParaRPr lang="en-US" sz="13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417320" cy="292608"/>
          </a:xfrm>
          <a:prstGeom prst="roundRect">
            <a:avLst>
              <a:gd name="adj" fmla="val 50000"/>
            </a:avLst>
          </a:prstGeom>
          <a:solidFill>
            <a:srgbClr val="ECE6F5"/>
          </a:solidFill>
          <a:ln w="12700">
            <a:solidFill>
              <a:srgbClr val="ECE6F5"/>
            </a:solidFill>
            <a:prstDash val="solid"/>
          </a:ln>
        </p:spPr>
      </p:sp>
      <p:sp>
        <p:nvSpPr>
          <p:cNvPr id="3" name="Text 1"/>
          <p:cNvSpPr txBox="1"/>
          <p:nvPr/>
        </p:nvSpPr>
        <p:spPr>
          <a:xfrm>
            <a:off x="548640" y="384048"/>
            <a:ext cx="1417320" cy="292608"/>
          </a:xfrm>
          <a:prstGeom prst="rect">
            <a:avLst/>
          </a:prstGeom>
          <a:noFill/>
          <a:ln/>
        </p:spPr>
        <p:txBody>
          <a:bodyPr wrap="square" lIns="0" tIns="0" rIns="0" bIns="0" rtlCol="0" anchor="ctr"/>
          <a:lstStyle/>
          <a:p>
            <a:pPr algn="ctr" indent="0" marL="0">
              <a:buNone/>
            </a:pPr>
            <a:r>
              <a:rPr lang="en-US" sz="1050" b="1" spc="150" kern="0" dirty="0">
                <a:solidFill>
                  <a:srgbClr val="6E4E9E"/>
                </a:solidFill>
                <a:latin typeface="Calibri" pitchFamily="34" charset="0"/>
                <a:ea typeface="Calibri" pitchFamily="34" charset="-122"/>
                <a:cs typeface="Calibri" pitchFamily="34" charset="-120"/>
              </a:rPr>
              <a:t>KIỂM TRA NHANH</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Câu hỏi nhanh</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1 · Nền tảng Claude &amp; dữ liệu</a:t>
            </a:r>
            <a:endParaRPr lang="en-US" sz="1000" dirty="0"/>
          </a:p>
        </p:txBody>
      </p:sp>
      <p:sp>
        <p:nvSpPr>
          <p:cNvPr id="7" name="Shape 4"/>
          <p:cNvSpPr/>
          <p:nvPr/>
        </p:nvSpPr>
        <p:spPr>
          <a:xfrm>
            <a:off x="548640" y="1691640"/>
            <a:ext cx="11094415" cy="1234440"/>
          </a:xfrm>
          <a:prstGeom prst="roundRect">
            <a:avLst>
              <a:gd name="adj" fmla="val 7407"/>
            </a:avLst>
          </a:prstGeom>
          <a:solidFill>
            <a:srgbClr val="ECE6F5"/>
          </a:solidFill>
          <a:ln w="12700">
            <a:solidFill>
              <a:srgbClr val="ECE6F5"/>
            </a:solidFill>
            <a:prstDash val="solid"/>
          </a:ln>
        </p:spPr>
      </p:sp>
      <p:sp>
        <p:nvSpPr>
          <p:cNvPr id="8" name="Shape 5"/>
          <p:cNvSpPr/>
          <p:nvPr/>
        </p:nvSpPr>
        <p:spPr>
          <a:xfrm>
            <a:off x="777240" y="1993392"/>
            <a:ext cx="640080" cy="640080"/>
          </a:xfrm>
          <a:prstGeom prst="roundRect">
            <a:avLst>
              <a:gd name="adj" fmla="val 22000"/>
            </a:avLst>
          </a:prstGeom>
          <a:solidFill>
            <a:srgbClr val="6E4E9E"/>
          </a:solidFill>
          <a:ln w="12700">
            <a:solidFill>
              <a:srgbClr val="6E4E9E"/>
            </a:solidFill>
            <a:prstDash val="solid"/>
          </a:ln>
        </p:spPr>
      </p:sp>
      <p:pic>
        <p:nvPicPr>
          <p:cNvPr id="9" name="Image 0" descr="preencoded.png">    </p:cNvPr>
          <p:cNvPicPr>
            <a:picLocks noChangeAspect="1"/>
          </p:cNvPicPr>
          <p:nvPr/>
        </p:nvPicPr>
        <p:blipFill>
          <a:blip r:embed="rId1"/>
          <a:stretch>
            <a:fillRect/>
          </a:stretch>
        </p:blipFill>
        <p:spPr>
          <a:xfrm>
            <a:off x="930859" y="2147011"/>
            <a:ext cx="332842" cy="332842"/>
          </a:xfrm>
          <a:prstGeom prst="rect">
            <a:avLst/>
          </a:prstGeom>
        </p:spPr>
      </p:pic>
      <p:sp>
        <p:nvSpPr>
          <p:cNvPr id="10" name="Text 6"/>
          <p:cNvSpPr txBox="1"/>
          <p:nvPr/>
        </p:nvSpPr>
        <p:spPr>
          <a:xfrm>
            <a:off x="1645920" y="1801368"/>
            <a:ext cx="9768535" cy="1005840"/>
          </a:xfrm>
          <a:prstGeom prst="rect">
            <a:avLst/>
          </a:prstGeom>
          <a:noFill/>
          <a:ln/>
        </p:spPr>
        <p:txBody>
          <a:bodyPr wrap="square" lIns="0" tIns="0" rIns="0" bIns="0" rtlCol="0" anchor="ctr">
            <a:normAutofit/>
          </a:bodyPr>
          <a:lstStyle/>
          <a:p>
            <a:pPr indent="0" marL="0">
              <a:buNone/>
            </a:pPr>
            <a:r>
              <a:rPr lang="en-US" sz="1800" b="1" dirty="0">
                <a:solidFill>
                  <a:srgbClr val="1B2A38"/>
                </a:solidFill>
                <a:latin typeface="Calibri" pitchFamily="34" charset="0"/>
                <a:ea typeface="Calibri" pitchFamily="34" charset="-122"/>
                <a:cs typeface="Calibri" pitchFamily="34" charset="-120"/>
              </a:rPr>
              <a:t>Bạn hỏi Claude “Tỷ lệ nghe máy của CS-VT tháng 9 là bao nhiêu?” trong Project chưa có call log. Câu trả lời nào cho thấy Project được thiết lập ĐÚNG?</a:t>
            </a:r>
            <a:endParaRPr lang="en-US" sz="1800" dirty="0"/>
          </a:p>
        </p:txBody>
      </p:sp>
      <p:sp>
        <p:nvSpPr>
          <p:cNvPr id="11" name="Shape 7"/>
          <p:cNvSpPr/>
          <p:nvPr/>
        </p:nvSpPr>
        <p:spPr>
          <a:xfrm>
            <a:off x="548640" y="3154680"/>
            <a:ext cx="5432908" cy="1440180"/>
          </a:xfrm>
          <a:prstGeom prst="roundRect">
            <a:avLst>
              <a:gd name="adj" fmla="val 6349"/>
            </a:avLst>
          </a:prstGeom>
          <a:solidFill>
            <a:srgbClr val="FFFFFF"/>
          </a:solidFill>
          <a:ln w="15875">
            <a:solidFill>
              <a:srgbClr val="D5DAE0"/>
            </a:solidFill>
            <a:prstDash val="solid"/>
          </a:ln>
        </p:spPr>
      </p:sp>
      <p:sp>
        <p:nvSpPr>
          <p:cNvPr id="12" name="Shape 8"/>
          <p:cNvSpPr/>
          <p:nvPr/>
        </p:nvSpPr>
        <p:spPr>
          <a:xfrm>
            <a:off x="749808" y="3623310"/>
            <a:ext cx="502920" cy="502920"/>
          </a:xfrm>
          <a:prstGeom prst="ellipse">
            <a:avLst/>
          </a:prstGeom>
          <a:solidFill>
            <a:srgbClr val="6E4E9E"/>
          </a:solidFill>
          <a:ln w="12700">
            <a:solidFill>
              <a:srgbClr val="6E4E9E"/>
            </a:solidFill>
            <a:prstDash val="solid"/>
          </a:ln>
        </p:spPr>
      </p:sp>
      <p:sp>
        <p:nvSpPr>
          <p:cNvPr id="13" name="Text 9"/>
          <p:cNvSpPr txBox="1"/>
          <p:nvPr/>
        </p:nvSpPr>
        <p:spPr>
          <a:xfrm>
            <a:off x="749808" y="362331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0"/>
          <p:cNvSpPr txBox="1"/>
          <p:nvPr/>
        </p:nvSpPr>
        <p:spPr>
          <a:xfrm>
            <a:off x="1417320" y="3246120"/>
            <a:ext cx="4381348" cy="1257300"/>
          </a:xfrm>
          <a:prstGeom prst="rect">
            <a:avLst/>
          </a:prstGeom>
          <a:noFill/>
          <a:ln/>
        </p:spPr>
        <p:txBody>
          <a:bodyPr wrap="square" lIns="0" tIns="0" rIns="0" bIns="0" rtlCol="0" anchor="ctr">
            <a:normAutofit/>
          </a:bodyPr>
          <a:lstStyle/>
          <a:p>
            <a:pPr indent="0" marL="0">
              <a:buNone/>
            </a:pPr>
            <a:r>
              <a:rPr lang="en-US" sz="1500" dirty="0">
                <a:solidFill>
                  <a:srgbClr val="1B2A38"/>
                </a:solidFill>
                <a:latin typeface="Calibri" pitchFamily="34" charset="0"/>
                <a:ea typeface="Calibri" pitchFamily="34" charset="-122"/>
                <a:cs typeface="Calibri" pitchFamily="34" charset="-120"/>
              </a:rPr>
              <a:t>“Khoảng 91,5% — mức tốt so với ngành.”</a:t>
            </a:r>
            <a:endParaRPr lang="en-US" sz="1500" dirty="0"/>
          </a:p>
        </p:txBody>
      </p:sp>
      <p:sp>
        <p:nvSpPr>
          <p:cNvPr id="15" name="Shape 11"/>
          <p:cNvSpPr/>
          <p:nvPr/>
        </p:nvSpPr>
        <p:spPr>
          <a:xfrm>
            <a:off x="6210148" y="3154680"/>
            <a:ext cx="5432908" cy="1440180"/>
          </a:xfrm>
          <a:prstGeom prst="roundRect">
            <a:avLst>
              <a:gd name="adj" fmla="val 6349"/>
            </a:avLst>
          </a:prstGeom>
          <a:solidFill>
            <a:srgbClr val="FFFFFF"/>
          </a:solidFill>
          <a:ln w="15875">
            <a:solidFill>
              <a:srgbClr val="D5DAE0"/>
            </a:solidFill>
            <a:prstDash val="solid"/>
          </a:ln>
        </p:spPr>
      </p:sp>
      <p:sp>
        <p:nvSpPr>
          <p:cNvPr id="16" name="Shape 12"/>
          <p:cNvSpPr/>
          <p:nvPr/>
        </p:nvSpPr>
        <p:spPr>
          <a:xfrm>
            <a:off x="6411316" y="3623310"/>
            <a:ext cx="502920" cy="502920"/>
          </a:xfrm>
          <a:prstGeom prst="ellipse">
            <a:avLst/>
          </a:prstGeom>
          <a:solidFill>
            <a:srgbClr val="6E4E9E"/>
          </a:solidFill>
          <a:ln w="12700">
            <a:solidFill>
              <a:srgbClr val="6E4E9E"/>
            </a:solidFill>
            <a:prstDash val="solid"/>
          </a:ln>
        </p:spPr>
      </p:sp>
      <p:sp>
        <p:nvSpPr>
          <p:cNvPr id="17" name="Text 13"/>
          <p:cNvSpPr txBox="1"/>
          <p:nvPr/>
        </p:nvSpPr>
        <p:spPr>
          <a:xfrm>
            <a:off x="6411316" y="362331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8" name="Text 14"/>
          <p:cNvSpPr txBox="1"/>
          <p:nvPr/>
        </p:nvSpPr>
        <p:spPr>
          <a:xfrm>
            <a:off x="7078828" y="3246120"/>
            <a:ext cx="4381348" cy="1257300"/>
          </a:xfrm>
          <a:prstGeom prst="rect">
            <a:avLst/>
          </a:prstGeom>
          <a:noFill/>
          <a:ln/>
        </p:spPr>
        <p:txBody>
          <a:bodyPr wrap="square" lIns="0" tIns="0" rIns="0" bIns="0" rtlCol="0" anchor="ctr">
            <a:normAutofit/>
          </a:bodyPr>
          <a:lstStyle/>
          <a:p>
            <a:pPr indent="0" marL="0">
              <a:buNone/>
            </a:pPr>
            <a:r>
              <a:rPr lang="en-US" sz="1500" dirty="0">
                <a:solidFill>
                  <a:srgbClr val="1B2A38"/>
                </a:solidFill>
                <a:latin typeface="Calibri" pitchFamily="34" charset="0"/>
                <a:ea typeface="Calibri" pitchFamily="34" charset="-122"/>
                <a:cs typeface="Calibri" pitchFamily="34" charset="-120"/>
              </a:rPr>
              <a:t>“Project chưa có call log nên chưa tính được. Mục tiêu dự án là ≥ 90%. Bạn tải call log lên nhé.”</a:t>
            </a:r>
            <a:endParaRPr lang="en-US" sz="1500" dirty="0"/>
          </a:p>
        </p:txBody>
      </p:sp>
      <p:sp>
        <p:nvSpPr>
          <p:cNvPr id="19" name="Shape 15"/>
          <p:cNvSpPr/>
          <p:nvPr/>
        </p:nvSpPr>
        <p:spPr>
          <a:xfrm>
            <a:off x="548640" y="4823460"/>
            <a:ext cx="5432908" cy="1440180"/>
          </a:xfrm>
          <a:prstGeom prst="roundRect">
            <a:avLst>
              <a:gd name="adj" fmla="val 6349"/>
            </a:avLst>
          </a:prstGeom>
          <a:solidFill>
            <a:srgbClr val="FFFFFF"/>
          </a:solidFill>
          <a:ln w="15875">
            <a:solidFill>
              <a:srgbClr val="D5DAE0"/>
            </a:solidFill>
            <a:prstDash val="solid"/>
          </a:ln>
        </p:spPr>
      </p:sp>
      <p:sp>
        <p:nvSpPr>
          <p:cNvPr id="20" name="Shape 16"/>
          <p:cNvSpPr/>
          <p:nvPr/>
        </p:nvSpPr>
        <p:spPr>
          <a:xfrm>
            <a:off x="749808" y="5292090"/>
            <a:ext cx="502920" cy="502920"/>
          </a:xfrm>
          <a:prstGeom prst="ellipse">
            <a:avLst/>
          </a:prstGeom>
          <a:solidFill>
            <a:srgbClr val="6E4E9E"/>
          </a:solidFill>
          <a:ln w="12700">
            <a:solidFill>
              <a:srgbClr val="6E4E9E"/>
            </a:solidFill>
            <a:prstDash val="solid"/>
          </a:ln>
        </p:spPr>
      </p:sp>
      <p:sp>
        <p:nvSpPr>
          <p:cNvPr id="21" name="Text 17"/>
          <p:cNvSpPr txBox="1"/>
          <p:nvPr/>
        </p:nvSpPr>
        <p:spPr>
          <a:xfrm>
            <a:off x="749808" y="529209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2" name="Text 18"/>
          <p:cNvSpPr txBox="1"/>
          <p:nvPr/>
        </p:nvSpPr>
        <p:spPr>
          <a:xfrm>
            <a:off x="1417320" y="4914900"/>
            <a:ext cx="4381348" cy="1257300"/>
          </a:xfrm>
          <a:prstGeom prst="rect">
            <a:avLst/>
          </a:prstGeom>
          <a:noFill/>
          <a:ln/>
        </p:spPr>
        <p:txBody>
          <a:bodyPr wrap="square" lIns="0" tIns="0" rIns="0" bIns="0" rtlCol="0" anchor="ctr">
            <a:normAutofit/>
          </a:bodyPr>
          <a:lstStyle/>
          <a:p>
            <a:pPr indent="0" marL="0">
              <a:buNone/>
            </a:pPr>
            <a:r>
              <a:rPr lang="en-US" sz="1500" dirty="0">
                <a:solidFill>
                  <a:srgbClr val="1B2A38"/>
                </a:solidFill>
                <a:latin typeface="Calibri" pitchFamily="34" charset="0"/>
                <a:ea typeface="Calibri" pitchFamily="34" charset="-122"/>
                <a:cs typeface="Calibri" pitchFamily="34" charset="-120"/>
              </a:rPr>
              <a:t>“Tỷ lệ nghe máy = cuộc được nghe / cuộc vào hàng đợi.” (không nói gì thêm)</a:t>
            </a:r>
            <a:endParaRPr lang="en-US" sz="1500" dirty="0"/>
          </a:p>
        </p:txBody>
      </p:sp>
      <p:sp>
        <p:nvSpPr>
          <p:cNvPr id="23" name="Shape 19"/>
          <p:cNvSpPr/>
          <p:nvPr/>
        </p:nvSpPr>
        <p:spPr>
          <a:xfrm>
            <a:off x="6210148" y="4823460"/>
            <a:ext cx="5432908" cy="1440180"/>
          </a:xfrm>
          <a:prstGeom prst="roundRect">
            <a:avLst>
              <a:gd name="adj" fmla="val 6349"/>
            </a:avLst>
          </a:prstGeom>
          <a:solidFill>
            <a:srgbClr val="FFFFFF"/>
          </a:solidFill>
          <a:ln w="15875">
            <a:solidFill>
              <a:srgbClr val="D5DAE0"/>
            </a:solidFill>
            <a:prstDash val="solid"/>
          </a:ln>
        </p:spPr>
      </p:sp>
      <p:sp>
        <p:nvSpPr>
          <p:cNvPr id="24" name="Shape 20"/>
          <p:cNvSpPr/>
          <p:nvPr/>
        </p:nvSpPr>
        <p:spPr>
          <a:xfrm>
            <a:off x="6411316" y="5292090"/>
            <a:ext cx="502920" cy="502920"/>
          </a:xfrm>
          <a:prstGeom prst="ellipse">
            <a:avLst/>
          </a:prstGeom>
          <a:solidFill>
            <a:srgbClr val="6E4E9E"/>
          </a:solidFill>
          <a:ln w="12700">
            <a:solidFill>
              <a:srgbClr val="6E4E9E"/>
            </a:solidFill>
            <a:prstDash val="solid"/>
          </a:ln>
        </p:spPr>
      </p:sp>
      <p:sp>
        <p:nvSpPr>
          <p:cNvPr id="25" name="Text 21"/>
          <p:cNvSpPr txBox="1"/>
          <p:nvPr/>
        </p:nvSpPr>
        <p:spPr>
          <a:xfrm>
            <a:off x="6411316" y="529209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6" name="Text 22"/>
          <p:cNvSpPr txBox="1"/>
          <p:nvPr/>
        </p:nvSpPr>
        <p:spPr>
          <a:xfrm>
            <a:off x="7078828" y="4914900"/>
            <a:ext cx="4381348" cy="1257300"/>
          </a:xfrm>
          <a:prstGeom prst="rect">
            <a:avLst/>
          </a:prstGeom>
          <a:noFill/>
          <a:ln/>
        </p:spPr>
        <p:txBody>
          <a:bodyPr wrap="square" lIns="0" tIns="0" rIns="0" bIns="0" rtlCol="0" anchor="ctr">
            <a:normAutofit/>
          </a:bodyPr>
          <a:lstStyle/>
          <a:p>
            <a:pPr indent="0" marL="0">
              <a:buNone/>
            </a:pPr>
            <a:r>
              <a:rPr lang="en-US" sz="1500" dirty="0">
                <a:solidFill>
                  <a:srgbClr val="1B2A38"/>
                </a:solidFill>
                <a:latin typeface="Calibri" pitchFamily="34" charset="0"/>
                <a:ea typeface="Calibri" pitchFamily="34" charset="-122"/>
                <a:cs typeface="Calibri" pitchFamily="34" charset="-120"/>
              </a:rPr>
              <a:t>“Tôi không thể trả lời câu hỏi này.”</a:t>
            </a:r>
            <a:endParaRPr lang="en-US" sz="15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61772" cy="292608"/>
          </a:xfrm>
          <a:prstGeom prst="roundRect">
            <a:avLst>
              <a:gd name="adj" fmla="val 50000"/>
            </a:avLst>
          </a:prstGeom>
          <a:solidFill>
            <a:srgbClr val="DDEFEE"/>
          </a:solidFill>
          <a:ln w="12700">
            <a:solidFill>
              <a:srgbClr val="DDEFEE"/>
            </a:solidFill>
            <a:prstDash val="solid"/>
          </a:ln>
        </p:spPr>
      </p:sp>
      <p:sp>
        <p:nvSpPr>
          <p:cNvPr id="3" name="Text 1"/>
          <p:cNvSpPr txBox="1"/>
          <p:nvPr/>
        </p:nvSpPr>
        <p:spPr>
          <a:xfrm>
            <a:off x="548640" y="384048"/>
            <a:ext cx="461772" cy="292608"/>
          </a:xfrm>
          <a:prstGeom prst="rect">
            <a:avLst/>
          </a:prstGeom>
          <a:noFill/>
          <a:ln/>
        </p:spPr>
        <p:txBody>
          <a:bodyPr wrap="square" lIns="0" tIns="0" rIns="0" bIns="0" rtlCol="0" anchor="ctr"/>
          <a:lstStyle/>
          <a:p>
            <a:pPr algn="ctr" indent="0" marL="0">
              <a:buNone/>
            </a:pPr>
            <a:r>
              <a:rPr lang="en-US" sz="1050" b="1" spc="150" kern="0" dirty="0">
                <a:solidFill>
                  <a:srgbClr val="2E7D7A"/>
                </a:solidFill>
                <a:latin typeface="Calibri" pitchFamily="34" charset="0"/>
                <a:ea typeface="Calibri" pitchFamily="34" charset="-122"/>
                <a:cs typeface="Calibri" pitchFamily="34" charset="-120"/>
              </a:rPr>
              <a:t>LAB</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Lab 1.1 · Tạo Project “Vận hành &amp; Chấm công”</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1 · Nền tảng Claude &amp; dữ liệu</a:t>
            </a:r>
            <a:endParaRPr lang="en-US" sz="1000" dirty="0"/>
          </a:p>
        </p:txBody>
      </p:sp>
      <p:sp>
        <p:nvSpPr>
          <p:cNvPr id="7" name="Shape 4"/>
          <p:cNvSpPr/>
          <p:nvPr/>
        </p:nvSpPr>
        <p:spPr>
          <a:xfrm>
            <a:off x="548640" y="1691640"/>
            <a:ext cx="3931920" cy="4572000"/>
          </a:xfrm>
          <a:prstGeom prst="roundRect">
            <a:avLst>
              <a:gd name="adj" fmla="val 2326"/>
            </a:avLst>
          </a:prstGeom>
          <a:solidFill>
            <a:srgbClr val="DDEFEE"/>
          </a:solidFill>
          <a:ln w="12700">
            <a:solidFill>
              <a:srgbClr val="DDEFEE"/>
            </a:solidFill>
            <a:prstDash val="solid"/>
          </a:ln>
        </p:spPr>
      </p:sp>
      <p:sp>
        <p:nvSpPr>
          <p:cNvPr id="8" name="Shape 5"/>
          <p:cNvSpPr/>
          <p:nvPr/>
        </p:nvSpPr>
        <p:spPr>
          <a:xfrm>
            <a:off x="777240" y="1920240"/>
            <a:ext cx="502920" cy="502920"/>
          </a:xfrm>
          <a:prstGeom prst="roundRect">
            <a:avLst>
              <a:gd name="adj" fmla="val 22000"/>
            </a:avLst>
          </a:prstGeom>
          <a:solidFill>
            <a:srgbClr val="2E7D7A"/>
          </a:solidFill>
          <a:ln w="12700">
            <a:solidFill>
              <a:srgbClr val="2E7D7A"/>
            </a:solidFill>
            <a:prstDash val="solid"/>
          </a:ln>
        </p:spPr>
      </p:sp>
      <p:pic>
        <p:nvPicPr>
          <p:cNvPr id="9" name="Image 0" descr="preencoded.png">    </p:cNvPr>
          <p:cNvPicPr>
            <a:picLocks noChangeAspect="1"/>
          </p:cNvPicPr>
          <p:nvPr/>
        </p:nvPicPr>
        <p:blipFill>
          <a:blip r:embed="rId1"/>
          <a:stretch>
            <a:fillRect/>
          </a:stretch>
        </p:blipFill>
        <p:spPr>
          <a:xfrm>
            <a:off x="897941" y="2040941"/>
            <a:ext cx="261518" cy="261518"/>
          </a:xfrm>
          <a:prstGeom prst="rect">
            <a:avLst/>
          </a:prstGeom>
        </p:spPr>
      </p:pic>
      <p:sp>
        <p:nvSpPr>
          <p:cNvPr id="10" name="Text 6"/>
          <p:cNvSpPr txBox="1"/>
          <p:nvPr/>
        </p:nvSpPr>
        <p:spPr>
          <a:xfrm>
            <a:off x="1417320" y="1920240"/>
            <a:ext cx="2743200" cy="502920"/>
          </a:xfrm>
          <a:prstGeom prst="rect">
            <a:avLst/>
          </a:prstGeom>
          <a:noFill/>
          <a:ln/>
        </p:spPr>
        <p:txBody>
          <a:bodyPr wrap="square" lIns="0" tIns="0" rIns="0" bIns="0" rtlCol="0" anchor="ctr"/>
          <a:lstStyle/>
          <a:p>
            <a:pPr indent="0" marL="0">
              <a:buNone/>
            </a:pPr>
            <a:r>
              <a:rPr lang="en-US" sz="2200" b="1" dirty="0">
                <a:solidFill>
                  <a:srgbClr val="2E7D7A"/>
                </a:solidFill>
                <a:latin typeface="Cambria" pitchFamily="34" charset="0"/>
                <a:ea typeface="Cambria" pitchFamily="34" charset="-122"/>
                <a:cs typeface="Cambria" pitchFamily="34" charset="-120"/>
              </a:rPr>
              <a:t>15 phút</a:t>
            </a:r>
            <a:endParaRPr lang="en-US" sz="2200" dirty="0"/>
          </a:p>
        </p:txBody>
      </p:sp>
      <p:sp>
        <p:nvSpPr>
          <p:cNvPr id="11" name="Text 7"/>
          <p:cNvSpPr txBox="1"/>
          <p:nvPr/>
        </p:nvSpPr>
        <p:spPr>
          <a:xfrm>
            <a:off x="777240" y="2606040"/>
            <a:ext cx="3474720" cy="1325880"/>
          </a:xfrm>
          <a:prstGeom prst="rect">
            <a:avLst/>
          </a:prstGeom>
          <a:noFill/>
          <a:ln/>
        </p:spPr>
        <p:txBody>
          <a:bodyPr wrap="square" lIns="0" tIns="0" rIns="0" bIns="0" rtlCol="0" anchor="t">
            <a:normAutofit/>
          </a:bodyPr>
          <a:lstStyle/>
          <a:p>
            <a:pPr indent="0" marL="0">
              <a:buNone/>
            </a:pPr>
            <a:r>
              <a:rPr lang="en-US" sz="1400" b="1" dirty="0">
                <a:solidFill>
                  <a:srgbClr val="2E7D7A"/>
                </a:solidFill>
                <a:latin typeface="Calibri" pitchFamily="34" charset="0"/>
                <a:ea typeface="Calibri" pitchFamily="34" charset="-122"/>
                <a:cs typeface="Calibri" pitchFamily="34" charset="-120"/>
              </a:rPr>
              <a:t>Mục tiêu  </a:t>
            </a:r>
            <a:pPr indent="0" marL="0">
              <a:buNone/>
            </a:pPr>
            <a:r>
              <a:rPr lang="en-US" sz="1400" dirty="0">
                <a:solidFill>
                  <a:srgbClr val="1B2A38"/>
                </a:solidFill>
                <a:latin typeface="Calibri" pitchFamily="34" charset="0"/>
                <a:ea typeface="Calibri" pitchFamily="34" charset="-122"/>
                <a:cs typeface="Calibri" pitchFamily="34" charset="-120"/>
              </a:rPr>
              <a:t>Có một không gian dùng chung đã biết công ty, dự án, nội quy — không phải giải thích lại mỗi lần chat.</a:t>
            </a:r>
            <a:endParaRPr lang="en-US" sz="1400" dirty="0"/>
          </a:p>
        </p:txBody>
      </p:sp>
      <p:sp>
        <p:nvSpPr>
          <p:cNvPr id="12" name="Text 8"/>
          <p:cNvSpPr txBox="1"/>
          <p:nvPr/>
        </p:nvSpPr>
        <p:spPr>
          <a:xfrm>
            <a:off x="777240" y="3977640"/>
            <a:ext cx="3474720" cy="274320"/>
          </a:xfrm>
          <a:prstGeom prst="rect">
            <a:avLst/>
          </a:prstGeom>
          <a:noFill/>
          <a:ln/>
        </p:spPr>
        <p:txBody>
          <a:bodyPr wrap="square" lIns="0" tIns="0" rIns="0" bIns="0" rtlCol="0" anchor="t"/>
          <a:lstStyle/>
          <a:p>
            <a:pPr indent="0" marL="0">
              <a:buNone/>
            </a:pPr>
            <a:r>
              <a:rPr lang="en-US" sz="1250" b="1" dirty="0">
                <a:solidFill>
                  <a:srgbClr val="2E7D7A"/>
                </a:solidFill>
                <a:latin typeface="Calibri" pitchFamily="34" charset="0"/>
                <a:ea typeface="Calibri" pitchFamily="34" charset="-122"/>
                <a:cs typeface="Calibri" pitchFamily="34" charset="-120"/>
              </a:rPr>
              <a:t>Dữ liệu dùng</a:t>
            </a:r>
            <a:endParaRPr lang="en-US" sz="1250" dirty="0"/>
          </a:p>
        </p:txBody>
      </p:sp>
      <p:sp>
        <p:nvSpPr>
          <p:cNvPr id="13" name="Text 9"/>
          <p:cNvSpPr txBox="1"/>
          <p:nvPr/>
        </p:nvSpPr>
        <p:spPr>
          <a:xfrm>
            <a:off x="777240" y="4279392"/>
            <a:ext cx="3474720" cy="1115568"/>
          </a:xfrm>
          <a:prstGeom prst="rect">
            <a:avLst/>
          </a:prstGeom>
          <a:noFill/>
          <a:ln/>
        </p:spPr>
        <p:txBody>
          <a:bodyPr wrap="square" lIns="0" tIns="0" rIns="0" bIns="0" rtlCol="0" anchor="t">
            <a:normAutofit/>
          </a:bodyPr>
          <a:lstStyle/>
          <a:p>
            <a:pPr indent="0" marL="0">
              <a:buNone/>
            </a:pPr>
            <a:r>
              <a:rPr lang="en-US" sz="1050" dirty="0">
                <a:solidFill>
                  <a:srgbClr val="1B2A38"/>
                </a:solidFill>
                <a:latin typeface="Courier New" pitchFamily="34" charset="0"/>
                <a:ea typeface="Courier New" pitchFamily="34" charset="-122"/>
                <a:cs typeface="Courier New" pitchFamily="34" charset="-120"/>
              </a:rPr>
              <a:t>danh_sach_agent.csv</a:t>
            </a:r>
            <a:endParaRPr lang="en-US" sz="1050" dirty="0"/>
          </a:p>
          <a:p>
            <a:pPr indent="0" marL="0">
              <a:buNone/>
            </a:pPr>
            <a:r>
              <a:rPr lang="en-US" sz="1050" dirty="0">
                <a:solidFill>
                  <a:srgbClr val="1B2A38"/>
                </a:solidFill>
                <a:latin typeface="Courier New" pitchFamily="34" charset="0"/>
                <a:ea typeface="Courier New" pitchFamily="34" charset="-122"/>
                <a:cs typeface="Courier New" pitchFamily="34" charset="-120"/>
              </a:rPr>
              <a:t>noi_quy_cham_cong.md</a:t>
            </a:r>
            <a:endParaRPr lang="en-US" sz="1050" dirty="0"/>
          </a:p>
          <a:p>
            <a:pPr indent="0" marL="0">
              <a:buNone/>
            </a:pPr>
            <a:r>
              <a:rPr lang="en-US" sz="1050" dirty="0">
                <a:solidFill>
                  <a:srgbClr val="1B2A38"/>
                </a:solidFill>
                <a:latin typeface="Courier New" pitchFamily="34" charset="0"/>
                <a:ea typeface="Courier New" pitchFamily="34" charset="-122"/>
                <a:cs typeface="Courier New" pitchFamily="34" charset="-120"/>
              </a:rPr>
              <a:t>danh_sach_du_an.csv</a:t>
            </a:r>
            <a:endParaRPr lang="en-US" sz="1050" dirty="0"/>
          </a:p>
          <a:p>
            <a:pPr indent="0" marL="0">
              <a:buNone/>
            </a:pPr>
            <a:r>
              <a:rPr lang="en-US" sz="1050" dirty="0">
                <a:solidFill>
                  <a:srgbClr val="1B2A38"/>
                </a:solidFill>
                <a:latin typeface="Courier New" pitchFamily="34" charset="0"/>
                <a:ea typeface="Courier New" pitchFamily="34" charset="-122"/>
                <a:cs typeface="Courier New" pitchFamily="34" charset="-120"/>
              </a:rPr>
              <a:t>danh_muc_ca.csv</a:t>
            </a:r>
            <a:endParaRPr lang="en-US" sz="1050" dirty="0"/>
          </a:p>
        </p:txBody>
      </p:sp>
      <p:sp>
        <p:nvSpPr>
          <p:cNvPr id="14" name="Text 10"/>
          <p:cNvSpPr txBox="1"/>
          <p:nvPr/>
        </p:nvSpPr>
        <p:spPr>
          <a:xfrm>
            <a:off x="777240" y="5458968"/>
            <a:ext cx="3474720" cy="274320"/>
          </a:xfrm>
          <a:prstGeom prst="rect">
            <a:avLst/>
          </a:prstGeom>
          <a:noFill/>
          <a:ln/>
        </p:spPr>
        <p:txBody>
          <a:bodyPr wrap="square" lIns="0" tIns="0" rIns="0" bIns="0" rtlCol="0" anchor="t"/>
          <a:lstStyle/>
          <a:p>
            <a:pPr indent="0" marL="0">
              <a:buNone/>
            </a:pPr>
            <a:r>
              <a:rPr lang="en-US" sz="1250" b="1" dirty="0">
                <a:solidFill>
                  <a:srgbClr val="2E7D7A"/>
                </a:solidFill>
                <a:latin typeface="Calibri" pitchFamily="34" charset="0"/>
                <a:ea typeface="Calibri" pitchFamily="34" charset="-122"/>
                <a:cs typeface="Calibri" pitchFamily="34" charset="-120"/>
              </a:rPr>
              <a:t>Sản phẩm</a:t>
            </a:r>
            <a:endParaRPr lang="en-US" sz="1250" dirty="0"/>
          </a:p>
        </p:txBody>
      </p:sp>
      <p:sp>
        <p:nvSpPr>
          <p:cNvPr id="15" name="Text 11"/>
          <p:cNvSpPr txBox="1"/>
          <p:nvPr/>
        </p:nvSpPr>
        <p:spPr>
          <a:xfrm>
            <a:off x="777240" y="5760720"/>
            <a:ext cx="3474720" cy="347472"/>
          </a:xfrm>
          <a:prstGeom prst="rect">
            <a:avLst/>
          </a:prstGeom>
          <a:noFill/>
          <a:ln/>
        </p:spPr>
        <p:txBody>
          <a:bodyPr wrap="square" lIns="0" tIns="0" rIns="0" bIns="0" rtlCol="0" anchor="t">
            <a:normAutofit/>
          </a:bodyPr>
          <a:lstStyle/>
          <a:p>
            <a:pPr indent="0" marL="0">
              <a:buNone/>
            </a:pPr>
            <a:r>
              <a:rPr lang="en-US" sz="1300" dirty="0">
                <a:solidFill>
                  <a:srgbClr val="1B2A38"/>
                </a:solidFill>
                <a:latin typeface="Calibri" pitchFamily="34" charset="0"/>
                <a:ea typeface="Calibri" pitchFamily="34" charset="-122"/>
                <a:cs typeface="Calibri" pitchFamily="34" charset="-120"/>
              </a:rPr>
              <a:t>Project dùng chung + Claude trả lời đúng câu 1, dám nói “nội quy chưa quy định” ở câu 2, KHÔNG đưa ra con số ở câu 3.</a:t>
            </a:r>
            <a:endParaRPr lang="en-US" sz="1300" dirty="0"/>
          </a:p>
        </p:txBody>
      </p:sp>
      <p:sp>
        <p:nvSpPr>
          <p:cNvPr id="16" name="Shape 12"/>
          <p:cNvSpPr/>
          <p:nvPr/>
        </p:nvSpPr>
        <p:spPr>
          <a:xfrm>
            <a:off x="4800600" y="1737360"/>
            <a:ext cx="438912" cy="438912"/>
          </a:xfrm>
          <a:prstGeom prst="ellipse">
            <a:avLst/>
          </a:prstGeom>
          <a:solidFill>
            <a:srgbClr val="2E7D7A"/>
          </a:solidFill>
          <a:ln w="12700">
            <a:solidFill>
              <a:srgbClr val="2E7D7A"/>
            </a:solidFill>
            <a:prstDash val="solid"/>
          </a:ln>
        </p:spPr>
      </p:sp>
      <p:sp>
        <p:nvSpPr>
          <p:cNvPr id="17" name="Text 13"/>
          <p:cNvSpPr txBox="1"/>
          <p:nvPr/>
        </p:nvSpPr>
        <p:spPr>
          <a:xfrm>
            <a:off x="4800600" y="173736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8" name="Text 14"/>
          <p:cNvSpPr txBox="1"/>
          <p:nvPr/>
        </p:nvSpPr>
        <p:spPr>
          <a:xfrm>
            <a:off x="5394960" y="1691640"/>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Tạo Project mới</a:t>
            </a:r>
            <a:pPr indent="0" marL="0">
              <a:buNone/>
            </a:pPr>
            <a:r>
              <a:rPr lang="en-US" sz="1450" dirty="0">
                <a:solidFill>
                  <a:srgbClr val="1B2A38"/>
                </a:solidFill>
                <a:latin typeface="Calibri" pitchFamily="34" charset="0"/>
                <a:ea typeface="Calibri" pitchFamily="34" charset="-122"/>
                <a:cs typeface="Calibri" pitchFamily="34" charset="-120"/>
              </a:rPr>
              <a:t> — đặt tên “Vận hành &amp; Chấm công — Sao Việt”, mô tả phạm vi 1 dòng.</a:t>
            </a:r>
            <a:endParaRPr lang="en-US" sz="1450" dirty="0"/>
          </a:p>
        </p:txBody>
      </p:sp>
      <p:sp>
        <p:nvSpPr>
          <p:cNvPr id="19" name="Shape 15"/>
          <p:cNvSpPr/>
          <p:nvPr/>
        </p:nvSpPr>
        <p:spPr>
          <a:xfrm>
            <a:off x="4800600" y="2677363"/>
            <a:ext cx="438912" cy="438912"/>
          </a:xfrm>
          <a:prstGeom prst="ellipse">
            <a:avLst/>
          </a:prstGeom>
          <a:solidFill>
            <a:srgbClr val="2E7D7A"/>
          </a:solidFill>
          <a:ln w="12700">
            <a:solidFill>
              <a:srgbClr val="2E7D7A"/>
            </a:solidFill>
            <a:prstDash val="solid"/>
          </a:ln>
        </p:spPr>
      </p:sp>
      <p:sp>
        <p:nvSpPr>
          <p:cNvPr id="20" name="Text 16"/>
          <p:cNvSpPr txBox="1"/>
          <p:nvPr/>
        </p:nvSpPr>
        <p:spPr>
          <a:xfrm>
            <a:off x="4800600" y="2677363"/>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1" name="Text 17"/>
          <p:cNvSpPr txBox="1"/>
          <p:nvPr/>
        </p:nvSpPr>
        <p:spPr>
          <a:xfrm>
            <a:off x="5394960" y="2631643"/>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Thêm 4 file tài liệu nền</a:t>
            </a:r>
            <a:pPr indent="0" marL="0">
              <a:buNone/>
            </a:pPr>
            <a:r>
              <a:rPr lang="en-US" sz="1450" dirty="0">
                <a:solidFill>
                  <a:srgbClr val="1B2A38"/>
                </a:solidFill>
                <a:latin typeface="Calibri" pitchFamily="34" charset="0"/>
                <a:ea typeface="Calibri" pitchFamily="34" charset="-122"/>
                <a:cs typeface="Calibri" pitchFamily="34" charset="-120"/>
              </a:rPr>
              <a:t> — từ bộ dữ liệu mẫu (hoặc file thật đã ẩn danh).</a:t>
            </a:r>
            <a:endParaRPr lang="en-US" sz="1450" dirty="0"/>
          </a:p>
        </p:txBody>
      </p:sp>
      <p:sp>
        <p:nvSpPr>
          <p:cNvPr id="22" name="Shape 18"/>
          <p:cNvSpPr/>
          <p:nvPr/>
        </p:nvSpPr>
        <p:spPr>
          <a:xfrm>
            <a:off x="4800600" y="3617366"/>
            <a:ext cx="438912" cy="438912"/>
          </a:xfrm>
          <a:prstGeom prst="ellipse">
            <a:avLst/>
          </a:prstGeom>
          <a:solidFill>
            <a:srgbClr val="2E7D7A"/>
          </a:solidFill>
          <a:ln w="12700">
            <a:solidFill>
              <a:srgbClr val="2E7D7A"/>
            </a:solidFill>
            <a:prstDash val="solid"/>
          </a:ln>
        </p:spPr>
      </p:sp>
      <p:sp>
        <p:nvSpPr>
          <p:cNvPr id="23" name="Text 19"/>
          <p:cNvSpPr txBox="1"/>
          <p:nvPr/>
        </p:nvSpPr>
        <p:spPr>
          <a:xfrm>
            <a:off x="4800600" y="3617366"/>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4" name="Text 20"/>
          <p:cNvSpPr txBox="1"/>
          <p:nvPr/>
        </p:nvSpPr>
        <p:spPr>
          <a:xfrm>
            <a:off x="5394960" y="3571646"/>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Dán custom instructions</a:t>
            </a:r>
            <a:pPr indent="0" marL="0">
              <a:buNone/>
            </a:pPr>
            <a:r>
              <a:rPr lang="en-US" sz="1450" dirty="0">
                <a:solidFill>
                  <a:srgbClr val="1B2A38"/>
                </a:solidFill>
                <a:latin typeface="Calibri" pitchFamily="34" charset="0"/>
                <a:ea typeface="Calibri" pitchFamily="34" charset="-122"/>
                <a:cs typeface="Calibri" pitchFamily="34" charset="-120"/>
              </a:rPr>
              <a:t> — theo mẫu ở slide sau — sửa tên công ty, số agent, dự án.</a:t>
            </a:r>
            <a:endParaRPr lang="en-US" sz="1450" dirty="0"/>
          </a:p>
        </p:txBody>
      </p:sp>
      <p:sp>
        <p:nvSpPr>
          <p:cNvPr id="25" name="Shape 21"/>
          <p:cNvSpPr/>
          <p:nvPr/>
        </p:nvSpPr>
        <p:spPr>
          <a:xfrm>
            <a:off x="4800600" y="4557370"/>
            <a:ext cx="438912" cy="438912"/>
          </a:xfrm>
          <a:prstGeom prst="ellipse">
            <a:avLst/>
          </a:prstGeom>
          <a:solidFill>
            <a:srgbClr val="2E7D7A"/>
          </a:solidFill>
          <a:ln w="12700">
            <a:solidFill>
              <a:srgbClr val="2E7D7A"/>
            </a:solidFill>
            <a:prstDash val="solid"/>
          </a:ln>
        </p:spPr>
      </p:sp>
      <p:sp>
        <p:nvSpPr>
          <p:cNvPr id="26" name="Text 22"/>
          <p:cNvSpPr txBox="1"/>
          <p:nvPr/>
        </p:nvSpPr>
        <p:spPr>
          <a:xfrm>
            <a:off x="4800600" y="455737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7" name="Text 23"/>
          <p:cNvSpPr txBox="1"/>
          <p:nvPr/>
        </p:nvSpPr>
        <p:spPr>
          <a:xfrm>
            <a:off x="5394960" y="4511650"/>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Kiểm tra bằng 3 câu hỏi</a:t>
            </a:r>
            <a:pPr indent="0" marL="0">
              <a:buNone/>
            </a:pPr>
            <a:r>
              <a:rPr lang="en-US" sz="1450" dirty="0">
                <a:solidFill>
                  <a:srgbClr val="1B2A38"/>
                </a:solidFill>
                <a:latin typeface="Calibri" pitchFamily="34" charset="0"/>
                <a:ea typeface="Calibri" pitchFamily="34" charset="-122"/>
                <a:cs typeface="Calibri" pitchFamily="34" charset="-120"/>
              </a:rPr>
              <a:t> — NV0111 làm ca nào? · Ca đêm D tính công ngày nào? · Tỷ lệ nghe máy CS-VT?</a:t>
            </a:r>
            <a:endParaRPr lang="en-US" sz="1450" dirty="0"/>
          </a:p>
        </p:txBody>
      </p:sp>
      <p:sp>
        <p:nvSpPr>
          <p:cNvPr id="28" name="Shape 24"/>
          <p:cNvSpPr/>
          <p:nvPr/>
        </p:nvSpPr>
        <p:spPr>
          <a:xfrm>
            <a:off x="4800600" y="5497373"/>
            <a:ext cx="438912" cy="438912"/>
          </a:xfrm>
          <a:prstGeom prst="ellipse">
            <a:avLst/>
          </a:prstGeom>
          <a:solidFill>
            <a:srgbClr val="2E7D7A"/>
          </a:solidFill>
          <a:ln w="12700">
            <a:solidFill>
              <a:srgbClr val="2E7D7A"/>
            </a:solidFill>
            <a:prstDash val="solid"/>
          </a:ln>
        </p:spPr>
      </p:sp>
      <p:sp>
        <p:nvSpPr>
          <p:cNvPr id="29" name="Text 25"/>
          <p:cNvSpPr txBox="1"/>
          <p:nvPr/>
        </p:nvSpPr>
        <p:spPr>
          <a:xfrm>
            <a:off x="4800600" y="5497373"/>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0" name="Text 26"/>
          <p:cNvSpPr txBox="1"/>
          <p:nvPr/>
        </p:nvSpPr>
        <p:spPr>
          <a:xfrm>
            <a:off x="5394960" y="5451653"/>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Chia sẻ Project</a:t>
            </a:r>
            <a:pPr indent="0" marL="0">
              <a:buNone/>
            </a:pPr>
            <a:r>
              <a:rPr lang="en-US" sz="1450" dirty="0">
                <a:solidFill>
                  <a:srgbClr val="1B2A38"/>
                </a:solidFill>
                <a:latin typeface="Calibri" pitchFamily="34" charset="0"/>
                <a:ea typeface="Calibri" pitchFamily="34" charset="-122"/>
                <a:cs typeface="Calibri" pitchFamily="34" charset="-120"/>
              </a:rPr>
              <a:t> — cho nhóm Vận hành + HR (gói Team/Enterprise).</a:t>
            </a:r>
            <a:endParaRPr lang="en-US" sz="14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48640" cy="292608"/>
          </a:xfrm>
          <a:prstGeom prst="roundRect">
            <a:avLst>
              <a:gd name="adj" fmla="val 50000"/>
            </a:avLst>
          </a:prstGeom>
          <a:solidFill>
            <a:srgbClr val="DDEFEE"/>
          </a:solidFill>
          <a:ln w="12700">
            <a:solidFill>
              <a:srgbClr val="DDEFEE"/>
            </a:solidFill>
            <a:prstDash val="solid"/>
          </a:ln>
        </p:spPr>
      </p:sp>
      <p:sp>
        <p:nvSpPr>
          <p:cNvPr id="3" name="Text 1"/>
          <p:cNvSpPr txBox="1"/>
          <p:nvPr/>
        </p:nvSpPr>
        <p:spPr>
          <a:xfrm>
            <a:off x="548640" y="384048"/>
            <a:ext cx="548640" cy="292608"/>
          </a:xfrm>
          <a:prstGeom prst="rect">
            <a:avLst/>
          </a:prstGeom>
          <a:noFill/>
          <a:ln/>
        </p:spPr>
        <p:txBody>
          <a:bodyPr wrap="square" lIns="0" tIns="0" rIns="0" bIns="0" rtlCol="0" anchor="ctr"/>
          <a:lstStyle/>
          <a:p>
            <a:pPr algn="ctr" indent="0" marL="0">
              <a:buNone/>
            </a:pPr>
            <a:r>
              <a:rPr lang="en-US" sz="1050" b="1" spc="150" kern="0" dirty="0">
                <a:solidFill>
                  <a:srgbClr val="2E7D7A"/>
                </a:solidFill>
                <a:latin typeface="Calibri" pitchFamily="34" charset="0"/>
                <a:ea typeface="Calibri" pitchFamily="34" charset="-122"/>
                <a:cs typeface="Calibri" pitchFamily="34" charset="-120"/>
              </a:rPr>
              <a:t>DEMO</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Custom instructions mẫu cho Project</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1 · Nền tảng Claude &amp; dữ liệu</a:t>
            </a:r>
            <a:endParaRPr lang="en-US" sz="1000" dirty="0"/>
          </a:p>
        </p:txBody>
      </p:sp>
      <p:sp>
        <p:nvSpPr>
          <p:cNvPr id="7" name="Shape 4"/>
          <p:cNvSpPr/>
          <p:nvPr/>
        </p:nvSpPr>
        <p:spPr>
          <a:xfrm>
            <a:off x="548640" y="1691640"/>
            <a:ext cx="6949440" cy="4572000"/>
          </a:xfrm>
          <a:prstGeom prst="roundRect">
            <a:avLst>
              <a:gd name="adj" fmla="val 1600"/>
            </a:avLst>
          </a:prstGeom>
          <a:solidFill>
            <a:srgbClr val="1B2A38"/>
          </a:solidFill>
          <a:ln w="12700">
            <a:solidFill>
              <a:srgbClr val="1B2A38"/>
            </a:solidFill>
            <a:prstDash val="solid"/>
          </a:ln>
        </p:spPr>
      </p:sp>
      <p:sp>
        <p:nvSpPr>
          <p:cNvPr id="8" name="Shape 5"/>
          <p:cNvSpPr/>
          <p:nvPr/>
        </p:nvSpPr>
        <p:spPr>
          <a:xfrm>
            <a:off x="749808" y="1874520"/>
            <a:ext cx="384048" cy="384048"/>
          </a:xfrm>
          <a:prstGeom prst="roundRect">
            <a:avLst>
              <a:gd name="adj" fmla="val 22000"/>
            </a:avLst>
          </a:prstGeom>
          <a:solidFill>
            <a:srgbClr val="D9773A"/>
          </a:solidFill>
          <a:ln w="12700">
            <a:solidFill>
              <a:srgbClr val="D9773A"/>
            </a:solidFill>
            <a:prstDash val="solid"/>
          </a:ln>
        </p:spPr>
      </p:sp>
      <p:pic>
        <p:nvPicPr>
          <p:cNvPr id="9" name="Image 0" descr="preencoded.png">    </p:cNvPr>
          <p:cNvPicPr>
            <a:picLocks noChangeAspect="1"/>
          </p:cNvPicPr>
          <p:nvPr/>
        </p:nvPicPr>
        <p:blipFill>
          <a:blip r:embed="rId1"/>
          <a:stretch>
            <a:fillRect/>
          </a:stretch>
        </p:blipFill>
        <p:spPr>
          <a:xfrm>
            <a:off x="841980" y="1966692"/>
            <a:ext cx="199705" cy="199705"/>
          </a:xfrm>
          <a:prstGeom prst="rect">
            <a:avLst/>
          </a:prstGeom>
        </p:spPr>
      </p:pic>
      <p:sp>
        <p:nvSpPr>
          <p:cNvPr id="10" name="Text 6"/>
          <p:cNvSpPr txBox="1"/>
          <p:nvPr/>
        </p:nvSpPr>
        <p:spPr>
          <a:xfrm>
            <a:off x="1280160" y="1874520"/>
            <a:ext cx="4572000" cy="384048"/>
          </a:xfrm>
          <a:prstGeom prst="rect">
            <a:avLst/>
          </a:prstGeom>
          <a:noFill/>
          <a:ln/>
        </p:spPr>
        <p:txBody>
          <a:bodyPr wrap="square" lIns="0" tIns="0" rIns="0" bIns="0" rtlCol="0" anchor="ctr"/>
          <a:lstStyle/>
          <a:p>
            <a:pPr indent="0" marL="0">
              <a:buNone/>
            </a:pPr>
            <a:r>
              <a:rPr lang="en-US" sz="1100" b="1" spc="150" kern="0" dirty="0">
                <a:solidFill>
                  <a:srgbClr val="D9773A"/>
                </a:solidFill>
                <a:latin typeface="Calibri" pitchFamily="34" charset="0"/>
                <a:ea typeface="Calibri" pitchFamily="34" charset="-122"/>
                <a:cs typeface="Calibri" pitchFamily="34" charset="-120"/>
              </a:rPr>
              <a:t>PROMPT — dán vào Claude</a:t>
            </a:r>
            <a:endParaRPr lang="en-US" sz="1100" dirty="0"/>
          </a:p>
        </p:txBody>
      </p:sp>
      <p:sp>
        <p:nvSpPr>
          <p:cNvPr id="11" name="Text 7"/>
          <p:cNvSpPr txBox="1"/>
          <p:nvPr/>
        </p:nvSpPr>
        <p:spPr>
          <a:xfrm>
            <a:off x="822960" y="2423160"/>
            <a:ext cx="6400800" cy="3657600"/>
          </a:xfrm>
          <a:prstGeom prst="rect">
            <a:avLst/>
          </a:prstGeom>
          <a:noFill/>
          <a:ln/>
        </p:spPr>
        <p:txBody>
          <a:bodyPr wrap="square" lIns="0" tIns="0" rIns="0" bIns="0" rtlCol="0" anchor="t">
            <a:normAutofit/>
          </a:bodyPr>
          <a:lstStyle/>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Bạn là chuyên viên phân tích vận hành của callcenter Sao Việt Contact Center, 19 agent,</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các dự án TS-BH (Telesales bảo hiểm, Outbound, 08:00–21:00 T2–T7)</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và CS-VT (CSKH nhà mạng, Inbound, 24/7).</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Luôn dùng định nghĩa trong file "Tu_dien_du_lieu" và "Tu_dien_chi_so" của Project.</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Nếu chưa có, nói rõ và hỏi tôi định nghĩa trước khi tính.</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Mọi con số phải tính trên dữ liệu thực tế được cung cấp, không ước lượng.</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Cuối mỗi kết quả, ghi tổng số dòng đã xử lý để đối chiếu.</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Nếu thiếu dữ liệu hoặc quy tắc chưa rõ, hỏi lại trước khi làm.</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Không tự sửa dữ liệu gốc; đề xuất quy tắc sửa và chờ duyệt.</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Khi trích nội quy, ghi rõ số điều khoản (vd Điều 3.3).</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Mã agent trong call log là EXT20xx; mã nhân viên HR là NV01xx.</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Nối qua cột ma_tong_dai trong danh_sach_agent.csv.</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Trả lời bằng tiếng Việt, ưu tiên dạng bảng.</a:t>
            </a:r>
            <a:endParaRPr lang="en-US" sz="1250" dirty="0"/>
          </a:p>
        </p:txBody>
      </p:sp>
      <p:sp>
        <p:nvSpPr>
          <p:cNvPr id="12" name="Text 8"/>
          <p:cNvSpPr txBox="1"/>
          <p:nvPr/>
        </p:nvSpPr>
        <p:spPr>
          <a:xfrm>
            <a:off x="7818120" y="1691640"/>
            <a:ext cx="3824935" cy="411480"/>
          </a:xfrm>
          <a:prstGeom prst="rect">
            <a:avLst/>
          </a:prstGeom>
          <a:noFill/>
          <a:ln/>
        </p:spPr>
        <p:txBody>
          <a:bodyPr wrap="square" lIns="0" tIns="0" rIns="0" bIns="0" rtlCol="0" anchor="t"/>
          <a:lstStyle/>
          <a:p>
            <a:pPr indent="0" marL="0">
              <a:buNone/>
            </a:pPr>
            <a:r>
              <a:rPr lang="en-US" sz="1700" b="1" dirty="0">
                <a:solidFill>
                  <a:srgbClr val="1B2A38"/>
                </a:solidFill>
                <a:latin typeface="Cambria" pitchFamily="34" charset="0"/>
                <a:ea typeface="Cambria" pitchFamily="34" charset="-122"/>
                <a:cs typeface="Cambria" pitchFamily="34" charset="-120"/>
              </a:rPr>
              <a:t>Vì sao viết như vậy?</a:t>
            </a:r>
            <a:endParaRPr lang="en-US" sz="1700" dirty="0"/>
          </a:p>
        </p:txBody>
      </p:sp>
      <p:sp>
        <p:nvSpPr>
          <p:cNvPr id="13" name="Text 9"/>
          <p:cNvSpPr txBox="1"/>
          <p:nvPr/>
        </p:nvSpPr>
        <p:spPr>
          <a:xfrm>
            <a:off x="7818120" y="2240280"/>
            <a:ext cx="3824935" cy="4023360"/>
          </a:xfrm>
          <a:prstGeom prst="rect">
            <a:avLst/>
          </a:prstGeom>
          <a:noFill/>
          <a:ln/>
        </p:spPr>
        <p:txBody>
          <a:bodyPr wrap="square" lIns="0" tIns="0" rIns="0" bIns="0" rtlCol="0" anchor="t">
            <a:normAutofit/>
          </a:bodyPr>
          <a:lstStyle/>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Vai trò + dự án:</a:t>
            </a:r>
            <a:pPr indent="0" marL="0">
              <a:buNone/>
            </a:pPr>
            <a:r>
              <a:rPr lang="en-US" sz="1400" dirty="0">
                <a:solidFill>
                  <a:srgbClr val="1B2A38"/>
                </a:solidFill>
                <a:latin typeface="Calibri" pitchFamily="34" charset="0"/>
                <a:ea typeface="Calibri" pitchFamily="34" charset="-122"/>
                <a:cs typeface="Calibri" pitchFamily="34" charset="-120"/>
              </a:rPr>
              <a:t> đặt Claude vào đúng ghế, biết giờ hoạt động.</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Tính trên dữ liệu thực + tổng dòng:</a:t>
            </a:r>
            <a:pPr indent="0" marL="0">
              <a:buNone/>
            </a:pPr>
            <a:r>
              <a:rPr lang="en-US" sz="1400" dirty="0">
                <a:solidFill>
                  <a:srgbClr val="1B2A38"/>
                </a:solidFill>
                <a:latin typeface="Calibri" pitchFamily="34" charset="0"/>
                <a:ea typeface="Calibri" pitchFamily="34" charset="-122"/>
                <a:cs typeface="Calibri" pitchFamily="34" charset="-120"/>
              </a:rPr>
              <a:t> chặn ước lượng, có móc để đối chiếu.</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Thiếu thì hỏi:</a:t>
            </a:r>
            <a:pPr indent="0" marL="0">
              <a:buNone/>
            </a:pPr>
            <a:r>
              <a:rPr lang="en-US" sz="1400" dirty="0">
                <a:solidFill>
                  <a:srgbClr val="1B2A38"/>
                </a:solidFill>
                <a:latin typeface="Calibri" pitchFamily="34" charset="0"/>
                <a:ea typeface="Calibri" pitchFamily="34" charset="-122"/>
                <a:cs typeface="Calibri" pitchFamily="34" charset="-120"/>
              </a:rPr>
              <a:t> chặn hallucination.</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Không sửa dữ liệu gốc:</a:t>
            </a:r>
            <a:pPr indent="0" marL="0">
              <a:buNone/>
            </a:pPr>
            <a:r>
              <a:rPr lang="en-US" sz="1400" dirty="0">
                <a:solidFill>
                  <a:srgbClr val="1B2A38"/>
                </a:solidFill>
                <a:latin typeface="Calibri" pitchFamily="34" charset="0"/>
                <a:ea typeface="Calibri" pitchFamily="34" charset="-122"/>
                <a:cs typeface="Calibri" pitchFamily="34" charset="-120"/>
              </a:rPr>
              <a:t> AI đề xuất, người duyệt; giữ bằng chứng khi tranh cãi công.</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Trích điều khoản:</a:t>
            </a:r>
            <a:pPr indent="0" marL="0">
              <a:buNone/>
            </a:pPr>
            <a:r>
              <a:rPr lang="en-US" sz="1400" dirty="0">
                <a:solidFill>
                  <a:srgbClr val="1B2A38"/>
                </a:solidFill>
                <a:latin typeface="Calibri" pitchFamily="34" charset="0"/>
                <a:ea typeface="Calibri" pitchFamily="34" charset="-122"/>
                <a:cs typeface="Calibri" pitchFamily="34" charset="-120"/>
              </a:rPr>
              <a:t> nội quy có chỗ mâu thuẫn — kiểm tra được ngay.</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Hai loại mã:</a:t>
            </a:r>
            <a:pPr indent="0" marL="0">
              <a:buNone/>
            </a:pPr>
            <a:r>
              <a:rPr lang="en-US" sz="1400" dirty="0">
                <a:solidFill>
                  <a:srgbClr val="1B2A38"/>
                </a:solidFill>
                <a:latin typeface="Calibri" pitchFamily="34" charset="0"/>
                <a:ea typeface="Calibri" pitchFamily="34" charset="-122"/>
                <a:cs typeface="Calibri" pitchFamily="34" charset="-120"/>
              </a:rPr>
              <a:t> lỗi phổ biến nhất là nối sai mã.</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61772" cy="292608"/>
          </a:xfrm>
          <a:prstGeom prst="roundRect">
            <a:avLst>
              <a:gd name="adj" fmla="val 50000"/>
            </a:avLst>
          </a:prstGeom>
          <a:solidFill>
            <a:srgbClr val="DDEFEE"/>
          </a:solidFill>
          <a:ln w="12700">
            <a:solidFill>
              <a:srgbClr val="DDEFEE"/>
            </a:solidFill>
            <a:prstDash val="solid"/>
          </a:ln>
        </p:spPr>
      </p:sp>
      <p:sp>
        <p:nvSpPr>
          <p:cNvPr id="3" name="Text 1"/>
          <p:cNvSpPr txBox="1"/>
          <p:nvPr/>
        </p:nvSpPr>
        <p:spPr>
          <a:xfrm>
            <a:off x="548640" y="384048"/>
            <a:ext cx="461772" cy="292608"/>
          </a:xfrm>
          <a:prstGeom prst="rect">
            <a:avLst/>
          </a:prstGeom>
          <a:noFill/>
          <a:ln/>
        </p:spPr>
        <p:txBody>
          <a:bodyPr wrap="square" lIns="0" tIns="0" rIns="0" bIns="0" rtlCol="0" anchor="ctr"/>
          <a:lstStyle/>
          <a:p>
            <a:pPr algn="ctr" indent="0" marL="0">
              <a:buNone/>
            </a:pPr>
            <a:r>
              <a:rPr lang="en-US" sz="1050" b="1" spc="150" kern="0" dirty="0">
                <a:solidFill>
                  <a:srgbClr val="2E7D7A"/>
                </a:solidFill>
                <a:latin typeface="Calibri" pitchFamily="34" charset="0"/>
                <a:ea typeface="Calibri" pitchFamily="34" charset="-122"/>
                <a:cs typeface="Calibri" pitchFamily="34" charset="-120"/>
              </a:rPr>
              <a:t>LAB</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Lab 1.2 · Kiểm tra chất lượng call log</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1 · Nền tảng Claude &amp; dữ liệu</a:t>
            </a:r>
            <a:endParaRPr lang="en-US" sz="1000" dirty="0"/>
          </a:p>
        </p:txBody>
      </p:sp>
      <p:sp>
        <p:nvSpPr>
          <p:cNvPr id="7" name="Shape 4"/>
          <p:cNvSpPr/>
          <p:nvPr/>
        </p:nvSpPr>
        <p:spPr>
          <a:xfrm>
            <a:off x="548640" y="1691640"/>
            <a:ext cx="3931920" cy="4572000"/>
          </a:xfrm>
          <a:prstGeom prst="roundRect">
            <a:avLst>
              <a:gd name="adj" fmla="val 2326"/>
            </a:avLst>
          </a:prstGeom>
          <a:solidFill>
            <a:srgbClr val="DDEFEE"/>
          </a:solidFill>
          <a:ln w="12700">
            <a:solidFill>
              <a:srgbClr val="DDEFEE"/>
            </a:solidFill>
            <a:prstDash val="solid"/>
          </a:ln>
        </p:spPr>
      </p:sp>
      <p:sp>
        <p:nvSpPr>
          <p:cNvPr id="8" name="Shape 5"/>
          <p:cNvSpPr/>
          <p:nvPr/>
        </p:nvSpPr>
        <p:spPr>
          <a:xfrm>
            <a:off x="777240" y="1920240"/>
            <a:ext cx="502920" cy="502920"/>
          </a:xfrm>
          <a:prstGeom prst="roundRect">
            <a:avLst>
              <a:gd name="adj" fmla="val 22000"/>
            </a:avLst>
          </a:prstGeom>
          <a:solidFill>
            <a:srgbClr val="2E7D7A"/>
          </a:solidFill>
          <a:ln w="12700">
            <a:solidFill>
              <a:srgbClr val="2E7D7A"/>
            </a:solidFill>
            <a:prstDash val="solid"/>
          </a:ln>
        </p:spPr>
      </p:sp>
      <p:pic>
        <p:nvPicPr>
          <p:cNvPr id="9" name="Image 0" descr="preencoded.png">    </p:cNvPr>
          <p:cNvPicPr>
            <a:picLocks noChangeAspect="1"/>
          </p:cNvPicPr>
          <p:nvPr/>
        </p:nvPicPr>
        <p:blipFill>
          <a:blip r:embed="rId1"/>
          <a:stretch>
            <a:fillRect/>
          </a:stretch>
        </p:blipFill>
        <p:spPr>
          <a:xfrm>
            <a:off x="897941" y="2040941"/>
            <a:ext cx="261518" cy="261518"/>
          </a:xfrm>
          <a:prstGeom prst="rect">
            <a:avLst/>
          </a:prstGeom>
        </p:spPr>
      </p:pic>
      <p:sp>
        <p:nvSpPr>
          <p:cNvPr id="10" name="Text 6"/>
          <p:cNvSpPr txBox="1"/>
          <p:nvPr/>
        </p:nvSpPr>
        <p:spPr>
          <a:xfrm>
            <a:off x="1417320" y="1920240"/>
            <a:ext cx="2743200" cy="502920"/>
          </a:xfrm>
          <a:prstGeom prst="rect">
            <a:avLst/>
          </a:prstGeom>
          <a:noFill/>
          <a:ln/>
        </p:spPr>
        <p:txBody>
          <a:bodyPr wrap="square" lIns="0" tIns="0" rIns="0" bIns="0" rtlCol="0" anchor="ctr"/>
          <a:lstStyle/>
          <a:p>
            <a:pPr indent="0" marL="0">
              <a:buNone/>
            </a:pPr>
            <a:r>
              <a:rPr lang="en-US" sz="2200" b="1" dirty="0">
                <a:solidFill>
                  <a:srgbClr val="2E7D7A"/>
                </a:solidFill>
                <a:latin typeface="Cambria" pitchFamily="34" charset="0"/>
                <a:ea typeface="Cambria" pitchFamily="34" charset="-122"/>
                <a:cs typeface="Cambria" pitchFamily="34" charset="-120"/>
              </a:rPr>
              <a:t>25 phút</a:t>
            </a:r>
            <a:endParaRPr lang="en-US" sz="2200" dirty="0"/>
          </a:p>
        </p:txBody>
      </p:sp>
      <p:sp>
        <p:nvSpPr>
          <p:cNvPr id="11" name="Text 7"/>
          <p:cNvSpPr txBox="1"/>
          <p:nvPr/>
        </p:nvSpPr>
        <p:spPr>
          <a:xfrm>
            <a:off x="777240" y="2606040"/>
            <a:ext cx="3474720" cy="1325880"/>
          </a:xfrm>
          <a:prstGeom prst="rect">
            <a:avLst/>
          </a:prstGeom>
          <a:noFill/>
          <a:ln/>
        </p:spPr>
        <p:txBody>
          <a:bodyPr wrap="square" lIns="0" tIns="0" rIns="0" bIns="0" rtlCol="0" anchor="t">
            <a:normAutofit/>
          </a:bodyPr>
          <a:lstStyle/>
          <a:p>
            <a:pPr indent="0" marL="0">
              <a:buNone/>
            </a:pPr>
            <a:r>
              <a:rPr lang="en-US" sz="1400" b="1" dirty="0">
                <a:solidFill>
                  <a:srgbClr val="2E7D7A"/>
                </a:solidFill>
                <a:latin typeface="Calibri" pitchFamily="34" charset="0"/>
                <a:ea typeface="Calibri" pitchFamily="34" charset="-122"/>
                <a:cs typeface="Calibri" pitchFamily="34" charset="-120"/>
              </a:rPr>
              <a:t>Mục tiêu  </a:t>
            </a:r>
            <a:pPr indent="0" marL="0">
              <a:buNone/>
            </a:pPr>
            <a:r>
              <a:rPr lang="en-US" sz="1400" dirty="0">
                <a:solidFill>
                  <a:srgbClr val="1B2A38"/>
                </a:solidFill>
                <a:latin typeface="Calibri" pitchFamily="34" charset="0"/>
                <a:ea typeface="Calibri" pitchFamily="34" charset="-122"/>
                <a:cs typeface="Calibri" pitchFamily="34" charset="-120"/>
              </a:rPr>
              <a:t>Biết dữ liệu đang bẩn ở đâu, bao nhiêu dòng, trước khi tính bất kỳ con số sản lượng nào.</a:t>
            </a:r>
            <a:endParaRPr lang="en-US" sz="1400" dirty="0"/>
          </a:p>
        </p:txBody>
      </p:sp>
      <p:sp>
        <p:nvSpPr>
          <p:cNvPr id="12" name="Text 8"/>
          <p:cNvSpPr txBox="1"/>
          <p:nvPr/>
        </p:nvSpPr>
        <p:spPr>
          <a:xfrm>
            <a:off x="777240" y="3977640"/>
            <a:ext cx="3474720" cy="274320"/>
          </a:xfrm>
          <a:prstGeom prst="rect">
            <a:avLst/>
          </a:prstGeom>
          <a:noFill/>
          <a:ln/>
        </p:spPr>
        <p:txBody>
          <a:bodyPr wrap="square" lIns="0" tIns="0" rIns="0" bIns="0" rtlCol="0" anchor="t"/>
          <a:lstStyle/>
          <a:p>
            <a:pPr indent="0" marL="0">
              <a:buNone/>
            </a:pPr>
            <a:r>
              <a:rPr lang="en-US" sz="1250" b="1" dirty="0">
                <a:solidFill>
                  <a:srgbClr val="2E7D7A"/>
                </a:solidFill>
                <a:latin typeface="Calibri" pitchFamily="34" charset="0"/>
                <a:ea typeface="Calibri" pitchFamily="34" charset="-122"/>
                <a:cs typeface="Calibri" pitchFamily="34" charset="-120"/>
              </a:rPr>
              <a:t>Dữ liệu dùng</a:t>
            </a:r>
            <a:endParaRPr lang="en-US" sz="1250" dirty="0"/>
          </a:p>
        </p:txBody>
      </p:sp>
      <p:sp>
        <p:nvSpPr>
          <p:cNvPr id="13" name="Text 9"/>
          <p:cNvSpPr txBox="1"/>
          <p:nvPr/>
        </p:nvSpPr>
        <p:spPr>
          <a:xfrm>
            <a:off x="777240" y="4279392"/>
            <a:ext cx="3474720" cy="603504"/>
          </a:xfrm>
          <a:prstGeom prst="rect">
            <a:avLst/>
          </a:prstGeom>
          <a:noFill/>
          <a:ln/>
        </p:spPr>
        <p:txBody>
          <a:bodyPr wrap="square" lIns="0" tIns="0" rIns="0" bIns="0" rtlCol="0" anchor="t">
            <a:normAutofit/>
          </a:bodyPr>
          <a:lstStyle/>
          <a:p>
            <a:pPr indent="0" marL="0">
              <a:buNone/>
            </a:pPr>
            <a:r>
              <a:rPr lang="en-US" sz="1050" dirty="0">
                <a:solidFill>
                  <a:srgbClr val="1B2A38"/>
                </a:solidFill>
                <a:latin typeface="Courier New" pitchFamily="34" charset="0"/>
                <a:ea typeface="Courier New" pitchFamily="34" charset="-122"/>
                <a:cs typeface="Courier New" pitchFamily="34" charset="-120"/>
              </a:rPr>
              <a:t>call_log_2026-09.csv (29.515 dòng)</a:t>
            </a:r>
            <a:endParaRPr lang="en-US" sz="1050" dirty="0"/>
          </a:p>
          <a:p>
            <a:pPr indent="0" marL="0">
              <a:buNone/>
            </a:pPr>
            <a:r>
              <a:rPr lang="en-US" sz="1050" dirty="0">
                <a:solidFill>
                  <a:srgbClr val="1B2A38"/>
                </a:solidFill>
                <a:latin typeface="Courier New" pitchFamily="34" charset="0"/>
                <a:ea typeface="Courier New" pitchFamily="34" charset="-122"/>
                <a:cs typeface="Courier New" pitchFamily="34" charset="-120"/>
              </a:rPr>
              <a:t>danh_sach_agent.csv (trong Project)</a:t>
            </a:r>
            <a:endParaRPr lang="en-US" sz="1050" dirty="0"/>
          </a:p>
        </p:txBody>
      </p:sp>
      <p:sp>
        <p:nvSpPr>
          <p:cNvPr id="14" name="Text 10"/>
          <p:cNvSpPr txBox="1"/>
          <p:nvPr/>
        </p:nvSpPr>
        <p:spPr>
          <a:xfrm>
            <a:off x="777240" y="4946904"/>
            <a:ext cx="3474720" cy="274320"/>
          </a:xfrm>
          <a:prstGeom prst="rect">
            <a:avLst/>
          </a:prstGeom>
          <a:noFill/>
          <a:ln/>
        </p:spPr>
        <p:txBody>
          <a:bodyPr wrap="square" lIns="0" tIns="0" rIns="0" bIns="0" rtlCol="0" anchor="t"/>
          <a:lstStyle/>
          <a:p>
            <a:pPr indent="0" marL="0">
              <a:buNone/>
            </a:pPr>
            <a:r>
              <a:rPr lang="en-US" sz="1250" b="1" dirty="0">
                <a:solidFill>
                  <a:srgbClr val="2E7D7A"/>
                </a:solidFill>
                <a:latin typeface="Calibri" pitchFamily="34" charset="0"/>
                <a:ea typeface="Calibri" pitchFamily="34" charset="-122"/>
                <a:cs typeface="Calibri" pitchFamily="34" charset="-120"/>
              </a:rPr>
              <a:t>Sản phẩm</a:t>
            </a:r>
            <a:endParaRPr lang="en-US" sz="1250" dirty="0"/>
          </a:p>
        </p:txBody>
      </p:sp>
      <p:sp>
        <p:nvSpPr>
          <p:cNvPr id="15" name="Text 11"/>
          <p:cNvSpPr txBox="1"/>
          <p:nvPr/>
        </p:nvSpPr>
        <p:spPr>
          <a:xfrm>
            <a:off x="777240" y="5248656"/>
            <a:ext cx="3474720" cy="859536"/>
          </a:xfrm>
          <a:prstGeom prst="rect">
            <a:avLst/>
          </a:prstGeom>
          <a:noFill/>
          <a:ln/>
        </p:spPr>
        <p:txBody>
          <a:bodyPr wrap="square" lIns="0" tIns="0" rIns="0" bIns="0" rtlCol="0" anchor="t">
            <a:normAutofit/>
          </a:bodyPr>
          <a:lstStyle/>
          <a:p>
            <a:pPr indent="0" marL="0">
              <a:buNone/>
            </a:pPr>
            <a:r>
              <a:rPr lang="en-US" sz="1300" dirty="0">
                <a:solidFill>
                  <a:srgbClr val="1B2A38"/>
                </a:solidFill>
                <a:latin typeface="Calibri" pitchFamily="34" charset="0"/>
                <a:ea typeface="Calibri" pitchFamily="34" charset="-122"/>
                <a:cs typeface="Calibri" pitchFamily="34" charset="-120"/>
              </a:rPr>
              <a:t>Bảng danh sách lỗi dữ liệu tháng 9 — chưa sửa gì cho đến khi nhóm duyệt.</a:t>
            </a:r>
            <a:endParaRPr lang="en-US" sz="1300" dirty="0"/>
          </a:p>
        </p:txBody>
      </p:sp>
      <p:sp>
        <p:nvSpPr>
          <p:cNvPr id="16" name="Shape 12"/>
          <p:cNvSpPr/>
          <p:nvPr/>
        </p:nvSpPr>
        <p:spPr>
          <a:xfrm>
            <a:off x="4800600" y="1737360"/>
            <a:ext cx="438912" cy="438912"/>
          </a:xfrm>
          <a:prstGeom prst="ellipse">
            <a:avLst/>
          </a:prstGeom>
          <a:solidFill>
            <a:srgbClr val="2E7D7A"/>
          </a:solidFill>
          <a:ln w="12700">
            <a:solidFill>
              <a:srgbClr val="2E7D7A"/>
            </a:solidFill>
            <a:prstDash val="solid"/>
          </a:ln>
        </p:spPr>
      </p:sp>
      <p:sp>
        <p:nvSpPr>
          <p:cNvPr id="17" name="Text 13"/>
          <p:cNvSpPr txBox="1"/>
          <p:nvPr/>
        </p:nvSpPr>
        <p:spPr>
          <a:xfrm>
            <a:off x="4800600" y="173736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8" name="Text 14"/>
          <p:cNvSpPr txBox="1"/>
          <p:nvPr/>
        </p:nvSpPr>
        <p:spPr>
          <a:xfrm>
            <a:off x="5394960" y="1691640"/>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Upload call log</a:t>
            </a:r>
            <a:pPr indent="0" marL="0">
              <a:buNone/>
            </a:pPr>
            <a:r>
              <a:rPr lang="en-US" sz="1450" dirty="0">
                <a:solidFill>
                  <a:srgbClr val="1B2A38"/>
                </a:solidFill>
                <a:latin typeface="Calibri" pitchFamily="34" charset="0"/>
                <a:ea typeface="Calibri" pitchFamily="34" charset="-122"/>
                <a:cs typeface="Calibri" pitchFamily="34" charset="-120"/>
              </a:rPr>
              <a:t> — vào chat trong Project “Vận hành &amp; Chấm công”.</a:t>
            </a:r>
            <a:endParaRPr lang="en-US" sz="1450" dirty="0"/>
          </a:p>
        </p:txBody>
      </p:sp>
      <p:sp>
        <p:nvSpPr>
          <p:cNvPr id="19" name="Shape 15"/>
          <p:cNvSpPr/>
          <p:nvPr/>
        </p:nvSpPr>
        <p:spPr>
          <a:xfrm>
            <a:off x="4800600" y="2677363"/>
            <a:ext cx="438912" cy="438912"/>
          </a:xfrm>
          <a:prstGeom prst="ellipse">
            <a:avLst/>
          </a:prstGeom>
          <a:solidFill>
            <a:srgbClr val="2E7D7A"/>
          </a:solidFill>
          <a:ln w="12700">
            <a:solidFill>
              <a:srgbClr val="2E7D7A"/>
            </a:solidFill>
            <a:prstDash val="solid"/>
          </a:ln>
        </p:spPr>
      </p:sp>
      <p:sp>
        <p:nvSpPr>
          <p:cNvPr id="20" name="Text 16"/>
          <p:cNvSpPr txBox="1"/>
          <p:nvPr/>
        </p:nvSpPr>
        <p:spPr>
          <a:xfrm>
            <a:off x="4800600" y="2677363"/>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1" name="Text 17"/>
          <p:cNvSpPr txBox="1"/>
          <p:nvPr/>
        </p:nvSpPr>
        <p:spPr>
          <a:xfrm>
            <a:off x="5394960" y="2631643"/>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Chạy prompt kiểm tra chất lượng</a:t>
            </a:r>
            <a:pPr indent="0" marL="0">
              <a:buNone/>
            </a:pPr>
            <a:r>
              <a:rPr lang="en-US" sz="1450" dirty="0">
                <a:solidFill>
                  <a:srgbClr val="1B2A38"/>
                </a:solidFill>
                <a:latin typeface="Calibri" pitchFamily="34" charset="0"/>
                <a:ea typeface="Calibri" pitchFamily="34" charset="-122"/>
                <a:cs typeface="Calibri" pitchFamily="34" charset="-120"/>
              </a:rPr>
              <a:t> — ở slide sau — không rút gọn phần ràng buộc.</a:t>
            </a:r>
            <a:endParaRPr lang="en-US" sz="1450" dirty="0"/>
          </a:p>
        </p:txBody>
      </p:sp>
      <p:sp>
        <p:nvSpPr>
          <p:cNvPr id="22" name="Shape 18"/>
          <p:cNvSpPr/>
          <p:nvPr/>
        </p:nvSpPr>
        <p:spPr>
          <a:xfrm>
            <a:off x="4800600" y="3617366"/>
            <a:ext cx="438912" cy="438912"/>
          </a:xfrm>
          <a:prstGeom prst="ellipse">
            <a:avLst/>
          </a:prstGeom>
          <a:solidFill>
            <a:srgbClr val="2E7D7A"/>
          </a:solidFill>
          <a:ln w="12700">
            <a:solidFill>
              <a:srgbClr val="2E7D7A"/>
            </a:solidFill>
            <a:prstDash val="solid"/>
          </a:ln>
        </p:spPr>
      </p:sp>
      <p:sp>
        <p:nvSpPr>
          <p:cNvPr id="23" name="Text 19"/>
          <p:cNvSpPr txBox="1"/>
          <p:nvPr/>
        </p:nvSpPr>
        <p:spPr>
          <a:xfrm>
            <a:off x="4800600" y="3617366"/>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4" name="Text 20"/>
          <p:cNvSpPr txBox="1"/>
          <p:nvPr/>
        </p:nvSpPr>
        <p:spPr>
          <a:xfrm>
            <a:off x="5394960" y="3571646"/>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Đối chiếu tổng</a:t>
            </a:r>
            <a:pPr indent="0" marL="0">
              <a:buNone/>
            </a:pPr>
            <a:r>
              <a:rPr lang="en-US" sz="1450" dirty="0">
                <a:solidFill>
                  <a:srgbClr val="1B2A38"/>
                </a:solidFill>
                <a:latin typeface="Calibri" pitchFamily="34" charset="0"/>
                <a:ea typeface="Calibri" pitchFamily="34" charset="-122"/>
                <a:cs typeface="Calibri" pitchFamily="34" charset="-120"/>
              </a:rPr>
              <a:t> — tổng số dòng Claude báo phải là 29.515.</a:t>
            </a:r>
            <a:endParaRPr lang="en-US" sz="1450" dirty="0"/>
          </a:p>
        </p:txBody>
      </p:sp>
      <p:sp>
        <p:nvSpPr>
          <p:cNvPr id="25" name="Shape 21"/>
          <p:cNvSpPr/>
          <p:nvPr/>
        </p:nvSpPr>
        <p:spPr>
          <a:xfrm>
            <a:off x="4800600" y="4557370"/>
            <a:ext cx="438912" cy="438912"/>
          </a:xfrm>
          <a:prstGeom prst="ellipse">
            <a:avLst/>
          </a:prstGeom>
          <a:solidFill>
            <a:srgbClr val="2E7D7A"/>
          </a:solidFill>
          <a:ln w="12700">
            <a:solidFill>
              <a:srgbClr val="2E7D7A"/>
            </a:solidFill>
            <a:prstDash val="solid"/>
          </a:ln>
        </p:spPr>
      </p:sp>
      <p:sp>
        <p:nvSpPr>
          <p:cNvPr id="26" name="Text 22"/>
          <p:cNvSpPr txBox="1"/>
          <p:nvPr/>
        </p:nvSpPr>
        <p:spPr>
          <a:xfrm>
            <a:off x="4800600" y="455737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7" name="Text 23"/>
          <p:cNvSpPr txBox="1"/>
          <p:nvPr/>
        </p:nvSpPr>
        <p:spPr>
          <a:xfrm>
            <a:off x="5394960" y="4511650"/>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Phân loại từng lỗi</a:t>
            </a:r>
            <a:pPr indent="0" marL="0">
              <a:buNone/>
            </a:pPr>
            <a:r>
              <a:rPr lang="en-US" sz="1450" dirty="0">
                <a:solidFill>
                  <a:srgbClr val="1B2A38"/>
                </a:solidFill>
                <a:latin typeface="Calibri" pitchFamily="34" charset="0"/>
                <a:ea typeface="Calibri" pitchFamily="34" charset="-122"/>
                <a:cs typeface="Calibri" pitchFamily="34" charset="-120"/>
              </a:rPr>
              <a:t> — xóa / gắn cờ / sửa — và vì sao. Hỏi lại Claude khi chưa rõ.</a:t>
            </a:r>
            <a:endParaRPr lang="en-US" sz="1450" dirty="0"/>
          </a:p>
        </p:txBody>
      </p:sp>
      <p:sp>
        <p:nvSpPr>
          <p:cNvPr id="28" name="Shape 24"/>
          <p:cNvSpPr/>
          <p:nvPr/>
        </p:nvSpPr>
        <p:spPr>
          <a:xfrm>
            <a:off x="4800600" y="5497373"/>
            <a:ext cx="438912" cy="438912"/>
          </a:xfrm>
          <a:prstGeom prst="ellipse">
            <a:avLst/>
          </a:prstGeom>
          <a:solidFill>
            <a:srgbClr val="2E7D7A"/>
          </a:solidFill>
          <a:ln w="12700">
            <a:solidFill>
              <a:srgbClr val="2E7D7A"/>
            </a:solidFill>
            <a:prstDash val="solid"/>
          </a:ln>
        </p:spPr>
      </p:sp>
      <p:sp>
        <p:nvSpPr>
          <p:cNvPr id="29" name="Text 25"/>
          <p:cNvSpPr txBox="1"/>
          <p:nvPr/>
        </p:nvSpPr>
        <p:spPr>
          <a:xfrm>
            <a:off x="4800600" y="5497373"/>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0" name="Text 26"/>
          <p:cNvSpPr txBox="1"/>
          <p:nvPr/>
        </p:nvSpPr>
        <p:spPr>
          <a:xfrm>
            <a:off x="5394960" y="5451653"/>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Ghi danh sách lỗi</a:t>
            </a:r>
            <a:pPr indent="0" marL="0">
              <a:buNone/>
            </a:pPr>
            <a:r>
              <a:rPr lang="en-US" sz="1450" dirty="0">
                <a:solidFill>
                  <a:srgbClr val="1B2A38"/>
                </a:solidFill>
                <a:latin typeface="Calibri" pitchFamily="34" charset="0"/>
                <a:ea typeface="Calibri" pitchFamily="34" charset="-122"/>
                <a:cs typeface="Calibri" pitchFamily="34" charset="-120"/>
              </a:rPr>
              <a:t> — vào một sheet: loại lỗi – số dòng – ví dụ – đề xuất – người duyệt.</a:t>
            </a:r>
            <a:endParaRPr lang="en-US" sz="14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48640" cy="292608"/>
          </a:xfrm>
          <a:prstGeom prst="roundRect">
            <a:avLst>
              <a:gd name="adj" fmla="val 50000"/>
            </a:avLst>
          </a:prstGeom>
          <a:solidFill>
            <a:srgbClr val="DDEFEE"/>
          </a:solidFill>
          <a:ln w="12700">
            <a:solidFill>
              <a:srgbClr val="DDEFEE"/>
            </a:solidFill>
            <a:prstDash val="solid"/>
          </a:ln>
        </p:spPr>
      </p:sp>
      <p:sp>
        <p:nvSpPr>
          <p:cNvPr id="3" name="Text 1"/>
          <p:cNvSpPr txBox="1"/>
          <p:nvPr/>
        </p:nvSpPr>
        <p:spPr>
          <a:xfrm>
            <a:off x="548640" y="384048"/>
            <a:ext cx="548640" cy="292608"/>
          </a:xfrm>
          <a:prstGeom prst="rect">
            <a:avLst/>
          </a:prstGeom>
          <a:noFill/>
          <a:ln/>
        </p:spPr>
        <p:txBody>
          <a:bodyPr wrap="square" lIns="0" tIns="0" rIns="0" bIns="0" rtlCol="0" anchor="ctr"/>
          <a:lstStyle/>
          <a:p>
            <a:pPr algn="ctr" indent="0" marL="0">
              <a:buNone/>
            </a:pPr>
            <a:r>
              <a:rPr lang="en-US" sz="1050" b="1" spc="150" kern="0" dirty="0">
                <a:solidFill>
                  <a:srgbClr val="2E7D7A"/>
                </a:solidFill>
                <a:latin typeface="Calibri" pitchFamily="34" charset="0"/>
                <a:ea typeface="Calibri" pitchFamily="34" charset="-122"/>
                <a:cs typeface="Calibri" pitchFamily="34" charset="-120"/>
              </a:rPr>
              <a:t>DEMO</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Prompt mẫu — Kiểm tra chất lượng dữ liệu</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1 · Nền tảng Claude &amp; dữ liệu</a:t>
            </a:r>
            <a:endParaRPr lang="en-US" sz="1000" dirty="0"/>
          </a:p>
        </p:txBody>
      </p:sp>
      <p:sp>
        <p:nvSpPr>
          <p:cNvPr id="7" name="Shape 4"/>
          <p:cNvSpPr/>
          <p:nvPr/>
        </p:nvSpPr>
        <p:spPr>
          <a:xfrm>
            <a:off x="548640" y="1691640"/>
            <a:ext cx="6949440" cy="4572000"/>
          </a:xfrm>
          <a:prstGeom prst="roundRect">
            <a:avLst>
              <a:gd name="adj" fmla="val 1600"/>
            </a:avLst>
          </a:prstGeom>
          <a:solidFill>
            <a:srgbClr val="1B2A38"/>
          </a:solidFill>
          <a:ln w="12700">
            <a:solidFill>
              <a:srgbClr val="1B2A38"/>
            </a:solidFill>
            <a:prstDash val="solid"/>
          </a:ln>
        </p:spPr>
      </p:sp>
      <p:sp>
        <p:nvSpPr>
          <p:cNvPr id="8" name="Shape 5"/>
          <p:cNvSpPr/>
          <p:nvPr/>
        </p:nvSpPr>
        <p:spPr>
          <a:xfrm>
            <a:off x="749808" y="1874520"/>
            <a:ext cx="384048" cy="384048"/>
          </a:xfrm>
          <a:prstGeom prst="roundRect">
            <a:avLst>
              <a:gd name="adj" fmla="val 22000"/>
            </a:avLst>
          </a:prstGeom>
          <a:solidFill>
            <a:srgbClr val="D9773A"/>
          </a:solidFill>
          <a:ln w="12700">
            <a:solidFill>
              <a:srgbClr val="D9773A"/>
            </a:solidFill>
            <a:prstDash val="solid"/>
          </a:ln>
        </p:spPr>
      </p:sp>
      <p:pic>
        <p:nvPicPr>
          <p:cNvPr id="9" name="Image 0" descr="preencoded.png">    </p:cNvPr>
          <p:cNvPicPr>
            <a:picLocks noChangeAspect="1"/>
          </p:cNvPicPr>
          <p:nvPr/>
        </p:nvPicPr>
        <p:blipFill>
          <a:blip r:embed="rId1"/>
          <a:stretch>
            <a:fillRect/>
          </a:stretch>
        </p:blipFill>
        <p:spPr>
          <a:xfrm>
            <a:off x="841980" y="1966692"/>
            <a:ext cx="199705" cy="199705"/>
          </a:xfrm>
          <a:prstGeom prst="rect">
            <a:avLst/>
          </a:prstGeom>
        </p:spPr>
      </p:pic>
      <p:sp>
        <p:nvSpPr>
          <p:cNvPr id="10" name="Text 6"/>
          <p:cNvSpPr txBox="1"/>
          <p:nvPr/>
        </p:nvSpPr>
        <p:spPr>
          <a:xfrm>
            <a:off x="1280160" y="1874520"/>
            <a:ext cx="4572000" cy="384048"/>
          </a:xfrm>
          <a:prstGeom prst="rect">
            <a:avLst/>
          </a:prstGeom>
          <a:noFill/>
          <a:ln/>
        </p:spPr>
        <p:txBody>
          <a:bodyPr wrap="square" lIns="0" tIns="0" rIns="0" bIns="0" rtlCol="0" anchor="ctr"/>
          <a:lstStyle/>
          <a:p>
            <a:pPr indent="0" marL="0">
              <a:buNone/>
            </a:pPr>
            <a:r>
              <a:rPr lang="en-US" sz="1100" b="1" spc="150" kern="0" dirty="0">
                <a:solidFill>
                  <a:srgbClr val="D9773A"/>
                </a:solidFill>
                <a:latin typeface="Calibri" pitchFamily="34" charset="0"/>
                <a:ea typeface="Calibri" pitchFamily="34" charset="-122"/>
                <a:cs typeface="Calibri" pitchFamily="34" charset="-120"/>
              </a:rPr>
              <a:t>PROMPT — dán vào Claude</a:t>
            </a:r>
            <a:endParaRPr lang="en-US" sz="1100" dirty="0"/>
          </a:p>
        </p:txBody>
      </p:sp>
      <p:sp>
        <p:nvSpPr>
          <p:cNvPr id="11" name="Text 7"/>
          <p:cNvSpPr txBox="1"/>
          <p:nvPr/>
        </p:nvSpPr>
        <p:spPr>
          <a:xfrm>
            <a:off x="822960" y="2423160"/>
            <a:ext cx="6400800" cy="3657600"/>
          </a:xfrm>
          <a:prstGeom prst="rect">
            <a:avLst/>
          </a:prstGeom>
          <a:noFill/>
          <a:ln/>
        </p:spPr>
        <p:txBody>
          <a:bodyPr wrap="square" lIns="0" tIns="0" rIns="0" bIns="0" rtlCol="0" anchor="t">
            <a:normAutofit/>
          </a:bodyPr>
          <a:lstStyle/>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File đính kèm là call log tháng 9/2026 (mỗi dòng = 1 cuộc gọi).</a:t>
            </a:r>
            <a:endParaRPr lang="en-US" sz="1400" dirty="0"/>
          </a:p>
          <a:p>
            <a:pPr indent="0" marL="0">
              <a:spcAft>
                <a:spcPts val="200"/>
              </a:spcAft>
              <a:buNone/>
            </a:pP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1. Mô tả cấu trúc: số dòng, các cột, kiểu dữ liệu.</a:t>
            </a: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2. Kiểm tra: ô trống, trùng mã cuộc gọi, thời lượng âm / 0 giây /</a:t>
            </a: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   &gt; 7200 giây, mã agent không có trong danh sách agent của Project,</a:t>
            </a: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   cuộc gọi ngoài giờ hoạt động (TS-BH: 08:00–21:00, T2–T7).</a:t>
            </a: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3. Với mỗi loại lỗi: số dòng bị ảnh hưởng, 3 ví dụ,</a:t>
            </a: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   đề xuất cách xử lý (xóa / gắn cờ / sửa).</a:t>
            </a:r>
            <a:endParaRPr lang="en-US" sz="1400" dirty="0"/>
          </a:p>
          <a:p>
            <a:pPr indent="0" marL="0">
              <a:spcAft>
                <a:spcPts val="200"/>
              </a:spcAft>
              <a:buNone/>
            </a:pP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Xuất bảng tổng hợp. Tính bằng code trên toàn bộ file.</a:t>
            </a: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Chưa sửa gì cho đến khi tôi duyệt.</a:t>
            </a:r>
            <a:endParaRPr lang="en-US" sz="1400" dirty="0"/>
          </a:p>
        </p:txBody>
      </p:sp>
      <p:sp>
        <p:nvSpPr>
          <p:cNvPr id="12" name="Text 8"/>
          <p:cNvSpPr txBox="1"/>
          <p:nvPr/>
        </p:nvSpPr>
        <p:spPr>
          <a:xfrm>
            <a:off x="7818120" y="1691640"/>
            <a:ext cx="3824935" cy="411480"/>
          </a:xfrm>
          <a:prstGeom prst="rect">
            <a:avLst/>
          </a:prstGeom>
          <a:noFill/>
          <a:ln/>
        </p:spPr>
        <p:txBody>
          <a:bodyPr wrap="square" lIns="0" tIns="0" rIns="0" bIns="0" rtlCol="0" anchor="t"/>
          <a:lstStyle/>
          <a:p>
            <a:pPr indent="0" marL="0">
              <a:buNone/>
            </a:pPr>
            <a:r>
              <a:rPr lang="en-US" sz="1700" b="1" dirty="0">
                <a:solidFill>
                  <a:srgbClr val="1B2A38"/>
                </a:solidFill>
                <a:latin typeface="Cambria" pitchFamily="34" charset="0"/>
                <a:ea typeface="Cambria" pitchFamily="34" charset="-122"/>
                <a:cs typeface="Cambria" pitchFamily="34" charset="-120"/>
              </a:rPr>
              <a:t>Vì sao viết như vậy?</a:t>
            </a:r>
            <a:endParaRPr lang="en-US" sz="1700" dirty="0"/>
          </a:p>
        </p:txBody>
      </p:sp>
      <p:sp>
        <p:nvSpPr>
          <p:cNvPr id="13" name="Text 9"/>
          <p:cNvSpPr txBox="1"/>
          <p:nvPr/>
        </p:nvSpPr>
        <p:spPr>
          <a:xfrm>
            <a:off x="7818120" y="2240280"/>
            <a:ext cx="3824935" cy="4023360"/>
          </a:xfrm>
          <a:prstGeom prst="rect">
            <a:avLst/>
          </a:prstGeom>
          <a:noFill/>
          <a:ln/>
        </p:spPr>
        <p:txBody>
          <a:bodyPr wrap="square" lIns="0" tIns="0" rIns="0" bIns="0" rtlCol="0" anchor="t">
            <a:normAutofit/>
          </a:bodyPr>
          <a:lstStyle/>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“Mỗi dòng = 1 cuộc gọi”</a:t>
            </a:r>
            <a:pPr indent="0" marL="0">
              <a:buNone/>
            </a:pPr>
            <a:r>
              <a:rPr lang="en-US" sz="1400" dirty="0">
                <a:solidFill>
                  <a:srgbClr val="1B2A38"/>
                </a:solidFill>
                <a:latin typeface="Calibri" pitchFamily="34" charset="0"/>
                <a:ea typeface="Calibri" pitchFamily="34" charset="-122"/>
                <a:cs typeface="Calibri" pitchFamily="34" charset="-120"/>
              </a:rPr>
              <a:t> — nói rõ grain để Claude không hiểu nhầm.</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Liệt kê từng loại lỗi</a:t>
            </a:r>
            <a:pPr indent="0" marL="0">
              <a:buNone/>
            </a:pPr>
            <a:r>
              <a:rPr lang="en-US" sz="1400" dirty="0">
                <a:solidFill>
                  <a:srgbClr val="1B2A38"/>
                </a:solidFill>
                <a:latin typeface="Calibri" pitchFamily="34" charset="0"/>
                <a:ea typeface="Calibri" pitchFamily="34" charset="-122"/>
                <a:cs typeface="Calibri" pitchFamily="34" charset="-120"/>
              </a:rPr>
              <a:t> — Claude chỉ kiểm tra cái bạn yêu cầu.</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3 ví dụ</a:t>
            </a:r>
            <a:pPr indent="0" marL="0">
              <a:buNone/>
            </a:pPr>
            <a:r>
              <a:rPr lang="en-US" sz="1400" dirty="0">
                <a:solidFill>
                  <a:srgbClr val="1B2A38"/>
                </a:solidFill>
                <a:latin typeface="Calibri" pitchFamily="34" charset="0"/>
                <a:ea typeface="Calibri" pitchFamily="34" charset="-122"/>
                <a:cs typeface="Calibri" pitchFamily="34" charset="-120"/>
              </a:rPr>
              <a:t> — để bạn mở file kiểm tra tận mắt.</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Xóa / gắn cờ / sửa</a:t>
            </a:r>
            <a:pPr indent="0" marL="0">
              <a:buNone/>
            </a:pPr>
            <a:r>
              <a:rPr lang="en-US" sz="1400" dirty="0">
                <a:solidFill>
                  <a:srgbClr val="1B2A38"/>
                </a:solidFill>
                <a:latin typeface="Calibri" pitchFamily="34" charset="0"/>
                <a:ea typeface="Calibri" pitchFamily="34" charset="-122"/>
                <a:cs typeface="Calibri" pitchFamily="34" charset="-120"/>
              </a:rPr>
              <a:t> — mỗi lỗi có cách xử lý khác nhau.</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“Chưa sửa gì”</a:t>
            </a:r>
            <a:pPr indent="0" marL="0">
              <a:buNone/>
            </a:pPr>
            <a:r>
              <a:rPr lang="en-US" sz="1400" dirty="0">
                <a:solidFill>
                  <a:srgbClr val="1B2A38"/>
                </a:solidFill>
                <a:latin typeface="Calibri" pitchFamily="34" charset="0"/>
                <a:ea typeface="Calibri" pitchFamily="34" charset="-122"/>
                <a:cs typeface="Calibri" pitchFamily="34" charset="-120"/>
              </a:rPr>
              <a:t> — giữ nguyên dữ liệu gốc làm bằng chứng.</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591056" cy="292608"/>
          </a:xfrm>
          <a:prstGeom prst="roundRect">
            <a:avLst>
              <a:gd name="adj" fmla="val 50000"/>
            </a:avLst>
          </a:prstGeom>
          <a:solidFill>
            <a:srgbClr val="DDF1E5"/>
          </a:solidFill>
          <a:ln w="12700">
            <a:solidFill>
              <a:srgbClr val="DDF1E5"/>
            </a:solidFill>
            <a:prstDash val="solid"/>
          </a:ln>
        </p:spPr>
      </p:sp>
      <p:sp>
        <p:nvSpPr>
          <p:cNvPr id="3" name="Text 1"/>
          <p:cNvSpPr txBox="1"/>
          <p:nvPr/>
        </p:nvSpPr>
        <p:spPr>
          <a:xfrm>
            <a:off x="548640" y="384048"/>
            <a:ext cx="1591056" cy="292608"/>
          </a:xfrm>
          <a:prstGeom prst="rect">
            <a:avLst/>
          </a:prstGeom>
          <a:noFill/>
          <a:ln/>
        </p:spPr>
        <p:txBody>
          <a:bodyPr wrap="square" lIns="0" tIns="0" rIns="0" bIns="0" rtlCol="0" anchor="ctr"/>
          <a:lstStyle/>
          <a:p>
            <a:pPr algn="ctr" indent="0" marL="0">
              <a:buNone/>
            </a:pPr>
            <a:r>
              <a:rPr lang="en-US" sz="1050" b="1" spc="150" kern="0" dirty="0">
                <a:solidFill>
                  <a:srgbClr val="2E8B57"/>
                </a:solidFill>
                <a:latin typeface="Calibri" pitchFamily="34" charset="0"/>
                <a:ea typeface="Calibri" pitchFamily="34" charset="-122"/>
                <a:cs typeface="Calibri" pitchFamily="34" charset="-120"/>
              </a:rPr>
              <a:t>KẾT QUẢ MONG ĐỢI</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Kết quả mong đợi Lab 1.2 — những gì bạn sẽ tìm thấy</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1 · Nền tảng Claude &amp; dữ liệu</a:t>
            </a:r>
            <a:endParaRPr lang="en-US" sz="1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4807580"/>
                <a:gridCol w="1479255"/>
                <a:gridCol w="4807580"/>
              </a:tblGrid>
              <a:tr h="41563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Loại lỗi</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Số dòng</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Đề xuất xử lý</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r>
              <a:tr h="415636">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Trùng mã cuộc gọi (xuất file 2 lần)</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63</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Xóa bản trùng, giữ 1</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415636">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Giờ định dạng UTC (…T02:15:00Z, lệch 7 tiếng)</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22</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Sửa: cộng 7 giờ</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15636">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Đã nghe/kết nối nhưng 0 giây đàm thoại</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41</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Gắn cờ, không tính “liên hệ được”</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415636">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Đàm thoại &gt; 7.200 giây (treo line)</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7</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Gắn cờ, loại khỏi AHT</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15636">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Thời lượng âm (ACW âm)</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Sửa về 0, gắn cờ</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415636">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Mã agent sai định dạng (ext2005, EXT 2007)</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592</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Sửa: viết hoa, bỏ dấu cách</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15636">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Mã không có trong danh sách (EXT2018 · EXT2099)</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357 · 251</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Bổ sung bảng nối mã / hỏi HR</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415636">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Trống mã agent (539 bỏ máy hợp lệ + 14 lỗi)</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553</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Chỉ gắn cờ 14 cuộc đã nghe</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15636">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Chặng chuyển tiếp (có mã cuộc gọi gốc)</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48</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Không đếm 2 lần vào sản lượng</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415636">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Outbound sau 21:00 (3 cuộc vào Chủ nhật)</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24</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Gắn cờ tuân thủ giờ gọi</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61772" cy="292608"/>
          </a:xfrm>
          <a:prstGeom prst="roundRect">
            <a:avLst>
              <a:gd name="adj" fmla="val 50000"/>
            </a:avLst>
          </a:prstGeom>
          <a:solidFill>
            <a:srgbClr val="DDEFEE"/>
          </a:solidFill>
          <a:ln w="12700">
            <a:solidFill>
              <a:srgbClr val="DDEFEE"/>
            </a:solidFill>
            <a:prstDash val="solid"/>
          </a:ln>
        </p:spPr>
      </p:sp>
      <p:sp>
        <p:nvSpPr>
          <p:cNvPr id="3" name="Text 1"/>
          <p:cNvSpPr txBox="1"/>
          <p:nvPr/>
        </p:nvSpPr>
        <p:spPr>
          <a:xfrm>
            <a:off x="548640" y="384048"/>
            <a:ext cx="461772" cy="292608"/>
          </a:xfrm>
          <a:prstGeom prst="rect">
            <a:avLst/>
          </a:prstGeom>
          <a:noFill/>
          <a:ln/>
        </p:spPr>
        <p:txBody>
          <a:bodyPr wrap="square" lIns="0" tIns="0" rIns="0" bIns="0" rtlCol="0" anchor="ctr"/>
          <a:lstStyle/>
          <a:p>
            <a:pPr algn="ctr" indent="0" marL="0">
              <a:buNone/>
            </a:pPr>
            <a:r>
              <a:rPr lang="en-US" sz="1050" b="1" spc="150" kern="0" dirty="0">
                <a:solidFill>
                  <a:srgbClr val="2E7D7A"/>
                </a:solidFill>
                <a:latin typeface="Calibri" pitchFamily="34" charset="0"/>
                <a:ea typeface="Calibri" pitchFamily="34" charset="-122"/>
                <a:cs typeface="Calibri" pitchFamily="34" charset="-120"/>
              </a:rPr>
              <a:t>LAB</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Lab 1.3 · Từ điển dữ liệu v1 &amp; bảng nối mã</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1 · Nền tảng Claude &amp; dữ liệu</a:t>
            </a:r>
            <a:endParaRPr lang="en-US" sz="1000" dirty="0"/>
          </a:p>
        </p:txBody>
      </p:sp>
      <p:sp>
        <p:nvSpPr>
          <p:cNvPr id="7" name="Shape 4"/>
          <p:cNvSpPr/>
          <p:nvPr/>
        </p:nvSpPr>
        <p:spPr>
          <a:xfrm>
            <a:off x="548640" y="1691640"/>
            <a:ext cx="3931920" cy="4572000"/>
          </a:xfrm>
          <a:prstGeom prst="roundRect">
            <a:avLst>
              <a:gd name="adj" fmla="val 2326"/>
            </a:avLst>
          </a:prstGeom>
          <a:solidFill>
            <a:srgbClr val="DDEFEE"/>
          </a:solidFill>
          <a:ln w="12700">
            <a:solidFill>
              <a:srgbClr val="DDEFEE"/>
            </a:solidFill>
            <a:prstDash val="solid"/>
          </a:ln>
        </p:spPr>
      </p:sp>
      <p:sp>
        <p:nvSpPr>
          <p:cNvPr id="8" name="Shape 5"/>
          <p:cNvSpPr/>
          <p:nvPr/>
        </p:nvSpPr>
        <p:spPr>
          <a:xfrm>
            <a:off x="777240" y="1920240"/>
            <a:ext cx="502920" cy="502920"/>
          </a:xfrm>
          <a:prstGeom prst="roundRect">
            <a:avLst>
              <a:gd name="adj" fmla="val 22000"/>
            </a:avLst>
          </a:prstGeom>
          <a:solidFill>
            <a:srgbClr val="2E7D7A"/>
          </a:solidFill>
          <a:ln w="12700">
            <a:solidFill>
              <a:srgbClr val="2E7D7A"/>
            </a:solidFill>
            <a:prstDash val="solid"/>
          </a:ln>
        </p:spPr>
      </p:sp>
      <p:pic>
        <p:nvPicPr>
          <p:cNvPr id="9" name="Image 0" descr="preencoded.png">    </p:cNvPr>
          <p:cNvPicPr>
            <a:picLocks noChangeAspect="1"/>
          </p:cNvPicPr>
          <p:nvPr/>
        </p:nvPicPr>
        <p:blipFill>
          <a:blip r:embed="rId1"/>
          <a:stretch>
            <a:fillRect/>
          </a:stretch>
        </p:blipFill>
        <p:spPr>
          <a:xfrm>
            <a:off x="897941" y="2040941"/>
            <a:ext cx="261518" cy="261518"/>
          </a:xfrm>
          <a:prstGeom prst="rect">
            <a:avLst/>
          </a:prstGeom>
        </p:spPr>
      </p:pic>
      <p:sp>
        <p:nvSpPr>
          <p:cNvPr id="10" name="Text 6"/>
          <p:cNvSpPr txBox="1"/>
          <p:nvPr/>
        </p:nvSpPr>
        <p:spPr>
          <a:xfrm>
            <a:off x="1417320" y="1920240"/>
            <a:ext cx="2743200" cy="502920"/>
          </a:xfrm>
          <a:prstGeom prst="rect">
            <a:avLst/>
          </a:prstGeom>
          <a:noFill/>
          <a:ln/>
        </p:spPr>
        <p:txBody>
          <a:bodyPr wrap="square" lIns="0" tIns="0" rIns="0" bIns="0" rtlCol="0" anchor="ctr"/>
          <a:lstStyle/>
          <a:p>
            <a:pPr indent="0" marL="0">
              <a:buNone/>
            </a:pPr>
            <a:r>
              <a:rPr lang="en-US" sz="2200" b="1" dirty="0">
                <a:solidFill>
                  <a:srgbClr val="2E7D7A"/>
                </a:solidFill>
                <a:latin typeface="Cambria" pitchFamily="34" charset="0"/>
                <a:ea typeface="Cambria" pitchFamily="34" charset="-122"/>
                <a:cs typeface="Cambria" pitchFamily="34" charset="-120"/>
              </a:rPr>
              <a:t>25 phút</a:t>
            </a:r>
            <a:endParaRPr lang="en-US" sz="2200" dirty="0"/>
          </a:p>
        </p:txBody>
      </p:sp>
      <p:sp>
        <p:nvSpPr>
          <p:cNvPr id="11" name="Text 7"/>
          <p:cNvSpPr txBox="1"/>
          <p:nvPr/>
        </p:nvSpPr>
        <p:spPr>
          <a:xfrm>
            <a:off x="777240" y="2606040"/>
            <a:ext cx="3474720" cy="1325880"/>
          </a:xfrm>
          <a:prstGeom prst="rect">
            <a:avLst/>
          </a:prstGeom>
          <a:noFill/>
          <a:ln/>
        </p:spPr>
        <p:txBody>
          <a:bodyPr wrap="square" lIns="0" tIns="0" rIns="0" bIns="0" rtlCol="0" anchor="t">
            <a:normAutofit/>
          </a:bodyPr>
          <a:lstStyle/>
          <a:p>
            <a:pPr indent="0" marL="0">
              <a:buNone/>
            </a:pPr>
            <a:r>
              <a:rPr lang="en-US" sz="1400" b="1" dirty="0">
                <a:solidFill>
                  <a:srgbClr val="2E7D7A"/>
                </a:solidFill>
                <a:latin typeface="Calibri" pitchFamily="34" charset="0"/>
                <a:ea typeface="Calibri" pitchFamily="34" charset="-122"/>
                <a:cs typeface="Calibri" pitchFamily="34" charset="-120"/>
              </a:rPr>
              <a:t>Mục tiêu  </a:t>
            </a:r>
            <a:pPr indent="0" marL="0">
              <a:buNone/>
            </a:pPr>
            <a:r>
              <a:rPr lang="en-US" sz="1400" dirty="0">
                <a:solidFill>
                  <a:srgbClr val="1B2A38"/>
                </a:solidFill>
                <a:latin typeface="Calibri" pitchFamily="34" charset="0"/>
                <a:ea typeface="Calibri" pitchFamily="34" charset="-122"/>
                <a:cs typeface="Calibri" pitchFamily="34" charset="-120"/>
              </a:rPr>
              <a:t>Mọi người hiểu mỗi cột giống nhau, và mọi mã agent đều nối được về một nhân viên.</a:t>
            </a:r>
            <a:endParaRPr lang="en-US" sz="1400" dirty="0"/>
          </a:p>
        </p:txBody>
      </p:sp>
      <p:sp>
        <p:nvSpPr>
          <p:cNvPr id="12" name="Text 8"/>
          <p:cNvSpPr txBox="1"/>
          <p:nvPr/>
        </p:nvSpPr>
        <p:spPr>
          <a:xfrm>
            <a:off x="777240" y="3977640"/>
            <a:ext cx="3474720" cy="274320"/>
          </a:xfrm>
          <a:prstGeom prst="rect">
            <a:avLst/>
          </a:prstGeom>
          <a:noFill/>
          <a:ln/>
        </p:spPr>
        <p:txBody>
          <a:bodyPr wrap="square" lIns="0" tIns="0" rIns="0" bIns="0" rtlCol="0" anchor="t"/>
          <a:lstStyle/>
          <a:p>
            <a:pPr indent="0" marL="0">
              <a:buNone/>
            </a:pPr>
            <a:r>
              <a:rPr lang="en-US" sz="1250" b="1" dirty="0">
                <a:solidFill>
                  <a:srgbClr val="2E7D7A"/>
                </a:solidFill>
                <a:latin typeface="Calibri" pitchFamily="34" charset="0"/>
                <a:ea typeface="Calibri" pitchFamily="34" charset="-122"/>
                <a:cs typeface="Calibri" pitchFamily="34" charset="-120"/>
              </a:rPr>
              <a:t>Dữ liệu dùng</a:t>
            </a:r>
            <a:endParaRPr lang="en-US" sz="1250" dirty="0"/>
          </a:p>
        </p:txBody>
      </p:sp>
      <p:sp>
        <p:nvSpPr>
          <p:cNvPr id="13" name="Text 9"/>
          <p:cNvSpPr txBox="1"/>
          <p:nvPr/>
        </p:nvSpPr>
        <p:spPr>
          <a:xfrm>
            <a:off x="777240" y="4279392"/>
            <a:ext cx="3474720" cy="1115568"/>
          </a:xfrm>
          <a:prstGeom prst="rect">
            <a:avLst/>
          </a:prstGeom>
          <a:noFill/>
          <a:ln/>
        </p:spPr>
        <p:txBody>
          <a:bodyPr wrap="square" lIns="0" tIns="0" rIns="0" bIns="0" rtlCol="0" anchor="t">
            <a:normAutofit/>
          </a:bodyPr>
          <a:lstStyle/>
          <a:p>
            <a:pPr indent="0" marL="0">
              <a:buNone/>
            </a:pPr>
            <a:r>
              <a:rPr lang="en-US" sz="1050" dirty="0">
                <a:solidFill>
                  <a:srgbClr val="1B2A38"/>
                </a:solidFill>
                <a:latin typeface="Courier New" pitchFamily="34" charset="0"/>
                <a:ea typeface="Courier New" pitchFamily="34" charset="-122"/>
                <a:cs typeface="Courier New" pitchFamily="34" charset="-120"/>
              </a:rPr>
              <a:t>call_log_2026-09.csv</a:t>
            </a:r>
            <a:endParaRPr lang="en-US" sz="1050" dirty="0"/>
          </a:p>
          <a:p>
            <a:pPr indent="0" marL="0">
              <a:buNone/>
            </a:pPr>
            <a:r>
              <a:rPr lang="en-US" sz="1050" dirty="0">
                <a:solidFill>
                  <a:srgbClr val="1B2A38"/>
                </a:solidFill>
                <a:latin typeface="Courier New" pitchFamily="34" charset="0"/>
                <a:ea typeface="Courier New" pitchFamily="34" charset="-122"/>
                <a:cs typeface="Courier New" pitchFamily="34" charset="-120"/>
              </a:rPr>
              <a:t>trang_thai_agent_2026-09.csv</a:t>
            </a:r>
            <a:endParaRPr lang="en-US" sz="1050" dirty="0"/>
          </a:p>
          <a:p>
            <a:pPr indent="0" marL="0">
              <a:buNone/>
            </a:pPr>
            <a:r>
              <a:rPr lang="en-US" sz="1050" dirty="0">
                <a:solidFill>
                  <a:srgbClr val="1B2A38"/>
                </a:solidFill>
                <a:latin typeface="Courier New" pitchFamily="34" charset="0"/>
                <a:ea typeface="Courier New" pitchFamily="34" charset="-122"/>
                <a:cs typeface="Courier New" pitchFamily="34" charset="-120"/>
              </a:rPr>
              <a:t>cham_cong_2026-09.csv</a:t>
            </a:r>
            <a:endParaRPr lang="en-US" sz="1050" dirty="0"/>
          </a:p>
          <a:p>
            <a:pPr indent="0" marL="0">
              <a:buNone/>
            </a:pPr>
            <a:r>
              <a:rPr lang="en-US" sz="1050" dirty="0">
                <a:solidFill>
                  <a:srgbClr val="1B2A38"/>
                </a:solidFill>
                <a:latin typeface="Courier New" pitchFamily="34" charset="0"/>
                <a:ea typeface="Courier New" pitchFamily="34" charset="-122"/>
                <a:cs typeface="Courier New" pitchFamily="34" charset="-120"/>
              </a:rPr>
              <a:t>danh_sach_agent.csv</a:t>
            </a:r>
            <a:endParaRPr lang="en-US" sz="1050" dirty="0"/>
          </a:p>
        </p:txBody>
      </p:sp>
      <p:sp>
        <p:nvSpPr>
          <p:cNvPr id="14" name="Text 10"/>
          <p:cNvSpPr txBox="1"/>
          <p:nvPr/>
        </p:nvSpPr>
        <p:spPr>
          <a:xfrm>
            <a:off x="777240" y="5458968"/>
            <a:ext cx="3474720" cy="274320"/>
          </a:xfrm>
          <a:prstGeom prst="rect">
            <a:avLst/>
          </a:prstGeom>
          <a:noFill/>
          <a:ln/>
        </p:spPr>
        <p:txBody>
          <a:bodyPr wrap="square" lIns="0" tIns="0" rIns="0" bIns="0" rtlCol="0" anchor="t"/>
          <a:lstStyle/>
          <a:p>
            <a:pPr indent="0" marL="0">
              <a:buNone/>
            </a:pPr>
            <a:r>
              <a:rPr lang="en-US" sz="1250" b="1" dirty="0">
                <a:solidFill>
                  <a:srgbClr val="2E7D7A"/>
                </a:solidFill>
                <a:latin typeface="Calibri" pitchFamily="34" charset="0"/>
                <a:ea typeface="Calibri" pitchFamily="34" charset="-122"/>
                <a:cs typeface="Calibri" pitchFamily="34" charset="-120"/>
              </a:rPr>
              <a:t>Sản phẩm</a:t>
            </a:r>
            <a:endParaRPr lang="en-US" sz="1250" dirty="0"/>
          </a:p>
        </p:txBody>
      </p:sp>
      <p:sp>
        <p:nvSpPr>
          <p:cNvPr id="15" name="Text 11"/>
          <p:cNvSpPr txBox="1"/>
          <p:nvPr/>
        </p:nvSpPr>
        <p:spPr>
          <a:xfrm>
            <a:off x="777240" y="5760720"/>
            <a:ext cx="3474720" cy="347472"/>
          </a:xfrm>
          <a:prstGeom prst="rect">
            <a:avLst/>
          </a:prstGeom>
          <a:noFill/>
          <a:ln/>
        </p:spPr>
        <p:txBody>
          <a:bodyPr wrap="square" lIns="0" tIns="0" rIns="0" bIns="0" rtlCol="0" anchor="t">
            <a:normAutofit/>
          </a:bodyPr>
          <a:lstStyle/>
          <a:p>
            <a:pPr indent="0" marL="0">
              <a:buNone/>
            </a:pPr>
            <a:r>
              <a:rPr lang="en-US" sz="1300" dirty="0">
                <a:solidFill>
                  <a:srgbClr val="1B2A38"/>
                </a:solidFill>
                <a:latin typeface="Calibri" pitchFamily="34" charset="0"/>
                <a:ea typeface="Calibri" pitchFamily="34" charset="-122"/>
                <a:cs typeface="Calibri" pitchFamily="34" charset="-120"/>
              </a:rPr>
              <a:t>Từ điển dữ liệu v1 + bảng nối mã (mục tiêu 100% khớp ở bài về nhà).</a:t>
            </a:r>
            <a:endParaRPr lang="en-US" sz="1300" dirty="0"/>
          </a:p>
        </p:txBody>
      </p:sp>
      <p:sp>
        <p:nvSpPr>
          <p:cNvPr id="16" name="Shape 12"/>
          <p:cNvSpPr/>
          <p:nvPr/>
        </p:nvSpPr>
        <p:spPr>
          <a:xfrm>
            <a:off x="4800600" y="1737360"/>
            <a:ext cx="438912" cy="438912"/>
          </a:xfrm>
          <a:prstGeom prst="ellipse">
            <a:avLst/>
          </a:prstGeom>
          <a:solidFill>
            <a:srgbClr val="2E7D7A"/>
          </a:solidFill>
          <a:ln w="12700">
            <a:solidFill>
              <a:srgbClr val="2E7D7A"/>
            </a:solidFill>
            <a:prstDash val="solid"/>
          </a:ln>
        </p:spPr>
      </p:sp>
      <p:sp>
        <p:nvSpPr>
          <p:cNvPr id="17" name="Text 13"/>
          <p:cNvSpPr txBox="1"/>
          <p:nvPr/>
        </p:nvSpPr>
        <p:spPr>
          <a:xfrm>
            <a:off x="4800600" y="173736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8" name="Text 14"/>
          <p:cNvSpPr txBox="1"/>
          <p:nvPr/>
        </p:nvSpPr>
        <p:spPr>
          <a:xfrm>
            <a:off x="5394960" y="1691640"/>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Yêu cầu Claude lập Từ điển dữ liệu</a:t>
            </a:r>
            <a:pPr indent="0" marL="0">
              <a:buNone/>
            </a:pPr>
            <a:r>
              <a:rPr lang="en-US" sz="1450" dirty="0">
                <a:solidFill>
                  <a:srgbClr val="1B2A38"/>
                </a:solidFill>
                <a:latin typeface="Calibri" pitchFamily="34" charset="0"/>
                <a:ea typeface="Calibri" pitchFamily="34" charset="-122"/>
                <a:cs typeface="Calibri" pitchFamily="34" charset="-120"/>
              </a:rPr>
              <a:t> — cho 3 nguồn: tên cột – ý nghĩa – kiểu – nguồn – quy tắc hợp lệ.</a:t>
            </a:r>
            <a:endParaRPr lang="en-US" sz="1450" dirty="0"/>
          </a:p>
        </p:txBody>
      </p:sp>
      <p:sp>
        <p:nvSpPr>
          <p:cNvPr id="19" name="Shape 15"/>
          <p:cNvSpPr/>
          <p:nvPr/>
        </p:nvSpPr>
        <p:spPr>
          <a:xfrm>
            <a:off x="4800600" y="2677363"/>
            <a:ext cx="438912" cy="438912"/>
          </a:xfrm>
          <a:prstGeom prst="ellipse">
            <a:avLst/>
          </a:prstGeom>
          <a:solidFill>
            <a:srgbClr val="2E7D7A"/>
          </a:solidFill>
          <a:ln w="12700">
            <a:solidFill>
              <a:srgbClr val="2E7D7A"/>
            </a:solidFill>
            <a:prstDash val="solid"/>
          </a:ln>
        </p:spPr>
      </p:sp>
      <p:sp>
        <p:nvSpPr>
          <p:cNvPr id="20" name="Text 16"/>
          <p:cNvSpPr txBox="1"/>
          <p:nvPr/>
        </p:nvSpPr>
        <p:spPr>
          <a:xfrm>
            <a:off x="4800600" y="2677363"/>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1" name="Text 17"/>
          <p:cNvSpPr txBox="1"/>
          <p:nvPr/>
        </p:nvSpPr>
        <p:spPr>
          <a:xfrm>
            <a:off x="5394960" y="2631643"/>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Sửa phần nghiệp vụ</a:t>
            </a:r>
            <a:pPr indent="0" marL="0">
              <a:buNone/>
            </a:pPr>
            <a:r>
              <a:rPr lang="en-US" sz="1450" dirty="0">
                <a:solidFill>
                  <a:srgbClr val="1B2A38"/>
                </a:solidFill>
                <a:latin typeface="Calibri" pitchFamily="34" charset="0"/>
                <a:ea typeface="Calibri" pitchFamily="34" charset="-122"/>
                <a:cs typeface="Calibri" pitchFamily="34" charset="-120"/>
              </a:rPr>
              <a:t> — Claude đoán đúng kiểu dữ liệu, nhưng “quy tắc hợp lệ” phải do người làm nghề chốt.</a:t>
            </a:r>
            <a:endParaRPr lang="en-US" sz="1450" dirty="0"/>
          </a:p>
        </p:txBody>
      </p:sp>
      <p:sp>
        <p:nvSpPr>
          <p:cNvPr id="22" name="Shape 18"/>
          <p:cNvSpPr/>
          <p:nvPr/>
        </p:nvSpPr>
        <p:spPr>
          <a:xfrm>
            <a:off x="4800600" y="3617366"/>
            <a:ext cx="438912" cy="438912"/>
          </a:xfrm>
          <a:prstGeom prst="ellipse">
            <a:avLst/>
          </a:prstGeom>
          <a:solidFill>
            <a:srgbClr val="2E7D7A"/>
          </a:solidFill>
          <a:ln w="12700">
            <a:solidFill>
              <a:srgbClr val="2E7D7A"/>
            </a:solidFill>
            <a:prstDash val="solid"/>
          </a:ln>
        </p:spPr>
      </p:sp>
      <p:sp>
        <p:nvSpPr>
          <p:cNvPr id="23" name="Text 19"/>
          <p:cNvSpPr txBox="1"/>
          <p:nvPr/>
        </p:nvSpPr>
        <p:spPr>
          <a:xfrm>
            <a:off x="4800600" y="3617366"/>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4" name="Text 20"/>
          <p:cNvSpPr txBox="1"/>
          <p:nvPr/>
        </p:nvSpPr>
        <p:spPr>
          <a:xfrm>
            <a:off x="5394960" y="3571646"/>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Lập bảng nối mã</a:t>
            </a:r>
            <a:pPr indent="0" marL="0">
              <a:buNone/>
            </a:pPr>
            <a:r>
              <a:rPr lang="en-US" sz="1450" dirty="0">
                <a:solidFill>
                  <a:srgbClr val="1B2A38"/>
                </a:solidFill>
                <a:latin typeface="Calibri" pitchFamily="34" charset="0"/>
                <a:ea typeface="Calibri" pitchFamily="34" charset="-122"/>
                <a:cs typeface="Calibri" pitchFamily="34" charset="-120"/>
              </a:rPr>
              <a:t> — mọi mã agent xuất hiện trong call log/trạng thái → mã NV, team, dự án.</a:t>
            </a:r>
            <a:endParaRPr lang="en-US" sz="1450" dirty="0"/>
          </a:p>
        </p:txBody>
      </p:sp>
      <p:sp>
        <p:nvSpPr>
          <p:cNvPr id="25" name="Shape 21"/>
          <p:cNvSpPr/>
          <p:nvPr/>
        </p:nvSpPr>
        <p:spPr>
          <a:xfrm>
            <a:off x="4800600" y="4557370"/>
            <a:ext cx="438912" cy="438912"/>
          </a:xfrm>
          <a:prstGeom prst="ellipse">
            <a:avLst/>
          </a:prstGeom>
          <a:solidFill>
            <a:srgbClr val="2E7D7A"/>
          </a:solidFill>
          <a:ln w="12700">
            <a:solidFill>
              <a:srgbClr val="2E7D7A"/>
            </a:solidFill>
            <a:prstDash val="solid"/>
          </a:ln>
        </p:spPr>
      </p:sp>
      <p:sp>
        <p:nvSpPr>
          <p:cNvPr id="26" name="Text 22"/>
          <p:cNvSpPr txBox="1"/>
          <p:nvPr/>
        </p:nvSpPr>
        <p:spPr>
          <a:xfrm>
            <a:off x="4800600" y="455737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7" name="Text 23"/>
          <p:cNvSpPr txBox="1"/>
          <p:nvPr/>
        </p:nvSpPr>
        <p:spPr>
          <a:xfrm>
            <a:off x="5394960" y="4511650"/>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Xử lý mã chưa khớp</a:t>
            </a:r>
            <a:pPr indent="0" marL="0">
              <a:buNone/>
            </a:pPr>
            <a:r>
              <a:rPr lang="en-US" sz="1450" dirty="0">
                <a:solidFill>
                  <a:srgbClr val="1B2A38"/>
                </a:solidFill>
                <a:latin typeface="Calibri" pitchFamily="34" charset="0"/>
                <a:ea typeface="Calibri" pitchFamily="34" charset="-122"/>
                <a:cs typeface="Calibri" pitchFamily="34" charset="-120"/>
              </a:rPr>
              <a:t> — ext2005, EXT 2007, EXT2018 (NV0118), EXT2099 (không có trong HR).</a:t>
            </a:r>
            <a:endParaRPr lang="en-US" sz="1450" dirty="0"/>
          </a:p>
        </p:txBody>
      </p:sp>
      <p:sp>
        <p:nvSpPr>
          <p:cNvPr id="28" name="Shape 24"/>
          <p:cNvSpPr/>
          <p:nvPr/>
        </p:nvSpPr>
        <p:spPr>
          <a:xfrm>
            <a:off x="4800600" y="5497373"/>
            <a:ext cx="438912" cy="438912"/>
          </a:xfrm>
          <a:prstGeom prst="ellipse">
            <a:avLst/>
          </a:prstGeom>
          <a:solidFill>
            <a:srgbClr val="2E7D7A"/>
          </a:solidFill>
          <a:ln w="12700">
            <a:solidFill>
              <a:srgbClr val="2E7D7A"/>
            </a:solidFill>
            <a:prstDash val="solid"/>
          </a:ln>
        </p:spPr>
      </p:sp>
      <p:sp>
        <p:nvSpPr>
          <p:cNvPr id="29" name="Text 25"/>
          <p:cNvSpPr txBox="1"/>
          <p:nvPr/>
        </p:nvSpPr>
        <p:spPr>
          <a:xfrm>
            <a:off x="4800600" y="5497373"/>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0" name="Text 26"/>
          <p:cNvSpPr txBox="1"/>
          <p:nvPr/>
        </p:nvSpPr>
        <p:spPr>
          <a:xfrm>
            <a:off x="5394960" y="5451653"/>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Lưu cả hai file vào Project</a:t>
            </a:r>
            <a:pPr indent="0" marL="0">
              <a:buNone/>
            </a:pPr>
            <a:r>
              <a:rPr lang="en-US" sz="1450" dirty="0">
                <a:solidFill>
                  <a:srgbClr val="1B2A38"/>
                </a:solidFill>
                <a:latin typeface="Calibri" pitchFamily="34" charset="0"/>
                <a:ea typeface="Calibri" pitchFamily="34" charset="-122"/>
                <a:cs typeface="Calibri" pitchFamily="34" charset="-120"/>
              </a:rPr>
              <a:t> — đặt tên Tu_dien_du_lieu, Bang_noi_ma — custom instructions đã trỏ tới.</a:t>
            </a:r>
            <a:endParaRPr lang="en-US" sz="14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591056" cy="292608"/>
          </a:xfrm>
          <a:prstGeom prst="roundRect">
            <a:avLst>
              <a:gd name="adj" fmla="val 50000"/>
            </a:avLst>
          </a:prstGeom>
          <a:solidFill>
            <a:srgbClr val="DDF1E5"/>
          </a:solidFill>
          <a:ln w="12700">
            <a:solidFill>
              <a:srgbClr val="DDF1E5"/>
            </a:solidFill>
            <a:prstDash val="solid"/>
          </a:ln>
        </p:spPr>
      </p:sp>
      <p:sp>
        <p:nvSpPr>
          <p:cNvPr id="3" name="Text 1"/>
          <p:cNvSpPr txBox="1"/>
          <p:nvPr/>
        </p:nvSpPr>
        <p:spPr>
          <a:xfrm>
            <a:off x="548640" y="384048"/>
            <a:ext cx="1591056" cy="292608"/>
          </a:xfrm>
          <a:prstGeom prst="rect">
            <a:avLst/>
          </a:prstGeom>
          <a:noFill/>
          <a:ln/>
        </p:spPr>
        <p:txBody>
          <a:bodyPr wrap="square" lIns="0" tIns="0" rIns="0" bIns="0" rtlCol="0" anchor="ctr"/>
          <a:lstStyle/>
          <a:p>
            <a:pPr algn="ctr" indent="0" marL="0">
              <a:buNone/>
            </a:pPr>
            <a:r>
              <a:rPr lang="en-US" sz="1050" b="1" spc="150" kern="0" dirty="0">
                <a:solidFill>
                  <a:srgbClr val="2E8B57"/>
                </a:solidFill>
                <a:latin typeface="Calibri" pitchFamily="34" charset="0"/>
                <a:ea typeface="Calibri" pitchFamily="34" charset="-122"/>
                <a:cs typeface="Calibri" pitchFamily="34" charset="-120"/>
              </a:rPr>
              <a:t>KẾT QUẢ MONG ĐỢI</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Mẫu Từ điển dữ liệu v1 (trích call log)</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1 · Nền tảng Claude &amp; dữ liệu</a:t>
            </a:r>
            <a:endParaRPr lang="en-US" sz="1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681150"/>
                <a:gridCol w="3605685"/>
                <a:gridCol w="1386802"/>
                <a:gridCol w="3420778"/>
              </a:tblGrid>
              <a:tr h="5080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Cột</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Ý nghĩa</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Kiểu</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Quy tắc hợp lệ</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r>
              <a:tr h="508000">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ma_cuoc_goi</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Mã duy nhất của 1 cuộc gọi</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Chuỗi</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Không trùng, không trống</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508000">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thoi_diem_bat_dau</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Thời điểm bắt đầu, giờ Việt Nam</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Ngày giờ</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YYYY-MM-DD HH:MM:SS, không có “Z”</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508000">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huong</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Inbound / Outbound</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Mã</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IN hoặc OUT</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508000">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ma_agent</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Mã tổng đài của agent</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Mã</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EXT + 4 số; trống chỉ khi ABANDONED</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508000">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thoi_gian_dam_thoai_giay</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Thời gian nói chuyện</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Số giây</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 0; &gt; 7.200 → gắn cờ</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508000">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trang_thai_ket_noi</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Kết quả kết nối kỹ thuật</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Mã</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ANSWERED, ABANDONED, CONNECTED, NO_ANSWER, BUSY, FAILED</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508000">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ghi_chu_ket_qua</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Agent ghi tay kết quả</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Văn bản tự do</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48 biến thể → chuẩn hóa ở buổi 2</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508000">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ma_cuoc_goi_goc</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Mã cuộc gốc nếu là chặng chuyển tiếp</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Chuỗi</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Có giá trị → không đếm sản lượng</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417320" cy="292608"/>
          </a:xfrm>
          <a:prstGeom prst="roundRect">
            <a:avLst>
              <a:gd name="adj" fmla="val 50000"/>
            </a:avLst>
          </a:prstGeom>
          <a:solidFill>
            <a:srgbClr val="ECE6F5"/>
          </a:solidFill>
          <a:ln w="12700">
            <a:solidFill>
              <a:srgbClr val="ECE6F5"/>
            </a:solidFill>
            <a:prstDash val="solid"/>
          </a:ln>
        </p:spPr>
      </p:sp>
      <p:sp>
        <p:nvSpPr>
          <p:cNvPr id="3" name="Text 1"/>
          <p:cNvSpPr txBox="1"/>
          <p:nvPr/>
        </p:nvSpPr>
        <p:spPr>
          <a:xfrm>
            <a:off x="548640" y="384048"/>
            <a:ext cx="1417320" cy="292608"/>
          </a:xfrm>
          <a:prstGeom prst="rect">
            <a:avLst/>
          </a:prstGeom>
          <a:noFill/>
          <a:ln/>
        </p:spPr>
        <p:txBody>
          <a:bodyPr wrap="square" lIns="0" tIns="0" rIns="0" bIns="0" rtlCol="0" anchor="ctr"/>
          <a:lstStyle/>
          <a:p>
            <a:pPr algn="ctr" indent="0" marL="0">
              <a:buNone/>
            </a:pPr>
            <a:r>
              <a:rPr lang="en-US" sz="1050" b="1" spc="150" kern="0" dirty="0">
                <a:solidFill>
                  <a:srgbClr val="6E4E9E"/>
                </a:solidFill>
                <a:latin typeface="Calibri" pitchFamily="34" charset="0"/>
                <a:ea typeface="Calibri" pitchFamily="34" charset="-122"/>
                <a:cs typeface="Calibri" pitchFamily="34" charset="-120"/>
              </a:rPr>
              <a:t>KIỂM TRA NHANH</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Câu hỏi nhanh</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1 · Nền tảng Claude &amp; dữ liệu</a:t>
            </a:r>
            <a:endParaRPr lang="en-US" sz="1000" dirty="0"/>
          </a:p>
        </p:txBody>
      </p:sp>
      <p:sp>
        <p:nvSpPr>
          <p:cNvPr id="7" name="Shape 4"/>
          <p:cNvSpPr/>
          <p:nvPr/>
        </p:nvSpPr>
        <p:spPr>
          <a:xfrm>
            <a:off x="548640" y="1691640"/>
            <a:ext cx="11094415" cy="1234440"/>
          </a:xfrm>
          <a:prstGeom prst="roundRect">
            <a:avLst>
              <a:gd name="adj" fmla="val 7407"/>
            </a:avLst>
          </a:prstGeom>
          <a:solidFill>
            <a:srgbClr val="ECE6F5"/>
          </a:solidFill>
          <a:ln w="12700">
            <a:solidFill>
              <a:srgbClr val="ECE6F5"/>
            </a:solidFill>
            <a:prstDash val="solid"/>
          </a:ln>
        </p:spPr>
      </p:sp>
      <p:sp>
        <p:nvSpPr>
          <p:cNvPr id="8" name="Shape 5"/>
          <p:cNvSpPr/>
          <p:nvPr/>
        </p:nvSpPr>
        <p:spPr>
          <a:xfrm>
            <a:off x="777240" y="1993392"/>
            <a:ext cx="640080" cy="640080"/>
          </a:xfrm>
          <a:prstGeom prst="roundRect">
            <a:avLst>
              <a:gd name="adj" fmla="val 22000"/>
            </a:avLst>
          </a:prstGeom>
          <a:solidFill>
            <a:srgbClr val="6E4E9E"/>
          </a:solidFill>
          <a:ln w="12700">
            <a:solidFill>
              <a:srgbClr val="6E4E9E"/>
            </a:solidFill>
            <a:prstDash val="solid"/>
          </a:ln>
        </p:spPr>
      </p:sp>
      <p:pic>
        <p:nvPicPr>
          <p:cNvPr id="9" name="Image 0" descr="preencoded.png">    </p:cNvPr>
          <p:cNvPicPr>
            <a:picLocks noChangeAspect="1"/>
          </p:cNvPicPr>
          <p:nvPr/>
        </p:nvPicPr>
        <p:blipFill>
          <a:blip r:embed="rId1"/>
          <a:stretch>
            <a:fillRect/>
          </a:stretch>
        </p:blipFill>
        <p:spPr>
          <a:xfrm>
            <a:off x="930859" y="2147011"/>
            <a:ext cx="332842" cy="332842"/>
          </a:xfrm>
          <a:prstGeom prst="rect">
            <a:avLst/>
          </a:prstGeom>
        </p:spPr>
      </p:pic>
      <p:sp>
        <p:nvSpPr>
          <p:cNvPr id="10" name="Text 6"/>
          <p:cNvSpPr txBox="1"/>
          <p:nvPr/>
        </p:nvSpPr>
        <p:spPr>
          <a:xfrm>
            <a:off x="1645920" y="1801368"/>
            <a:ext cx="9768535" cy="1005840"/>
          </a:xfrm>
          <a:prstGeom prst="rect">
            <a:avLst/>
          </a:prstGeom>
          <a:noFill/>
          <a:ln/>
        </p:spPr>
        <p:txBody>
          <a:bodyPr wrap="square" lIns="0" tIns="0" rIns="0" bIns="0" rtlCol="0" anchor="ctr">
            <a:normAutofit/>
          </a:bodyPr>
          <a:lstStyle/>
          <a:p>
            <a:pPr indent="0" marL="0">
              <a:buNone/>
            </a:pPr>
            <a:r>
              <a:rPr lang="en-US" sz="1800" b="1" dirty="0">
                <a:solidFill>
                  <a:srgbClr val="1B2A38"/>
                </a:solidFill>
                <a:latin typeface="Calibri" pitchFamily="34" charset="0"/>
                <a:ea typeface="Calibri" pitchFamily="34" charset="-122"/>
                <a:cs typeface="Calibri" pitchFamily="34" charset="-120"/>
              </a:rPr>
              <a:t>Call log có 553 dòng trống ma_agent. Cách xử lý nào ĐÚNG?</a:t>
            </a:r>
            <a:endParaRPr lang="en-US" sz="1800" dirty="0"/>
          </a:p>
        </p:txBody>
      </p:sp>
      <p:sp>
        <p:nvSpPr>
          <p:cNvPr id="11" name="Shape 7"/>
          <p:cNvSpPr/>
          <p:nvPr/>
        </p:nvSpPr>
        <p:spPr>
          <a:xfrm>
            <a:off x="548640" y="3154680"/>
            <a:ext cx="5432908" cy="1440180"/>
          </a:xfrm>
          <a:prstGeom prst="roundRect">
            <a:avLst>
              <a:gd name="adj" fmla="val 6349"/>
            </a:avLst>
          </a:prstGeom>
          <a:solidFill>
            <a:srgbClr val="FFFFFF"/>
          </a:solidFill>
          <a:ln w="15875">
            <a:solidFill>
              <a:srgbClr val="D5DAE0"/>
            </a:solidFill>
            <a:prstDash val="solid"/>
          </a:ln>
        </p:spPr>
      </p:sp>
      <p:sp>
        <p:nvSpPr>
          <p:cNvPr id="12" name="Shape 8"/>
          <p:cNvSpPr/>
          <p:nvPr/>
        </p:nvSpPr>
        <p:spPr>
          <a:xfrm>
            <a:off x="749808" y="3623310"/>
            <a:ext cx="502920" cy="502920"/>
          </a:xfrm>
          <a:prstGeom prst="ellipse">
            <a:avLst/>
          </a:prstGeom>
          <a:solidFill>
            <a:srgbClr val="6E4E9E"/>
          </a:solidFill>
          <a:ln w="12700">
            <a:solidFill>
              <a:srgbClr val="6E4E9E"/>
            </a:solidFill>
            <a:prstDash val="solid"/>
          </a:ln>
        </p:spPr>
      </p:sp>
      <p:sp>
        <p:nvSpPr>
          <p:cNvPr id="13" name="Text 9"/>
          <p:cNvSpPr txBox="1"/>
          <p:nvPr/>
        </p:nvSpPr>
        <p:spPr>
          <a:xfrm>
            <a:off x="749808" y="362331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0"/>
          <p:cNvSpPr txBox="1"/>
          <p:nvPr/>
        </p:nvSpPr>
        <p:spPr>
          <a:xfrm>
            <a:off x="1417320" y="3246120"/>
            <a:ext cx="4381348" cy="1257300"/>
          </a:xfrm>
          <a:prstGeom prst="rect">
            <a:avLst/>
          </a:prstGeom>
          <a:noFill/>
          <a:ln/>
        </p:spPr>
        <p:txBody>
          <a:bodyPr wrap="square" lIns="0" tIns="0" rIns="0" bIns="0" rtlCol="0" anchor="ctr">
            <a:normAutofit/>
          </a:bodyPr>
          <a:lstStyle/>
          <a:p>
            <a:pPr indent="0" marL="0">
              <a:buNone/>
            </a:pPr>
            <a:r>
              <a:rPr lang="en-US" sz="1500" dirty="0">
                <a:solidFill>
                  <a:srgbClr val="1B2A38"/>
                </a:solidFill>
                <a:latin typeface="Calibri" pitchFamily="34" charset="0"/>
                <a:ea typeface="Calibri" pitchFamily="34" charset="-122"/>
                <a:cs typeface="Calibri" pitchFamily="34" charset="-120"/>
              </a:rPr>
              <a:t>Xóa cả 553 dòng vì thiếu thông tin agent.</a:t>
            </a:r>
            <a:endParaRPr lang="en-US" sz="1500" dirty="0"/>
          </a:p>
        </p:txBody>
      </p:sp>
      <p:sp>
        <p:nvSpPr>
          <p:cNvPr id="15" name="Shape 11"/>
          <p:cNvSpPr/>
          <p:nvPr/>
        </p:nvSpPr>
        <p:spPr>
          <a:xfrm>
            <a:off x="6210148" y="3154680"/>
            <a:ext cx="5432908" cy="1440180"/>
          </a:xfrm>
          <a:prstGeom prst="roundRect">
            <a:avLst>
              <a:gd name="adj" fmla="val 6349"/>
            </a:avLst>
          </a:prstGeom>
          <a:solidFill>
            <a:srgbClr val="FFFFFF"/>
          </a:solidFill>
          <a:ln w="15875">
            <a:solidFill>
              <a:srgbClr val="D5DAE0"/>
            </a:solidFill>
            <a:prstDash val="solid"/>
          </a:ln>
        </p:spPr>
      </p:sp>
      <p:sp>
        <p:nvSpPr>
          <p:cNvPr id="16" name="Shape 12"/>
          <p:cNvSpPr/>
          <p:nvPr/>
        </p:nvSpPr>
        <p:spPr>
          <a:xfrm>
            <a:off x="6411316" y="3623310"/>
            <a:ext cx="502920" cy="502920"/>
          </a:xfrm>
          <a:prstGeom prst="ellipse">
            <a:avLst/>
          </a:prstGeom>
          <a:solidFill>
            <a:srgbClr val="6E4E9E"/>
          </a:solidFill>
          <a:ln w="12700">
            <a:solidFill>
              <a:srgbClr val="6E4E9E"/>
            </a:solidFill>
            <a:prstDash val="solid"/>
          </a:ln>
        </p:spPr>
      </p:sp>
      <p:sp>
        <p:nvSpPr>
          <p:cNvPr id="17" name="Text 13"/>
          <p:cNvSpPr txBox="1"/>
          <p:nvPr/>
        </p:nvSpPr>
        <p:spPr>
          <a:xfrm>
            <a:off x="6411316" y="362331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8" name="Text 14"/>
          <p:cNvSpPr txBox="1"/>
          <p:nvPr/>
        </p:nvSpPr>
        <p:spPr>
          <a:xfrm>
            <a:off x="7078828" y="3246120"/>
            <a:ext cx="4381348" cy="1257300"/>
          </a:xfrm>
          <a:prstGeom prst="rect">
            <a:avLst/>
          </a:prstGeom>
          <a:noFill/>
          <a:ln/>
        </p:spPr>
        <p:txBody>
          <a:bodyPr wrap="square" lIns="0" tIns="0" rIns="0" bIns="0" rtlCol="0" anchor="ctr">
            <a:normAutofit/>
          </a:bodyPr>
          <a:lstStyle/>
          <a:p>
            <a:pPr indent="0" marL="0">
              <a:buNone/>
            </a:pPr>
            <a:r>
              <a:rPr lang="en-US" sz="1500" dirty="0">
                <a:solidFill>
                  <a:srgbClr val="1B2A38"/>
                </a:solidFill>
                <a:latin typeface="Calibri" pitchFamily="34" charset="0"/>
                <a:ea typeface="Calibri" pitchFamily="34" charset="-122"/>
                <a:cs typeface="Calibri" pitchFamily="34" charset="-120"/>
              </a:rPr>
              <a:t>Giữ nguyên tất cả — không ảnh hưởng gì.</a:t>
            </a:r>
            <a:endParaRPr lang="en-US" sz="1500" dirty="0"/>
          </a:p>
        </p:txBody>
      </p:sp>
      <p:sp>
        <p:nvSpPr>
          <p:cNvPr id="19" name="Shape 15"/>
          <p:cNvSpPr/>
          <p:nvPr/>
        </p:nvSpPr>
        <p:spPr>
          <a:xfrm>
            <a:off x="548640" y="4823460"/>
            <a:ext cx="5432908" cy="1440180"/>
          </a:xfrm>
          <a:prstGeom prst="roundRect">
            <a:avLst>
              <a:gd name="adj" fmla="val 6349"/>
            </a:avLst>
          </a:prstGeom>
          <a:solidFill>
            <a:srgbClr val="FFFFFF"/>
          </a:solidFill>
          <a:ln w="15875">
            <a:solidFill>
              <a:srgbClr val="D5DAE0"/>
            </a:solidFill>
            <a:prstDash val="solid"/>
          </a:ln>
        </p:spPr>
      </p:sp>
      <p:sp>
        <p:nvSpPr>
          <p:cNvPr id="20" name="Shape 16"/>
          <p:cNvSpPr/>
          <p:nvPr/>
        </p:nvSpPr>
        <p:spPr>
          <a:xfrm>
            <a:off x="749808" y="5292090"/>
            <a:ext cx="502920" cy="502920"/>
          </a:xfrm>
          <a:prstGeom prst="ellipse">
            <a:avLst/>
          </a:prstGeom>
          <a:solidFill>
            <a:srgbClr val="6E4E9E"/>
          </a:solidFill>
          <a:ln w="12700">
            <a:solidFill>
              <a:srgbClr val="6E4E9E"/>
            </a:solidFill>
            <a:prstDash val="solid"/>
          </a:ln>
        </p:spPr>
      </p:sp>
      <p:sp>
        <p:nvSpPr>
          <p:cNvPr id="21" name="Text 17"/>
          <p:cNvSpPr txBox="1"/>
          <p:nvPr/>
        </p:nvSpPr>
        <p:spPr>
          <a:xfrm>
            <a:off x="749808" y="529209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2" name="Text 18"/>
          <p:cNvSpPr txBox="1"/>
          <p:nvPr/>
        </p:nvSpPr>
        <p:spPr>
          <a:xfrm>
            <a:off x="1417320" y="4914900"/>
            <a:ext cx="4381348" cy="1257300"/>
          </a:xfrm>
          <a:prstGeom prst="rect">
            <a:avLst/>
          </a:prstGeom>
          <a:noFill/>
          <a:ln/>
        </p:spPr>
        <p:txBody>
          <a:bodyPr wrap="square" lIns="0" tIns="0" rIns="0" bIns="0" rtlCol="0" anchor="ctr">
            <a:normAutofit/>
          </a:bodyPr>
          <a:lstStyle/>
          <a:p>
            <a:pPr indent="0" marL="0">
              <a:buNone/>
            </a:pPr>
            <a:r>
              <a:rPr lang="en-US" sz="1500" dirty="0">
                <a:solidFill>
                  <a:srgbClr val="1B2A38"/>
                </a:solidFill>
                <a:latin typeface="Calibri" pitchFamily="34" charset="0"/>
                <a:ea typeface="Calibri" pitchFamily="34" charset="-122"/>
                <a:cs typeface="Calibri" pitchFamily="34" charset="-120"/>
              </a:rPr>
              <a:t>Tách ra: 539 cuộc ABANDONED là hợp lệ (khách bỏ máy khi chờ), chỉ gắn cờ 14 cuộc đã nghe máy mà trống mã.</a:t>
            </a:r>
            <a:endParaRPr lang="en-US" sz="1500" dirty="0"/>
          </a:p>
        </p:txBody>
      </p:sp>
      <p:sp>
        <p:nvSpPr>
          <p:cNvPr id="23" name="Shape 19"/>
          <p:cNvSpPr/>
          <p:nvPr/>
        </p:nvSpPr>
        <p:spPr>
          <a:xfrm>
            <a:off x="6210148" y="4823460"/>
            <a:ext cx="5432908" cy="1440180"/>
          </a:xfrm>
          <a:prstGeom prst="roundRect">
            <a:avLst>
              <a:gd name="adj" fmla="val 6349"/>
            </a:avLst>
          </a:prstGeom>
          <a:solidFill>
            <a:srgbClr val="FFFFFF"/>
          </a:solidFill>
          <a:ln w="15875">
            <a:solidFill>
              <a:srgbClr val="D5DAE0"/>
            </a:solidFill>
            <a:prstDash val="solid"/>
          </a:ln>
        </p:spPr>
      </p:sp>
      <p:sp>
        <p:nvSpPr>
          <p:cNvPr id="24" name="Shape 20"/>
          <p:cNvSpPr/>
          <p:nvPr/>
        </p:nvSpPr>
        <p:spPr>
          <a:xfrm>
            <a:off x="6411316" y="5292090"/>
            <a:ext cx="502920" cy="502920"/>
          </a:xfrm>
          <a:prstGeom prst="ellipse">
            <a:avLst/>
          </a:prstGeom>
          <a:solidFill>
            <a:srgbClr val="6E4E9E"/>
          </a:solidFill>
          <a:ln w="12700">
            <a:solidFill>
              <a:srgbClr val="6E4E9E"/>
            </a:solidFill>
            <a:prstDash val="solid"/>
          </a:ln>
        </p:spPr>
      </p:sp>
      <p:sp>
        <p:nvSpPr>
          <p:cNvPr id="25" name="Text 21"/>
          <p:cNvSpPr txBox="1"/>
          <p:nvPr/>
        </p:nvSpPr>
        <p:spPr>
          <a:xfrm>
            <a:off x="6411316" y="529209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6" name="Text 22"/>
          <p:cNvSpPr txBox="1"/>
          <p:nvPr/>
        </p:nvSpPr>
        <p:spPr>
          <a:xfrm>
            <a:off x="7078828" y="4914900"/>
            <a:ext cx="4381348" cy="1257300"/>
          </a:xfrm>
          <a:prstGeom prst="rect">
            <a:avLst/>
          </a:prstGeom>
          <a:noFill/>
          <a:ln/>
        </p:spPr>
        <p:txBody>
          <a:bodyPr wrap="square" lIns="0" tIns="0" rIns="0" bIns="0" rtlCol="0" anchor="ctr">
            <a:normAutofit/>
          </a:bodyPr>
          <a:lstStyle/>
          <a:p>
            <a:pPr indent="0" marL="0">
              <a:buNone/>
            </a:pPr>
            <a:r>
              <a:rPr lang="en-US" sz="1500" dirty="0">
                <a:solidFill>
                  <a:srgbClr val="1B2A38"/>
                </a:solidFill>
                <a:latin typeface="Calibri" pitchFamily="34" charset="0"/>
                <a:ea typeface="Calibri" pitchFamily="34" charset="-122"/>
                <a:cs typeface="Calibri" pitchFamily="34" charset="-120"/>
              </a:rPr>
              <a:t>Gán ngẫu nhiên cho agent đang trực để đủ sản lượng.</a:t>
            </a:r>
            <a:endParaRPr lang="en-US" sz="15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982980" cy="292608"/>
          </a:xfrm>
          <a:prstGeom prst="roundRect">
            <a:avLst>
              <a:gd name="adj" fmla="val 50000"/>
            </a:avLst>
          </a:prstGeom>
          <a:solidFill>
            <a:srgbClr val="ECE6F5"/>
          </a:solidFill>
          <a:ln w="12700">
            <a:solidFill>
              <a:srgbClr val="ECE6F5"/>
            </a:solidFill>
            <a:prstDash val="solid"/>
          </a:ln>
        </p:spPr>
      </p:sp>
      <p:sp>
        <p:nvSpPr>
          <p:cNvPr id="3" name="Text 1"/>
          <p:cNvSpPr txBox="1"/>
          <p:nvPr/>
        </p:nvSpPr>
        <p:spPr>
          <a:xfrm>
            <a:off x="548640" y="384048"/>
            <a:ext cx="982980" cy="292608"/>
          </a:xfrm>
          <a:prstGeom prst="rect">
            <a:avLst/>
          </a:prstGeom>
          <a:noFill/>
          <a:ln/>
        </p:spPr>
        <p:txBody>
          <a:bodyPr wrap="square" lIns="0" tIns="0" rIns="0" bIns="0" rtlCol="0" anchor="ctr"/>
          <a:lstStyle/>
          <a:p>
            <a:pPr algn="ctr" indent="0" marL="0">
              <a:buNone/>
            </a:pPr>
            <a:r>
              <a:rPr lang="en-US" sz="1050" b="1" spc="150" kern="0" dirty="0">
                <a:solidFill>
                  <a:srgbClr val="6E4E9E"/>
                </a:solidFill>
                <a:latin typeface="Calibri" pitchFamily="34" charset="0"/>
                <a:ea typeface="Calibri" pitchFamily="34" charset="-122"/>
                <a:cs typeface="Calibri" pitchFamily="34" charset="-120"/>
              </a:rPr>
              <a:t>TRÌNH BÀY</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Trình bày: 2 nhóm, mỗi nhóm 4 phút</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1 · Nền tảng Claude &amp; dữ liệu</a:t>
            </a:r>
            <a:endParaRPr lang="en-US" sz="1000" dirty="0"/>
          </a:p>
        </p:txBody>
      </p:sp>
      <p:sp>
        <p:nvSpPr>
          <p:cNvPr id="7" name="Shape 4"/>
          <p:cNvSpPr/>
          <p:nvPr/>
        </p:nvSpPr>
        <p:spPr>
          <a:xfrm>
            <a:off x="548640" y="1691640"/>
            <a:ext cx="5410048" cy="4572000"/>
          </a:xfrm>
          <a:prstGeom prst="roundRect">
            <a:avLst>
              <a:gd name="adj" fmla="val 2000"/>
            </a:avLst>
          </a:prstGeom>
          <a:solidFill>
            <a:srgbClr val="F2F4F6"/>
          </a:solidFill>
          <a:ln w="12700">
            <a:solidFill>
              <a:srgbClr val="F2F4F6"/>
            </a:solidFill>
            <a:prstDash val="solid"/>
          </a:ln>
        </p:spPr>
      </p:sp>
      <p:sp>
        <p:nvSpPr>
          <p:cNvPr id="8" name="Shape 5"/>
          <p:cNvSpPr/>
          <p:nvPr/>
        </p:nvSpPr>
        <p:spPr>
          <a:xfrm>
            <a:off x="777240" y="1920240"/>
            <a:ext cx="566928" cy="566928"/>
          </a:xfrm>
          <a:prstGeom prst="roundRect">
            <a:avLst>
              <a:gd name="adj" fmla="val 22000"/>
            </a:avLst>
          </a:prstGeom>
          <a:solidFill>
            <a:srgbClr val="2B3E50"/>
          </a:solidFill>
          <a:ln w="12700">
            <a:solidFill>
              <a:srgbClr val="2B3E50"/>
            </a:solidFill>
            <a:prstDash val="solid"/>
          </a:ln>
        </p:spPr>
      </p:sp>
      <p:pic>
        <p:nvPicPr>
          <p:cNvPr id="9" name="Image 0" descr="preencoded.png">    </p:cNvPr>
          <p:cNvPicPr>
            <a:picLocks noChangeAspect="1"/>
          </p:cNvPicPr>
          <p:nvPr/>
        </p:nvPicPr>
        <p:blipFill>
          <a:blip r:embed="rId1"/>
          <a:stretch>
            <a:fillRect/>
          </a:stretch>
        </p:blipFill>
        <p:spPr>
          <a:xfrm>
            <a:off x="913303" y="2056303"/>
            <a:ext cx="294803" cy="294803"/>
          </a:xfrm>
          <a:prstGeom prst="rect">
            <a:avLst/>
          </a:prstGeom>
        </p:spPr>
      </p:pic>
      <p:sp>
        <p:nvSpPr>
          <p:cNvPr id="10" name="Text 6"/>
          <p:cNvSpPr txBox="1"/>
          <p:nvPr/>
        </p:nvSpPr>
        <p:spPr>
          <a:xfrm>
            <a:off x="1527048" y="1920240"/>
            <a:ext cx="4203040" cy="566928"/>
          </a:xfrm>
          <a:prstGeom prst="rect">
            <a:avLst/>
          </a:prstGeom>
          <a:noFill/>
          <a:ln/>
        </p:spPr>
        <p:txBody>
          <a:bodyPr wrap="square" lIns="0" tIns="0" rIns="0" bIns="0" rtlCol="0" anchor="ctr">
            <a:normAutofit/>
          </a:bodyPr>
          <a:lstStyle/>
          <a:p>
            <a:pPr indent="0" marL="0">
              <a:buNone/>
            </a:pPr>
            <a:r>
              <a:rPr lang="en-US" sz="1800" b="1" dirty="0">
                <a:solidFill>
                  <a:srgbClr val="1B2A38"/>
                </a:solidFill>
                <a:latin typeface="Calibri" pitchFamily="34" charset="0"/>
                <a:ea typeface="Calibri" pitchFamily="34" charset="-122"/>
                <a:cs typeface="Calibri" pitchFamily="34" charset="-120"/>
              </a:rPr>
              <a:t>Nhóm 1 — Lỗi call log</a:t>
            </a:r>
            <a:endParaRPr lang="en-US" sz="1800" dirty="0"/>
          </a:p>
        </p:txBody>
      </p:sp>
      <p:sp>
        <p:nvSpPr>
          <p:cNvPr id="11" name="Text 7"/>
          <p:cNvSpPr txBox="1"/>
          <p:nvPr/>
        </p:nvSpPr>
        <p:spPr>
          <a:xfrm>
            <a:off x="777240" y="2651760"/>
            <a:ext cx="4952848" cy="3456432"/>
          </a:xfrm>
          <a:prstGeom prst="rect">
            <a:avLst/>
          </a:prstGeom>
          <a:noFill/>
          <a:ln/>
        </p:spPr>
        <p:txBody>
          <a:bodyPr wrap="square" lIns="0" tIns="0" rIns="0" bIns="0" rtlCol="0" anchor="t">
            <a:normAutofit/>
          </a:bodyPr>
          <a:lstStyle/>
          <a:p>
            <a:pPr marL="228600" indent="-228600">
              <a:spcAft>
                <a:spcPts val="500"/>
              </a:spcAft>
              <a:buSzPct val="100000"/>
              <a:buChar char="•"/>
            </a:pPr>
            <a:r>
              <a:rPr lang="en-US" sz="1700" dirty="0">
                <a:solidFill>
                  <a:srgbClr val="1B2A38"/>
                </a:solidFill>
                <a:latin typeface="Calibri" pitchFamily="34" charset="0"/>
                <a:ea typeface="Calibri" pitchFamily="34" charset="-122"/>
                <a:cs typeface="Calibri" pitchFamily="34" charset="-120"/>
              </a:rPr>
              <a:t>3 lỗi ảnh hưởng sản lượng nhiều nhất (có số dòng)</a:t>
            </a:r>
            <a:endParaRPr lang="en-US" sz="1700" dirty="0"/>
          </a:p>
          <a:p>
            <a:pPr marL="228600" indent="-228600">
              <a:spcAft>
                <a:spcPts val="500"/>
              </a:spcAft>
              <a:buSzPct val="100000"/>
              <a:buChar char="•"/>
            </a:pPr>
            <a:r>
              <a:rPr lang="en-US" sz="1700" dirty="0">
                <a:solidFill>
                  <a:srgbClr val="1B2A38"/>
                </a:solidFill>
                <a:latin typeface="Calibri" pitchFamily="34" charset="0"/>
                <a:ea typeface="Calibri" pitchFamily="34" charset="-122"/>
                <a:cs typeface="Calibri" pitchFamily="34" charset="-120"/>
              </a:rPr>
              <a:t>Lỗi nào là “không phải lỗi” (vd: ABANDONED trống mã)?</a:t>
            </a:r>
            <a:endParaRPr lang="en-US" sz="1700" dirty="0"/>
          </a:p>
          <a:p>
            <a:pPr marL="228600" indent="-228600">
              <a:spcAft>
                <a:spcPts val="500"/>
              </a:spcAft>
              <a:buSzPct val="100000"/>
              <a:buChar char="•"/>
            </a:pPr>
            <a:r>
              <a:rPr lang="en-US" sz="1700" dirty="0">
                <a:solidFill>
                  <a:srgbClr val="1B2A38"/>
                </a:solidFill>
                <a:latin typeface="Calibri" pitchFamily="34" charset="0"/>
                <a:ea typeface="Calibri" pitchFamily="34" charset="-122"/>
                <a:cs typeface="Calibri" pitchFamily="34" charset="-120"/>
              </a:rPr>
              <a:t>Đề xuất ai duyệt cách xử lý</a:t>
            </a:r>
            <a:endParaRPr lang="en-US" sz="1700" dirty="0"/>
          </a:p>
        </p:txBody>
      </p:sp>
      <p:sp>
        <p:nvSpPr>
          <p:cNvPr id="12" name="Shape 8"/>
          <p:cNvSpPr/>
          <p:nvPr/>
        </p:nvSpPr>
        <p:spPr>
          <a:xfrm>
            <a:off x="6233008" y="1691640"/>
            <a:ext cx="5410048" cy="4572000"/>
          </a:xfrm>
          <a:prstGeom prst="roundRect">
            <a:avLst>
              <a:gd name="adj" fmla="val 2000"/>
            </a:avLst>
          </a:prstGeom>
          <a:solidFill>
            <a:srgbClr val="F2F4F6"/>
          </a:solidFill>
          <a:ln w="12700">
            <a:solidFill>
              <a:srgbClr val="F2F4F6"/>
            </a:solidFill>
            <a:prstDash val="solid"/>
          </a:ln>
        </p:spPr>
      </p:sp>
      <p:sp>
        <p:nvSpPr>
          <p:cNvPr id="13" name="Shape 9"/>
          <p:cNvSpPr/>
          <p:nvPr/>
        </p:nvSpPr>
        <p:spPr>
          <a:xfrm>
            <a:off x="6461608" y="1920240"/>
            <a:ext cx="566928" cy="566928"/>
          </a:xfrm>
          <a:prstGeom prst="roundRect">
            <a:avLst>
              <a:gd name="adj" fmla="val 22000"/>
            </a:avLst>
          </a:prstGeom>
          <a:solidFill>
            <a:srgbClr val="2B3E50"/>
          </a:solidFill>
          <a:ln w="12700">
            <a:solidFill>
              <a:srgbClr val="2B3E50"/>
            </a:solidFill>
            <a:prstDash val="solid"/>
          </a:ln>
        </p:spPr>
      </p:sp>
      <p:pic>
        <p:nvPicPr>
          <p:cNvPr id="14" name="Image 1" descr="preencoded.png">    </p:cNvPr>
          <p:cNvPicPr>
            <a:picLocks noChangeAspect="1"/>
          </p:cNvPicPr>
          <p:nvPr/>
        </p:nvPicPr>
        <p:blipFill>
          <a:blip r:embed="rId2"/>
          <a:stretch>
            <a:fillRect/>
          </a:stretch>
        </p:blipFill>
        <p:spPr>
          <a:xfrm>
            <a:off x="6597670" y="2056303"/>
            <a:ext cx="294803" cy="294803"/>
          </a:xfrm>
          <a:prstGeom prst="rect">
            <a:avLst/>
          </a:prstGeom>
        </p:spPr>
      </p:pic>
      <p:sp>
        <p:nvSpPr>
          <p:cNvPr id="15" name="Text 10"/>
          <p:cNvSpPr txBox="1"/>
          <p:nvPr/>
        </p:nvSpPr>
        <p:spPr>
          <a:xfrm>
            <a:off x="7211416" y="1920240"/>
            <a:ext cx="4203040" cy="566928"/>
          </a:xfrm>
          <a:prstGeom prst="rect">
            <a:avLst/>
          </a:prstGeom>
          <a:noFill/>
          <a:ln/>
        </p:spPr>
        <p:txBody>
          <a:bodyPr wrap="square" lIns="0" tIns="0" rIns="0" bIns="0" rtlCol="0" anchor="ctr">
            <a:normAutofit/>
          </a:bodyPr>
          <a:lstStyle/>
          <a:p>
            <a:pPr indent="0" marL="0">
              <a:buNone/>
            </a:pPr>
            <a:r>
              <a:rPr lang="en-US" sz="1800" b="1" dirty="0">
                <a:solidFill>
                  <a:srgbClr val="1B2A38"/>
                </a:solidFill>
                <a:latin typeface="Calibri" pitchFamily="34" charset="0"/>
                <a:ea typeface="Calibri" pitchFamily="34" charset="-122"/>
                <a:cs typeface="Calibri" pitchFamily="34" charset="-120"/>
              </a:rPr>
              <a:t>Nhóm 2 — Nối mã &amp; từ điển</a:t>
            </a:r>
            <a:endParaRPr lang="en-US" sz="1800" dirty="0"/>
          </a:p>
        </p:txBody>
      </p:sp>
      <p:sp>
        <p:nvSpPr>
          <p:cNvPr id="16" name="Text 11"/>
          <p:cNvSpPr txBox="1"/>
          <p:nvPr/>
        </p:nvSpPr>
        <p:spPr>
          <a:xfrm>
            <a:off x="6461608" y="2651760"/>
            <a:ext cx="4952848" cy="3456432"/>
          </a:xfrm>
          <a:prstGeom prst="rect">
            <a:avLst/>
          </a:prstGeom>
          <a:noFill/>
          <a:ln/>
        </p:spPr>
        <p:txBody>
          <a:bodyPr wrap="square" lIns="0" tIns="0" rIns="0" bIns="0" rtlCol="0" anchor="t">
            <a:normAutofit/>
          </a:bodyPr>
          <a:lstStyle/>
          <a:p>
            <a:pPr marL="228600" indent="-228600">
              <a:spcAft>
                <a:spcPts val="500"/>
              </a:spcAft>
              <a:buSzPct val="100000"/>
              <a:buChar char="•"/>
            </a:pPr>
            <a:r>
              <a:rPr lang="en-US" sz="1700" dirty="0">
                <a:solidFill>
                  <a:srgbClr val="1B2A38"/>
                </a:solidFill>
                <a:latin typeface="Calibri" pitchFamily="34" charset="0"/>
                <a:ea typeface="Calibri" pitchFamily="34" charset="-122"/>
                <a:cs typeface="Calibri" pitchFamily="34" charset="-120"/>
              </a:rPr>
              <a:t>Bao nhiêu % mã đã khớp? Còn mã nào chưa?</a:t>
            </a:r>
            <a:endParaRPr lang="en-US" sz="1700" dirty="0"/>
          </a:p>
          <a:p>
            <a:pPr marL="228600" indent="-228600">
              <a:spcAft>
                <a:spcPts val="500"/>
              </a:spcAft>
              <a:buSzPct val="100000"/>
              <a:buChar char="•"/>
            </a:pPr>
            <a:r>
              <a:rPr lang="en-US" sz="1700" dirty="0">
                <a:solidFill>
                  <a:srgbClr val="1B2A38"/>
                </a:solidFill>
                <a:latin typeface="Calibri" pitchFamily="34" charset="0"/>
                <a:ea typeface="Calibri" pitchFamily="34" charset="-122"/>
                <a:cs typeface="Calibri" pitchFamily="34" charset="-120"/>
              </a:rPr>
              <a:t>Cột nào cả nhóm hiểu khác nhau?</a:t>
            </a:r>
            <a:endParaRPr lang="en-US" sz="1700" dirty="0"/>
          </a:p>
          <a:p>
            <a:pPr marL="228600" indent="-228600">
              <a:spcAft>
                <a:spcPts val="500"/>
              </a:spcAft>
              <a:buSzPct val="100000"/>
              <a:buChar char="•"/>
            </a:pPr>
            <a:r>
              <a:rPr lang="en-US" sz="1700" dirty="0">
                <a:solidFill>
                  <a:srgbClr val="1B2A38"/>
                </a:solidFill>
                <a:latin typeface="Calibri" pitchFamily="34" charset="0"/>
                <a:ea typeface="Calibri" pitchFamily="34" charset="-122"/>
                <a:cs typeface="Calibri" pitchFamily="34" charset="-120"/>
              </a:rPr>
              <a:t>Câu hỏi cần hỏi HR / tổng đài</a:t>
            </a:r>
            <a:endParaRPr lang="en-US" sz="17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677924" cy="292608"/>
          </a:xfrm>
          <a:prstGeom prst="roundRect">
            <a:avLst>
              <a:gd name="adj" fmla="val 50000"/>
            </a:avLst>
          </a:prstGeom>
          <a:solidFill>
            <a:srgbClr val="FBE7DA"/>
          </a:solidFill>
          <a:ln w="12700">
            <a:solidFill>
              <a:srgbClr val="FBE7DA"/>
            </a:solidFill>
            <a:prstDash val="solid"/>
          </a:ln>
        </p:spPr>
      </p:sp>
      <p:sp>
        <p:nvSpPr>
          <p:cNvPr id="3" name="Text 1"/>
          <p:cNvSpPr txBox="1"/>
          <p:nvPr/>
        </p:nvSpPr>
        <p:spPr>
          <a:xfrm>
            <a:off x="548640" y="384048"/>
            <a:ext cx="1677924" cy="292608"/>
          </a:xfrm>
          <a:prstGeom prst="rect">
            <a:avLst/>
          </a:prstGeom>
          <a:noFill/>
          <a:ln/>
        </p:spPr>
        <p:txBody>
          <a:bodyPr wrap="square" lIns="0" tIns="0" rIns="0" bIns="0" rtlCol="0" anchor="ctr"/>
          <a:lstStyle/>
          <a:p>
            <a:pPr algn="ctr" indent="0" marL="0">
              <a:buNone/>
            </a:pPr>
            <a:r>
              <a:rPr lang="en-US" sz="1050" b="1" spc="150" kern="0" dirty="0">
                <a:solidFill>
                  <a:srgbClr val="D9773A"/>
                </a:solidFill>
                <a:latin typeface="Calibri" pitchFamily="34" charset="0"/>
                <a:ea typeface="Calibri" pitchFamily="34" charset="-122"/>
                <a:cs typeface="Calibri" pitchFamily="34" charset="-120"/>
              </a:rPr>
              <a:t>THỰC HÀNH TẠI NHÀ</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Thực hành tại nhà (1 giờ)</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1 · Nền tảng Claude &amp; dữ liệu</a:t>
            </a:r>
            <a:endParaRPr lang="en-US" sz="1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7223760" cy="914400"/>
        </p:xfrm>
        <a:graphic>
          <a:graphicData uri="http://schemas.openxmlformats.org/drawingml/2006/table">
            <a:tbl>
              <a:tblPr/>
              <a:tblGrid>
                <a:gridCol w="731520"/>
                <a:gridCol w="5303520"/>
                <a:gridCol w="1188720"/>
              </a:tblGrid>
              <a:tr h="4114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Bước</a:t>
                      </a:r>
                      <a:endParaRPr lang="en-US" sz="140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D977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Việc làm</a:t>
                      </a:r>
                      <a:endParaRPr lang="en-US" sz="140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D977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Thời gian</a:t>
                      </a:r>
                      <a:endParaRPr lang="en-US" sz="140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D9773A"/>
                    </a:solidFill>
                  </a:tcPr>
                </a:tc>
              </a:tr>
              <a:tr h="411480">
                <a:tc>
                  <a:txBody>
                    <a:bodyPr/>
                    <a:lstStyle/>
                    <a:p>
                      <a:pPr algn="ctr" indent="0" marL="0">
                        <a:buNone/>
                      </a:pPr>
                      <a:r>
                        <a:rPr lang="en-US" sz="1500" b="1" dirty="0">
                          <a:solidFill>
                            <a:srgbClr val="1B2A38"/>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Chạy prompt kiểm tra chất lượng cho dữ liệu chấm công 1 tháng (tương tự call log): quẹt đúp, thiếu lượt, quẹt ngày OFF…</a:t>
                      </a:r>
                      <a:endParaRPr lang="en-US" sz="135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ctr" indent="0" marL="0">
                        <a:buNone/>
                      </a:pPr>
                      <a:r>
                        <a:rPr lang="en-US" sz="1400" b="1" dirty="0">
                          <a:solidFill>
                            <a:srgbClr val="D9773A"/>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411480">
                <a:tc>
                  <a:txBody>
                    <a:bodyPr/>
                    <a:lstStyle/>
                    <a:p>
                      <a:pPr algn="ctr" indent="0" marL="0">
                        <a:buNone/>
                      </a:pPr>
                      <a:r>
                        <a:rPr lang="en-US" sz="1500" b="1" dirty="0">
                          <a:solidFill>
                            <a:srgbClr val="1B2A38"/>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Hoàn thiện bảng nối mã: xử lý hết các agent chưa khớp mã (mục tiêu 100%).</a:t>
                      </a:r>
                      <a:endParaRPr lang="en-US" sz="135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D9773A"/>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11480">
                <a:tc>
                  <a:txBody>
                    <a:bodyPr/>
                    <a:lstStyle/>
                    <a:p>
                      <a:pPr algn="ctr" indent="0" marL="0">
                        <a:buNone/>
                      </a:pPr>
                      <a:r>
                        <a:rPr lang="en-US" sz="1500" b="1" dirty="0">
                          <a:solidFill>
                            <a:srgbClr val="1B2A38"/>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Nhật ký: 3 lần dùng Claude cho việc thật trong tuần (prompt – kết quả – tiết kiệm bao nhiêu phút).</a:t>
                      </a:r>
                      <a:endParaRPr lang="en-US" sz="135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ctr" indent="0" marL="0">
                        <a:buNone/>
                      </a:pPr>
                      <a:r>
                        <a:rPr lang="en-US" sz="1400" b="1" dirty="0">
                          <a:solidFill>
                            <a:srgbClr val="D9773A"/>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bl>
          </a:graphicData>
        </a:graphic>
      </p:graphicFrame>
      <p:sp>
        <p:nvSpPr>
          <p:cNvPr id="8" name="Shape 4"/>
          <p:cNvSpPr/>
          <p:nvPr/>
        </p:nvSpPr>
        <p:spPr>
          <a:xfrm>
            <a:off x="8092440" y="1691640"/>
            <a:ext cx="3550615" cy="2240280"/>
          </a:xfrm>
          <a:prstGeom prst="roundRect">
            <a:avLst>
              <a:gd name="adj" fmla="val 4082"/>
            </a:avLst>
          </a:prstGeom>
          <a:solidFill>
            <a:srgbClr val="1B2A38"/>
          </a:solidFill>
          <a:ln w="12700">
            <a:solidFill>
              <a:srgbClr val="1B2A38"/>
            </a:solidFill>
            <a:prstDash val="solid"/>
          </a:ln>
        </p:spPr>
      </p:sp>
      <p:sp>
        <p:nvSpPr>
          <p:cNvPr id="9" name="Shape 5"/>
          <p:cNvSpPr/>
          <p:nvPr/>
        </p:nvSpPr>
        <p:spPr>
          <a:xfrm>
            <a:off x="8321040" y="1920240"/>
            <a:ext cx="457200" cy="457200"/>
          </a:xfrm>
          <a:prstGeom prst="roundRect">
            <a:avLst>
              <a:gd name="adj" fmla="val 22000"/>
            </a:avLst>
          </a:prstGeom>
          <a:solidFill>
            <a:srgbClr val="D9773A"/>
          </a:solidFill>
          <a:ln w="12700">
            <a:solidFill>
              <a:srgbClr val="D9773A"/>
            </a:solidFill>
            <a:prstDash val="solid"/>
          </a:ln>
        </p:spPr>
      </p:sp>
      <p:pic>
        <p:nvPicPr>
          <p:cNvPr id="10" name="Image 0" descr="preencoded.png">    </p:cNvPr>
          <p:cNvPicPr>
            <a:picLocks noChangeAspect="1"/>
          </p:cNvPicPr>
          <p:nvPr/>
        </p:nvPicPr>
        <p:blipFill>
          <a:blip r:embed="rId1"/>
          <a:stretch>
            <a:fillRect/>
          </a:stretch>
        </p:blipFill>
        <p:spPr>
          <a:xfrm>
            <a:off x="8430768" y="2029968"/>
            <a:ext cx="237744" cy="237744"/>
          </a:xfrm>
          <a:prstGeom prst="rect">
            <a:avLst/>
          </a:prstGeom>
        </p:spPr>
      </p:pic>
      <p:sp>
        <p:nvSpPr>
          <p:cNvPr id="11" name="Text 6"/>
          <p:cNvSpPr txBox="1"/>
          <p:nvPr/>
        </p:nvSpPr>
        <p:spPr>
          <a:xfrm>
            <a:off x="8915400" y="1920240"/>
            <a:ext cx="2544775"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Nộp bài</a:t>
            </a:r>
            <a:endParaRPr lang="en-US" sz="1800" dirty="0"/>
          </a:p>
        </p:txBody>
      </p:sp>
      <p:sp>
        <p:nvSpPr>
          <p:cNvPr id="12" name="Text 7"/>
          <p:cNvSpPr txBox="1"/>
          <p:nvPr/>
        </p:nvSpPr>
        <p:spPr>
          <a:xfrm>
            <a:off x="8321040" y="2514600"/>
            <a:ext cx="3093415" cy="1325880"/>
          </a:xfrm>
          <a:prstGeom prst="rect">
            <a:avLst/>
          </a:prstGeom>
          <a:noFill/>
          <a:ln/>
        </p:spPr>
        <p:txBody>
          <a:bodyPr wrap="square" lIns="0" tIns="0" rIns="0" bIns="0" rtlCol="0" anchor="t">
            <a:normAutofit/>
          </a:bodyPr>
          <a:lstStyle/>
          <a:p>
            <a:pPr indent="0" marL="0">
              <a:buNone/>
            </a:pPr>
            <a:r>
              <a:rPr lang="en-US" sz="1400" dirty="0">
                <a:solidFill>
                  <a:srgbClr val="E6ECF1"/>
                </a:solidFill>
                <a:latin typeface="Calibri" pitchFamily="34" charset="0"/>
                <a:ea typeface="Calibri" pitchFamily="34" charset="-122"/>
                <a:cs typeface="Calibri" pitchFamily="34" charset="-120"/>
              </a:rPr>
              <a:t>Từ điển dữ liệu v1 hoàn chỉnh + bảng nối mã 100% khớp + nhật ký 3 lần dùng.</a:t>
            </a:r>
            <a:endParaRPr lang="en-US" sz="1400" dirty="0"/>
          </a:p>
        </p:txBody>
      </p:sp>
      <p:sp>
        <p:nvSpPr>
          <p:cNvPr id="13" name="Shape 8"/>
          <p:cNvSpPr/>
          <p:nvPr/>
        </p:nvSpPr>
        <p:spPr>
          <a:xfrm>
            <a:off x="8092440" y="4160520"/>
            <a:ext cx="3550615" cy="2103120"/>
          </a:xfrm>
          <a:prstGeom prst="roundRect">
            <a:avLst>
              <a:gd name="adj" fmla="val 4348"/>
            </a:avLst>
          </a:prstGeom>
          <a:solidFill>
            <a:srgbClr val="FBE7DA"/>
          </a:solidFill>
          <a:ln w="12700">
            <a:solidFill>
              <a:srgbClr val="FBE7DA"/>
            </a:solidFill>
            <a:prstDash val="solid"/>
          </a:ln>
        </p:spPr>
      </p:sp>
      <p:sp>
        <p:nvSpPr>
          <p:cNvPr id="14" name="Text 9"/>
          <p:cNvSpPr txBox="1"/>
          <p:nvPr/>
        </p:nvSpPr>
        <p:spPr>
          <a:xfrm>
            <a:off x="8321040" y="4343400"/>
            <a:ext cx="3093415" cy="1737360"/>
          </a:xfrm>
          <a:prstGeom prst="rect">
            <a:avLst/>
          </a:prstGeom>
          <a:noFill/>
          <a:ln/>
        </p:spPr>
        <p:txBody>
          <a:bodyPr wrap="square" lIns="0" tIns="0" rIns="0" bIns="0" rtlCol="0" anchor="t">
            <a:normAutofit/>
          </a:bodyPr>
          <a:lstStyle/>
          <a:p>
            <a:pPr marL="228600" indent="-228600">
              <a:spcAft>
                <a:spcPts val="600"/>
              </a:spcAft>
              <a:buSzPct val="100000"/>
              <a:buChar char="•"/>
            </a:pPr>
            <a:r>
              <a:rPr lang="en-US" sz="1300" b="1" dirty="0">
                <a:solidFill>
                  <a:srgbClr val="1B2A38"/>
                </a:solidFill>
                <a:latin typeface="Calibri" pitchFamily="34" charset="0"/>
                <a:ea typeface="Calibri" pitchFamily="34" charset="-122"/>
                <a:cs typeface="Calibri" pitchFamily="34" charset="-120"/>
              </a:rPr>
              <a:t>Chưa có dữ liệu thật?</a:t>
            </a:r>
            <a:pPr indent="0" marL="0">
              <a:buNone/>
            </a:pPr>
            <a:r>
              <a:rPr lang="en-US" sz="1300" dirty="0">
                <a:solidFill>
                  <a:srgbClr val="1B2A38"/>
                </a:solidFill>
                <a:latin typeface="Calibri" pitchFamily="34" charset="0"/>
                <a:ea typeface="Calibri" pitchFamily="34" charset="-122"/>
                <a:cs typeface="Calibri" pitchFamily="34" charset="-120"/>
              </a:rPr>
              <a:t> Dùng cham_cong_2026-09.csv trong bộ dữ liệu mẫu.</a:t>
            </a:r>
            <a:endParaRPr lang="en-US" sz="1300" dirty="0"/>
          </a:p>
          <a:p>
            <a:pPr marL="228600" indent="-228600">
              <a:spcAft>
                <a:spcPts val="600"/>
              </a:spcAft>
              <a:buSzPct val="100000"/>
              <a:buChar char="•"/>
            </a:pPr>
            <a:r>
              <a:rPr lang="en-US" sz="1300" b="1" dirty="0">
                <a:solidFill>
                  <a:srgbClr val="1B2A38"/>
                </a:solidFill>
                <a:latin typeface="Calibri" pitchFamily="34" charset="0"/>
                <a:ea typeface="Calibri" pitchFamily="34" charset="-122"/>
                <a:cs typeface="Calibri" pitchFamily="34" charset="-120"/>
              </a:rPr>
              <a:t>Gợi ý:</a:t>
            </a:r>
            <a:pPr indent="0" marL="0">
              <a:buNone/>
            </a:pPr>
            <a:r>
              <a:rPr lang="en-US" sz="1300" dirty="0">
                <a:solidFill>
                  <a:srgbClr val="1B2A38"/>
                </a:solidFill>
                <a:latin typeface="Calibri" pitchFamily="34" charset="0"/>
                <a:ea typeface="Calibri" pitchFamily="34" charset="-122"/>
                <a:cs typeface="Calibri" pitchFamily="34" charset="-120"/>
              </a:rPr>
              <a:t> máy chấm công không phân vào/ra — ca đêm D có lượt ra rơi vào ngày hôm sau, đừng vội coi là lỗi.</a:t>
            </a:r>
            <a:endParaRPr lang="en-US" sz="1300" dirty="0"/>
          </a:p>
          <a:p>
            <a:pPr marL="228600" indent="-228600">
              <a:spcAft>
                <a:spcPts val="600"/>
              </a:spcAft>
              <a:buSzPct val="100000"/>
              <a:buChar char="•"/>
            </a:pPr>
            <a:r>
              <a:rPr lang="en-US" sz="1300" b="1" dirty="0">
                <a:solidFill>
                  <a:srgbClr val="1B2A38"/>
                </a:solidFill>
                <a:latin typeface="Calibri" pitchFamily="34" charset="0"/>
                <a:ea typeface="Calibri" pitchFamily="34" charset="-122"/>
                <a:cs typeface="Calibri" pitchFamily="34" charset="-120"/>
              </a:rPr>
              <a:t>Rubric &amp; mẫu nhật ký:</a:t>
            </a:r>
            <a:pPr indent="0" marL="0">
              <a:buNone/>
            </a:pPr>
            <a:r>
              <a:rPr lang="en-US" sz="1300" dirty="0">
                <a:solidFill>
                  <a:srgbClr val="1B2A38"/>
                </a:solidFill>
                <a:latin typeface="Calibri" pitchFamily="34" charset="0"/>
                <a:ea typeface="Calibri" pitchFamily="34" charset="-122"/>
                <a:cs typeface="Calibri" pitchFamily="34" charset="-120"/>
              </a:rPr>
              <a:t> ebook → Buổi 1 → Thực hành tại nhà.</a:t>
            </a: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B2A38"/>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731520"/>
          </a:xfrm>
          <a:prstGeom prst="rect">
            <a:avLst/>
          </a:prstGeom>
          <a:noFill/>
          <a:ln/>
        </p:spPr>
        <p:txBody>
          <a:bodyPr wrap="square" lIns="0" tIns="0" rIns="0" bIns="0" rtlCol="0" anchor="ctr">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Tổng kết buổi học</a:t>
            </a:r>
            <a:endParaRPr lang="en-US" sz="3000" dirty="0"/>
          </a:p>
        </p:txBody>
      </p:sp>
      <p:sp>
        <p:nvSpPr>
          <p:cNvPr id="4" name="Text 1"/>
          <p:cNvSpPr txBox="1"/>
          <p:nvPr/>
        </p:nvSpPr>
        <p:spPr>
          <a:xfrm>
            <a:off x="548640" y="1417320"/>
            <a:ext cx="6766560" cy="411480"/>
          </a:xfrm>
          <a:prstGeom prst="rect">
            <a:avLst/>
          </a:prstGeom>
          <a:noFill/>
          <a:ln/>
        </p:spPr>
        <p:txBody>
          <a:bodyPr wrap="square" lIns="0" tIns="0" rIns="0" bIns="0" rtlCol="0" anchor="t"/>
          <a:lstStyle/>
          <a:p>
            <a:pPr indent="0" marL="0">
              <a:buNone/>
            </a:pPr>
            <a:r>
              <a:rPr lang="en-US" sz="1500" b="1" spc="100" kern="0" dirty="0">
                <a:solidFill>
                  <a:srgbClr val="D9773A"/>
                </a:solidFill>
                <a:latin typeface="Calibri" pitchFamily="34" charset="0"/>
                <a:ea typeface="Calibri" pitchFamily="34" charset="-122"/>
                <a:cs typeface="Calibri" pitchFamily="34" charset="-120"/>
              </a:rPr>
              <a:t>Hôm nay bạn đã làm được</a:t>
            </a:r>
            <a:endParaRPr lang="en-US" sz="1500" dirty="0"/>
          </a:p>
        </p:txBody>
      </p:sp>
      <p:sp>
        <p:nvSpPr>
          <p:cNvPr id="5" name="Text 2"/>
          <p:cNvSpPr txBox="1"/>
          <p:nvPr/>
        </p:nvSpPr>
        <p:spPr>
          <a:xfrm>
            <a:off x="548640" y="1920240"/>
            <a:ext cx="6766560" cy="4206240"/>
          </a:xfrm>
          <a:prstGeom prst="rect">
            <a:avLst/>
          </a:prstGeom>
          <a:noFill/>
          <a:ln/>
        </p:spPr>
        <p:txBody>
          <a:bodyPr wrap="square" lIns="0" tIns="0" rIns="0" bIns="0" rtlCol="0" anchor="t">
            <a:normAutofit/>
          </a:bodyPr>
          <a:lstStyle/>
          <a:p>
            <a:pPr marL="228600" indent="-228600">
              <a:spcAft>
                <a:spcPts val="900"/>
              </a:spcAft>
              <a:buSzPct val="100000"/>
              <a:buChar char="•"/>
            </a:pPr>
            <a:r>
              <a:rPr lang="en-US" sz="1550" dirty="0">
                <a:solidFill>
                  <a:srgbClr val="E6ECF1"/>
                </a:solidFill>
                <a:latin typeface="Calibri" pitchFamily="34" charset="0"/>
                <a:ea typeface="Calibri" pitchFamily="34" charset="-122"/>
                <a:cs typeface="Calibri" pitchFamily="34" charset="-120"/>
              </a:rPr>
              <a:t>Biết Claude làm được gì — và giới hạn phải canh chừng</a:t>
            </a:r>
            <a:endParaRPr lang="en-US" sz="1550" dirty="0"/>
          </a:p>
          <a:p>
            <a:pPr marL="228600" indent="-228600">
              <a:spcAft>
                <a:spcPts val="900"/>
              </a:spcAft>
              <a:buSzPct val="100000"/>
              <a:buChar char="•"/>
            </a:pPr>
            <a:r>
              <a:rPr lang="en-US" sz="1550" dirty="0">
                <a:solidFill>
                  <a:srgbClr val="E6ECF1"/>
                </a:solidFill>
                <a:latin typeface="Calibri" pitchFamily="34" charset="0"/>
                <a:ea typeface="Calibri" pitchFamily="34" charset="-122"/>
                <a:cs typeface="Calibri" pitchFamily="34" charset="-120"/>
              </a:rPr>
              <a:t>Có Project “Vận hành &amp; Chấm công” với custom instructions chặn ước lượng và bịa số</a:t>
            </a:r>
            <a:endParaRPr lang="en-US" sz="1550" dirty="0"/>
          </a:p>
          <a:p>
            <a:pPr marL="228600" indent="-228600">
              <a:spcAft>
                <a:spcPts val="900"/>
              </a:spcAft>
              <a:buSzPct val="100000"/>
              <a:buChar char="•"/>
            </a:pPr>
            <a:r>
              <a:rPr lang="en-US" sz="1550" dirty="0">
                <a:solidFill>
                  <a:srgbClr val="E6ECF1"/>
                </a:solidFill>
                <a:latin typeface="Calibri" pitchFamily="34" charset="0"/>
                <a:ea typeface="Calibri" pitchFamily="34" charset="-122"/>
                <a:cs typeface="Calibri" pitchFamily="34" charset="-120"/>
              </a:rPr>
              <a:t>Viết prompt R-C-T-F-C, luôn đối chiếu tổng số dòng</a:t>
            </a:r>
            <a:endParaRPr lang="en-US" sz="1550" dirty="0"/>
          </a:p>
          <a:p>
            <a:pPr marL="228600" indent="-228600">
              <a:spcAft>
                <a:spcPts val="900"/>
              </a:spcAft>
              <a:buSzPct val="100000"/>
              <a:buChar char="•"/>
            </a:pPr>
            <a:r>
              <a:rPr lang="en-US" sz="1550" dirty="0">
                <a:solidFill>
                  <a:srgbClr val="E6ECF1"/>
                </a:solidFill>
                <a:latin typeface="Calibri" pitchFamily="34" charset="0"/>
                <a:ea typeface="Calibri" pitchFamily="34" charset="-122"/>
                <a:cs typeface="Calibri" pitchFamily="34" charset="-120"/>
              </a:rPr>
              <a:t>Tìm ra ít nhất 10 loại lỗi trong call log tháng 9 — đã đếm, chưa sửa</a:t>
            </a:r>
            <a:endParaRPr lang="en-US" sz="1550" dirty="0"/>
          </a:p>
          <a:p>
            <a:pPr marL="228600" indent="-228600">
              <a:spcAft>
                <a:spcPts val="900"/>
              </a:spcAft>
              <a:buSzPct val="100000"/>
              <a:buChar char="•"/>
            </a:pPr>
            <a:r>
              <a:rPr lang="en-US" sz="1550" dirty="0">
                <a:solidFill>
                  <a:srgbClr val="E6ECF1"/>
                </a:solidFill>
                <a:latin typeface="Calibri" pitchFamily="34" charset="0"/>
                <a:ea typeface="Calibri" pitchFamily="34" charset="-122"/>
                <a:cs typeface="Calibri" pitchFamily="34" charset="-120"/>
              </a:rPr>
              <a:t>Từ điển dữ liệu v1 và bảng nối mã agent ↔ nhân viên</a:t>
            </a:r>
            <a:endParaRPr lang="en-US" sz="1550" dirty="0"/>
          </a:p>
        </p:txBody>
      </p:sp>
      <p:sp>
        <p:nvSpPr>
          <p:cNvPr id="6" name="Shape 3"/>
          <p:cNvSpPr/>
          <p:nvPr/>
        </p:nvSpPr>
        <p:spPr>
          <a:xfrm>
            <a:off x="7680960" y="1417320"/>
            <a:ext cx="3962095" cy="4709160"/>
          </a:xfrm>
          <a:prstGeom prst="roundRect">
            <a:avLst>
              <a:gd name="adj" fmla="val 2769"/>
            </a:avLst>
          </a:prstGeom>
          <a:solidFill>
            <a:srgbClr val="2B3E50"/>
          </a:solidFill>
          <a:ln w="12700">
            <a:solidFill>
              <a:srgbClr val="2B3E50"/>
            </a:solidFill>
            <a:prstDash val="solid"/>
          </a:ln>
        </p:spPr>
      </p:sp>
      <p:sp>
        <p:nvSpPr>
          <p:cNvPr id="7" name="Shape 4"/>
          <p:cNvSpPr/>
          <p:nvPr/>
        </p:nvSpPr>
        <p:spPr>
          <a:xfrm>
            <a:off x="7955280" y="1691640"/>
            <a:ext cx="502920" cy="502920"/>
          </a:xfrm>
          <a:prstGeom prst="roundRect">
            <a:avLst>
              <a:gd name="adj" fmla="val 22000"/>
            </a:avLst>
          </a:prstGeom>
          <a:solidFill>
            <a:srgbClr val="D9773A"/>
          </a:solidFill>
          <a:ln w="12700">
            <a:solidFill>
              <a:srgbClr val="D9773A"/>
            </a:solidFill>
            <a:prstDash val="solid"/>
          </a:ln>
        </p:spPr>
      </p:sp>
      <p:pic>
        <p:nvPicPr>
          <p:cNvPr id="8" name="Image 0" descr="preencoded.png">    </p:cNvPr>
          <p:cNvPicPr>
            <a:picLocks noChangeAspect="1"/>
          </p:cNvPicPr>
          <p:nvPr/>
        </p:nvPicPr>
        <p:blipFill>
          <a:blip r:embed="rId1"/>
          <a:stretch>
            <a:fillRect/>
          </a:stretch>
        </p:blipFill>
        <p:spPr>
          <a:xfrm>
            <a:off x="8075981" y="1812341"/>
            <a:ext cx="261518" cy="261518"/>
          </a:xfrm>
          <a:prstGeom prst="rect">
            <a:avLst/>
          </a:prstGeom>
        </p:spPr>
      </p:pic>
      <p:sp>
        <p:nvSpPr>
          <p:cNvPr id="9" name="Text 5"/>
          <p:cNvSpPr txBox="1"/>
          <p:nvPr/>
        </p:nvSpPr>
        <p:spPr>
          <a:xfrm>
            <a:off x="8595360" y="1691640"/>
            <a:ext cx="2864815" cy="5029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Buổi 2 · Số hóa sản lượng</a:t>
            </a:r>
            <a:endParaRPr lang="en-US" sz="1800" dirty="0"/>
          </a:p>
        </p:txBody>
      </p:sp>
      <p:sp>
        <p:nvSpPr>
          <p:cNvPr id="10" name="Text 6"/>
          <p:cNvSpPr txBox="1"/>
          <p:nvPr/>
        </p:nvSpPr>
        <p:spPr>
          <a:xfrm>
            <a:off x="7955280" y="2423160"/>
            <a:ext cx="3413455" cy="3520440"/>
          </a:xfrm>
          <a:prstGeom prst="rect">
            <a:avLst/>
          </a:prstGeom>
          <a:noFill/>
          <a:ln/>
        </p:spPr>
        <p:txBody>
          <a:bodyPr wrap="square" lIns="0" tIns="0" rIns="0" bIns="0" rtlCol="0" anchor="t">
            <a:normAutofit/>
          </a:bodyPr>
          <a:lstStyle/>
          <a:p>
            <a:pPr marL="228600" indent="-228600">
              <a:spcAft>
                <a:spcPts val="900"/>
              </a:spcAft>
              <a:buSzPct val="100000"/>
              <a:buChar char="•"/>
            </a:pPr>
            <a:r>
              <a:rPr lang="en-US" sz="1450" dirty="0">
                <a:solidFill>
                  <a:srgbClr val="E6ECF1"/>
                </a:solidFill>
                <a:latin typeface="Calibri" pitchFamily="34" charset="0"/>
                <a:ea typeface="Calibri" pitchFamily="34" charset="-122"/>
                <a:cs typeface="Calibri" pitchFamily="34" charset="-120"/>
              </a:rPr>
              <a:t>Chuẩn hóa 48 ghi chú kết quả tự do thành mã chuẩn 2 cấp</a:t>
            </a:r>
            <a:endParaRPr lang="en-US" sz="1450" dirty="0"/>
          </a:p>
          <a:p>
            <a:pPr marL="228600" indent="-228600">
              <a:spcAft>
                <a:spcPts val="900"/>
              </a:spcAft>
              <a:buSzPct val="100000"/>
              <a:buChar char="•"/>
            </a:pPr>
            <a:r>
              <a:rPr lang="en-US" sz="1450" dirty="0">
                <a:solidFill>
                  <a:srgbClr val="E6ECF1"/>
                </a:solidFill>
                <a:latin typeface="Calibri" pitchFamily="34" charset="0"/>
                <a:ea typeface="Calibri" pitchFamily="34" charset="-122"/>
                <a:cs typeface="Calibri" pitchFamily="34" charset="-120"/>
              </a:rPr>
              <a:t>Viết Quy tắc làm sạch call log v1</a:t>
            </a:r>
            <a:endParaRPr lang="en-US" sz="1450" dirty="0"/>
          </a:p>
          <a:p>
            <a:pPr marL="228600" indent="-228600">
              <a:spcAft>
                <a:spcPts val="900"/>
              </a:spcAft>
              <a:buSzPct val="100000"/>
              <a:buChar char="•"/>
            </a:pPr>
            <a:r>
              <a:rPr lang="en-US" sz="1450" dirty="0">
                <a:solidFill>
                  <a:srgbClr val="E6ECF1"/>
                </a:solidFill>
                <a:latin typeface="Calibri" pitchFamily="34" charset="0"/>
                <a:ea typeface="Calibri" pitchFamily="34" charset="-122"/>
                <a:cs typeface="Calibri" pitchFamily="34" charset="-120"/>
              </a:rPr>
              <a:t>Bảng sản lượng 4 sheet tự động</a:t>
            </a:r>
            <a:endParaRPr lang="en-US" sz="1450" dirty="0"/>
          </a:p>
          <a:p>
            <a:pPr marL="228600" indent="-228600">
              <a:spcAft>
                <a:spcPts val="900"/>
              </a:spcAft>
              <a:buSzPct val="100000"/>
              <a:buChar char="•"/>
            </a:pPr>
            <a:r>
              <a:rPr lang="en-US" sz="1450" b="1" dirty="0">
                <a:solidFill>
                  <a:srgbClr val="E6ECF1"/>
                </a:solidFill>
                <a:latin typeface="Calibri" pitchFamily="34" charset="0"/>
                <a:ea typeface="Calibri" pitchFamily="34" charset="-122"/>
                <a:cs typeface="Calibri" pitchFamily="34" charset="-120"/>
              </a:rPr>
              <a:t>Mang theo:</a:t>
            </a:r>
            <a:pPr indent="0" marL="0">
              <a:buNone/>
            </a:pPr>
            <a:r>
              <a:rPr lang="en-US" sz="1450" dirty="0">
                <a:solidFill>
                  <a:srgbClr val="E6ECF1"/>
                </a:solidFill>
                <a:latin typeface="Calibri" pitchFamily="34" charset="0"/>
                <a:ea typeface="Calibri" pitchFamily="34" charset="-122"/>
                <a:cs typeface="Calibri" pitchFamily="34" charset="-120"/>
              </a:rPr>
              <a:t> bảng nối mã đã hoàn thiện + lỗi chấm công tìm được</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Sao Việt Contact Center (hư cấu)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Buổi 1 — Nền tảng Claude &amp; chuẩn bị dữ liệu</dc:title>
  <dc:subject>PptxGenJS Presentation</dc:subject>
  <dc:creator>Claude cho Callcenter</dc:creator>
  <cp:lastModifiedBy>Claude cho Callcenter</cp:lastModifiedBy>
  <cp:revision>1</cp:revision>
  <dcterms:created xsi:type="dcterms:W3CDTF">2026-10-01T07:27:33Z</dcterms:created>
  <dcterms:modified xsi:type="dcterms:W3CDTF">2026-10-01T07:27:33Z</dcterms:modified>
</cp:coreProperties>
</file>