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Trung vị tỷ lệ sản xuất</c:v>
                </c:pt>
              </c:strCache>
            </c:strRef>
          </c:tx>
          <c:spPr>
            <a:solidFill>
              <a:srgbClr val="2E7D7A"/>
            </a:solidFill>
            <a:effectLst/>
          </c:spPr>
          <c:invertIfNegative val="0"/>
          <c:dLbls>
            <c:numFmt formatCode="0%" sourceLinked="0"/>
            <c:txPr>
              <a:bodyPr/>
              <a:lstStyle/>
              <a:p>
                <a:pPr>
                  <a:defRPr b="0" i="0" strike="noStrike" sz="1000" u="none">
                    <a:solidFill>
                      <a:srgbClr val="1B2A38"/>
                    </a:solidFill>
                    <a:latin typeface="Arial"/>
                  </a:defRPr>
                </a:pPr>
              </a:p>
            </c:txPr>
            <c:showLegendKey val="0"/>
            <c:showVal val="1"/>
            <c:showCatName val="0"/>
            <c:showSerName val="0"/>
            <c:showPercent val="0"/>
            <c:showBubbleSize val="0"/>
            <c:showLeaderLines val="0"/>
          </c:dLbls>
          <c:cat>
            <c:multiLvlStrRef>
              <c:f>Sheet1!$A$2:$A$6</c:f>
              <c:multiLvlStrCache>
                <c:ptCount val="5"/>
                <c:lvl>
                  <c:pt idx="0">
                    <c:v>TS-BH ca S</c:v>
                  </c:pt>
                  <c:pt idx="1">
                    <c:v>TS-BH ca C</c:v>
                  </c:pt>
                  <c:pt idx="2">
                    <c:v>TS-BH ca PT</c:v>
                  </c:pt>
                  <c:pt idx="3">
                    <c:v>CS-VT ca S/C</c:v>
                  </c:pt>
                  <c:pt idx="4">
                    <c:v>CS-VT ca D</c:v>
                  </c:pt>
                </c:lvl>
              </c:multiLvlStrCache>
            </c:multiLvlStrRef>
          </c:cat>
          <c:val>
            <c:numRef>
              <c:f>Sheet1!$B$2:$B$6</c:f>
              <c:numCache>
                <c:formatCode>General</c:formatCode>
                <c:ptCount val="5"/>
                <c:pt idx="0">
                  <c:v>0.66</c:v>
                </c:pt>
                <c:pt idx="1">
                  <c:v>0.58</c:v>
                </c:pt>
                <c:pt idx="2">
                  <c:v>0.63</c:v>
                </c:pt>
                <c:pt idx="3">
                  <c:v>0.65</c:v>
                </c:pt>
                <c:pt idx="4">
                  <c:v>0.53</c:v>
                </c:pt>
              </c:numCache>
            </c:numRef>
          </c:val>
        </c:ser>
        <c:dLbls>
          <c:numFmt formatCode="0%" sourceLinked="0"/>
          <c:txPr>
            <a:bodyPr/>
            <a:lstStyle/>
            <a:p>
              <a:pPr>
                <a:defRPr b="0" i="0" strike="noStrike" sz="1000" u="none">
                  <a:solidFill>
                    <a:srgbClr val="1B2A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7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9ED"/>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Tổng A: có mặt, chưa đăng nhập (giờ)</c:v>
                </c:pt>
              </c:strCache>
            </c:strRef>
          </c:tx>
          <c:spPr>
            <a:solidFill>
              <a:srgbClr val="D9773A"/>
            </a:solidFill>
            <a:effectLst/>
          </c:spPr>
          <c:invertIfNegative val="0"/>
          <c:dLbls>
            <c:numFmt formatCode="0;-0;;" sourceLinked="0"/>
            <c:txPr>
              <a:bodyPr/>
              <a:lstStyle/>
              <a:p>
                <a:pPr>
                  <a:defRPr b="0" i="0" strike="noStrike" sz="1000" u="none">
                    <a:solidFill>
                      <a:srgbClr val="1B2A38"/>
                    </a:solidFill>
                    <a:latin typeface="Arial"/>
                  </a:defRPr>
                </a:pPr>
              </a:p>
            </c:txPr>
            <c:showLegendKey val="0"/>
            <c:showVal val="1"/>
            <c:showCatName val="0"/>
            <c:showSerName val="0"/>
            <c:showPercent val="0"/>
            <c:showBubbleSize val="0"/>
            <c:showLeaderLines val="0"/>
          </c:dLbls>
          <c:cat>
            <c:multiLvlStrRef>
              <c:f>Sheet1!$A$2:$A$4</c:f>
              <c:multiLvlStrCache>
                <c:ptCount val="3"/>
                <c:lvl>
                  <c:pt idx="0">
                    <c:v>TS-A</c:v>
                  </c:pt>
                  <c:pt idx="1">
                    <c:v>TS-B</c:v>
                  </c:pt>
                  <c:pt idx="2">
                    <c:v>CS-A</c:v>
                  </c:pt>
                </c:lvl>
              </c:multiLvlStrCache>
            </c:multiLvlStrRef>
          </c:cat>
          <c:val>
            <c:numRef>
              <c:f>Sheet1!$B$2:$B$4</c:f>
              <c:numCache>
                <c:formatCode>General</c:formatCode>
                <c:ptCount val="3"/>
                <c:pt idx="0">
                  <c:v>10.18</c:v>
                </c:pt>
                <c:pt idx="1">
                  <c:v>21.22</c:v>
                </c:pt>
                <c:pt idx="2">
                  <c:v>14.88</c:v>
                </c:pt>
              </c:numCache>
            </c:numRef>
          </c:val>
        </c:ser>
        <c:ser>
          <c:idx val="1"/>
          <c:order val="1"/>
          <c:tx>
            <c:strRef>
              <c:f>Sheet1!$C$1</c:f>
              <c:strCache>
                <c:ptCount val="1"/>
                <c:pt idx="0">
                  <c:v>Có mặt, không đăng nhập cả ca (giờ)</c:v>
                </c:pt>
              </c:strCache>
            </c:strRef>
          </c:tx>
          <c:spPr>
            <a:solidFill>
              <a:srgbClr val="C0392B"/>
            </a:solidFill>
            <a:effectLst/>
          </c:spPr>
          <c:invertIfNegative val="0"/>
          <c:dLbls>
            <c:numFmt formatCode="0;-0;;" sourceLinked="0"/>
            <c:txPr>
              <a:bodyPr/>
              <a:lstStyle/>
              <a:p>
                <a:pPr>
                  <a:defRPr b="0" i="0" strike="noStrike" sz="1000" u="none">
                    <a:solidFill>
                      <a:srgbClr val="1B2A38"/>
                    </a:solidFill>
                    <a:latin typeface="Arial"/>
                  </a:defRPr>
                </a:pPr>
              </a:p>
            </c:txPr>
            <c:showLegendKey val="0"/>
            <c:showVal val="1"/>
            <c:showCatName val="0"/>
            <c:showSerName val="0"/>
            <c:showPercent val="0"/>
            <c:showBubbleSize val="0"/>
            <c:showLeaderLines val="0"/>
          </c:dLbls>
          <c:cat>
            <c:multiLvlStrRef>
              <c:f>Sheet1!$A$2:$A$4</c:f>
              <c:multiLvlStrCache>
                <c:ptCount val="3"/>
                <c:lvl>
                  <c:pt idx="0">
                    <c:v>TS-A</c:v>
                  </c:pt>
                  <c:pt idx="1">
                    <c:v>TS-B</c:v>
                  </c:pt>
                  <c:pt idx="2">
                    <c:v>CS-A</c:v>
                  </c:pt>
                </c:lvl>
              </c:multiLvlStrCache>
            </c:multiLvlStrRef>
          </c:cat>
          <c:val>
            <c:numRef>
              <c:f>Sheet1!$C$2:$C$4</c:f>
              <c:numCache>
                <c:formatCode>General</c:formatCode>
                <c:ptCount val="3"/>
                <c:pt idx="0">
                  <c:v>0</c:v>
                </c:pt>
                <c:pt idx="1">
                  <c:v>0</c:v>
                </c:pt>
                <c:pt idx="2">
                  <c:v>16.43</c:v>
                </c:pt>
              </c:numCache>
            </c:numRef>
          </c:val>
        </c:ser>
        <c:dLbls>
          <c:numFmt formatCode="0;-0;;" sourceLinked="0"/>
          <c:txPr>
            <a:bodyPr/>
            <a:lstStyle/>
            <a:p>
              <a:pPr>
                <a:defRPr b="0" i="0" strike="noStrike" sz="1000" u="none">
                  <a:solidFill>
                    <a:srgbClr val="1B2A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7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9E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bằng câu chuyện thật của Sao Việt: chị Mai (HR) mất 3 ngày chốt công cho 19 agent, ngày thứ tư anh Tùng (Trưởng ca TS-B) mang sang danh sách “công sai” và hai bên cãi nhau xem 13:27 có phải đi muộn không. Hỏi lớp: công ty mình mất bao lâu để chốt công, tháng nào cũng cãi về chuyện gì? Nhấn mạnh: hôm nay không “nhờ AI chấm công hộ” — Claude đọc nội quy, dựng bảng công, đối chiếu 3 nguồn; HR và Trưởng ca duyệt. Ebook: Buổi 3 → Tổng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nhanh 3 mục tiêu, nối với syllabus. Nhấn mạnh mục tiêu 3 có hai nửa: tính ra cờ thì dễ, đọc cờ cho đúng mới khó. Hỏi lớp: dữ liệu công là dữ liệu cá nhân — Project của buổi này đã phân quyền chỉ cho HR và quản lý liên quan chưa (Nghị định 13/2023/NĐ-CP)?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này lab nối tiếp nhau: Lab 3.1 tạo bảng quy tắc, Lab 3.2 dùng nó để tính công, Lab 3.3 dùng bảng công để đối soát. Ai chậm ở Lab 3.2 thì dùng ref Cong_ngay mẫu để kịp Lab 3.3. Cần sẵn bảng nối mã (Lab 1.3) và Quy tắc làm sạch call log (buổi 2) trong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2–3 học viên đọc số của mình. Ai ra CS-VT 337/436/439 là quên bỏ chặng chuyển tiếp (QT-03) — đúng bằng số của tổng đài nhưng sai sản lượng. v2 tốt: mỗi thay đổi dẫn về một dòng nhật ký (EXT2099, inbound 0 giây, cột ngay_ca, QT-11 nghi vấn thành công) và có đánh dấu “CẦN DUYỆT”. Nối sang buổi 3: EXT2018 (NV0118) sẽ quay lại ở Lab 3.3 — thiếu dòng nối mã này là 6 cờ oan. Đáp án: ebook → Giải pháp → Buổi 2, mục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lỗi tháng đầu của chị Mai: áp công thức văn phòng, chỉ sửa mốc giờ theo team — tuần 2 TS-B đổi sang ca S nên file báo cả team “về sớm 5 tiếng”, trong khi bỏ sót người đi muộn thật. Hỏi lớp: công ty mình có mấy loại ca, có ca qua đêm không? Thẻ cuối là cái bẫy lớn nhất — máy chỉ ghi “đặt tay lúc mấy giờ”, phải tự ghép vào/ra theo lịch ca. Ebook: Buổi 3 → bài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mở: máy chấm công chỉ trả lời “có đến không?”, hai lớp sau trả lời “có làm không?”. Nhấn mạnh thứ tự lồng nhau: không thể đăng nhập khi chưa đến, không thể nói chuyện với khách khi chưa đăng nhập. Khoảng hở A và B là nơi giờ công rò rỉ. B lớn là bình thường (chờ cuộc, đổ chuông, NOT_READY) — chỉ bất thường khi lệch so với đồng nghiệp cùng dự án. Lỗi học viên hay gặp: khen người có tỷ lệ &gt; 100%. Với NV0116 việc đúng là yêu cầu đơn bổ sung chấm công (Điều 2.2). Ebook: Buổi 3 → bài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người, ba kiểu rò rỉ, đều là số thật. NV0106 07/09: quẹt 12:54 nhưng LOGIN 14:19 — A = 90 phút, 8/12 ca như vậy. NV0108 07/09: đến là đăng nhập ngay (A = 14 phút) nhưng sản xuất chỉ 38,3%; log có 671 phút NOT_READY “Lỗi hệ thống” và 555 phút “Việc riêng” trong 14 ngày. NV0114 12/09 và 19/09: có chấm công, không một sự kiện LOGIN nào. Câu chốt: dữ liệu chỉ nói “có khoảng hở”, không nói “vì sao” — cả ba đều là nghi vấn, chưa phải kết luận. Ebook: Buổi 3 → bài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C. Mọi phép “đi muộn” phải so với giờ bắt đầu ca của đúng người đó, đúng ngày đó. Tuần 07–12/09 TS-B ca C 13:00–22:00 nên 12:51 là đến sớm; sang tuần 14–19/09 TS-B đổi ca S, khi đó công thức cố định mốc 13:00 lại bỏ sót người đi muộn thật. A nhảy thẳng tới kỷ luật khi chưa tra lịch ca. B: ngưỡng 5 phút không sửa được lỗi so sai mốc. D: không có bằng chứng máy lệch giờ — bỏ qua dữ liệu là cách xử lý tệ nhất.
Cho lớp 1 phút, giơ tay theo đáp án. Nguồn: ebook Buổi 3 → bài 03 (Kiểm tra nhanh), câu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bằng tình huống NV0109 muộn 41 phút: anh Tùng đọc Điều 3.3 (nửa công), chị Mai đọc Điều 3.2 (trừ 41 phút), NV0109 hỏi “em bị trừ cả hai à?”. Ba người, ba cách hiểu, một văn bản. Nhấn mạnh hộp cam: mô hình có thể nhớ sai, nhớ bản cũ, nhầm luật nước khác — một hệ số OT sai nhân lên 19 người × 12 tháng là tranh chấp lao động thật. Ebook: Buổi 3 → bài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chiếu bảng, cho lớp 2 phút tự đánh dấu chỗ mơ hồ trong noi_quy_cham_cong.md, rồi so. Điểm “ăn tiền” ít ai thấy: ca D chỉ 7,5 giờ làm việc trong khi Điều 1.3 nói 1 công = 8 giờ. Hệ quả bằng số giúp HR chọn nhanh: với H1, phương án A trừ 2 công + 90 phút của 4 ngày còn lại, phương án B trừ 2 công + cả 237 phút. Điều 6.2 nguy hiểm nhất: dùng giờ đăng nhập để trừ công khi nội quy không quy định là tự đặt doanh nghiệp vào rủi ro tranh chấp. Ebook: Buổi 3 → bài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vòng lớp ở bước 3–4: kết quả lần đầu thường có ví dụ chung chung (“nhân viên A muộn 10 phút”) hoặc giờ văn phòng 08:30–17:30 — yêu cầu dùng đúng giờ ca trong danh_muc_ca.csv. Nếu thấy “hệ số OT 150%” hay “tối đa 40 giờ/tháng”: bảo Claude xóa, thay bằng “tham số – HR xác nhận”. Prompt bước 3–5 có đủ trong ebook Buổi 3 → Lab 3.1 (bài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prompt của syllabus, đã điền tên file của Sao Việt. Cho học viên copy từ ebook (Lab 3.1, bước 2). Sau lần chạy đầu, dùng tiếp prompt “Chuẩn hóa bảng quy tắc” (bước 3) và “Danh sách câu hỏi cho HR” (bước 5) — có cột Hệ quả ví dụ với dữ liệu mẫu để HR thấy tiền lương thay đổi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so bảng của mình theo 3 câu: có cột Loại không (để không biến chỉ số năng suất thành căn cứ trừ lương)? Có con số pháp lý nào lọt vào không? Quy tắc mơ hồ đã trỏ về Hx chưa? Mở rộng cho người làm nhanh: áp bảng quy tắc vào dữ liệu — quy tắc quẹt đúp kích hoạt 17 lần, đi muộn ≥ 5 phút 8 lần (đều của NV0109). Lời giải đầy đủ: ebook → Giải pháp → Buổi 3, phần Lab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Nguyên tắc: dữ liệu gốc không sửa — tính ở lớp sau — tổng hợp ở lớp cuối; mỗi con số tháng lần ngược được về lượt quẹt. So với file cũ của chị Mai: một sheet, 31 cột ngày, ô “X”, “P”, “1/2” gõ tay — gộp dữ liệu gốc, phép tính và kết luận vào một ô nên không truy ngược được, mỗi câu hỏi của nhân viên mất 10 phút. Hỏi lớp: “mỗi dòng của sheet này là gì?” — sai grain là nguồn lỗi số một. Nối buổi 2: cùng nguyên tắc với bảng sản lượng. Ebook: Buổi 3 → bài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nhanh lên bảng một trục thời gian ca S: 05:00 — 08:00 — 12:30 — 17:00 — 21:00. Mọi lượt trước 12:30 ứng viên giờ vào, sau 12:30 ứng viên giờ ra. Lưu ý dấu phân cách trong công thức: Sheets/Excel tiếng Việt dùng “;”, bản tiếng Anh dùng “,”. Trường hợp NV0113 cho thấy vì sao Cong_ngay phải tra đơn phép trước khi kết luận thiếu quẹt. Công thức mẫu đầy đủ: ebook Buổi 3 → bài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đường song song: Claude tính bằng code (nhanh, làm “đáp án”), học viên dựng công thức (để file chạy hằng tháng không cần hỏi lại Claude). Lỗi hay gặp: vài trăm dòng thay vì 220 (grain theo lượt quẹt hoặc giữ OFF); ca D bị tách 2 ngày; giờ có mặt ca PT bị trừ 60 phút; MINIFS trả 0 khi không có lượt nào. Ca thiếu quẹt tạm tính 1 công vì tổng đài chứng minh có làm — trừ ngay là phạt một lỗi quên có thể bổ sung đơn. Ebook: Buổi 3 → Lab 3.2 (bài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nhắc lại cửa sổ ca dù đã có trong Project? Đây là quy tắc kỹ thuật dễ bị “đơn giản hóa”; viết rõ trong prompt thì lần chạy nào cũng giống nhau — tiền đề cho Skill “Chốt công tháng” ở buổi 5. Ngay sau đó chạy prompt đối chiếu tổng (bước 2 của lab, có trong 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Dòng mẫu phải thấy đúng: NV0109 07/09 vào 13:41 muộn 41 phút; NV0112 08/09 ra 18:26, ở lại 86 phút không đơn; NV0116 14/09 ca D 21:48 → 06:11, có mặt 7,88 h; NV0116 17/09 ca D thiếu quẹt ra; NV0110 16/09 vắng không đơn. 1,5 công phép = NV0104 nghỉ 1 ngày + NV0113 nghỉ nửa ngày; chờ duyệt = NV0107 18/09. Nếu HR chọn H4 phương án B (ca D theo giờ), trừ thêm 1,125 công cho 18 ca D. Bảng 19 người: ebook → Giải pháp → Buổi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chuyện anh Tùng nhận 40 cờ, 27 cờ thuộc TS-B, định in ra khoanh đỏ họp team — chị Hạnh chặn lại kịp. Đối soát là máy dò kim loại, không phải thẩm phán. Nguyên tắc: Claude gắn cờ và đề xuất phân loại; cột Kết luận và Người kết luận luôn do người điền. Câu Claude không được viết: “NV0114 đã chấm công hộ” — câu đúng: “có chấm công nhưng không có sự kiện đăng nhập — cần Trưởng ca xác minh”. Ebook: Buổi 3 → bài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trung vị tính trên dữ liệu mẫu 14 ngày (Giải pháp buổi 3). Cờ của NV0115 là cờ do ngưỡng, không do người — phân loại Hợp lệ, và là bằng chứng để đặt ngưỡng thành tham số theo dự án × ca. Ngược lại NV0108 (38–48%) vẫn bị cờ dù dùng ngưỡng nào. Hỏi lớp: dự án inbound/outbound của công ty mình chênh nhau bao nhiêu? Ngưỡng cụ thể sẽ đưa vào Từ điển chỉ số ở buổi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C. Nội quy chưa quy định OT không đăng ký, còn dữ liệu cho thấy có làm thật → HR quyết theo câu hỏi H5; đồng thời đây là tín hiệu quy trình đăng ký OT chưa theo kịp chiến dịch. A áp máy móc, dễ thành tranh chấp vì người lao động đã làm thật. B là tự quyết thay HR (364 phút còn phải làm tròn theo block 30 phút — H7). D coi nhân viên vi phạm trong khi lỗ hổng thuộc về quy trình.
Nguồn: ebook Buổi 3 → Module assessment, câu 8. Nếu còn thời gian, hỏi thêm câu NV0114 “viết luôn biên bản chấm công hộ?” (Kiểm tra nhanh 2, câu 4) — đáp án: Cần xác minh, không kết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2 quan trọng nhất: cùng chữ “giờ đăng nhập” có người cộng từng phiên, có người lấy đầu–cuối, có người trừ NOT_READY — mỗi cách một danh sách cờ. Đoạn định nghĩa v1 có sẵn trong ebook (Lab 3.3, bước 1). Lỗi hay gặp: hàng trăm cờ “tỷ lệ SX &lt; 50%” (chưa bỏ cuộc treo line &gt; 7.200 giây); ca D bị cờ “không đăng nhập” vì tìm LOGIN theo ngày lịch; Claude viết “NV0114 gian lận” — sửa prompt: chỉ mô tả và đề xuất phân loại. Ebook: Buổi 3 → bài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của syllabus, “tuần [X]” được thay bằng cả kỳ 14 ngày. Sau đó dùng 2 prompt nối tiếp trong ebook: bước 3 (bổ sung cờ vắng, đi muộn, ở lại sau ca, có đơn) và bước 4 (xếp mức 1/2/3, cột Phân loại đề xuất, Cần hỏi ai; để trống Kết luận). Nhắc: “Không kết luận kỷ luật” nên có sẵn trong Instructions của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Đếm theo lời giải tham chiếu (pandas, cửa sổ ca [−3h, +4h]). Học viên ra 36–44 là chấp nhận được nếu giải thích được chênh lệch, thường do cách cắt cửa sổ ca hoặc làm tròn. Tự kiểm tra: NV0118 không có cờ nào (đã thêm EXT2018); NV0106 đúng 8 ngày A &gt; 60 phút; ngày có đơn phép chỉ có một cờ “có đơn — đối chiếu”. Mức 1 (19 dòng) phải xử lý trước khi chốt công. Bảng 40 dòng đầy đủ: ebook → Giải pháp → Buổi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nhận xét mẫu, mỗi nhận xét kèm một câu hỏi cho người: (1) anh Tùng có biết vì sao NV0106 đăng nhập trễ ~1 giờ đều đặn không? (2) IT đã ghi nhận sự cố máy trạm của NV0108 chưa (671 phút “Lỗi hệ thống”)? (3) HR chọn phương án nào cho OT không đăng ký (H5)? Tổng B theo team: 168,37 / 195,03 / 243,79 giờ — lớn là bình thường. Ngoài bảng: 8 người-ngày bị loại vì thiếu một lớp, 212 + 8 = 220. Mở rộng: quy “giờ lãng phí” ra tiền bằng chi phí giờ bình quân (tham số HR) — con số anh Phong sẽ hỏi ở buổi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Chia lớp thành cặp HR – Trưởng ca, dùng danh sách 40 cờ của Lab 3.3. Giảng viên chốt: cờ là nghi vấn, không phải kết luận; nếu cờ hóa ra là lỗi dữ liệu hay lỗi ngưỡng thì xin lỗi và sửa quy tắc — agent tin hệ thống khi thấy nó sửa sai cho cả hai phía. Muốn luyện thêm: 2 kịch bản role play (HR giải thích công cho NV0109; Trưởng ca xác minh NV0114) ở ebook Buổi 3 → bài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bài 5 phút cuối. Giá trị thật của đối soát chỉ xuất hiện khi mỗi cờ được đóng bằng một kết luận có căn cứ. Với dữ liệu mẫu, học viên đóng vai HR, câu nào dữ liệu không trả lời được thì ghi “Cần hỏi Trưởng ca: …”. Bảng quy tắc v2 kỳ vọng tối thiểu 2 thay đổi: ngưỡng theo dự án × ca, nghỉ nửa ngày dời mốc ca, đơn chờ duyệt tại hạn chốt, OT không đăng ký, hoặc quy tắc cấp mã tổng đài cho nhân viên mới. Nộp kèm tóm tắt 5 dòng (% lỗi dữ liệu / hợp lệ / vi phạm / còn xác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lại câu chuyện đầu buổi: thay vì 220 dòng cần người dò, giờ chỉ còn 40 dòng cần người xem — và mỗi con số công đều dẫn được về quy tắc QC và lượt quẹt gốc. Buổi 4 mở đầu bằng câu hỏi: bao nhiêu % cờ là lỗi dữ liệu, bao nhiêu % là vi phạm thật? Gợi ý đoán trước: “mỗi giờ công tạo ra bao nhiêu cuộc thành công?”.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25-1.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8"/>
        </a:solidFill>
      </p:bgPr>
    </p:bg>
    <p:spTree>
      <p:nvGrpSpPr>
        <p:cNvPr id="1" name=""/>
        <p:cNvGrpSpPr/>
        <p:nvPr/>
      </p:nvGrpSpPr>
      <p:grpSpPr>
        <a:xfrm>
          <a:off x="0" y="0"/>
          <a:ext cx="0" cy="0"/>
          <a:chOff x="0" y="0"/>
          <a:chExt cx="0" cy="0"/>
        </a:xfrm>
      </p:grpSpPr>
      <p:sp>
        <p:nvSpPr>
          <p:cNvPr id="3" name="Text 0"/>
          <p:cNvSpPr txBox="1"/>
          <p:nvPr/>
        </p:nvSpPr>
        <p:spPr>
          <a:xfrm>
            <a:off x="548640" y="640080"/>
            <a:ext cx="3657600" cy="365760"/>
          </a:xfrm>
          <a:prstGeom prst="rect">
            <a:avLst/>
          </a:prstGeom>
          <a:noFill/>
          <a:ln/>
        </p:spPr>
        <p:txBody>
          <a:bodyPr wrap="square" lIns="0" tIns="0" rIns="0" bIns="0" rtlCol="0" anchor="t"/>
          <a:lstStyle/>
          <a:p>
            <a:pPr indent="0" marL="0">
              <a:buNone/>
            </a:pPr>
            <a:r>
              <a:rPr lang="en-US" sz="1400" b="1" spc="300" kern="0" dirty="0">
                <a:solidFill>
                  <a:srgbClr val="D9773A"/>
                </a:solidFill>
                <a:latin typeface="Calibri" pitchFamily="34" charset="0"/>
                <a:ea typeface="Calibri" pitchFamily="34" charset="-122"/>
                <a:cs typeface="Calibri" pitchFamily="34" charset="-120"/>
              </a:rPr>
              <a:t>BUỔI 3 / 5</a:t>
            </a:r>
            <a:endParaRPr lang="en-US" sz="1400" dirty="0"/>
          </a:p>
        </p:txBody>
      </p:sp>
      <p:sp>
        <p:nvSpPr>
          <p:cNvPr id="4" name="Text 1"/>
          <p:cNvSpPr txBox="1"/>
          <p:nvPr/>
        </p:nvSpPr>
        <p:spPr>
          <a:xfrm>
            <a:off x="548640" y="1051560"/>
            <a:ext cx="7498080" cy="173736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Cambria" pitchFamily="34" charset="0"/>
                <a:ea typeface="Cambria" pitchFamily="34" charset="-122"/>
                <a:cs typeface="Cambria" pitchFamily="34" charset="-120"/>
              </a:rPr>
              <a:t>Số hóa chấm công</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&amp; đối soát</a:t>
            </a:r>
            <a:endParaRPr lang="en-US" sz="4000" dirty="0"/>
          </a:p>
        </p:txBody>
      </p:sp>
      <p:sp>
        <p:nvSpPr>
          <p:cNvPr id="5" name="Text 2"/>
          <p:cNvSpPr txBox="1"/>
          <p:nvPr/>
        </p:nvSpPr>
        <p:spPr>
          <a:xfrm>
            <a:off x="548640" y="2880360"/>
            <a:ext cx="7132320" cy="822960"/>
          </a:xfrm>
          <a:prstGeom prst="rect">
            <a:avLst/>
          </a:prstGeom>
          <a:noFill/>
          <a:ln/>
        </p:spPr>
        <p:txBody>
          <a:bodyPr wrap="square" lIns="0" tIns="0" rIns="0" bIns="0" rtlCol="0" anchor="t"/>
          <a:lstStyle/>
          <a:p>
            <a:pPr indent="0" marL="0">
              <a:buNone/>
            </a:pPr>
            <a:r>
              <a:rPr lang="en-US" sz="1700" i="1" dirty="0">
                <a:solidFill>
                  <a:srgbClr val="C9D3DD"/>
                </a:solidFill>
                <a:latin typeface="Calibri" pitchFamily="34" charset="0"/>
                <a:ea typeface="Calibri" pitchFamily="34" charset="-122"/>
                <a:cs typeface="Calibri" pitchFamily="34" charset="-120"/>
              </a:rPr>
              <a:t>Máy chấm công chỉ trả lời “có đến không?”. Hôm nay ta hỏi thêm “có làm không?” — và để người, không phải AI, kết luận.</a:t>
            </a:r>
            <a:endParaRPr lang="en-US" sz="1700" dirty="0"/>
          </a:p>
        </p:txBody>
      </p:sp>
      <p:sp>
        <p:nvSpPr>
          <p:cNvPr id="6" name="Text 3"/>
          <p:cNvSpPr txBox="1"/>
          <p:nvPr/>
        </p:nvSpPr>
        <p:spPr>
          <a:xfrm>
            <a:off x="548640" y="5989320"/>
            <a:ext cx="7315200" cy="320040"/>
          </a:xfrm>
          <a:prstGeom prst="rect">
            <a:avLst/>
          </a:prstGeom>
          <a:noFill/>
          <a:ln/>
        </p:spPr>
        <p:txBody>
          <a:bodyPr wrap="square" lIns="0" tIns="0" rIns="0" bIns="0" rtlCol="0" anchor="t"/>
          <a:lstStyle/>
          <a:p>
            <a:pPr indent="0" marL="0">
              <a:buNone/>
            </a:pPr>
            <a:r>
              <a:rPr lang="en-US" sz="1200" dirty="0">
                <a:solidFill>
                  <a:srgbClr val="9AA8B6"/>
                </a:solidFill>
                <a:latin typeface="Calibri" pitchFamily="34" charset="0"/>
                <a:ea typeface="Calibri" pitchFamily="34" charset="-122"/>
                <a:cs typeface="Calibri" pitchFamily="34" charset="-120"/>
              </a:rPr>
              <a:t>Claude cho Callcenter · Số hóa sản lượng cuộc gọi &amp; chấm công</a:t>
            </a:r>
            <a:endParaRPr lang="en-US" sz="1200" dirty="0"/>
          </a:p>
        </p:txBody>
      </p:sp>
      <p:sp>
        <p:nvSpPr>
          <p:cNvPr id="7" name="Text 4"/>
          <p:cNvSpPr txBox="1"/>
          <p:nvPr/>
        </p:nvSpPr>
        <p:spPr>
          <a:xfrm>
            <a:off x="548640" y="3886200"/>
            <a:ext cx="7132320" cy="320040"/>
          </a:xfrm>
          <a:prstGeom prst="rect">
            <a:avLst/>
          </a:prstGeom>
          <a:noFill/>
          <a:ln/>
        </p:spPr>
        <p:txBody>
          <a:bodyPr wrap="square" lIns="0" tIns="0" rIns="0" bIns="0" rtlCol="0" anchor="t"/>
          <a:lstStyle/>
          <a:p>
            <a:pPr indent="0" marL="0">
              <a:buNone/>
            </a:pPr>
            <a:r>
              <a:rPr lang="en-US" sz="1300" dirty="0">
                <a:solidFill>
                  <a:srgbClr val="D9773A"/>
                </a:solidFill>
                <a:latin typeface="Calibri" pitchFamily="34" charset="0"/>
                <a:ea typeface="Calibri" pitchFamily="34" charset="-122"/>
                <a:cs typeface="Calibri" pitchFamily="34" charset="-120"/>
              </a:rPr>
              <a:t>2 giờ trên lớp + 1 giờ thực hành tại nhà</a:t>
            </a:r>
            <a:endParaRPr lang="en-US" sz="1300" dirty="0"/>
          </a:p>
        </p:txBody>
      </p:sp>
      <p:sp>
        <p:nvSpPr>
          <p:cNvPr id="8" name="Shape 5"/>
          <p:cNvSpPr/>
          <p:nvPr/>
        </p:nvSpPr>
        <p:spPr>
          <a:xfrm>
            <a:off x="8001000" y="640080"/>
            <a:ext cx="3642055" cy="5486400"/>
          </a:xfrm>
          <a:prstGeom prst="roundRect">
            <a:avLst>
              <a:gd name="adj" fmla="val 3013"/>
            </a:avLst>
          </a:prstGeom>
          <a:solidFill>
            <a:srgbClr val="2B3E50"/>
          </a:solidFill>
          <a:ln w="12700">
            <a:solidFill>
              <a:srgbClr val="2B3E50"/>
            </a:solidFill>
            <a:prstDash val="solid"/>
          </a:ln>
        </p:spPr>
      </p:sp>
      <p:sp>
        <p:nvSpPr>
          <p:cNvPr id="9" name="Shape 6"/>
          <p:cNvSpPr/>
          <p:nvPr/>
        </p:nvSpPr>
        <p:spPr>
          <a:xfrm>
            <a:off x="8321040" y="914400"/>
            <a:ext cx="548640" cy="548640"/>
          </a:xfrm>
          <a:prstGeom prst="roundRect">
            <a:avLst>
              <a:gd name="adj" fmla="val 22000"/>
            </a:avLst>
          </a:prstGeom>
          <a:solidFill>
            <a:srgbClr val="D9773A"/>
          </a:solidFill>
          <a:ln w="12700">
            <a:solidFill>
              <a:srgbClr val="D9773A"/>
            </a:solidFill>
            <a:prstDash val="solid"/>
          </a:ln>
        </p:spPr>
      </p:sp>
      <p:pic>
        <p:nvPicPr>
          <p:cNvPr id="10" name="Image 0" descr="preencoded.png">    </p:cNvPr>
          <p:cNvPicPr>
            <a:picLocks noChangeAspect="1"/>
          </p:cNvPicPr>
          <p:nvPr/>
        </p:nvPicPr>
        <p:blipFill>
          <a:blip r:embed="rId1"/>
          <a:stretch>
            <a:fillRect/>
          </a:stretch>
        </p:blipFill>
        <p:spPr>
          <a:xfrm>
            <a:off x="8452714" y="1046074"/>
            <a:ext cx="285293" cy="285293"/>
          </a:xfrm>
          <a:prstGeom prst="rect">
            <a:avLst/>
          </a:prstGeom>
        </p:spPr>
      </p:pic>
      <p:sp>
        <p:nvSpPr>
          <p:cNvPr id="11" name="Text 7"/>
          <p:cNvSpPr txBox="1"/>
          <p:nvPr/>
        </p:nvSpPr>
        <p:spPr>
          <a:xfrm>
            <a:off x="9006840" y="914400"/>
            <a:ext cx="2453335"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Sản phẩm mang về</a:t>
            </a:r>
            <a:endParaRPr lang="en-US" sz="1800" dirty="0"/>
          </a:p>
        </p:txBody>
      </p:sp>
      <p:sp>
        <p:nvSpPr>
          <p:cNvPr id="12" name="Text 8"/>
          <p:cNvSpPr txBox="1"/>
          <p:nvPr/>
        </p:nvSpPr>
        <p:spPr>
          <a:xfrm>
            <a:off x="8321040" y="1737360"/>
            <a:ext cx="3047695" cy="4114800"/>
          </a:xfrm>
          <a:prstGeom prst="rect">
            <a:avLst/>
          </a:prstGeom>
          <a:noFill/>
          <a:ln/>
        </p:spPr>
        <p:txBody>
          <a:bodyPr wrap="square" lIns="0" tIns="0" rIns="0" bIns="0" rtlCol="0" anchor="t"/>
          <a:lstStyle/>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Bảng quy tắc công</a:t>
            </a:r>
            <a:pPr indent="0" marL="0">
              <a:buNone/>
            </a:pPr>
            <a:r>
              <a:rPr lang="en-US" sz="1450" dirty="0">
                <a:solidFill>
                  <a:srgbClr val="E6ECF1"/>
                </a:solidFill>
                <a:latin typeface="Calibri" pitchFamily="34" charset="0"/>
                <a:ea typeface="Calibri" pitchFamily="34" charset="-122"/>
                <a:cs typeface="Calibri" pitchFamily="34" charset="-120"/>
              </a:rPr>
              <a:t> mã QC-xx + danh sách câu hỏi cho HR, mỗi câu 2 phương án</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File công 4 sheet</a:t>
            </a:r>
            <a:pPr indent="0" marL="0">
              <a:buNone/>
            </a:pPr>
            <a:r>
              <a:rPr lang="en-US" sz="1450" dirty="0">
                <a:solidFill>
                  <a:srgbClr val="E6ECF1"/>
                </a:solidFill>
                <a:latin typeface="Calibri" pitchFamily="34" charset="0"/>
                <a:ea typeface="Calibri" pitchFamily="34" charset="-122"/>
                <a:cs typeface="Calibri" pitchFamily="34" charset="-120"/>
              </a:rPr>
              <a:t> Lich_ca → Cham_cong_goc → Cong_ngay → Cong_thang</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Báo cáo đối soát 3 lớp</a:t>
            </a:r>
            <a:pPr indent="0" marL="0">
              <a:buNone/>
            </a:pPr>
            <a:r>
              <a:rPr lang="en-US" sz="1450" dirty="0">
                <a:solidFill>
                  <a:srgbClr val="E6ECF1"/>
                </a:solidFill>
                <a:latin typeface="Calibri" pitchFamily="34" charset="0"/>
                <a:ea typeface="Calibri" pitchFamily="34" charset="-122"/>
                <a:cs typeface="Calibri" pitchFamily="34" charset="-120"/>
              </a:rPr>
              <a:t> ~40 cờ xếp mức độ, giờ chênh lệch theo team</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Định nghĩa đối soát v1</a:t>
            </a:r>
            <a:pPr indent="0" marL="0">
              <a:buNone/>
            </a:pPr>
            <a:r>
              <a:rPr lang="en-US" sz="1450" dirty="0">
                <a:solidFill>
                  <a:srgbClr val="E6ECF1"/>
                </a:solidFill>
                <a:latin typeface="Calibri" pitchFamily="34" charset="0"/>
                <a:ea typeface="Calibri" pitchFamily="34" charset="-122"/>
                <a:cs typeface="Calibri" pitchFamily="34" charset="-120"/>
              </a:rPr>
              <a:t> + bảng nối mã bổ sung NV0118 ↔ EXT2018</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96112" cy="292608"/>
          </a:xfrm>
          <a:prstGeom prst="roundRect">
            <a:avLst>
              <a:gd name="adj" fmla="val 50000"/>
            </a:avLst>
          </a:prstGeom>
          <a:solidFill>
            <a:srgbClr val="F2F4F6"/>
          </a:solidFill>
          <a:ln w="12700">
            <a:solidFill>
              <a:srgbClr val="F2F4F6"/>
            </a:solidFill>
            <a:prstDash val="solid"/>
          </a:ln>
        </p:spPr>
      </p:sp>
      <p:sp>
        <p:nvSpPr>
          <p:cNvPr id="3" name="Text 1"/>
          <p:cNvSpPr txBox="1"/>
          <p:nvPr/>
        </p:nvSpPr>
        <p:spPr>
          <a:xfrm>
            <a:off x="548640" y="384048"/>
            <a:ext cx="896112" cy="292608"/>
          </a:xfrm>
          <a:prstGeom prst="rect">
            <a:avLst/>
          </a:prstGeom>
          <a:noFill/>
          <a:ln/>
        </p:spPr>
        <p:txBody>
          <a:bodyPr wrap="square" lIns="0" tIns="0" rIns="0" bIns="0" rtlCol="0" anchor="ctr"/>
          <a:lstStyle/>
          <a:p>
            <a:pPr algn="ctr" indent="0" marL="0">
              <a:buNone/>
            </a:pPr>
            <a:r>
              <a:rPr lang="en-US" sz="1050" b="1" spc="150" kern="0" dirty="0">
                <a:solidFill>
                  <a:srgbClr val="2B3E50"/>
                </a:solidFill>
                <a:latin typeface="Calibri" pitchFamily="34" charset="0"/>
                <a:ea typeface="Calibri" pitchFamily="34" charset="-122"/>
                <a:cs typeface="Calibri" pitchFamily="34" charset="-120"/>
              </a:rPr>
              <a:t>LỘ TRÌNH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Mục tiêu buổi học</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Shape 4"/>
          <p:cNvSpPr/>
          <p:nvPr/>
        </p:nvSpPr>
        <p:spPr>
          <a:xfrm>
            <a:off x="548640" y="1691640"/>
            <a:ext cx="11094415" cy="1051560"/>
          </a:xfrm>
          <a:prstGeom prst="roundRect">
            <a:avLst>
              <a:gd name="adj" fmla="val 8696"/>
            </a:avLst>
          </a:prstGeom>
          <a:solidFill>
            <a:srgbClr val="F2F4F6"/>
          </a:solidFill>
          <a:ln w="12700">
            <a:solidFill>
              <a:srgbClr val="F2F4F6"/>
            </a:solidFill>
            <a:prstDash val="solid"/>
          </a:ln>
        </p:spPr>
      </p:sp>
      <p:sp>
        <p:nvSpPr>
          <p:cNvPr id="8" name="Shape 5"/>
          <p:cNvSpPr/>
          <p:nvPr/>
        </p:nvSpPr>
        <p:spPr>
          <a:xfrm>
            <a:off x="777240" y="1933956"/>
            <a:ext cx="566928" cy="56692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913303" y="2070019"/>
            <a:ext cx="294803" cy="294803"/>
          </a:xfrm>
          <a:prstGeom prst="rect">
            <a:avLst/>
          </a:prstGeom>
        </p:spPr>
      </p:pic>
      <p:sp>
        <p:nvSpPr>
          <p:cNvPr id="10" name="Text 6"/>
          <p:cNvSpPr txBox="1"/>
          <p:nvPr/>
        </p:nvSpPr>
        <p:spPr>
          <a:xfrm>
            <a:off x="1554480" y="181965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Chuyển nội quy chấm công thành bảng quy tắc máy đọc được</a:t>
            </a:r>
            <a:endParaRPr lang="en-US" sz="1800" dirty="0"/>
          </a:p>
        </p:txBody>
      </p:sp>
      <p:sp>
        <p:nvSpPr>
          <p:cNvPr id="11" name="Text 7"/>
          <p:cNvSpPr txBox="1"/>
          <p:nvPr/>
        </p:nvSpPr>
        <p:spPr>
          <a:xfrm>
            <a:off x="1554480" y="219456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Mỗi quy tắc: mã QC-xx – điều kiện – cách tính – ví dụ số – trích điều khoản. Chỗ mơ hồ thành câu hỏi 2 phương án cho HR.</a:t>
            </a:r>
            <a:endParaRPr lang="en-US" sz="1400" dirty="0"/>
          </a:p>
        </p:txBody>
      </p:sp>
      <p:sp>
        <p:nvSpPr>
          <p:cNvPr id="12" name="Shape 8"/>
          <p:cNvSpPr/>
          <p:nvPr/>
        </p:nvSpPr>
        <p:spPr>
          <a:xfrm>
            <a:off x="548640" y="2971800"/>
            <a:ext cx="11094415" cy="1051560"/>
          </a:xfrm>
          <a:prstGeom prst="roundRect">
            <a:avLst>
              <a:gd name="adj" fmla="val 8696"/>
            </a:avLst>
          </a:prstGeom>
          <a:solidFill>
            <a:srgbClr val="F2F4F6"/>
          </a:solidFill>
          <a:ln w="12700">
            <a:solidFill>
              <a:srgbClr val="F2F4F6"/>
            </a:solidFill>
            <a:prstDash val="solid"/>
          </a:ln>
        </p:spPr>
      </p:sp>
      <p:sp>
        <p:nvSpPr>
          <p:cNvPr id="13" name="Shape 9"/>
          <p:cNvSpPr/>
          <p:nvPr/>
        </p:nvSpPr>
        <p:spPr>
          <a:xfrm>
            <a:off x="777240" y="3214116"/>
            <a:ext cx="566928" cy="566928"/>
          </a:xfrm>
          <a:prstGeom prst="roundRect">
            <a:avLst>
              <a:gd name="adj" fmla="val 22000"/>
            </a:avLst>
          </a:prstGeom>
          <a:solidFill>
            <a:srgbClr val="D9773A"/>
          </a:solidFill>
          <a:ln w="12700">
            <a:solidFill>
              <a:srgbClr val="D9773A"/>
            </a:solidFill>
            <a:prstDash val="solid"/>
          </a:ln>
        </p:spPr>
      </p:sp>
      <p:pic>
        <p:nvPicPr>
          <p:cNvPr id="14" name="Image 1" descr="preencoded.png">    </p:cNvPr>
          <p:cNvPicPr>
            <a:picLocks noChangeAspect="1"/>
          </p:cNvPicPr>
          <p:nvPr/>
        </p:nvPicPr>
        <p:blipFill>
          <a:blip r:embed="rId2"/>
          <a:stretch>
            <a:fillRect/>
          </a:stretch>
        </p:blipFill>
        <p:spPr>
          <a:xfrm>
            <a:off x="913303" y="3350179"/>
            <a:ext cx="294803" cy="294803"/>
          </a:xfrm>
          <a:prstGeom prst="rect">
            <a:avLst/>
          </a:prstGeom>
        </p:spPr>
      </p:pic>
      <p:sp>
        <p:nvSpPr>
          <p:cNvPr id="15" name="Text 10"/>
          <p:cNvSpPr txBox="1"/>
          <p:nvPr/>
        </p:nvSpPr>
        <p:spPr>
          <a:xfrm>
            <a:off x="1554480" y="309981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Tạo bảng công ngày/tháng tự động</a:t>
            </a:r>
            <a:endParaRPr lang="en-US" sz="1800" dirty="0"/>
          </a:p>
        </p:txBody>
      </p:sp>
      <p:sp>
        <p:nvSpPr>
          <p:cNvPr id="16" name="Text 11"/>
          <p:cNvSpPr txBox="1"/>
          <p:nvPr/>
        </p:nvSpPr>
        <p:spPr>
          <a:xfrm>
            <a:off x="1554480" y="347472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Từ lịch ca + máy chấm công (không phân vào/ra) + đơn phép/OT — xử lý được ca đêm, quẹt đúp, nghỉ nửa ngày.</a:t>
            </a:r>
            <a:endParaRPr lang="en-US" sz="1400" dirty="0"/>
          </a:p>
        </p:txBody>
      </p:sp>
      <p:sp>
        <p:nvSpPr>
          <p:cNvPr id="17" name="Shape 12"/>
          <p:cNvSpPr/>
          <p:nvPr/>
        </p:nvSpPr>
        <p:spPr>
          <a:xfrm>
            <a:off x="548640" y="4251960"/>
            <a:ext cx="11094415" cy="1051560"/>
          </a:xfrm>
          <a:prstGeom prst="roundRect">
            <a:avLst>
              <a:gd name="adj" fmla="val 8696"/>
            </a:avLst>
          </a:prstGeom>
          <a:solidFill>
            <a:srgbClr val="F2F4F6"/>
          </a:solidFill>
          <a:ln w="12700">
            <a:solidFill>
              <a:srgbClr val="F2F4F6"/>
            </a:solidFill>
            <a:prstDash val="solid"/>
          </a:ln>
        </p:spPr>
      </p:sp>
      <p:sp>
        <p:nvSpPr>
          <p:cNvPr id="18" name="Shape 13"/>
          <p:cNvSpPr/>
          <p:nvPr/>
        </p:nvSpPr>
        <p:spPr>
          <a:xfrm>
            <a:off x="777240" y="4494276"/>
            <a:ext cx="566928" cy="566928"/>
          </a:xfrm>
          <a:prstGeom prst="roundRect">
            <a:avLst>
              <a:gd name="adj" fmla="val 22000"/>
            </a:avLst>
          </a:prstGeom>
          <a:solidFill>
            <a:srgbClr val="D9773A"/>
          </a:solidFill>
          <a:ln w="12700">
            <a:solidFill>
              <a:srgbClr val="D9773A"/>
            </a:solidFill>
            <a:prstDash val="solid"/>
          </a:ln>
        </p:spPr>
      </p:sp>
      <p:pic>
        <p:nvPicPr>
          <p:cNvPr id="19" name="Image 2" descr="preencoded.png">    </p:cNvPr>
          <p:cNvPicPr>
            <a:picLocks noChangeAspect="1"/>
          </p:cNvPicPr>
          <p:nvPr/>
        </p:nvPicPr>
        <p:blipFill>
          <a:blip r:embed="rId3"/>
          <a:stretch>
            <a:fillRect/>
          </a:stretch>
        </p:blipFill>
        <p:spPr>
          <a:xfrm>
            <a:off x="913303" y="4630339"/>
            <a:ext cx="294803" cy="294803"/>
          </a:xfrm>
          <a:prstGeom prst="rect">
            <a:avLst/>
          </a:prstGeom>
        </p:spPr>
      </p:pic>
      <p:sp>
        <p:nvSpPr>
          <p:cNvPr id="20" name="Text 14"/>
          <p:cNvSpPr txBox="1"/>
          <p:nvPr/>
        </p:nvSpPr>
        <p:spPr>
          <a:xfrm>
            <a:off x="1554480" y="437997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Đối soát 3 lớp thời gian và đọc kết quả cho đúng</a:t>
            </a:r>
            <a:endParaRPr lang="en-US" sz="1800" dirty="0"/>
          </a:p>
        </p:txBody>
      </p:sp>
      <p:sp>
        <p:nvSpPr>
          <p:cNvPr id="21" name="Text 15"/>
          <p:cNvSpPr txBox="1"/>
          <p:nvPr/>
        </p:nvSpPr>
        <p:spPr>
          <a:xfrm>
            <a:off x="1554480" y="475488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Có mặt ≥ đăng nhập ≥ sản xuất để thấy lãng phí và chấm công bất thường — phân loại cờ, AI không kết luận kỷ luật.</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96112" cy="292608"/>
          </a:xfrm>
          <a:prstGeom prst="roundRect">
            <a:avLst>
              <a:gd name="adj" fmla="val 50000"/>
            </a:avLst>
          </a:prstGeom>
          <a:solidFill>
            <a:srgbClr val="F2F4F6"/>
          </a:solidFill>
          <a:ln w="12700">
            <a:solidFill>
              <a:srgbClr val="F2F4F6"/>
            </a:solidFill>
            <a:prstDash val="solid"/>
          </a:ln>
        </p:spPr>
      </p:sp>
      <p:sp>
        <p:nvSpPr>
          <p:cNvPr id="3" name="Text 1"/>
          <p:cNvSpPr txBox="1"/>
          <p:nvPr/>
        </p:nvSpPr>
        <p:spPr>
          <a:xfrm>
            <a:off x="548640" y="384048"/>
            <a:ext cx="896112" cy="292608"/>
          </a:xfrm>
          <a:prstGeom prst="rect">
            <a:avLst/>
          </a:prstGeom>
          <a:noFill/>
          <a:ln/>
        </p:spPr>
        <p:txBody>
          <a:bodyPr wrap="square" lIns="0" tIns="0" rIns="0" bIns="0" rtlCol="0" anchor="ctr"/>
          <a:lstStyle/>
          <a:p>
            <a:pPr algn="ctr" indent="0" marL="0">
              <a:buNone/>
            </a:pPr>
            <a:r>
              <a:rPr lang="en-US" sz="1050" b="1" spc="150" kern="0" dirty="0">
                <a:solidFill>
                  <a:srgbClr val="2B3E50"/>
                </a:solidFill>
                <a:latin typeface="Calibri" pitchFamily="34" charset="0"/>
                <a:ea typeface="Calibri" pitchFamily="34" charset="-122"/>
                <a:cs typeface="Calibri" pitchFamily="34" charset="-120"/>
              </a:rPr>
              <a:t>LỘ TRÌNH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Lịch 120 phút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Shape 4"/>
          <p:cNvSpPr/>
          <p:nvPr/>
        </p:nvSpPr>
        <p:spPr>
          <a:xfrm>
            <a:off x="548640" y="1783080"/>
            <a:ext cx="887959" cy="502920"/>
          </a:xfrm>
          <a:prstGeom prst="rect">
            <a:avLst/>
          </a:prstGeom>
          <a:solidFill>
            <a:srgbClr val="6E4E9E"/>
          </a:solidFill>
          <a:ln w="12700">
            <a:solidFill>
              <a:srgbClr val="6E4E9E"/>
            </a:solidFill>
            <a:prstDash val="solid"/>
          </a:ln>
        </p:spPr>
      </p:sp>
      <p:sp>
        <p:nvSpPr>
          <p:cNvPr id="8" name="Text 5"/>
          <p:cNvSpPr txBox="1"/>
          <p:nvPr/>
        </p:nvSpPr>
        <p:spPr>
          <a:xfrm>
            <a:off x="548640" y="1783080"/>
            <a:ext cx="88795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9" name="Shape 6"/>
          <p:cNvSpPr/>
          <p:nvPr/>
        </p:nvSpPr>
        <p:spPr>
          <a:xfrm>
            <a:off x="1473175" y="1783080"/>
            <a:ext cx="2737028" cy="502920"/>
          </a:xfrm>
          <a:prstGeom prst="rect">
            <a:avLst/>
          </a:prstGeom>
          <a:solidFill>
            <a:srgbClr val="D9773A"/>
          </a:solidFill>
          <a:ln w="12700">
            <a:solidFill>
              <a:srgbClr val="D9773A"/>
            </a:solidFill>
            <a:prstDash val="solid"/>
          </a:ln>
        </p:spPr>
      </p:sp>
      <p:sp>
        <p:nvSpPr>
          <p:cNvPr id="10" name="Text 7"/>
          <p:cNvSpPr txBox="1"/>
          <p:nvPr/>
        </p:nvSpPr>
        <p:spPr>
          <a:xfrm>
            <a:off x="1473175" y="1783080"/>
            <a:ext cx="2737028"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30’</a:t>
            </a:r>
            <a:endParaRPr lang="en-US" sz="1300" dirty="0"/>
          </a:p>
        </p:txBody>
      </p:sp>
      <p:sp>
        <p:nvSpPr>
          <p:cNvPr id="11" name="Shape 8"/>
          <p:cNvSpPr/>
          <p:nvPr/>
        </p:nvSpPr>
        <p:spPr>
          <a:xfrm>
            <a:off x="4246778" y="1783080"/>
            <a:ext cx="5972899" cy="502920"/>
          </a:xfrm>
          <a:prstGeom prst="rect">
            <a:avLst/>
          </a:prstGeom>
          <a:solidFill>
            <a:srgbClr val="2E7D7A"/>
          </a:solidFill>
          <a:ln w="12700">
            <a:solidFill>
              <a:srgbClr val="2E7D7A"/>
            </a:solidFill>
            <a:prstDash val="solid"/>
          </a:ln>
        </p:spPr>
      </p:sp>
      <p:sp>
        <p:nvSpPr>
          <p:cNvPr id="12" name="Text 9"/>
          <p:cNvSpPr txBox="1"/>
          <p:nvPr/>
        </p:nvSpPr>
        <p:spPr>
          <a:xfrm>
            <a:off x="4246778" y="1783080"/>
            <a:ext cx="597289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65’</a:t>
            </a:r>
            <a:endParaRPr lang="en-US" sz="1300" dirty="0"/>
          </a:p>
        </p:txBody>
      </p:sp>
      <p:sp>
        <p:nvSpPr>
          <p:cNvPr id="13" name="Shape 10"/>
          <p:cNvSpPr/>
          <p:nvPr/>
        </p:nvSpPr>
        <p:spPr>
          <a:xfrm>
            <a:off x="10256253" y="1783080"/>
            <a:ext cx="887959" cy="502920"/>
          </a:xfrm>
          <a:prstGeom prst="rect">
            <a:avLst/>
          </a:prstGeom>
          <a:solidFill>
            <a:srgbClr val="6E4E9E"/>
          </a:solidFill>
          <a:ln w="12700">
            <a:solidFill>
              <a:srgbClr val="6E4E9E"/>
            </a:solidFill>
            <a:prstDash val="solid"/>
          </a:ln>
        </p:spPr>
      </p:sp>
      <p:sp>
        <p:nvSpPr>
          <p:cNvPr id="14" name="Text 11"/>
          <p:cNvSpPr txBox="1"/>
          <p:nvPr/>
        </p:nvSpPr>
        <p:spPr>
          <a:xfrm>
            <a:off x="10256253" y="1783080"/>
            <a:ext cx="88795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15" name="Shape 12"/>
          <p:cNvSpPr/>
          <p:nvPr/>
        </p:nvSpPr>
        <p:spPr>
          <a:xfrm>
            <a:off x="11180788" y="1783080"/>
            <a:ext cx="425691" cy="502920"/>
          </a:xfrm>
          <a:prstGeom prst="rect">
            <a:avLst/>
          </a:prstGeom>
          <a:solidFill>
            <a:srgbClr val="D9773A"/>
          </a:solidFill>
          <a:ln w="12700">
            <a:solidFill>
              <a:srgbClr val="D9773A"/>
            </a:solidFill>
            <a:prstDash val="solid"/>
          </a:ln>
        </p:spPr>
      </p:sp>
      <p:sp>
        <p:nvSpPr>
          <p:cNvPr id="16" name="Shape 13"/>
          <p:cNvSpPr/>
          <p:nvPr/>
        </p:nvSpPr>
        <p:spPr>
          <a:xfrm>
            <a:off x="548640" y="2743200"/>
            <a:ext cx="201168" cy="201168"/>
          </a:xfrm>
          <a:prstGeom prst="ellipse">
            <a:avLst/>
          </a:prstGeom>
          <a:solidFill>
            <a:srgbClr val="6E4E9E"/>
          </a:solidFill>
          <a:ln w="12700">
            <a:solidFill>
              <a:srgbClr val="6E4E9E"/>
            </a:solidFill>
            <a:prstDash val="solid"/>
          </a:ln>
        </p:spPr>
      </p:sp>
      <p:sp>
        <p:nvSpPr>
          <p:cNvPr id="17" name="Text 14"/>
          <p:cNvSpPr txBox="1"/>
          <p:nvPr/>
        </p:nvSpPr>
        <p:spPr>
          <a:xfrm>
            <a:off x="914400" y="2651760"/>
            <a:ext cx="1188720" cy="384048"/>
          </a:xfrm>
          <a:prstGeom prst="rect">
            <a:avLst/>
          </a:prstGeom>
          <a:noFill/>
          <a:ln/>
        </p:spPr>
        <p:txBody>
          <a:bodyPr wrap="square" lIns="0" tIns="0" rIns="0" bIns="0" rtlCol="0" anchor="t"/>
          <a:lstStyle/>
          <a:p>
            <a:pPr indent="0" marL="0">
              <a:buNone/>
            </a:pPr>
            <a:r>
              <a:rPr lang="en-US" sz="1500" b="1" dirty="0">
                <a:solidFill>
                  <a:srgbClr val="6E4E9E"/>
                </a:solidFill>
                <a:latin typeface="Calibri" pitchFamily="34" charset="0"/>
                <a:ea typeface="Calibri" pitchFamily="34" charset="-122"/>
                <a:cs typeface="Calibri" pitchFamily="34" charset="-120"/>
              </a:rPr>
              <a:t>0–10</a:t>
            </a:r>
            <a:endParaRPr lang="en-US" sz="1500" dirty="0"/>
          </a:p>
        </p:txBody>
      </p:sp>
      <p:sp>
        <p:nvSpPr>
          <p:cNvPr id="18" name="Text 15"/>
          <p:cNvSpPr txBox="1"/>
          <p:nvPr/>
        </p:nvSpPr>
        <p:spPr>
          <a:xfrm>
            <a:off x="2148840" y="2651760"/>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Review bài về nhà buổi 2: 3 ngày sản lượng, Quy tắc làm sạch v2, chênh lệch với tổng đài</a:t>
            </a:r>
            <a:endParaRPr lang="en-US" sz="1500" dirty="0"/>
          </a:p>
        </p:txBody>
      </p:sp>
      <p:sp>
        <p:nvSpPr>
          <p:cNvPr id="19" name="Shape 16"/>
          <p:cNvSpPr/>
          <p:nvPr/>
        </p:nvSpPr>
        <p:spPr>
          <a:xfrm>
            <a:off x="548640" y="3456432"/>
            <a:ext cx="201168" cy="201168"/>
          </a:xfrm>
          <a:prstGeom prst="ellipse">
            <a:avLst/>
          </a:prstGeom>
          <a:solidFill>
            <a:srgbClr val="D9773A"/>
          </a:solidFill>
          <a:ln w="12700">
            <a:solidFill>
              <a:srgbClr val="D9773A"/>
            </a:solidFill>
            <a:prstDash val="solid"/>
          </a:ln>
        </p:spPr>
      </p:sp>
      <p:sp>
        <p:nvSpPr>
          <p:cNvPr id="20" name="Text 17"/>
          <p:cNvSpPr txBox="1"/>
          <p:nvPr/>
        </p:nvSpPr>
        <p:spPr>
          <a:xfrm>
            <a:off x="914400" y="3364992"/>
            <a:ext cx="1188720" cy="384048"/>
          </a:xfrm>
          <a:prstGeom prst="rect">
            <a:avLst/>
          </a:prstGeom>
          <a:noFill/>
          <a:ln/>
        </p:spPr>
        <p:txBody>
          <a:bodyPr wrap="square" lIns="0" tIns="0" rIns="0" bIns="0" rtlCol="0" anchor="t"/>
          <a:lstStyle/>
          <a:p>
            <a:pPr indent="0" marL="0">
              <a:buNone/>
            </a:pPr>
            <a:r>
              <a:rPr lang="en-US" sz="1500" b="1" dirty="0">
                <a:solidFill>
                  <a:srgbClr val="D9773A"/>
                </a:solidFill>
                <a:latin typeface="Calibri" pitchFamily="34" charset="0"/>
                <a:ea typeface="Calibri" pitchFamily="34" charset="-122"/>
                <a:cs typeface="Calibri" pitchFamily="34" charset="-120"/>
              </a:rPr>
              <a:t>10–40</a:t>
            </a:r>
            <a:endParaRPr lang="en-US" sz="1500" dirty="0"/>
          </a:p>
        </p:txBody>
      </p:sp>
      <p:sp>
        <p:nvSpPr>
          <p:cNvPr id="21" name="Text 18"/>
          <p:cNvSpPr txBox="1"/>
          <p:nvPr/>
        </p:nvSpPr>
        <p:spPr>
          <a:xfrm>
            <a:off x="2148840" y="3364992"/>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Chấm công callcenter khác văn phòng · 3 lớp thời gian · từ nội quy đến bảng quy tắc (tham số pháp lý)</a:t>
            </a:r>
            <a:endParaRPr lang="en-US" sz="1500" dirty="0"/>
          </a:p>
        </p:txBody>
      </p:sp>
      <p:sp>
        <p:nvSpPr>
          <p:cNvPr id="22" name="Shape 19"/>
          <p:cNvSpPr/>
          <p:nvPr/>
        </p:nvSpPr>
        <p:spPr>
          <a:xfrm>
            <a:off x="548640" y="4169664"/>
            <a:ext cx="201168" cy="201168"/>
          </a:xfrm>
          <a:prstGeom prst="ellipse">
            <a:avLst/>
          </a:prstGeom>
          <a:solidFill>
            <a:srgbClr val="2E7D7A"/>
          </a:solidFill>
          <a:ln w="12700">
            <a:solidFill>
              <a:srgbClr val="2E7D7A"/>
            </a:solidFill>
            <a:prstDash val="solid"/>
          </a:ln>
        </p:spPr>
      </p:sp>
      <p:sp>
        <p:nvSpPr>
          <p:cNvPr id="23" name="Text 20"/>
          <p:cNvSpPr txBox="1"/>
          <p:nvPr/>
        </p:nvSpPr>
        <p:spPr>
          <a:xfrm>
            <a:off x="914400" y="4078224"/>
            <a:ext cx="1188720" cy="384048"/>
          </a:xfrm>
          <a:prstGeom prst="rect">
            <a:avLst/>
          </a:prstGeom>
          <a:noFill/>
          <a:ln/>
        </p:spPr>
        <p:txBody>
          <a:bodyPr wrap="square" lIns="0" tIns="0" rIns="0" bIns="0" rtlCol="0" anchor="t"/>
          <a:lstStyle/>
          <a:p>
            <a:pPr indent="0" marL="0">
              <a:buNone/>
            </a:pPr>
            <a:r>
              <a:rPr lang="en-US" sz="1500" b="1" dirty="0">
                <a:solidFill>
                  <a:srgbClr val="2E7D7A"/>
                </a:solidFill>
                <a:latin typeface="Calibri" pitchFamily="34" charset="0"/>
                <a:ea typeface="Calibri" pitchFamily="34" charset="-122"/>
                <a:cs typeface="Calibri" pitchFamily="34" charset="-120"/>
              </a:rPr>
              <a:t>40–105</a:t>
            </a:r>
            <a:endParaRPr lang="en-US" sz="1500" dirty="0"/>
          </a:p>
        </p:txBody>
      </p:sp>
      <p:sp>
        <p:nvSpPr>
          <p:cNvPr id="24" name="Text 21"/>
          <p:cNvSpPr txBox="1"/>
          <p:nvPr/>
        </p:nvSpPr>
        <p:spPr>
          <a:xfrm>
            <a:off x="2148840" y="4078224"/>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Lab 3.1 Bảng quy tắc công (20’) · Lab 3.2 File công 4 sheet (25’) · Lab 3.3 Đối soát 3 lớp (20’)</a:t>
            </a:r>
            <a:endParaRPr lang="en-US" sz="1500" dirty="0"/>
          </a:p>
        </p:txBody>
      </p:sp>
      <p:sp>
        <p:nvSpPr>
          <p:cNvPr id="25" name="Shape 22"/>
          <p:cNvSpPr/>
          <p:nvPr/>
        </p:nvSpPr>
        <p:spPr>
          <a:xfrm>
            <a:off x="548640" y="4882896"/>
            <a:ext cx="201168" cy="201168"/>
          </a:xfrm>
          <a:prstGeom prst="ellipse">
            <a:avLst/>
          </a:prstGeom>
          <a:solidFill>
            <a:srgbClr val="6E4E9E"/>
          </a:solidFill>
          <a:ln w="12700">
            <a:solidFill>
              <a:srgbClr val="6E4E9E"/>
            </a:solidFill>
            <a:prstDash val="solid"/>
          </a:ln>
        </p:spPr>
      </p:sp>
      <p:sp>
        <p:nvSpPr>
          <p:cNvPr id="26" name="Text 23"/>
          <p:cNvSpPr txBox="1"/>
          <p:nvPr/>
        </p:nvSpPr>
        <p:spPr>
          <a:xfrm>
            <a:off x="914400" y="4791456"/>
            <a:ext cx="1188720" cy="384048"/>
          </a:xfrm>
          <a:prstGeom prst="rect">
            <a:avLst/>
          </a:prstGeom>
          <a:noFill/>
          <a:ln/>
        </p:spPr>
        <p:txBody>
          <a:bodyPr wrap="square" lIns="0" tIns="0" rIns="0" bIns="0" rtlCol="0" anchor="t"/>
          <a:lstStyle/>
          <a:p>
            <a:pPr indent="0" marL="0">
              <a:buNone/>
            </a:pPr>
            <a:r>
              <a:rPr lang="en-US" sz="1500" b="1" dirty="0">
                <a:solidFill>
                  <a:srgbClr val="6E4E9E"/>
                </a:solidFill>
                <a:latin typeface="Calibri" pitchFamily="34" charset="0"/>
                <a:ea typeface="Calibri" pitchFamily="34" charset="-122"/>
                <a:cs typeface="Calibri" pitchFamily="34" charset="-120"/>
              </a:rPr>
              <a:t>105–115</a:t>
            </a:r>
            <a:endParaRPr lang="en-US" sz="1500" dirty="0"/>
          </a:p>
        </p:txBody>
      </p:sp>
      <p:sp>
        <p:nvSpPr>
          <p:cNvPr id="27" name="Text 24"/>
          <p:cNvSpPr txBox="1"/>
          <p:nvPr/>
        </p:nvSpPr>
        <p:spPr>
          <a:xfrm>
            <a:off x="2148840" y="4791456"/>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HR + Trưởng ca cùng xem danh sách bất thường, thống nhất cách xử lý</a:t>
            </a:r>
            <a:endParaRPr lang="en-US" sz="1500" dirty="0"/>
          </a:p>
        </p:txBody>
      </p:sp>
      <p:sp>
        <p:nvSpPr>
          <p:cNvPr id="28" name="Shape 25"/>
          <p:cNvSpPr/>
          <p:nvPr/>
        </p:nvSpPr>
        <p:spPr>
          <a:xfrm>
            <a:off x="548640" y="5596128"/>
            <a:ext cx="201168" cy="201168"/>
          </a:xfrm>
          <a:prstGeom prst="ellipse">
            <a:avLst/>
          </a:prstGeom>
          <a:solidFill>
            <a:srgbClr val="D9773A"/>
          </a:solidFill>
          <a:ln w="12700">
            <a:solidFill>
              <a:srgbClr val="D9773A"/>
            </a:solidFill>
            <a:prstDash val="solid"/>
          </a:ln>
        </p:spPr>
      </p:sp>
      <p:sp>
        <p:nvSpPr>
          <p:cNvPr id="29" name="Text 26"/>
          <p:cNvSpPr txBox="1"/>
          <p:nvPr/>
        </p:nvSpPr>
        <p:spPr>
          <a:xfrm>
            <a:off x="914400" y="5504688"/>
            <a:ext cx="1188720" cy="384048"/>
          </a:xfrm>
          <a:prstGeom prst="rect">
            <a:avLst/>
          </a:prstGeom>
          <a:noFill/>
          <a:ln/>
        </p:spPr>
        <p:txBody>
          <a:bodyPr wrap="square" lIns="0" tIns="0" rIns="0" bIns="0" rtlCol="0" anchor="t"/>
          <a:lstStyle/>
          <a:p>
            <a:pPr indent="0" marL="0">
              <a:buNone/>
            </a:pPr>
            <a:r>
              <a:rPr lang="en-US" sz="1500" b="1" dirty="0">
                <a:solidFill>
                  <a:srgbClr val="D9773A"/>
                </a:solidFill>
                <a:latin typeface="Calibri" pitchFamily="34" charset="0"/>
                <a:ea typeface="Calibri" pitchFamily="34" charset="-122"/>
                <a:cs typeface="Calibri" pitchFamily="34" charset="-120"/>
              </a:rPr>
              <a:t>115–120</a:t>
            </a:r>
            <a:endParaRPr lang="en-US" sz="1500" dirty="0"/>
          </a:p>
        </p:txBody>
      </p:sp>
      <p:sp>
        <p:nvSpPr>
          <p:cNvPr id="30" name="Text 27"/>
          <p:cNvSpPr txBox="1"/>
          <p:nvPr/>
        </p:nvSpPr>
        <p:spPr>
          <a:xfrm>
            <a:off x="2148840" y="5504688"/>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Giao bài thực hành tại nhà</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77924"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677924"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REVIEW BÀI VỀ NHÀ</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Review: 3 ngày sản lượng &amp; Quy tắc làm sạch v2</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Đối chiếu với số mẫu 14–16/09. Mỗi ngày phải có dòng tổng kiểm tra: gốc = sạch + loại.</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1100273"/>
                <a:gridCol w="2108856"/>
                <a:gridCol w="2383924"/>
                <a:gridCol w="1558719"/>
                <a:gridCol w="3942643"/>
              </a:tblGrid>
              <a:tr h="548640">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Ngày</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Gốc = sạch + trùng</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CS-VT: bạn / tổng đài</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TS-BH</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“Bất ngờ” của ngày → ứng viên v2</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548640">
                <a:tc>
                  <a:txBody>
                    <a:bodyPr/>
                    <a:lstStyle/>
                    <a:p>
                      <a:pPr indent="0" marL="0">
                        <a:buNone/>
                      </a:pPr>
                      <a:r>
                        <a:rPr lang="en-US" sz="1400" b="1" dirty="0">
                          <a:solidFill>
                            <a:srgbClr val="1B2A38"/>
                          </a:solidFill>
                          <a:latin typeface="Calibri" pitchFamily="34" charset="0"/>
                          <a:ea typeface="Calibri" pitchFamily="34" charset="-122"/>
                          <a:cs typeface="Calibri" pitchFamily="34" charset="-120"/>
                        </a:rPr>
                        <a:t>14/09</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2.302 = 2.296 + 6</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332 / 337 (+5)</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1.959 / 1.959</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EXT2018 lần đầu (63 dòng) — NV0118 vào làm</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48640">
                <a:tc>
                  <a:txBody>
                    <a:bodyPr/>
                    <a:lstStyle/>
                    <a:p>
                      <a:pPr indent="0" marL="0">
                        <a:buNone/>
                      </a:pPr>
                      <a:r>
                        <a:rPr lang="en-US" sz="1400" b="1" dirty="0">
                          <a:solidFill>
                            <a:srgbClr val="1B2A38"/>
                          </a:solidFill>
                          <a:latin typeface="Calibri" pitchFamily="34" charset="0"/>
                          <a:ea typeface="Calibri" pitchFamily="34" charset="-122"/>
                          <a:cs typeface="Calibri" pitchFamily="34" charset="-120"/>
                        </a:rPr>
                        <a:t>15/09</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2.462 = 2.457 + 5</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432 / 436 (+4)</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2.021 / 2.021</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2 dòng UTC · 1 thời lượng âm · 187 dòng ext2005</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B2A38"/>
                          </a:solidFill>
                          <a:latin typeface="Calibri" pitchFamily="34" charset="0"/>
                          <a:ea typeface="Calibri" pitchFamily="34" charset="-122"/>
                          <a:cs typeface="Calibri" pitchFamily="34" charset="-120"/>
                        </a:rPr>
                        <a:t>16/09</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2.310 = 2.305 + 5</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431 / 439 (+8)</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1.866 / 1.866</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EXT2099 lần đầu (57 dòng) — không có trong HR</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48640">
                <a:tc>
                  <a:txBody>
                    <a:bodyPr/>
                    <a:lstStyle/>
                    <a:p>
                      <a:pPr indent="0" marL="0">
                        <a:buNone/>
                      </a:pPr>
                      <a:r>
                        <a:rPr lang="en-US" sz="1400" b="1" dirty="0">
                          <a:solidFill>
                            <a:srgbClr val="1B2A38"/>
                          </a:solidFill>
                          <a:latin typeface="Calibri" pitchFamily="34" charset="0"/>
                          <a:ea typeface="Calibri" pitchFamily="34" charset="-122"/>
                          <a:cs typeface="Calibri" pitchFamily="34" charset="-120"/>
                        </a:rPr>
                        <a:t>3 ngày</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00" b="1" dirty="0">
                          <a:solidFill>
                            <a:srgbClr val="D9773A"/>
                          </a:solidFill>
                          <a:latin typeface="Calibri" pitchFamily="34" charset="0"/>
                          <a:ea typeface="Calibri" pitchFamily="34" charset="-122"/>
                          <a:cs typeface="Calibri" pitchFamily="34" charset="-120"/>
                        </a:rPr>
                        <a:t>7.041 / 7.058 (+17)</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0 chênh lệch</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00" b="1" dirty="0">
                          <a:solidFill>
                            <a:srgbClr val="1B2A38"/>
                          </a:solidFill>
                          <a:latin typeface="Calibri" pitchFamily="34" charset="0"/>
                          <a:ea typeface="Calibri" pitchFamily="34" charset="-122"/>
                          <a:cs typeface="Calibri" pitchFamily="34" charset="-120"/>
                        </a:rPr>
                        <a:t>+17 = đúng 17 chặng chuyển tiếp → giải thích 100%</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10" name="Text 6"/>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Câu hỏi review: quy tắc nào bạn đã sửa ở v2 và dòng nhật ký nào làm căn cứ? Ai ra CS-VT 337 / 436 / 439 — vì sao?</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Chấm công callcenter khác văn phòng ở đâu</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Shape 4"/>
          <p:cNvSpPr/>
          <p:nvPr/>
        </p:nvSpPr>
        <p:spPr>
          <a:xfrm>
            <a:off x="548640" y="1691640"/>
            <a:ext cx="3515258" cy="2148840"/>
          </a:xfrm>
          <a:prstGeom prst="roundRect">
            <a:avLst>
              <a:gd name="adj" fmla="val 4255"/>
            </a:avLst>
          </a:prstGeom>
          <a:solidFill>
            <a:srgbClr val="F2F4F6"/>
          </a:solidFill>
          <a:ln w="12700">
            <a:solidFill>
              <a:srgbClr val="F2F4F6"/>
            </a:solidFill>
            <a:prstDash val="solid"/>
          </a:ln>
        </p:spPr>
      </p:sp>
      <p:sp>
        <p:nvSpPr>
          <p:cNvPr id="8" name="Shape 5"/>
          <p:cNvSpPr/>
          <p:nvPr/>
        </p:nvSpPr>
        <p:spPr>
          <a:xfrm>
            <a:off x="777240" y="1920240"/>
            <a:ext cx="566928" cy="566928"/>
          </a:xfrm>
          <a:prstGeom prst="roundRect">
            <a:avLst>
              <a:gd name="adj" fmla="val 22000"/>
            </a:avLst>
          </a:prstGeom>
          <a:solidFill>
            <a:srgbClr val="2B3E50"/>
          </a:solidFill>
          <a:ln w="12700">
            <a:solidFill>
              <a:srgbClr val="2B3E50"/>
            </a:solidFill>
            <a:prstDash val="solid"/>
          </a:ln>
        </p:spPr>
      </p:sp>
      <p:pic>
        <p:nvPicPr>
          <p:cNvPr id="9" name="Image 0" descr="preencoded.png">    </p:cNvPr>
          <p:cNvPicPr>
            <a:picLocks noChangeAspect="1"/>
          </p:cNvPicPr>
          <p:nvPr/>
        </p:nvPicPr>
        <p:blipFill>
          <a:blip r:embed="rId1"/>
          <a:stretch>
            <a:fillRect/>
          </a:stretch>
        </p:blipFill>
        <p:spPr>
          <a:xfrm>
            <a:off x="913303" y="2056303"/>
            <a:ext cx="294803" cy="294803"/>
          </a:xfrm>
          <a:prstGeom prst="rect">
            <a:avLst/>
          </a:prstGeom>
        </p:spPr>
      </p:pic>
      <p:sp>
        <p:nvSpPr>
          <p:cNvPr id="10" name="Text 6"/>
          <p:cNvSpPr txBox="1"/>
          <p:nvPr/>
        </p:nvSpPr>
        <p:spPr>
          <a:xfrm>
            <a:off x="1527048" y="192024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Nhiều ca, xoay theo tuần</a:t>
            </a:r>
            <a:endParaRPr lang="en-US" sz="1650" dirty="0"/>
          </a:p>
        </p:txBody>
      </p:sp>
      <p:sp>
        <p:nvSpPr>
          <p:cNvPr id="11" name="Text 7"/>
          <p:cNvSpPr txBox="1"/>
          <p:nvPr/>
        </p:nvSpPr>
        <p:spPr>
          <a:xfrm>
            <a:off x="777240" y="2651760"/>
            <a:ext cx="3058058" cy="1033272"/>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4 ca S · C · D · PT. Tuần 07–12/09 TS-A ca S, TS-B ca C; tuần sau đảo ca. “Đi muộn” = so với giờ ca của chính người đó, hôm đó.</a:t>
            </a:r>
            <a:endParaRPr lang="en-US" sz="1450" dirty="0"/>
          </a:p>
        </p:txBody>
      </p:sp>
      <p:sp>
        <p:nvSpPr>
          <p:cNvPr id="12" name="Shape 8"/>
          <p:cNvSpPr/>
          <p:nvPr/>
        </p:nvSpPr>
        <p:spPr>
          <a:xfrm>
            <a:off x="4338218" y="1691640"/>
            <a:ext cx="3515258" cy="2148840"/>
          </a:xfrm>
          <a:prstGeom prst="roundRect">
            <a:avLst>
              <a:gd name="adj" fmla="val 4255"/>
            </a:avLst>
          </a:prstGeom>
          <a:solidFill>
            <a:srgbClr val="F2F4F6"/>
          </a:solidFill>
          <a:ln w="12700">
            <a:solidFill>
              <a:srgbClr val="F2F4F6"/>
            </a:solidFill>
            <a:prstDash val="solid"/>
          </a:ln>
        </p:spPr>
      </p:sp>
      <p:sp>
        <p:nvSpPr>
          <p:cNvPr id="13" name="Shape 9"/>
          <p:cNvSpPr/>
          <p:nvPr/>
        </p:nvSpPr>
        <p:spPr>
          <a:xfrm>
            <a:off x="4566818" y="1920240"/>
            <a:ext cx="566928" cy="566928"/>
          </a:xfrm>
          <a:prstGeom prst="roundRect">
            <a:avLst>
              <a:gd name="adj" fmla="val 22000"/>
            </a:avLst>
          </a:prstGeom>
          <a:solidFill>
            <a:srgbClr val="2B3E50"/>
          </a:solidFill>
          <a:ln w="12700">
            <a:solidFill>
              <a:srgbClr val="2B3E50"/>
            </a:solidFill>
            <a:prstDash val="solid"/>
          </a:ln>
        </p:spPr>
      </p:sp>
      <p:pic>
        <p:nvPicPr>
          <p:cNvPr id="14" name="Image 1" descr="preencoded.png">    </p:cNvPr>
          <p:cNvPicPr>
            <a:picLocks noChangeAspect="1"/>
          </p:cNvPicPr>
          <p:nvPr/>
        </p:nvPicPr>
        <p:blipFill>
          <a:blip r:embed="rId2"/>
          <a:stretch>
            <a:fillRect/>
          </a:stretch>
        </p:blipFill>
        <p:spPr>
          <a:xfrm>
            <a:off x="4702881" y="2056303"/>
            <a:ext cx="294803" cy="294803"/>
          </a:xfrm>
          <a:prstGeom prst="rect">
            <a:avLst/>
          </a:prstGeom>
        </p:spPr>
      </p:pic>
      <p:sp>
        <p:nvSpPr>
          <p:cNvPr id="15" name="Text 10"/>
          <p:cNvSpPr txBox="1"/>
          <p:nvPr/>
        </p:nvSpPr>
        <p:spPr>
          <a:xfrm>
            <a:off x="5316626" y="192024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Ca đêm D qua ngày</a:t>
            </a:r>
            <a:endParaRPr lang="en-US" sz="1650" dirty="0"/>
          </a:p>
        </p:txBody>
      </p:sp>
      <p:sp>
        <p:nvSpPr>
          <p:cNvPr id="16" name="Text 11"/>
          <p:cNvSpPr txBox="1"/>
          <p:nvPr/>
        </p:nvSpPr>
        <p:spPr>
          <a:xfrm>
            <a:off x="4566818" y="2651760"/>
            <a:ext cx="3058058" cy="1033272"/>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22:00–06:00. NV0116 vào 21:48 ngày 14/09, ra 06:11 ngày 15/09. Công gán ngày bắt đầu ca — nhóm theo ngày lịch sẽ ra 2 ngày “thiếu quẹt”.</a:t>
            </a:r>
            <a:endParaRPr lang="en-US" sz="1450" dirty="0"/>
          </a:p>
        </p:txBody>
      </p:sp>
      <p:sp>
        <p:nvSpPr>
          <p:cNvPr id="17" name="Shape 12"/>
          <p:cNvSpPr/>
          <p:nvPr/>
        </p:nvSpPr>
        <p:spPr>
          <a:xfrm>
            <a:off x="8127797" y="1691640"/>
            <a:ext cx="3515258" cy="2148840"/>
          </a:xfrm>
          <a:prstGeom prst="roundRect">
            <a:avLst>
              <a:gd name="adj" fmla="val 4255"/>
            </a:avLst>
          </a:prstGeom>
          <a:solidFill>
            <a:srgbClr val="F2F4F6"/>
          </a:solidFill>
          <a:ln w="12700">
            <a:solidFill>
              <a:srgbClr val="F2F4F6"/>
            </a:solidFill>
            <a:prstDash val="solid"/>
          </a:ln>
        </p:spPr>
      </p:sp>
      <p:sp>
        <p:nvSpPr>
          <p:cNvPr id="18" name="Shape 13"/>
          <p:cNvSpPr/>
          <p:nvPr/>
        </p:nvSpPr>
        <p:spPr>
          <a:xfrm>
            <a:off x="8356397" y="1920240"/>
            <a:ext cx="566928" cy="566928"/>
          </a:xfrm>
          <a:prstGeom prst="roundRect">
            <a:avLst>
              <a:gd name="adj" fmla="val 22000"/>
            </a:avLst>
          </a:prstGeom>
          <a:solidFill>
            <a:srgbClr val="2B3E50"/>
          </a:solidFill>
          <a:ln w="12700">
            <a:solidFill>
              <a:srgbClr val="2B3E50"/>
            </a:solidFill>
            <a:prstDash val="solid"/>
          </a:ln>
        </p:spPr>
      </p:sp>
      <p:pic>
        <p:nvPicPr>
          <p:cNvPr id="19" name="Image 2" descr="preencoded.png">    </p:cNvPr>
          <p:cNvPicPr>
            <a:picLocks noChangeAspect="1"/>
          </p:cNvPicPr>
          <p:nvPr/>
        </p:nvPicPr>
        <p:blipFill>
          <a:blip r:embed="rId3"/>
          <a:stretch>
            <a:fillRect/>
          </a:stretch>
        </p:blipFill>
        <p:spPr>
          <a:xfrm>
            <a:off x="8492460" y="2056303"/>
            <a:ext cx="294803" cy="294803"/>
          </a:xfrm>
          <a:prstGeom prst="rect">
            <a:avLst/>
          </a:prstGeom>
        </p:spPr>
      </p:pic>
      <p:sp>
        <p:nvSpPr>
          <p:cNvPr id="20" name="Text 14"/>
          <p:cNvSpPr txBox="1"/>
          <p:nvPr/>
        </p:nvSpPr>
        <p:spPr>
          <a:xfrm>
            <a:off x="9106205" y="192024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Nghỉ giữa ca theo phút</a:t>
            </a:r>
            <a:endParaRPr lang="en-US" sz="1650" dirty="0"/>
          </a:p>
        </p:txBody>
      </p:sp>
      <p:sp>
        <p:nvSpPr>
          <p:cNvPr id="21" name="Text 15"/>
          <p:cNvSpPr txBox="1"/>
          <p:nvPr/>
        </p:nvSpPr>
        <p:spPr>
          <a:xfrm>
            <a:off x="8356397" y="2651760"/>
            <a:ext cx="3058058" cy="1033272"/>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S, C nghỉ 60’ · D 30’ · PT 0’. Nghỉ theo quy định trừ khỏi giờ có mặt; NOT_READY (họp, vệ sinh) thì không — đó là chuyện của lớp đăng nhập.</a:t>
            </a:r>
            <a:endParaRPr lang="en-US" sz="1450" dirty="0"/>
          </a:p>
        </p:txBody>
      </p:sp>
      <p:sp>
        <p:nvSpPr>
          <p:cNvPr id="22" name="Shape 16"/>
          <p:cNvSpPr/>
          <p:nvPr/>
        </p:nvSpPr>
        <p:spPr>
          <a:xfrm>
            <a:off x="548640" y="4114800"/>
            <a:ext cx="3515258" cy="2148840"/>
          </a:xfrm>
          <a:prstGeom prst="roundRect">
            <a:avLst>
              <a:gd name="adj" fmla="val 4255"/>
            </a:avLst>
          </a:prstGeom>
          <a:solidFill>
            <a:srgbClr val="F2F4F6"/>
          </a:solidFill>
          <a:ln w="12700">
            <a:solidFill>
              <a:srgbClr val="F2F4F6"/>
            </a:solidFill>
            <a:prstDash val="solid"/>
          </a:ln>
        </p:spPr>
      </p:sp>
      <p:sp>
        <p:nvSpPr>
          <p:cNvPr id="23" name="Shape 17"/>
          <p:cNvSpPr/>
          <p:nvPr/>
        </p:nvSpPr>
        <p:spPr>
          <a:xfrm>
            <a:off x="777240" y="4343400"/>
            <a:ext cx="566928" cy="566928"/>
          </a:xfrm>
          <a:prstGeom prst="roundRect">
            <a:avLst>
              <a:gd name="adj" fmla="val 22000"/>
            </a:avLst>
          </a:prstGeom>
          <a:solidFill>
            <a:srgbClr val="2B3E50"/>
          </a:solidFill>
          <a:ln w="12700">
            <a:solidFill>
              <a:srgbClr val="2B3E50"/>
            </a:solidFill>
            <a:prstDash val="solid"/>
          </a:ln>
        </p:spPr>
      </p:sp>
      <p:pic>
        <p:nvPicPr>
          <p:cNvPr id="24" name="Image 3" descr="preencoded.png">    </p:cNvPr>
          <p:cNvPicPr>
            <a:picLocks noChangeAspect="1"/>
          </p:cNvPicPr>
          <p:nvPr/>
        </p:nvPicPr>
        <p:blipFill>
          <a:blip r:embed="rId4"/>
          <a:stretch>
            <a:fillRect/>
          </a:stretch>
        </p:blipFill>
        <p:spPr>
          <a:xfrm>
            <a:off x="913303" y="4479463"/>
            <a:ext cx="294803" cy="294803"/>
          </a:xfrm>
          <a:prstGeom prst="rect">
            <a:avLst/>
          </a:prstGeom>
        </p:spPr>
      </p:pic>
      <p:sp>
        <p:nvSpPr>
          <p:cNvPr id="25" name="Text 18"/>
          <p:cNvSpPr txBox="1"/>
          <p:nvPr/>
        </p:nvSpPr>
        <p:spPr>
          <a:xfrm>
            <a:off x="1527048" y="434340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OT theo chiến dịch</a:t>
            </a:r>
            <a:endParaRPr lang="en-US" sz="1650" dirty="0"/>
          </a:p>
        </p:txBody>
      </p:sp>
      <p:sp>
        <p:nvSpPr>
          <p:cNvPr id="26" name="Text 19"/>
          <p:cNvSpPr txBox="1"/>
          <p:nvPr/>
        </p:nvSpPr>
        <p:spPr>
          <a:xfrm>
            <a:off x="777240" y="5074920"/>
            <a:ext cx="3058058" cy="1033272"/>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NV0102 11/09 có đơn đã duyệt; NV0113 17/09 đơn chờ duyệt; NV0112 ở lại 86–99’ sau ca 4 ngày — không có đơn nào. OT gấp là chuyện thường ngày.</a:t>
            </a:r>
            <a:endParaRPr lang="en-US" sz="1450" dirty="0"/>
          </a:p>
        </p:txBody>
      </p:sp>
      <p:sp>
        <p:nvSpPr>
          <p:cNvPr id="27" name="Shape 20"/>
          <p:cNvSpPr/>
          <p:nvPr/>
        </p:nvSpPr>
        <p:spPr>
          <a:xfrm>
            <a:off x="4338218" y="4114800"/>
            <a:ext cx="3515258" cy="2148840"/>
          </a:xfrm>
          <a:prstGeom prst="roundRect">
            <a:avLst>
              <a:gd name="adj" fmla="val 4255"/>
            </a:avLst>
          </a:prstGeom>
          <a:solidFill>
            <a:srgbClr val="F2F4F6"/>
          </a:solidFill>
          <a:ln w="12700">
            <a:solidFill>
              <a:srgbClr val="F2F4F6"/>
            </a:solidFill>
            <a:prstDash val="solid"/>
          </a:ln>
        </p:spPr>
      </p:sp>
      <p:sp>
        <p:nvSpPr>
          <p:cNvPr id="28" name="Shape 21"/>
          <p:cNvSpPr/>
          <p:nvPr/>
        </p:nvSpPr>
        <p:spPr>
          <a:xfrm>
            <a:off x="4566818" y="4343400"/>
            <a:ext cx="566928" cy="566928"/>
          </a:xfrm>
          <a:prstGeom prst="roundRect">
            <a:avLst>
              <a:gd name="adj" fmla="val 22000"/>
            </a:avLst>
          </a:prstGeom>
          <a:solidFill>
            <a:srgbClr val="2B3E50"/>
          </a:solidFill>
          <a:ln w="12700">
            <a:solidFill>
              <a:srgbClr val="2B3E50"/>
            </a:solidFill>
            <a:prstDash val="solid"/>
          </a:ln>
        </p:spPr>
      </p:sp>
      <p:pic>
        <p:nvPicPr>
          <p:cNvPr id="29" name="Image 4" descr="preencoded.png">    </p:cNvPr>
          <p:cNvPicPr>
            <a:picLocks noChangeAspect="1"/>
          </p:cNvPicPr>
          <p:nvPr/>
        </p:nvPicPr>
        <p:blipFill>
          <a:blip r:embed="rId5"/>
          <a:stretch>
            <a:fillRect/>
          </a:stretch>
        </p:blipFill>
        <p:spPr>
          <a:xfrm>
            <a:off x="4702881" y="4479463"/>
            <a:ext cx="294803" cy="294803"/>
          </a:xfrm>
          <a:prstGeom prst="rect">
            <a:avLst/>
          </a:prstGeom>
        </p:spPr>
      </p:pic>
      <p:sp>
        <p:nvSpPr>
          <p:cNvPr id="30" name="Text 22"/>
          <p:cNvSpPr txBox="1"/>
          <p:nvPr/>
        </p:nvSpPr>
        <p:spPr>
          <a:xfrm>
            <a:off x="5316626" y="434340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Part-time theo giờ</a:t>
            </a:r>
            <a:endParaRPr lang="en-US" sz="1650" dirty="0"/>
          </a:p>
        </p:txBody>
      </p:sp>
      <p:sp>
        <p:nvSpPr>
          <p:cNvPr id="31" name="Text 23"/>
          <p:cNvSpPr txBox="1"/>
          <p:nvPr/>
        </p:nvSpPr>
        <p:spPr>
          <a:xfrm>
            <a:off x="4566818" y="5074920"/>
            <a:ext cx="3058058" cy="1033272"/>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NV0111 ca PT 17:00–21:00, 10 buổi. “1 công = 8 giờ” (Điều 1.3) không áp được: 0,5 công hay tính theo giờ? Tham số HR chốt.</a:t>
            </a:r>
            <a:endParaRPr lang="en-US" sz="1450" dirty="0"/>
          </a:p>
        </p:txBody>
      </p:sp>
      <p:sp>
        <p:nvSpPr>
          <p:cNvPr id="32" name="Shape 24"/>
          <p:cNvSpPr/>
          <p:nvPr/>
        </p:nvSpPr>
        <p:spPr>
          <a:xfrm>
            <a:off x="8127797" y="4114800"/>
            <a:ext cx="3515258" cy="2148840"/>
          </a:xfrm>
          <a:prstGeom prst="roundRect">
            <a:avLst>
              <a:gd name="adj" fmla="val 4255"/>
            </a:avLst>
          </a:prstGeom>
          <a:solidFill>
            <a:srgbClr val="FBE7DA"/>
          </a:solidFill>
          <a:ln w="12700">
            <a:solidFill>
              <a:srgbClr val="FBE7DA"/>
            </a:solidFill>
            <a:prstDash val="solid"/>
          </a:ln>
        </p:spPr>
      </p:sp>
      <p:sp>
        <p:nvSpPr>
          <p:cNvPr id="33" name="Shape 25"/>
          <p:cNvSpPr/>
          <p:nvPr/>
        </p:nvSpPr>
        <p:spPr>
          <a:xfrm>
            <a:off x="8356397" y="4343400"/>
            <a:ext cx="566928" cy="566928"/>
          </a:xfrm>
          <a:prstGeom prst="roundRect">
            <a:avLst>
              <a:gd name="adj" fmla="val 22000"/>
            </a:avLst>
          </a:prstGeom>
          <a:solidFill>
            <a:srgbClr val="D9773A"/>
          </a:solidFill>
          <a:ln w="12700">
            <a:solidFill>
              <a:srgbClr val="D9773A"/>
            </a:solidFill>
            <a:prstDash val="solid"/>
          </a:ln>
        </p:spPr>
      </p:sp>
      <p:pic>
        <p:nvPicPr>
          <p:cNvPr id="34" name="Image 5" descr="preencoded.png">    </p:cNvPr>
          <p:cNvPicPr>
            <a:picLocks noChangeAspect="1"/>
          </p:cNvPicPr>
          <p:nvPr/>
        </p:nvPicPr>
        <p:blipFill>
          <a:blip r:embed="rId6"/>
          <a:stretch>
            <a:fillRect/>
          </a:stretch>
        </p:blipFill>
        <p:spPr>
          <a:xfrm>
            <a:off x="8492460" y="4479463"/>
            <a:ext cx="294803" cy="294803"/>
          </a:xfrm>
          <a:prstGeom prst="rect">
            <a:avLst/>
          </a:prstGeom>
        </p:spPr>
      </p:pic>
      <p:sp>
        <p:nvSpPr>
          <p:cNvPr id="35" name="Text 26"/>
          <p:cNvSpPr txBox="1"/>
          <p:nvPr/>
        </p:nvSpPr>
        <p:spPr>
          <a:xfrm>
            <a:off x="9106205" y="434340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Máy không phân vào/ra</a:t>
            </a:r>
            <a:endParaRPr lang="en-US" sz="1650" dirty="0"/>
          </a:p>
        </p:txBody>
      </p:sp>
      <p:sp>
        <p:nvSpPr>
          <p:cNvPr id="36" name="Text 27"/>
          <p:cNvSpPr txBox="1"/>
          <p:nvPr/>
        </p:nvSpPr>
        <p:spPr>
          <a:xfrm>
            <a:off x="8356397" y="5074920"/>
            <a:ext cx="3058058" cy="1033272"/>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Chỉ có ma_nv, thoi_diem_quet, thiet_bi. 17 lượt quẹt đúp, ngày chỉ 1 lượt, nghỉ nửa ngày đến 12:55 — “lượt 1 = vào, lượt 2 = ra” sai đúng những ngày bị khiếu nại.</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3 lớp thời gian: Có mặt ≥ Đăng nhập ≥ Sản xuất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Shape 4"/>
          <p:cNvSpPr/>
          <p:nvPr/>
        </p:nvSpPr>
        <p:spPr>
          <a:xfrm>
            <a:off x="548640" y="1691640"/>
            <a:ext cx="2485568" cy="3657600"/>
          </a:xfrm>
          <a:prstGeom prst="roundRect">
            <a:avLst>
              <a:gd name="adj" fmla="val 3679"/>
            </a:avLst>
          </a:prstGeom>
          <a:solidFill>
            <a:srgbClr val="F2F4F6"/>
          </a:solidFill>
          <a:ln w="12700">
            <a:solidFill>
              <a:srgbClr val="F2F4F6"/>
            </a:solidFill>
            <a:prstDash val="solid"/>
          </a:ln>
        </p:spPr>
      </p:sp>
      <p:sp>
        <p:nvSpPr>
          <p:cNvPr id="8" name="Shape 5"/>
          <p:cNvSpPr/>
          <p:nvPr/>
        </p:nvSpPr>
        <p:spPr>
          <a:xfrm>
            <a:off x="749808" y="1892808"/>
            <a:ext cx="548640" cy="548640"/>
          </a:xfrm>
          <a:prstGeom prst="ellipse">
            <a:avLst/>
          </a:prstGeom>
          <a:solidFill>
            <a:srgbClr val="2B3E50"/>
          </a:solidFill>
          <a:ln w="12700">
            <a:solidFill>
              <a:srgbClr val="2B3E50"/>
            </a:solidFill>
            <a:prstDash val="solid"/>
          </a:ln>
        </p:spPr>
      </p:sp>
      <p:sp>
        <p:nvSpPr>
          <p:cNvPr id="9" name="Text 6"/>
          <p:cNvSpPr txBox="1"/>
          <p:nvPr/>
        </p:nvSpPr>
        <p:spPr>
          <a:xfrm>
            <a:off x="749808"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7"/>
          <p:cNvSpPr txBox="1"/>
          <p:nvPr/>
        </p:nvSpPr>
        <p:spPr>
          <a:xfrm>
            <a:off x="749808"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Giờ có mặt</a:t>
            </a:r>
            <a:endParaRPr lang="en-US" sz="1700" dirty="0"/>
          </a:p>
        </p:txBody>
      </p:sp>
      <p:sp>
        <p:nvSpPr>
          <p:cNvPr id="11" name="Text 8"/>
          <p:cNvSpPr txBox="1"/>
          <p:nvPr/>
        </p:nvSpPr>
        <p:spPr>
          <a:xfrm>
            <a:off x="749808"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b="1" dirty="0">
                <a:solidFill>
                  <a:srgbClr val="1B2A38"/>
                </a:solidFill>
                <a:latin typeface="Calibri" pitchFamily="34" charset="0"/>
                <a:ea typeface="Calibri" pitchFamily="34" charset="-122"/>
                <a:cs typeface="Calibri" pitchFamily="34" charset="-120"/>
              </a:rPr>
              <a:t>Có ở công ty không?</a:t>
            </a:r>
            <a:pPr indent="0" marL="0">
              <a:buNone/>
            </a:pP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Nguồn: cham_cong (vân tay)</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Giờ ra − giờ vào − nghỉ giữa ca</a:t>
            </a:r>
            <a:endParaRPr lang="en-US" sz="1400" dirty="0"/>
          </a:p>
        </p:txBody>
      </p:sp>
      <p:pic>
        <p:nvPicPr>
          <p:cNvPr id="12" name="Image 0" descr="preencoded.png">    </p:cNvPr>
          <p:cNvPicPr>
            <a:picLocks noChangeAspect="1"/>
          </p:cNvPicPr>
          <p:nvPr/>
        </p:nvPicPr>
        <p:blipFill>
          <a:blip r:embed="rId1"/>
          <a:stretch>
            <a:fillRect/>
          </a:stretch>
        </p:blipFill>
        <p:spPr>
          <a:xfrm>
            <a:off x="3116504" y="3410712"/>
            <a:ext cx="219456" cy="219456"/>
          </a:xfrm>
          <a:prstGeom prst="rect">
            <a:avLst/>
          </a:prstGeom>
        </p:spPr>
      </p:pic>
      <p:sp>
        <p:nvSpPr>
          <p:cNvPr id="13" name="Shape 9"/>
          <p:cNvSpPr/>
          <p:nvPr/>
        </p:nvSpPr>
        <p:spPr>
          <a:xfrm>
            <a:off x="3418256" y="1691640"/>
            <a:ext cx="2485568" cy="3657600"/>
          </a:xfrm>
          <a:prstGeom prst="roundRect">
            <a:avLst>
              <a:gd name="adj" fmla="val 3679"/>
            </a:avLst>
          </a:prstGeom>
          <a:solidFill>
            <a:srgbClr val="F2F4F6"/>
          </a:solidFill>
          <a:ln w="12700">
            <a:solidFill>
              <a:srgbClr val="F2F4F6"/>
            </a:solidFill>
            <a:prstDash val="solid"/>
          </a:ln>
        </p:spPr>
      </p:sp>
      <p:sp>
        <p:nvSpPr>
          <p:cNvPr id="14" name="Shape 10"/>
          <p:cNvSpPr/>
          <p:nvPr/>
        </p:nvSpPr>
        <p:spPr>
          <a:xfrm>
            <a:off x="3619424" y="1892808"/>
            <a:ext cx="548640" cy="548640"/>
          </a:xfrm>
          <a:prstGeom prst="ellipse">
            <a:avLst/>
          </a:prstGeom>
          <a:solidFill>
            <a:srgbClr val="2E7D7A"/>
          </a:solidFill>
          <a:ln w="12700">
            <a:solidFill>
              <a:srgbClr val="2E7D7A"/>
            </a:solidFill>
            <a:prstDash val="solid"/>
          </a:ln>
        </p:spPr>
      </p:sp>
      <p:sp>
        <p:nvSpPr>
          <p:cNvPr id="15" name="Text 11"/>
          <p:cNvSpPr txBox="1"/>
          <p:nvPr/>
        </p:nvSpPr>
        <p:spPr>
          <a:xfrm>
            <a:off x="3619424"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2"/>
          <p:cNvSpPr txBox="1"/>
          <p:nvPr/>
        </p:nvSpPr>
        <p:spPr>
          <a:xfrm>
            <a:off x="3619424"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Giờ đăng nhập</a:t>
            </a:r>
            <a:endParaRPr lang="en-US" sz="1700" dirty="0"/>
          </a:p>
        </p:txBody>
      </p:sp>
      <p:sp>
        <p:nvSpPr>
          <p:cNvPr id="17" name="Text 13"/>
          <p:cNvSpPr txBox="1"/>
          <p:nvPr/>
        </p:nvSpPr>
        <p:spPr>
          <a:xfrm>
            <a:off x="3619424"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b="1" dirty="0">
                <a:solidFill>
                  <a:srgbClr val="1B2A38"/>
                </a:solidFill>
                <a:latin typeface="Calibri" pitchFamily="34" charset="0"/>
                <a:ea typeface="Calibri" pitchFamily="34" charset="-122"/>
                <a:cs typeface="Calibri" pitchFamily="34" charset="-120"/>
              </a:rPr>
              <a:t>Có trên hệ thống không?</a:t>
            </a:r>
            <a:pPr indent="0" marL="0">
              <a:buNone/>
            </a:pP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Nguồn: trang_thai_agent</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LOGOUT cuối − LOGIN đầu trong ca − nghỉ giữa ca</a:t>
            </a:r>
            <a:endParaRPr lang="en-US" sz="1400" dirty="0"/>
          </a:p>
        </p:txBody>
      </p:sp>
      <p:pic>
        <p:nvPicPr>
          <p:cNvPr id="18" name="Image 1" descr="preencoded.png">    </p:cNvPr>
          <p:cNvPicPr>
            <a:picLocks noChangeAspect="1"/>
          </p:cNvPicPr>
          <p:nvPr/>
        </p:nvPicPr>
        <p:blipFill>
          <a:blip r:embed="rId2"/>
          <a:stretch>
            <a:fillRect/>
          </a:stretch>
        </p:blipFill>
        <p:spPr>
          <a:xfrm>
            <a:off x="5986120" y="3410712"/>
            <a:ext cx="219456" cy="219456"/>
          </a:xfrm>
          <a:prstGeom prst="rect">
            <a:avLst/>
          </a:prstGeom>
        </p:spPr>
      </p:pic>
      <p:sp>
        <p:nvSpPr>
          <p:cNvPr id="19" name="Shape 14"/>
          <p:cNvSpPr/>
          <p:nvPr/>
        </p:nvSpPr>
        <p:spPr>
          <a:xfrm>
            <a:off x="6287872" y="1691640"/>
            <a:ext cx="2485568" cy="3657600"/>
          </a:xfrm>
          <a:prstGeom prst="roundRect">
            <a:avLst>
              <a:gd name="adj" fmla="val 3679"/>
            </a:avLst>
          </a:prstGeom>
          <a:solidFill>
            <a:srgbClr val="F2F4F6"/>
          </a:solidFill>
          <a:ln w="12700">
            <a:solidFill>
              <a:srgbClr val="F2F4F6"/>
            </a:solidFill>
            <a:prstDash val="solid"/>
          </a:ln>
        </p:spPr>
      </p:sp>
      <p:sp>
        <p:nvSpPr>
          <p:cNvPr id="20" name="Shape 15"/>
          <p:cNvSpPr/>
          <p:nvPr/>
        </p:nvSpPr>
        <p:spPr>
          <a:xfrm>
            <a:off x="6489040" y="1892808"/>
            <a:ext cx="548640" cy="548640"/>
          </a:xfrm>
          <a:prstGeom prst="ellipse">
            <a:avLst/>
          </a:prstGeom>
          <a:solidFill>
            <a:srgbClr val="D9773A"/>
          </a:solidFill>
          <a:ln w="12700">
            <a:solidFill>
              <a:srgbClr val="D9773A"/>
            </a:solidFill>
            <a:prstDash val="solid"/>
          </a:ln>
        </p:spPr>
      </p:sp>
      <p:sp>
        <p:nvSpPr>
          <p:cNvPr id="21" name="Text 16"/>
          <p:cNvSpPr txBox="1"/>
          <p:nvPr/>
        </p:nvSpPr>
        <p:spPr>
          <a:xfrm>
            <a:off x="6489040"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2" name="Text 17"/>
          <p:cNvSpPr txBox="1"/>
          <p:nvPr/>
        </p:nvSpPr>
        <p:spPr>
          <a:xfrm>
            <a:off x="6489040"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Giờ sản xuất</a:t>
            </a:r>
            <a:endParaRPr lang="en-US" sz="1700" dirty="0"/>
          </a:p>
        </p:txBody>
      </p:sp>
      <p:sp>
        <p:nvSpPr>
          <p:cNvPr id="23" name="Text 18"/>
          <p:cNvSpPr txBox="1"/>
          <p:nvPr/>
        </p:nvSpPr>
        <p:spPr>
          <a:xfrm>
            <a:off x="6489040"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b="1" dirty="0">
                <a:solidFill>
                  <a:srgbClr val="1B2A38"/>
                </a:solidFill>
                <a:latin typeface="Calibri" pitchFamily="34" charset="0"/>
                <a:ea typeface="Calibri" pitchFamily="34" charset="-122"/>
                <a:cs typeface="Calibri" pitchFamily="34" charset="-120"/>
              </a:rPr>
              <a:t>Có đang xử lý cuộc gọi?</a:t>
            </a:r>
            <a:pPr indent="0" marL="0">
              <a:buNone/>
            </a:pP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Nguồn: call log đã làm sạch</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Σ đàm thoại + giữ máy + ACW</a:t>
            </a:r>
            <a:endParaRPr lang="en-US" sz="1400" dirty="0"/>
          </a:p>
        </p:txBody>
      </p:sp>
      <p:pic>
        <p:nvPicPr>
          <p:cNvPr id="24" name="Image 2" descr="preencoded.png">    </p:cNvPr>
          <p:cNvPicPr>
            <a:picLocks noChangeAspect="1"/>
          </p:cNvPicPr>
          <p:nvPr/>
        </p:nvPicPr>
        <p:blipFill>
          <a:blip r:embed="rId3"/>
          <a:stretch>
            <a:fillRect/>
          </a:stretch>
        </p:blipFill>
        <p:spPr>
          <a:xfrm>
            <a:off x="8855735" y="3410712"/>
            <a:ext cx="219456" cy="219456"/>
          </a:xfrm>
          <a:prstGeom prst="rect">
            <a:avLst/>
          </a:prstGeom>
        </p:spPr>
      </p:pic>
      <p:sp>
        <p:nvSpPr>
          <p:cNvPr id="25" name="Shape 19"/>
          <p:cNvSpPr/>
          <p:nvPr/>
        </p:nvSpPr>
        <p:spPr>
          <a:xfrm>
            <a:off x="9157487" y="1691640"/>
            <a:ext cx="2485568" cy="3657600"/>
          </a:xfrm>
          <a:prstGeom prst="roundRect">
            <a:avLst>
              <a:gd name="adj" fmla="val 3679"/>
            </a:avLst>
          </a:prstGeom>
          <a:solidFill>
            <a:srgbClr val="F2F4F6"/>
          </a:solidFill>
          <a:ln w="12700">
            <a:solidFill>
              <a:srgbClr val="F2F4F6"/>
            </a:solidFill>
            <a:prstDash val="solid"/>
          </a:ln>
        </p:spPr>
      </p:sp>
      <p:sp>
        <p:nvSpPr>
          <p:cNvPr id="26" name="Shape 20"/>
          <p:cNvSpPr/>
          <p:nvPr/>
        </p:nvSpPr>
        <p:spPr>
          <a:xfrm>
            <a:off x="9358655" y="1892808"/>
            <a:ext cx="548640" cy="548640"/>
          </a:xfrm>
          <a:prstGeom prst="ellipse">
            <a:avLst/>
          </a:prstGeom>
          <a:solidFill>
            <a:srgbClr val="6E4E9E"/>
          </a:solidFill>
          <a:ln w="12700">
            <a:solidFill>
              <a:srgbClr val="6E4E9E"/>
            </a:solidFill>
            <a:prstDash val="solid"/>
          </a:ln>
        </p:spPr>
      </p:sp>
      <p:sp>
        <p:nvSpPr>
          <p:cNvPr id="27" name="Text 21"/>
          <p:cNvSpPr txBox="1"/>
          <p:nvPr/>
        </p:nvSpPr>
        <p:spPr>
          <a:xfrm>
            <a:off x="9358655"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Δ</a:t>
            </a:r>
            <a:endParaRPr lang="en-US" sz="2000" dirty="0"/>
          </a:p>
        </p:txBody>
      </p:sp>
      <p:sp>
        <p:nvSpPr>
          <p:cNvPr id="28" name="Text 22"/>
          <p:cNvSpPr txBox="1"/>
          <p:nvPr/>
        </p:nvSpPr>
        <p:spPr>
          <a:xfrm>
            <a:off x="9358655"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Hai khoảng hở</a:t>
            </a:r>
            <a:endParaRPr lang="en-US" sz="1700" dirty="0"/>
          </a:p>
        </p:txBody>
      </p:sp>
      <p:sp>
        <p:nvSpPr>
          <p:cNvPr id="29" name="Text 23"/>
          <p:cNvSpPr txBox="1"/>
          <p:nvPr/>
        </p:nvSpPr>
        <p:spPr>
          <a:xfrm>
            <a:off x="9358655"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b="1" dirty="0">
                <a:solidFill>
                  <a:srgbClr val="1B2A38"/>
                </a:solidFill>
                <a:latin typeface="Calibri" pitchFamily="34" charset="0"/>
                <a:ea typeface="Calibri" pitchFamily="34" charset="-122"/>
                <a:cs typeface="Calibri" pitchFamily="34" charset="-120"/>
              </a:rPr>
              <a:t>A</a:t>
            </a:r>
            <a:pPr indent="0" marL="0">
              <a:buNone/>
            </a:pPr>
            <a:r>
              <a:rPr lang="en-US" sz="1400" dirty="0">
                <a:solidFill>
                  <a:srgbClr val="1B2A38"/>
                </a:solidFill>
                <a:latin typeface="Calibri" pitchFamily="34" charset="0"/>
                <a:ea typeface="Calibri" pitchFamily="34" charset="-122"/>
                <a:cs typeface="Calibri" pitchFamily="34" charset="-120"/>
              </a:rPr>
              <a:t> = có mặt − đăng nhập. Bình thường ~11’</a:t>
            </a:r>
            <a:endParaRPr lang="en-US" sz="1400" dirty="0"/>
          </a:p>
          <a:p>
            <a:pPr marL="228600" indent="-228600">
              <a:spcAft>
                <a:spcPts val="500"/>
              </a:spcAft>
              <a:buSzPct val="100000"/>
              <a:buChar char="•"/>
            </a:pPr>
            <a:r>
              <a:rPr lang="en-US" sz="1400" b="1" dirty="0">
                <a:solidFill>
                  <a:srgbClr val="1B2A38"/>
                </a:solidFill>
                <a:latin typeface="Calibri" pitchFamily="34" charset="0"/>
                <a:ea typeface="Calibri" pitchFamily="34" charset="-122"/>
                <a:cs typeface="Calibri" pitchFamily="34" charset="-120"/>
              </a:rPr>
              <a:t>B</a:t>
            </a:r>
            <a:pPr indent="0" marL="0">
              <a:buNone/>
            </a:pPr>
            <a:r>
              <a:rPr lang="en-US" sz="1400" dirty="0">
                <a:solidFill>
                  <a:srgbClr val="1B2A38"/>
                </a:solidFill>
                <a:latin typeface="Calibri" pitchFamily="34" charset="0"/>
                <a:ea typeface="Calibri" pitchFamily="34" charset="-122"/>
                <a:cs typeface="Calibri" pitchFamily="34" charset="-120"/>
              </a:rPr>
              <a:t> = đăng nhập − sản xuất. Lớn là tự nhiên</a:t>
            </a:r>
            <a:endParaRPr lang="en-US" sz="1400" dirty="0"/>
          </a:p>
          <a:p>
            <a:pPr marL="228600" indent="-228600">
              <a:spcAft>
                <a:spcPts val="500"/>
              </a:spcAft>
              <a:buSzPct val="100000"/>
              <a:buChar char="•"/>
            </a:pPr>
            <a:r>
              <a:rPr lang="en-US" sz="1400" b="1" dirty="0">
                <a:solidFill>
                  <a:srgbClr val="1B2A38"/>
                </a:solidFill>
                <a:latin typeface="Calibri" pitchFamily="34" charset="0"/>
                <a:ea typeface="Calibri" pitchFamily="34" charset="-122"/>
                <a:cs typeface="Calibri" pitchFamily="34" charset="-120"/>
              </a:rPr>
              <a:t>Tỷ lệ SX</a:t>
            </a:r>
            <a:pPr indent="0" marL="0">
              <a:buNone/>
            </a:pPr>
            <a:r>
              <a:rPr lang="en-US" sz="1400" dirty="0">
                <a:solidFill>
                  <a:srgbClr val="1B2A38"/>
                </a:solidFill>
                <a:latin typeface="Calibri" pitchFamily="34" charset="0"/>
                <a:ea typeface="Calibri" pitchFamily="34" charset="-122"/>
                <a:cs typeface="Calibri" pitchFamily="34" charset="-120"/>
              </a:rPr>
              <a:t> = sản xuất / có mặt: TS-BH ~61%, CS-VT ~65%</a:t>
            </a:r>
            <a:endParaRPr lang="en-US" sz="1400" dirty="0"/>
          </a:p>
        </p:txBody>
      </p:sp>
      <p:sp>
        <p:nvSpPr>
          <p:cNvPr id="30" name="Shape 24"/>
          <p:cNvSpPr/>
          <p:nvPr/>
        </p:nvSpPr>
        <p:spPr>
          <a:xfrm>
            <a:off x="548640" y="5577840"/>
            <a:ext cx="11094415" cy="685800"/>
          </a:xfrm>
          <a:prstGeom prst="roundRect">
            <a:avLst>
              <a:gd name="adj" fmla="val 10667"/>
            </a:avLst>
          </a:prstGeom>
          <a:solidFill>
            <a:srgbClr val="FBE7DA"/>
          </a:solidFill>
          <a:ln w="12700">
            <a:solidFill>
              <a:srgbClr val="FBE7DA"/>
            </a:solidFill>
            <a:prstDash val="solid"/>
          </a:ln>
        </p:spPr>
      </p:sp>
      <p:sp>
        <p:nvSpPr>
          <p:cNvPr id="31" name="Text 25"/>
          <p:cNvSpPr txBox="1"/>
          <p:nvPr/>
        </p:nvSpPr>
        <p:spPr>
          <a:xfrm>
            <a:off x="777240" y="5577840"/>
            <a:ext cx="10637215" cy="685800"/>
          </a:xfrm>
          <a:prstGeom prst="rect">
            <a:avLst/>
          </a:prstGeom>
          <a:noFill/>
          <a:ln/>
        </p:spPr>
        <p:txBody>
          <a:bodyPr wrap="square" lIns="0" tIns="0" rIns="0" bIns="0" rtlCol="0" anchor="ctr">
            <a:normAutofit/>
          </a:bodyPr>
          <a:lstStyle/>
          <a:p>
            <a:pPr indent="0" marL="0">
              <a:buNone/>
            </a:pPr>
            <a:r>
              <a:rPr lang="en-US" sz="1400" dirty="0">
                <a:solidFill>
                  <a:srgbClr val="1B2A38"/>
                </a:solidFill>
                <a:latin typeface="Calibri" pitchFamily="34" charset="0"/>
                <a:ea typeface="Calibri" pitchFamily="34" charset="-122"/>
                <a:cs typeface="Calibri" pitchFamily="34" charset="-120"/>
              </a:rPr>
              <a:t>Tỷ lệ về nguyên tắc ≤ 1 mà vượt 1 là lỗi dữ liệu ở mẫu số — NV0116: đăng nhập / có mặt = 1,18 vì thiếu 2 lượt quẹt.</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Ba nhân vật dữ liệu — ba kiểu rò rỉ giờ công</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Text 4"/>
          <p:cNvSpPr txBox="1"/>
          <p:nvPr/>
        </p:nvSpPr>
        <p:spPr>
          <a:xfrm>
            <a:off x="548640" y="1691640"/>
            <a:ext cx="2377440" cy="355600"/>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NV0106 · Có mặt</a:t>
            </a:r>
            <a:endParaRPr lang="en-US" sz="1500" dirty="0"/>
          </a:p>
        </p:txBody>
      </p:sp>
      <p:sp>
        <p:nvSpPr>
          <p:cNvPr id="8" name="Shape 5"/>
          <p:cNvSpPr/>
          <p:nvPr/>
        </p:nvSpPr>
        <p:spPr>
          <a:xfrm>
            <a:off x="2926080" y="1767840"/>
            <a:ext cx="7436815" cy="254000"/>
          </a:xfrm>
          <a:prstGeom prst="rect">
            <a:avLst/>
          </a:prstGeom>
          <a:solidFill>
            <a:srgbClr val="F2F4F6"/>
          </a:solidFill>
          <a:ln w="12700">
            <a:solidFill>
              <a:srgbClr val="F2F4F6"/>
            </a:solidFill>
            <a:prstDash val="solid"/>
          </a:ln>
        </p:spPr>
      </p:sp>
      <p:sp>
        <p:nvSpPr>
          <p:cNvPr id="9" name="Shape 6"/>
          <p:cNvSpPr/>
          <p:nvPr/>
        </p:nvSpPr>
        <p:spPr>
          <a:xfrm>
            <a:off x="2926080" y="1767840"/>
            <a:ext cx="4633708" cy="254000"/>
          </a:xfrm>
          <a:prstGeom prst="rect">
            <a:avLst/>
          </a:prstGeom>
          <a:solidFill>
            <a:srgbClr val="2B3E50"/>
          </a:solidFill>
          <a:ln w="12700">
            <a:solidFill>
              <a:srgbClr val="2B3E50"/>
            </a:solidFill>
            <a:prstDash val="solid"/>
          </a:ln>
        </p:spPr>
      </p:sp>
      <p:sp>
        <p:nvSpPr>
          <p:cNvPr id="10" name="Text 7"/>
          <p:cNvSpPr txBox="1"/>
          <p:nvPr/>
        </p:nvSpPr>
        <p:spPr>
          <a:xfrm>
            <a:off x="10500055" y="1742440"/>
            <a:ext cx="1188720" cy="304800"/>
          </a:xfrm>
          <a:prstGeom prst="rect">
            <a:avLst/>
          </a:prstGeom>
          <a:noFill/>
          <a:ln/>
        </p:spPr>
        <p:txBody>
          <a:bodyPr wrap="square" lIns="0" tIns="0" rIns="0" bIns="0" rtlCol="0" anchor="ctr"/>
          <a:lstStyle/>
          <a:p>
            <a:pPr indent="0" marL="0">
              <a:buNone/>
            </a:pPr>
            <a:r>
              <a:rPr lang="en-US" sz="1500" b="1" dirty="0">
                <a:solidFill>
                  <a:srgbClr val="2B3E50"/>
                </a:solidFill>
                <a:latin typeface="Calibri" pitchFamily="34" charset="0"/>
                <a:ea typeface="Calibri" pitchFamily="34" charset="-122"/>
                <a:cs typeface="Calibri" pitchFamily="34" charset="-120"/>
              </a:rPr>
              <a:t>8,10 h</a:t>
            </a:r>
            <a:endParaRPr lang="en-US" sz="1500" dirty="0"/>
          </a:p>
        </p:txBody>
      </p:sp>
      <p:sp>
        <p:nvSpPr>
          <p:cNvPr id="11" name="Text 8"/>
          <p:cNvSpPr txBox="1"/>
          <p:nvPr/>
        </p:nvSpPr>
        <p:spPr>
          <a:xfrm>
            <a:off x="548640" y="2199640"/>
            <a:ext cx="2377440" cy="355600"/>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NV0106 · Đăng nhập</a:t>
            </a:r>
            <a:endParaRPr lang="en-US" sz="1500" dirty="0"/>
          </a:p>
        </p:txBody>
      </p:sp>
      <p:sp>
        <p:nvSpPr>
          <p:cNvPr id="12" name="Shape 9"/>
          <p:cNvSpPr/>
          <p:nvPr/>
        </p:nvSpPr>
        <p:spPr>
          <a:xfrm>
            <a:off x="2926080" y="2275840"/>
            <a:ext cx="7436815" cy="254000"/>
          </a:xfrm>
          <a:prstGeom prst="rect">
            <a:avLst/>
          </a:prstGeom>
          <a:solidFill>
            <a:srgbClr val="F2F4F6"/>
          </a:solidFill>
          <a:ln w="12700">
            <a:solidFill>
              <a:srgbClr val="F2F4F6"/>
            </a:solidFill>
            <a:prstDash val="solid"/>
          </a:ln>
        </p:spPr>
      </p:sp>
      <p:sp>
        <p:nvSpPr>
          <p:cNvPr id="13" name="Shape 10"/>
          <p:cNvSpPr/>
          <p:nvPr/>
        </p:nvSpPr>
        <p:spPr>
          <a:xfrm>
            <a:off x="2926080" y="2275840"/>
            <a:ext cx="3775614" cy="254000"/>
          </a:xfrm>
          <a:prstGeom prst="rect">
            <a:avLst/>
          </a:prstGeom>
          <a:solidFill>
            <a:srgbClr val="2E7D7A"/>
          </a:solidFill>
          <a:ln w="12700">
            <a:solidFill>
              <a:srgbClr val="2E7D7A"/>
            </a:solidFill>
            <a:prstDash val="solid"/>
          </a:ln>
        </p:spPr>
      </p:sp>
      <p:sp>
        <p:nvSpPr>
          <p:cNvPr id="14" name="Text 11"/>
          <p:cNvSpPr txBox="1"/>
          <p:nvPr/>
        </p:nvSpPr>
        <p:spPr>
          <a:xfrm>
            <a:off x="10500055" y="2250440"/>
            <a:ext cx="1188720" cy="304800"/>
          </a:xfrm>
          <a:prstGeom prst="rect">
            <a:avLst/>
          </a:prstGeom>
          <a:noFill/>
          <a:ln/>
        </p:spPr>
        <p:txBody>
          <a:bodyPr wrap="square" lIns="0" tIns="0" rIns="0" bIns="0" rtlCol="0" anchor="ctr"/>
          <a:lstStyle/>
          <a:p>
            <a:pPr indent="0" marL="0">
              <a:buNone/>
            </a:pPr>
            <a:r>
              <a:rPr lang="en-US" sz="1500" b="1" dirty="0">
                <a:solidFill>
                  <a:srgbClr val="2E7D7A"/>
                </a:solidFill>
                <a:latin typeface="Calibri" pitchFamily="34" charset="0"/>
                <a:ea typeface="Calibri" pitchFamily="34" charset="-122"/>
                <a:cs typeface="Calibri" pitchFamily="34" charset="-120"/>
              </a:rPr>
              <a:t>6,60 h</a:t>
            </a:r>
            <a:endParaRPr lang="en-US" sz="1500" dirty="0"/>
          </a:p>
        </p:txBody>
      </p:sp>
      <p:sp>
        <p:nvSpPr>
          <p:cNvPr id="15" name="Text 12"/>
          <p:cNvSpPr txBox="1"/>
          <p:nvPr/>
        </p:nvSpPr>
        <p:spPr>
          <a:xfrm>
            <a:off x="548640" y="2707640"/>
            <a:ext cx="2377440" cy="355600"/>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NV0106 · Sản xuất</a:t>
            </a:r>
            <a:endParaRPr lang="en-US" sz="1500" dirty="0"/>
          </a:p>
        </p:txBody>
      </p:sp>
      <p:sp>
        <p:nvSpPr>
          <p:cNvPr id="16" name="Shape 13"/>
          <p:cNvSpPr/>
          <p:nvPr/>
        </p:nvSpPr>
        <p:spPr>
          <a:xfrm>
            <a:off x="2926080" y="2783840"/>
            <a:ext cx="7436815" cy="254000"/>
          </a:xfrm>
          <a:prstGeom prst="rect">
            <a:avLst/>
          </a:prstGeom>
          <a:solidFill>
            <a:srgbClr val="F2F4F6"/>
          </a:solidFill>
          <a:ln w="12700">
            <a:solidFill>
              <a:srgbClr val="F2F4F6"/>
            </a:solidFill>
            <a:prstDash val="solid"/>
          </a:ln>
        </p:spPr>
      </p:sp>
      <p:sp>
        <p:nvSpPr>
          <p:cNvPr id="17" name="Shape 14"/>
          <p:cNvSpPr/>
          <p:nvPr/>
        </p:nvSpPr>
        <p:spPr>
          <a:xfrm>
            <a:off x="2926080" y="2783840"/>
            <a:ext cx="2030823" cy="254000"/>
          </a:xfrm>
          <a:prstGeom prst="rect">
            <a:avLst/>
          </a:prstGeom>
          <a:solidFill>
            <a:srgbClr val="D9773A"/>
          </a:solidFill>
          <a:ln w="12700">
            <a:solidFill>
              <a:srgbClr val="D9773A"/>
            </a:solidFill>
            <a:prstDash val="solid"/>
          </a:ln>
        </p:spPr>
      </p:sp>
      <p:sp>
        <p:nvSpPr>
          <p:cNvPr id="18" name="Text 15"/>
          <p:cNvSpPr txBox="1"/>
          <p:nvPr/>
        </p:nvSpPr>
        <p:spPr>
          <a:xfrm>
            <a:off x="10500055" y="2758440"/>
            <a:ext cx="1188720" cy="304800"/>
          </a:xfrm>
          <a:prstGeom prst="rect">
            <a:avLst/>
          </a:prstGeom>
          <a:noFill/>
          <a:ln/>
        </p:spPr>
        <p:txBody>
          <a:bodyPr wrap="square" lIns="0" tIns="0" rIns="0" bIns="0" rtlCol="0" anchor="ctr"/>
          <a:lstStyle/>
          <a:p>
            <a:pPr indent="0" marL="0">
              <a:buNone/>
            </a:pPr>
            <a:r>
              <a:rPr lang="en-US" sz="1500" b="1" dirty="0">
                <a:solidFill>
                  <a:srgbClr val="D9773A"/>
                </a:solidFill>
                <a:latin typeface="Calibri" pitchFamily="34" charset="0"/>
                <a:ea typeface="Calibri" pitchFamily="34" charset="-122"/>
                <a:cs typeface="Calibri" pitchFamily="34" charset="-120"/>
              </a:rPr>
              <a:t>3,55 h</a:t>
            </a:r>
            <a:endParaRPr lang="en-US" sz="1500" dirty="0"/>
          </a:p>
        </p:txBody>
      </p:sp>
      <p:sp>
        <p:nvSpPr>
          <p:cNvPr id="19" name="Text 16"/>
          <p:cNvSpPr txBox="1"/>
          <p:nvPr/>
        </p:nvSpPr>
        <p:spPr>
          <a:xfrm>
            <a:off x="548640" y="3215640"/>
            <a:ext cx="2377440" cy="355600"/>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NV0108 · Có mặt</a:t>
            </a:r>
            <a:endParaRPr lang="en-US" sz="1500" dirty="0"/>
          </a:p>
        </p:txBody>
      </p:sp>
      <p:sp>
        <p:nvSpPr>
          <p:cNvPr id="20" name="Shape 17"/>
          <p:cNvSpPr/>
          <p:nvPr/>
        </p:nvSpPr>
        <p:spPr>
          <a:xfrm>
            <a:off x="2926080" y="3291840"/>
            <a:ext cx="7436815" cy="254000"/>
          </a:xfrm>
          <a:prstGeom prst="rect">
            <a:avLst/>
          </a:prstGeom>
          <a:solidFill>
            <a:srgbClr val="F2F4F6"/>
          </a:solidFill>
          <a:ln w="12700">
            <a:solidFill>
              <a:srgbClr val="F2F4F6"/>
            </a:solidFill>
            <a:prstDash val="solid"/>
          </a:ln>
        </p:spPr>
      </p:sp>
      <p:sp>
        <p:nvSpPr>
          <p:cNvPr id="21" name="Shape 18"/>
          <p:cNvSpPr/>
          <p:nvPr/>
        </p:nvSpPr>
        <p:spPr>
          <a:xfrm>
            <a:off x="2926080" y="3291840"/>
            <a:ext cx="4759562" cy="254000"/>
          </a:xfrm>
          <a:prstGeom prst="rect">
            <a:avLst/>
          </a:prstGeom>
          <a:solidFill>
            <a:srgbClr val="2B3E50"/>
          </a:solidFill>
          <a:ln w="12700">
            <a:solidFill>
              <a:srgbClr val="2B3E50"/>
            </a:solidFill>
            <a:prstDash val="solid"/>
          </a:ln>
        </p:spPr>
      </p:sp>
      <p:sp>
        <p:nvSpPr>
          <p:cNvPr id="22" name="Text 19"/>
          <p:cNvSpPr txBox="1"/>
          <p:nvPr/>
        </p:nvSpPr>
        <p:spPr>
          <a:xfrm>
            <a:off x="10500055" y="3266440"/>
            <a:ext cx="1188720" cy="304800"/>
          </a:xfrm>
          <a:prstGeom prst="rect">
            <a:avLst/>
          </a:prstGeom>
          <a:noFill/>
          <a:ln/>
        </p:spPr>
        <p:txBody>
          <a:bodyPr wrap="square" lIns="0" tIns="0" rIns="0" bIns="0" rtlCol="0" anchor="ctr"/>
          <a:lstStyle/>
          <a:p>
            <a:pPr indent="0" marL="0">
              <a:buNone/>
            </a:pPr>
            <a:r>
              <a:rPr lang="en-US" sz="1500" b="1" dirty="0">
                <a:solidFill>
                  <a:srgbClr val="2B3E50"/>
                </a:solidFill>
                <a:latin typeface="Calibri" pitchFamily="34" charset="0"/>
                <a:ea typeface="Calibri" pitchFamily="34" charset="-122"/>
                <a:cs typeface="Calibri" pitchFamily="34" charset="-120"/>
              </a:rPr>
              <a:t>8,32 h</a:t>
            </a:r>
            <a:endParaRPr lang="en-US" sz="1500" dirty="0"/>
          </a:p>
        </p:txBody>
      </p:sp>
      <p:sp>
        <p:nvSpPr>
          <p:cNvPr id="23" name="Text 20"/>
          <p:cNvSpPr txBox="1"/>
          <p:nvPr/>
        </p:nvSpPr>
        <p:spPr>
          <a:xfrm>
            <a:off x="548640" y="3723640"/>
            <a:ext cx="2377440" cy="355600"/>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NV0108 · Đăng nhập</a:t>
            </a:r>
            <a:endParaRPr lang="en-US" sz="1500" dirty="0"/>
          </a:p>
        </p:txBody>
      </p:sp>
      <p:sp>
        <p:nvSpPr>
          <p:cNvPr id="24" name="Shape 21"/>
          <p:cNvSpPr/>
          <p:nvPr/>
        </p:nvSpPr>
        <p:spPr>
          <a:xfrm>
            <a:off x="2926080" y="3799840"/>
            <a:ext cx="7436815" cy="254000"/>
          </a:xfrm>
          <a:prstGeom prst="rect">
            <a:avLst/>
          </a:prstGeom>
          <a:solidFill>
            <a:srgbClr val="F2F4F6"/>
          </a:solidFill>
          <a:ln w="12700">
            <a:solidFill>
              <a:srgbClr val="F2F4F6"/>
            </a:solidFill>
            <a:prstDash val="solid"/>
          </a:ln>
        </p:spPr>
      </p:sp>
      <p:sp>
        <p:nvSpPr>
          <p:cNvPr id="25" name="Shape 22"/>
          <p:cNvSpPr/>
          <p:nvPr/>
        </p:nvSpPr>
        <p:spPr>
          <a:xfrm>
            <a:off x="2926080" y="3799840"/>
            <a:ext cx="4622267" cy="254000"/>
          </a:xfrm>
          <a:prstGeom prst="rect">
            <a:avLst/>
          </a:prstGeom>
          <a:solidFill>
            <a:srgbClr val="2E7D7A"/>
          </a:solidFill>
          <a:ln w="12700">
            <a:solidFill>
              <a:srgbClr val="2E7D7A"/>
            </a:solidFill>
            <a:prstDash val="solid"/>
          </a:ln>
        </p:spPr>
      </p:sp>
      <p:sp>
        <p:nvSpPr>
          <p:cNvPr id="26" name="Text 23"/>
          <p:cNvSpPr txBox="1"/>
          <p:nvPr/>
        </p:nvSpPr>
        <p:spPr>
          <a:xfrm>
            <a:off x="10500055" y="3774440"/>
            <a:ext cx="1188720" cy="304800"/>
          </a:xfrm>
          <a:prstGeom prst="rect">
            <a:avLst/>
          </a:prstGeom>
          <a:noFill/>
          <a:ln/>
        </p:spPr>
        <p:txBody>
          <a:bodyPr wrap="square" lIns="0" tIns="0" rIns="0" bIns="0" rtlCol="0" anchor="ctr"/>
          <a:lstStyle/>
          <a:p>
            <a:pPr indent="0" marL="0">
              <a:buNone/>
            </a:pPr>
            <a:r>
              <a:rPr lang="en-US" sz="1500" b="1" dirty="0">
                <a:solidFill>
                  <a:srgbClr val="2E7D7A"/>
                </a:solidFill>
                <a:latin typeface="Calibri" pitchFamily="34" charset="0"/>
                <a:ea typeface="Calibri" pitchFamily="34" charset="-122"/>
                <a:cs typeface="Calibri" pitchFamily="34" charset="-120"/>
              </a:rPr>
              <a:t>8,08 h</a:t>
            </a:r>
            <a:endParaRPr lang="en-US" sz="1500" dirty="0"/>
          </a:p>
        </p:txBody>
      </p:sp>
      <p:sp>
        <p:nvSpPr>
          <p:cNvPr id="27" name="Text 24"/>
          <p:cNvSpPr txBox="1"/>
          <p:nvPr/>
        </p:nvSpPr>
        <p:spPr>
          <a:xfrm>
            <a:off x="548640" y="4231640"/>
            <a:ext cx="2377440" cy="355600"/>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NV0108 · Sản xuất</a:t>
            </a:r>
            <a:endParaRPr lang="en-US" sz="1500" dirty="0"/>
          </a:p>
        </p:txBody>
      </p:sp>
      <p:sp>
        <p:nvSpPr>
          <p:cNvPr id="28" name="Shape 25"/>
          <p:cNvSpPr/>
          <p:nvPr/>
        </p:nvSpPr>
        <p:spPr>
          <a:xfrm>
            <a:off x="2926080" y="4307840"/>
            <a:ext cx="7436815" cy="254000"/>
          </a:xfrm>
          <a:prstGeom prst="rect">
            <a:avLst/>
          </a:prstGeom>
          <a:solidFill>
            <a:srgbClr val="F2F4F6"/>
          </a:solidFill>
          <a:ln w="12700">
            <a:solidFill>
              <a:srgbClr val="F2F4F6"/>
            </a:solidFill>
            <a:prstDash val="solid"/>
          </a:ln>
        </p:spPr>
      </p:sp>
      <p:sp>
        <p:nvSpPr>
          <p:cNvPr id="29" name="Shape 26"/>
          <p:cNvSpPr/>
          <p:nvPr/>
        </p:nvSpPr>
        <p:spPr>
          <a:xfrm>
            <a:off x="2926080" y="4307840"/>
            <a:ext cx="1824880" cy="254000"/>
          </a:xfrm>
          <a:prstGeom prst="rect">
            <a:avLst/>
          </a:prstGeom>
          <a:solidFill>
            <a:srgbClr val="D9773A"/>
          </a:solidFill>
          <a:ln w="12700">
            <a:solidFill>
              <a:srgbClr val="D9773A"/>
            </a:solidFill>
            <a:prstDash val="solid"/>
          </a:ln>
        </p:spPr>
      </p:sp>
      <p:sp>
        <p:nvSpPr>
          <p:cNvPr id="30" name="Text 27"/>
          <p:cNvSpPr txBox="1"/>
          <p:nvPr/>
        </p:nvSpPr>
        <p:spPr>
          <a:xfrm>
            <a:off x="10500055" y="4282440"/>
            <a:ext cx="1188720" cy="304800"/>
          </a:xfrm>
          <a:prstGeom prst="rect">
            <a:avLst/>
          </a:prstGeom>
          <a:noFill/>
          <a:ln/>
        </p:spPr>
        <p:txBody>
          <a:bodyPr wrap="square" lIns="0" tIns="0" rIns="0" bIns="0" rtlCol="0" anchor="ctr"/>
          <a:lstStyle/>
          <a:p>
            <a:pPr indent="0" marL="0">
              <a:buNone/>
            </a:pPr>
            <a:r>
              <a:rPr lang="en-US" sz="1500" b="1" dirty="0">
                <a:solidFill>
                  <a:srgbClr val="D9773A"/>
                </a:solidFill>
                <a:latin typeface="Calibri" pitchFamily="34" charset="0"/>
                <a:ea typeface="Calibri" pitchFamily="34" charset="-122"/>
                <a:cs typeface="Calibri" pitchFamily="34" charset="-120"/>
              </a:rPr>
              <a:t>3,19 h</a:t>
            </a:r>
            <a:endParaRPr lang="en-US" sz="1500" dirty="0"/>
          </a:p>
        </p:txBody>
      </p:sp>
      <p:sp>
        <p:nvSpPr>
          <p:cNvPr id="31" name="Text 28"/>
          <p:cNvSpPr txBox="1"/>
          <p:nvPr/>
        </p:nvSpPr>
        <p:spPr>
          <a:xfrm>
            <a:off x="548640" y="4739640"/>
            <a:ext cx="2377440" cy="355600"/>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NV0114 · Có mặt</a:t>
            </a:r>
            <a:endParaRPr lang="en-US" sz="1500" dirty="0"/>
          </a:p>
        </p:txBody>
      </p:sp>
      <p:sp>
        <p:nvSpPr>
          <p:cNvPr id="32" name="Shape 29"/>
          <p:cNvSpPr/>
          <p:nvPr/>
        </p:nvSpPr>
        <p:spPr>
          <a:xfrm>
            <a:off x="2926080" y="4815840"/>
            <a:ext cx="7436815" cy="254000"/>
          </a:xfrm>
          <a:prstGeom prst="rect">
            <a:avLst/>
          </a:prstGeom>
          <a:solidFill>
            <a:srgbClr val="F2F4F6"/>
          </a:solidFill>
          <a:ln w="12700">
            <a:solidFill>
              <a:srgbClr val="F2F4F6"/>
            </a:solidFill>
            <a:prstDash val="solid"/>
          </a:ln>
        </p:spPr>
      </p:sp>
      <p:sp>
        <p:nvSpPr>
          <p:cNvPr id="33" name="Shape 30"/>
          <p:cNvSpPr/>
          <p:nvPr/>
        </p:nvSpPr>
        <p:spPr>
          <a:xfrm>
            <a:off x="2926080" y="4815840"/>
            <a:ext cx="4650870" cy="254000"/>
          </a:xfrm>
          <a:prstGeom prst="rect">
            <a:avLst/>
          </a:prstGeom>
          <a:solidFill>
            <a:srgbClr val="2B3E50"/>
          </a:solidFill>
          <a:ln w="12700">
            <a:solidFill>
              <a:srgbClr val="2B3E50"/>
            </a:solidFill>
            <a:prstDash val="solid"/>
          </a:ln>
        </p:spPr>
      </p:sp>
      <p:sp>
        <p:nvSpPr>
          <p:cNvPr id="34" name="Text 31"/>
          <p:cNvSpPr txBox="1"/>
          <p:nvPr/>
        </p:nvSpPr>
        <p:spPr>
          <a:xfrm>
            <a:off x="10500055" y="4790440"/>
            <a:ext cx="1188720" cy="304800"/>
          </a:xfrm>
          <a:prstGeom prst="rect">
            <a:avLst/>
          </a:prstGeom>
          <a:noFill/>
          <a:ln/>
        </p:spPr>
        <p:txBody>
          <a:bodyPr wrap="square" lIns="0" tIns="0" rIns="0" bIns="0" rtlCol="0" anchor="ctr"/>
          <a:lstStyle/>
          <a:p>
            <a:pPr indent="0" marL="0">
              <a:buNone/>
            </a:pPr>
            <a:r>
              <a:rPr lang="en-US" sz="1500" b="1" dirty="0">
                <a:solidFill>
                  <a:srgbClr val="2B3E50"/>
                </a:solidFill>
                <a:latin typeface="Calibri" pitchFamily="34" charset="0"/>
                <a:ea typeface="Calibri" pitchFamily="34" charset="-122"/>
                <a:cs typeface="Calibri" pitchFamily="34" charset="-120"/>
              </a:rPr>
              <a:t>8,13 h</a:t>
            </a:r>
            <a:endParaRPr lang="en-US" sz="1500" dirty="0"/>
          </a:p>
        </p:txBody>
      </p:sp>
      <p:sp>
        <p:nvSpPr>
          <p:cNvPr id="35" name="Text 32"/>
          <p:cNvSpPr txBox="1"/>
          <p:nvPr/>
        </p:nvSpPr>
        <p:spPr>
          <a:xfrm>
            <a:off x="548640" y="5247640"/>
            <a:ext cx="2377440" cy="355600"/>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NV0114 · Đăng nhập</a:t>
            </a:r>
            <a:endParaRPr lang="en-US" sz="1500" dirty="0"/>
          </a:p>
        </p:txBody>
      </p:sp>
      <p:sp>
        <p:nvSpPr>
          <p:cNvPr id="36" name="Shape 33"/>
          <p:cNvSpPr/>
          <p:nvPr/>
        </p:nvSpPr>
        <p:spPr>
          <a:xfrm>
            <a:off x="2926080" y="5323840"/>
            <a:ext cx="7436815" cy="254000"/>
          </a:xfrm>
          <a:prstGeom prst="rect">
            <a:avLst/>
          </a:prstGeom>
          <a:solidFill>
            <a:srgbClr val="F2F4F6"/>
          </a:solidFill>
          <a:ln w="12700">
            <a:solidFill>
              <a:srgbClr val="F2F4F6"/>
            </a:solidFill>
            <a:prstDash val="solid"/>
          </a:ln>
        </p:spPr>
      </p:sp>
      <p:sp>
        <p:nvSpPr>
          <p:cNvPr id="37" name="Shape 34"/>
          <p:cNvSpPr/>
          <p:nvPr/>
        </p:nvSpPr>
        <p:spPr>
          <a:xfrm>
            <a:off x="2926080" y="5323840"/>
            <a:ext cx="45720" cy="254000"/>
          </a:xfrm>
          <a:prstGeom prst="rect">
            <a:avLst/>
          </a:prstGeom>
          <a:solidFill>
            <a:srgbClr val="2E7D7A"/>
          </a:solidFill>
          <a:ln w="12700">
            <a:solidFill>
              <a:srgbClr val="2E7D7A"/>
            </a:solidFill>
            <a:prstDash val="solid"/>
          </a:ln>
        </p:spPr>
      </p:sp>
      <p:sp>
        <p:nvSpPr>
          <p:cNvPr id="38" name="Text 35"/>
          <p:cNvSpPr txBox="1"/>
          <p:nvPr/>
        </p:nvSpPr>
        <p:spPr>
          <a:xfrm>
            <a:off x="10500055" y="5298440"/>
            <a:ext cx="1188720" cy="304800"/>
          </a:xfrm>
          <a:prstGeom prst="rect">
            <a:avLst/>
          </a:prstGeom>
          <a:noFill/>
          <a:ln/>
        </p:spPr>
        <p:txBody>
          <a:bodyPr wrap="square" lIns="0" tIns="0" rIns="0" bIns="0" rtlCol="0" anchor="ctr"/>
          <a:lstStyle/>
          <a:p>
            <a:pPr indent="0" marL="0">
              <a:buNone/>
            </a:pPr>
            <a:r>
              <a:rPr lang="en-US" sz="1500" b="1" dirty="0">
                <a:solidFill>
                  <a:srgbClr val="2E7D7A"/>
                </a:solidFill>
                <a:latin typeface="Calibri" pitchFamily="34" charset="0"/>
                <a:ea typeface="Calibri" pitchFamily="34" charset="-122"/>
                <a:cs typeface="Calibri" pitchFamily="34" charset="-120"/>
              </a:rPr>
              <a:t>0 h</a:t>
            </a:r>
            <a:endParaRPr lang="en-US" sz="1500" dirty="0"/>
          </a:p>
        </p:txBody>
      </p:sp>
      <p:sp>
        <p:nvSpPr>
          <p:cNvPr id="39" name="Text 36"/>
          <p:cNvSpPr txBox="1"/>
          <p:nvPr/>
        </p:nvSpPr>
        <p:spPr>
          <a:xfrm>
            <a:off x="548640" y="5755640"/>
            <a:ext cx="2377440" cy="355600"/>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NV0114 · Sản xuất</a:t>
            </a:r>
            <a:endParaRPr lang="en-US" sz="1500" dirty="0"/>
          </a:p>
        </p:txBody>
      </p:sp>
      <p:sp>
        <p:nvSpPr>
          <p:cNvPr id="40" name="Shape 37"/>
          <p:cNvSpPr/>
          <p:nvPr/>
        </p:nvSpPr>
        <p:spPr>
          <a:xfrm>
            <a:off x="2926080" y="5831840"/>
            <a:ext cx="7436815" cy="254000"/>
          </a:xfrm>
          <a:prstGeom prst="rect">
            <a:avLst/>
          </a:prstGeom>
          <a:solidFill>
            <a:srgbClr val="F2F4F6"/>
          </a:solidFill>
          <a:ln w="12700">
            <a:solidFill>
              <a:srgbClr val="F2F4F6"/>
            </a:solidFill>
            <a:prstDash val="solid"/>
          </a:ln>
        </p:spPr>
      </p:sp>
      <p:sp>
        <p:nvSpPr>
          <p:cNvPr id="41" name="Shape 38"/>
          <p:cNvSpPr/>
          <p:nvPr/>
        </p:nvSpPr>
        <p:spPr>
          <a:xfrm>
            <a:off x="2926080" y="5831840"/>
            <a:ext cx="45720" cy="254000"/>
          </a:xfrm>
          <a:prstGeom prst="rect">
            <a:avLst/>
          </a:prstGeom>
          <a:solidFill>
            <a:srgbClr val="D9773A"/>
          </a:solidFill>
          <a:ln w="12700">
            <a:solidFill>
              <a:srgbClr val="D9773A"/>
            </a:solidFill>
            <a:prstDash val="solid"/>
          </a:ln>
        </p:spPr>
      </p:sp>
      <p:sp>
        <p:nvSpPr>
          <p:cNvPr id="42" name="Text 39"/>
          <p:cNvSpPr txBox="1"/>
          <p:nvPr/>
        </p:nvSpPr>
        <p:spPr>
          <a:xfrm>
            <a:off x="10500055" y="5806440"/>
            <a:ext cx="1188720" cy="304800"/>
          </a:xfrm>
          <a:prstGeom prst="rect">
            <a:avLst/>
          </a:prstGeom>
          <a:noFill/>
          <a:ln/>
        </p:spPr>
        <p:txBody>
          <a:bodyPr wrap="square" lIns="0" tIns="0" rIns="0" bIns="0" rtlCol="0" anchor="ctr"/>
          <a:lstStyle/>
          <a:p>
            <a:pPr indent="0" marL="0">
              <a:buNone/>
            </a:pPr>
            <a:r>
              <a:rPr lang="en-US" sz="1500" b="1" dirty="0">
                <a:solidFill>
                  <a:srgbClr val="D9773A"/>
                </a:solidFill>
                <a:latin typeface="Calibri" pitchFamily="34" charset="0"/>
                <a:ea typeface="Calibri" pitchFamily="34" charset="-122"/>
                <a:cs typeface="Calibri" pitchFamily="34" charset="-120"/>
              </a:rPr>
              <a:t>0 h</a:t>
            </a:r>
            <a:endParaRPr lang="en-US" sz="1500" dirty="0"/>
          </a:p>
        </p:txBody>
      </p:sp>
      <p:sp>
        <p:nvSpPr>
          <p:cNvPr id="43" name="Shape 40"/>
          <p:cNvSpPr/>
          <p:nvPr/>
        </p:nvSpPr>
        <p:spPr>
          <a:xfrm>
            <a:off x="8028699" y="1783080"/>
            <a:ext cx="2288476" cy="1231392"/>
          </a:xfrm>
          <a:prstGeom prst="roundRect">
            <a:avLst>
              <a:gd name="adj" fmla="val 5941"/>
            </a:avLst>
          </a:prstGeom>
          <a:solidFill>
            <a:srgbClr val="FFFFFF"/>
          </a:solidFill>
          <a:ln w="19050">
            <a:solidFill>
              <a:srgbClr val="D9773A"/>
            </a:solidFill>
            <a:prstDash val="solid"/>
          </a:ln>
        </p:spPr>
      </p:sp>
      <p:sp>
        <p:nvSpPr>
          <p:cNvPr id="44" name="Text 41"/>
          <p:cNvSpPr txBox="1"/>
          <p:nvPr/>
        </p:nvSpPr>
        <p:spPr>
          <a:xfrm>
            <a:off x="8165859" y="1856232"/>
            <a:ext cx="2014156" cy="1085088"/>
          </a:xfrm>
          <a:prstGeom prst="rect">
            <a:avLst/>
          </a:prstGeom>
          <a:noFill/>
          <a:ln/>
        </p:spPr>
        <p:txBody>
          <a:bodyPr wrap="square" lIns="0" tIns="0" rIns="0" bIns="0" rtlCol="0" anchor="ctr"/>
          <a:lstStyle/>
          <a:p>
            <a:pPr indent="0" marL="0">
              <a:spcAft>
                <a:spcPts val="300"/>
              </a:spcAft>
              <a:buNone/>
            </a:pPr>
            <a:r>
              <a:rPr lang="en-US" sz="1350" b="1" dirty="0">
                <a:solidFill>
                  <a:srgbClr val="D9773A"/>
                </a:solidFill>
                <a:latin typeface="Calibri" pitchFamily="34" charset="0"/>
                <a:ea typeface="Calibri" pitchFamily="34" charset="-122"/>
                <a:cs typeface="Calibri" pitchFamily="34" charset="-120"/>
              </a:rPr>
              <a:t>07/09 ca C · A = 90 phút</a:t>
            </a:r>
            <a:endParaRPr lang="en-US" sz="1350" dirty="0"/>
          </a:p>
          <a:p>
            <a:pPr indent="0" marL="0">
              <a:spcAft>
                <a:spcPts val="300"/>
              </a:spcAft>
              <a:buNone/>
            </a:pPr>
            <a:r>
              <a:rPr lang="en-US" sz="1200" dirty="0">
                <a:solidFill>
                  <a:srgbClr val="1B2A38"/>
                </a:solidFill>
                <a:latin typeface="Calibri" pitchFamily="34" charset="0"/>
                <a:ea typeface="Calibri" pitchFamily="34" charset="-122"/>
                <a:cs typeface="Calibri" pitchFamily="34" charset="-120"/>
              </a:rPr>
              <a:t>Có mặt, chưa đăng nhập — lặp lại 8/12 ca. Lãng phí, hay việc chưa ai ghi?</a:t>
            </a:r>
            <a:endParaRPr lang="en-US" sz="1350" dirty="0"/>
          </a:p>
        </p:txBody>
      </p:sp>
      <p:sp>
        <p:nvSpPr>
          <p:cNvPr id="45" name="Shape 42"/>
          <p:cNvSpPr/>
          <p:nvPr/>
        </p:nvSpPr>
        <p:spPr>
          <a:xfrm>
            <a:off x="548640" y="3160776"/>
            <a:ext cx="11094415" cy="0"/>
          </a:xfrm>
          <a:prstGeom prst="line">
            <a:avLst/>
          </a:prstGeom>
          <a:noFill/>
          <a:ln w="12700">
            <a:solidFill>
              <a:srgbClr val="D5DAE0"/>
            </a:solidFill>
            <a:prstDash val="dash"/>
          </a:ln>
        </p:spPr>
      </p:sp>
      <p:sp>
        <p:nvSpPr>
          <p:cNvPr id="46" name="Shape 43"/>
          <p:cNvSpPr/>
          <p:nvPr/>
        </p:nvSpPr>
        <p:spPr>
          <a:xfrm>
            <a:off x="8028699" y="3307080"/>
            <a:ext cx="2288476" cy="1231392"/>
          </a:xfrm>
          <a:prstGeom prst="roundRect">
            <a:avLst>
              <a:gd name="adj" fmla="val 5941"/>
            </a:avLst>
          </a:prstGeom>
          <a:solidFill>
            <a:srgbClr val="FFFFFF"/>
          </a:solidFill>
          <a:ln w="19050">
            <a:solidFill>
              <a:srgbClr val="2E7D7A"/>
            </a:solidFill>
            <a:prstDash val="solid"/>
          </a:ln>
        </p:spPr>
      </p:sp>
      <p:sp>
        <p:nvSpPr>
          <p:cNvPr id="47" name="Text 44"/>
          <p:cNvSpPr txBox="1"/>
          <p:nvPr/>
        </p:nvSpPr>
        <p:spPr>
          <a:xfrm>
            <a:off x="8165859" y="3380232"/>
            <a:ext cx="2014156" cy="1085088"/>
          </a:xfrm>
          <a:prstGeom prst="rect">
            <a:avLst/>
          </a:prstGeom>
          <a:noFill/>
          <a:ln/>
        </p:spPr>
        <p:txBody>
          <a:bodyPr wrap="square" lIns="0" tIns="0" rIns="0" bIns="0" rtlCol="0" anchor="ctr"/>
          <a:lstStyle/>
          <a:p>
            <a:pPr indent="0" marL="0">
              <a:spcAft>
                <a:spcPts val="300"/>
              </a:spcAft>
              <a:buNone/>
            </a:pPr>
            <a:r>
              <a:rPr lang="en-US" sz="1350" b="1" dirty="0">
                <a:solidFill>
                  <a:srgbClr val="2E7D7A"/>
                </a:solidFill>
                <a:latin typeface="Calibri" pitchFamily="34" charset="0"/>
                <a:ea typeface="Calibri" pitchFamily="34" charset="-122"/>
                <a:cs typeface="Calibri" pitchFamily="34" charset="-120"/>
              </a:rPr>
              <a:t>07/09 ca C · SX 38,3%</a:t>
            </a:r>
            <a:endParaRPr lang="en-US" sz="1350" dirty="0"/>
          </a:p>
          <a:p>
            <a:pPr indent="0" marL="0">
              <a:spcAft>
                <a:spcPts val="300"/>
              </a:spcAft>
              <a:buNone/>
            </a:pPr>
            <a:r>
              <a:rPr lang="en-US" sz="1200" dirty="0">
                <a:solidFill>
                  <a:srgbClr val="1B2A38"/>
                </a:solidFill>
                <a:latin typeface="Calibri" pitchFamily="34" charset="0"/>
                <a:ea typeface="Calibri" pitchFamily="34" charset="-122"/>
                <a:cs typeface="Calibri" pitchFamily="34" charset="-120"/>
              </a:rPr>
              <a:t>A bình thường, B quá lớn (đồng nghiệp ~60%). Nhờ IT xác nhận “Lỗi hệ thống”.</a:t>
            </a:r>
            <a:endParaRPr lang="en-US" sz="1350" dirty="0"/>
          </a:p>
        </p:txBody>
      </p:sp>
      <p:sp>
        <p:nvSpPr>
          <p:cNvPr id="48" name="Shape 45"/>
          <p:cNvSpPr/>
          <p:nvPr/>
        </p:nvSpPr>
        <p:spPr>
          <a:xfrm>
            <a:off x="548640" y="4684776"/>
            <a:ext cx="11094415" cy="0"/>
          </a:xfrm>
          <a:prstGeom prst="line">
            <a:avLst/>
          </a:prstGeom>
          <a:noFill/>
          <a:ln w="12700">
            <a:solidFill>
              <a:srgbClr val="D5DAE0"/>
            </a:solidFill>
            <a:prstDash val="dash"/>
          </a:ln>
        </p:spPr>
      </p:sp>
      <p:sp>
        <p:nvSpPr>
          <p:cNvPr id="49" name="Shape 46"/>
          <p:cNvSpPr/>
          <p:nvPr/>
        </p:nvSpPr>
        <p:spPr>
          <a:xfrm>
            <a:off x="8028699" y="4831080"/>
            <a:ext cx="2288476" cy="1231392"/>
          </a:xfrm>
          <a:prstGeom prst="roundRect">
            <a:avLst>
              <a:gd name="adj" fmla="val 5941"/>
            </a:avLst>
          </a:prstGeom>
          <a:solidFill>
            <a:srgbClr val="FFFFFF"/>
          </a:solidFill>
          <a:ln w="19050">
            <a:solidFill>
              <a:srgbClr val="C0392B"/>
            </a:solidFill>
            <a:prstDash val="solid"/>
          </a:ln>
        </p:spPr>
      </p:sp>
      <p:sp>
        <p:nvSpPr>
          <p:cNvPr id="50" name="Text 47"/>
          <p:cNvSpPr txBox="1"/>
          <p:nvPr/>
        </p:nvSpPr>
        <p:spPr>
          <a:xfrm>
            <a:off x="8165859" y="4904232"/>
            <a:ext cx="2014156" cy="1085088"/>
          </a:xfrm>
          <a:prstGeom prst="rect">
            <a:avLst/>
          </a:prstGeom>
          <a:noFill/>
          <a:ln/>
        </p:spPr>
        <p:txBody>
          <a:bodyPr wrap="square" lIns="0" tIns="0" rIns="0" bIns="0" rtlCol="0" anchor="ctr"/>
          <a:lstStyle/>
          <a:p>
            <a:pPr indent="0" marL="0">
              <a:spcAft>
                <a:spcPts val="300"/>
              </a:spcAft>
              <a:buNone/>
            </a:pPr>
            <a:r>
              <a:rPr lang="en-US" sz="1350" b="1" dirty="0">
                <a:solidFill>
                  <a:srgbClr val="C0392B"/>
                </a:solidFill>
                <a:latin typeface="Calibri" pitchFamily="34" charset="0"/>
                <a:ea typeface="Calibri" pitchFamily="34" charset="-122"/>
                <a:cs typeface="Calibri" pitchFamily="34" charset="-120"/>
              </a:rPr>
              <a:t>12/09 ca S · 0 h đăng nhập</a:t>
            </a:r>
            <a:endParaRPr lang="en-US" sz="1350" dirty="0"/>
          </a:p>
          <a:p>
            <a:pPr indent="0" marL="0">
              <a:spcAft>
                <a:spcPts val="300"/>
              </a:spcAft>
              <a:buNone/>
            </a:pPr>
            <a:r>
              <a:rPr lang="en-US" sz="1200" dirty="0">
                <a:solidFill>
                  <a:srgbClr val="1B2A38"/>
                </a:solidFill>
                <a:latin typeface="Calibri" pitchFamily="34" charset="0"/>
                <a:ea typeface="Calibri" pitchFamily="34" charset="-122"/>
                <a:cs typeface="Calibri" pitchFamily="34" charset="-120"/>
              </a:rPr>
              <a:t>Có chấm công, không dấu vết tổng đài. Chấm công hộ hay điều việc khác? Cần xác minh.</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1732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41732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KIỂM TRA NHANH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Câu hỏi nhanh</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Shape 4"/>
          <p:cNvSpPr/>
          <p:nvPr/>
        </p:nvSpPr>
        <p:spPr>
          <a:xfrm>
            <a:off x="548640" y="1691640"/>
            <a:ext cx="11094415" cy="1234440"/>
          </a:xfrm>
          <a:prstGeom prst="roundRect">
            <a:avLst>
              <a:gd name="adj" fmla="val 7407"/>
            </a:avLst>
          </a:prstGeom>
          <a:solidFill>
            <a:srgbClr val="ECE6F5"/>
          </a:solidFill>
          <a:ln w="12700">
            <a:solidFill>
              <a:srgbClr val="ECE6F5"/>
            </a:solidFill>
            <a:prstDash val="solid"/>
          </a:ln>
        </p:spPr>
      </p:sp>
      <p:sp>
        <p:nvSpPr>
          <p:cNvPr id="8" name="Shape 5"/>
          <p:cNvSpPr/>
          <p:nvPr/>
        </p:nvSpPr>
        <p:spPr>
          <a:xfrm>
            <a:off x="777240" y="1993392"/>
            <a:ext cx="640080" cy="640080"/>
          </a:xfrm>
          <a:prstGeom prst="roundRect">
            <a:avLst>
              <a:gd name="adj" fmla="val 22000"/>
            </a:avLst>
          </a:prstGeom>
          <a:solidFill>
            <a:srgbClr val="6E4E9E"/>
          </a:solidFill>
          <a:ln w="12700">
            <a:solidFill>
              <a:srgbClr val="6E4E9E"/>
            </a:solidFill>
            <a:prstDash val="solid"/>
          </a:ln>
        </p:spPr>
      </p:sp>
      <p:pic>
        <p:nvPicPr>
          <p:cNvPr id="9" name="Image 0" descr="preencoded.png">    </p:cNvPr>
          <p:cNvPicPr>
            <a:picLocks noChangeAspect="1"/>
          </p:cNvPicPr>
          <p:nvPr/>
        </p:nvPicPr>
        <p:blipFill>
          <a:blip r:embed="rId1"/>
          <a:stretch>
            <a:fillRect/>
          </a:stretch>
        </p:blipFill>
        <p:spPr>
          <a:xfrm>
            <a:off x="930859" y="2147011"/>
            <a:ext cx="332842" cy="332842"/>
          </a:xfrm>
          <a:prstGeom prst="rect">
            <a:avLst/>
          </a:prstGeom>
        </p:spPr>
      </p:pic>
      <p:sp>
        <p:nvSpPr>
          <p:cNvPr id="10" name="Text 6"/>
          <p:cNvSpPr txBox="1"/>
          <p:nvPr/>
        </p:nvSpPr>
        <p:spPr>
          <a:xfrm>
            <a:off x="1645920" y="1801368"/>
            <a:ext cx="9768535" cy="100584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Ngày 07/09, NV0107 (team TS-B) quẹt 12:51 và 22:11. File chấm công cũ so mọi người với mốc 08:00 và gắn cờ “đi muộn 4 giờ 51 phút”. Chuyện gì đã xảy ra?</a:t>
            </a:r>
            <a:endParaRPr lang="en-US" sz="1800" dirty="0"/>
          </a:p>
        </p:txBody>
      </p:sp>
      <p:sp>
        <p:nvSpPr>
          <p:cNvPr id="11" name="Shape 7"/>
          <p:cNvSpPr/>
          <p:nvPr/>
        </p:nvSpPr>
        <p:spPr>
          <a:xfrm>
            <a:off x="548640" y="3154680"/>
            <a:ext cx="5432908" cy="1440180"/>
          </a:xfrm>
          <a:prstGeom prst="roundRect">
            <a:avLst>
              <a:gd name="adj" fmla="val 6349"/>
            </a:avLst>
          </a:prstGeom>
          <a:solidFill>
            <a:srgbClr val="FFFFFF"/>
          </a:solidFill>
          <a:ln w="15875">
            <a:solidFill>
              <a:srgbClr val="D5DAE0"/>
            </a:solidFill>
            <a:prstDash val="solid"/>
          </a:ln>
        </p:spPr>
      </p:sp>
      <p:sp>
        <p:nvSpPr>
          <p:cNvPr id="12" name="Shape 8"/>
          <p:cNvSpPr/>
          <p:nvPr/>
        </p:nvSpPr>
        <p:spPr>
          <a:xfrm>
            <a:off x="749808" y="3623310"/>
            <a:ext cx="502920" cy="502920"/>
          </a:xfrm>
          <a:prstGeom prst="ellipse">
            <a:avLst/>
          </a:prstGeom>
          <a:solidFill>
            <a:srgbClr val="6E4E9E"/>
          </a:solidFill>
          <a:ln w="12700">
            <a:solidFill>
              <a:srgbClr val="6E4E9E"/>
            </a:solidFill>
            <a:prstDash val="solid"/>
          </a:ln>
        </p:spPr>
      </p:sp>
      <p:sp>
        <p:nvSpPr>
          <p:cNvPr id="13" name="Text 9"/>
          <p:cNvSpPr txBox="1"/>
          <p:nvPr/>
        </p:nvSpPr>
        <p:spPr>
          <a:xfrm>
            <a:off x="749808"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0"/>
          <p:cNvSpPr txBox="1"/>
          <p:nvPr/>
        </p:nvSpPr>
        <p:spPr>
          <a:xfrm>
            <a:off x="1417320"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NV0107 thật sự đi muộn gần 5 tiếng, cần lập biên bản.</a:t>
            </a:r>
            <a:endParaRPr lang="en-US" sz="1500" dirty="0"/>
          </a:p>
        </p:txBody>
      </p:sp>
      <p:sp>
        <p:nvSpPr>
          <p:cNvPr id="15" name="Shape 11"/>
          <p:cNvSpPr/>
          <p:nvPr/>
        </p:nvSpPr>
        <p:spPr>
          <a:xfrm>
            <a:off x="6210148" y="3154680"/>
            <a:ext cx="5432908" cy="1440180"/>
          </a:xfrm>
          <a:prstGeom prst="roundRect">
            <a:avLst>
              <a:gd name="adj" fmla="val 6349"/>
            </a:avLst>
          </a:prstGeom>
          <a:solidFill>
            <a:srgbClr val="FFFFFF"/>
          </a:solidFill>
          <a:ln w="15875">
            <a:solidFill>
              <a:srgbClr val="D5DAE0"/>
            </a:solidFill>
            <a:prstDash val="solid"/>
          </a:ln>
        </p:spPr>
      </p:sp>
      <p:sp>
        <p:nvSpPr>
          <p:cNvPr id="16" name="Shape 12"/>
          <p:cNvSpPr/>
          <p:nvPr/>
        </p:nvSpPr>
        <p:spPr>
          <a:xfrm>
            <a:off x="6411316" y="3623310"/>
            <a:ext cx="502920" cy="502920"/>
          </a:xfrm>
          <a:prstGeom prst="ellipse">
            <a:avLst/>
          </a:prstGeom>
          <a:solidFill>
            <a:srgbClr val="6E4E9E"/>
          </a:solidFill>
          <a:ln w="12700">
            <a:solidFill>
              <a:srgbClr val="6E4E9E"/>
            </a:solidFill>
            <a:prstDash val="solid"/>
          </a:ln>
        </p:spPr>
      </p:sp>
      <p:sp>
        <p:nvSpPr>
          <p:cNvPr id="17" name="Text 13"/>
          <p:cNvSpPr txBox="1"/>
          <p:nvPr/>
        </p:nvSpPr>
        <p:spPr>
          <a:xfrm>
            <a:off x="6411316"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8" name="Text 14"/>
          <p:cNvSpPr txBox="1"/>
          <p:nvPr/>
        </p:nvSpPr>
        <p:spPr>
          <a:xfrm>
            <a:off x="7078828"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File cũ tính đúng, chỉ cần cộng thêm ngưỡng 5 phút của Điều 3.1.</a:t>
            </a:r>
            <a:endParaRPr lang="en-US" sz="1500" dirty="0"/>
          </a:p>
        </p:txBody>
      </p:sp>
      <p:sp>
        <p:nvSpPr>
          <p:cNvPr id="19" name="Shape 15"/>
          <p:cNvSpPr/>
          <p:nvPr/>
        </p:nvSpPr>
        <p:spPr>
          <a:xfrm>
            <a:off x="548640" y="4823460"/>
            <a:ext cx="5432908" cy="1440180"/>
          </a:xfrm>
          <a:prstGeom prst="roundRect">
            <a:avLst>
              <a:gd name="adj" fmla="val 6349"/>
            </a:avLst>
          </a:prstGeom>
          <a:solidFill>
            <a:srgbClr val="FFFFFF"/>
          </a:solidFill>
          <a:ln w="15875">
            <a:solidFill>
              <a:srgbClr val="D5DAE0"/>
            </a:solidFill>
            <a:prstDash val="solid"/>
          </a:ln>
        </p:spPr>
      </p:sp>
      <p:sp>
        <p:nvSpPr>
          <p:cNvPr id="20" name="Shape 16"/>
          <p:cNvSpPr/>
          <p:nvPr/>
        </p:nvSpPr>
        <p:spPr>
          <a:xfrm>
            <a:off x="749808" y="5292090"/>
            <a:ext cx="502920" cy="502920"/>
          </a:xfrm>
          <a:prstGeom prst="ellipse">
            <a:avLst/>
          </a:prstGeom>
          <a:solidFill>
            <a:srgbClr val="6E4E9E"/>
          </a:solidFill>
          <a:ln w="12700">
            <a:solidFill>
              <a:srgbClr val="6E4E9E"/>
            </a:solidFill>
            <a:prstDash val="solid"/>
          </a:ln>
        </p:spPr>
      </p:sp>
      <p:sp>
        <p:nvSpPr>
          <p:cNvPr id="21" name="Text 17"/>
          <p:cNvSpPr txBox="1"/>
          <p:nvPr/>
        </p:nvSpPr>
        <p:spPr>
          <a:xfrm>
            <a:off x="749808"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2" name="Text 18"/>
          <p:cNvSpPr txBox="1"/>
          <p:nvPr/>
        </p:nvSpPr>
        <p:spPr>
          <a:xfrm>
            <a:off x="1417320"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File cũ không tra lịch ca: tuần 1 TS-B làm ca C (13:00), nên NV0107 thực ra đến sớm 9 phút.</a:t>
            </a:r>
            <a:endParaRPr lang="en-US" sz="1500" dirty="0"/>
          </a:p>
        </p:txBody>
      </p:sp>
      <p:sp>
        <p:nvSpPr>
          <p:cNvPr id="23" name="Shape 19"/>
          <p:cNvSpPr/>
          <p:nvPr/>
        </p:nvSpPr>
        <p:spPr>
          <a:xfrm>
            <a:off x="6210148" y="4823460"/>
            <a:ext cx="5432908" cy="1440180"/>
          </a:xfrm>
          <a:prstGeom prst="roundRect">
            <a:avLst>
              <a:gd name="adj" fmla="val 6349"/>
            </a:avLst>
          </a:prstGeom>
          <a:solidFill>
            <a:srgbClr val="FFFFFF"/>
          </a:solidFill>
          <a:ln w="15875">
            <a:solidFill>
              <a:srgbClr val="D5DAE0"/>
            </a:solidFill>
            <a:prstDash val="solid"/>
          </a:ln>
        </p:spPr>
      </p:sp>
      <p:sp>
        <p:nvSpPr>
          <p:cNvPr id="24" name="Shape 20"/>
          <p:cNvSpPr/>
          <p:nvPr/>
        </p:nvSpPr>
        <p:spPr>
          <a:xfrm>
            <a:off x="6411316" y="5292090"/>
            <a:ext cx="502920" cy="502920"/>
          </a:xfrm>
          <a:prstGeom prst="ellipse">
            <a:avLst/>
          </a:prstGeom>
          <a:solidFill>
            <a:srgbClr val="6E4E9E"/>
          </a:solidFill>
          <a:ln w="12700">
            <a:solidFill>
              <a:srgbClr val="6E4E9E"/>
            </a:solidFill>
            <a:prstDash val="solid"/>
          </a:ln>
        </p:spPr>
      </p:sp>
      <p:sp>
        <p:nvSpPr>
          <p:cNvPr id="25" name="Text 21"/>
          <p:cNvSpPr txBox="1"/>
          <p:nvPr/>
        </p:nvSpPr>
        <p:spPr>
          <a:xfrm>
            <a:off x="6411316"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6" name="Text 22"/>
          <p:cNvSpPr txBox="1"/>
          <p:nvPr/>
        </p:nvSpPr>
        <p:spPr>
          <a:xfrm>
            <a:off x="7078828"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Máy chấm công bị lệch giờ, nên bỏ qua ngày này.</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Từ nội quy đến bảng quy tắc: 4 bước</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Nội quy viết cho người đọc (“tương tự”, “theo quy định”). Bảng công cần quy tắc cho máy chạy.</a:t>
            </a:r>
            <a:endParaRPr lang="en-US" sz="1600" dirty="0"/>
          </a:p>
        </p:txBody>
      </p:sp>
      <p:sp>
        <p:nvSpPr>
          <p:cNvPr id="8" name="Shape 5"/>
          <p:cNvSpPr/>
          <p:nvPr/>
        </p:nvSpPr>
        <p:spPr>
          <a:xfrm>
            <a:off x="548640" y="2331720"/>
            <a:ext cx="2485568" cy="3017520"/>
          </a:xfrm>
          <a:prstGeom prst="roundRect">
            <a:avLst>
              <a:gd name="adj" fmla="val 3679"/>
            </a:avLst>
          </a:prstGeom>
          <a:solidFill>
            <a:srgbClr val="F2F4F6"/>
          </a:solidFill>
          <a:ln w="12700">
            <a:solidFill>
              <a:srgbClr val="F2F4F6"/>
            </a:solidFill>
            <a:prstDash val="solid"/>
          </a:ln>
        </p:spPr>
      </p:sp>
      <p:sp>
        <p:nvSpPr>
          <p:cNvPr id="9" name="Shape 6"/>
          <p:cNvSpPr/>
          <p:nvPr/>
        </p:nvSpPr>
        <p:spPr>
          <a:xfrm>
            <a:off x="749808" y="2532888"/>
            <a:ext cx="548640" cy="548640"/>
          </a:xfrm>
          <a:prstGeom prst="ellipse">
            <a:avLst/>
          </a:prstGeom>
          <a:solidFill>
            <a:srgbClr val="2B3E50"/>
          </a:solidFill>
          <a:ln w="12700">
            <a:solidFill>
              <a:srgbClr val="2B3E50"/>
            </a:solidFill>
            <a:prstDash val="solid"/>
          </a:ln>
        </p:spPr>
      </p:sp>
      <p:sp>
        <p:nvSpPr>
          <p:cNvPr id="10" name="Text 7"/>
          <p:cNvSpPr txBox="1"/>
          <p:nvPr/>
        </p:nvSpPr>
        <p:spPr>
          <a:xfrm>
            <a:off x="749808" y="253288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1" name="Text 8"/>
          <p:cNvSpPr txBox="1"/>
          <p:nvPr/>
        </p:nvSpPr>
        <p:spPr>
          <a:xfrm>
            <a:off x="749808" y="320040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Claude đọc</a:t>
            </a:r>
            <a:endParaRPr lang="en-US" sz="1700" dirty="0"/>
          </a:p>
        </p:txBody>
      </p:sp>
      <p:sp>
        <p:nvSpPr>
          <p:cNvPr id="12" name="Text 9"/>
          <p:cNvSpPr txBox="1"/>
          <p:nvPr/>
        </p:nvSpPr>
        <p:spPr>
          <a:xfrm>
            <a:off x="749808" y="3904488"/>
            <a:ext cx="2083232" cy="1280160"/>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Tách từng quy tắc thành dòng “Nếu… thì…”, có mã QC-xx và trích điều khoản gốc. Khi có khiếu nại, chỉ cần dẫn mã.</a:t>
            </a:r>
            <a:endParaRPr lang="en-US" sz="1450" dirty="0"/>
          </a:p>
        </p:txBody>
      </p:sp>
      <p:pic>
        <p:nvPicPr>
          <p:cNvPr id="13" name="Image 0" descr="preencoded.png">    </p:cNvPr>
          <p:cNvPicPr>
            <a:picLocks noChangeAspect="1"/>
          </p:cNvPicPr>
          <p:nvPr/>
        </p:nvPicPr>
        <p:blipFill>
          <a:blip r:embed="rId1"/>
          <a:stretch>
            <a:fillRect/>
          </a:stretch>
        </p:blipFill>
        <p:spPr>
          <a:xfrm>
            <a:off x="3116504" y="3730752"/>
            <a:ext cx="219456" cy="219456"/>
          </a:xfrm>
          <a:prstGeom prst="rect">
            <a:avLst/>
          </a:prstGeom>
        </p:spPr>
      </p:pic>
      <p:sp>
        <p:nvSpPr>
          <p:cNvPr id="14" name="Shape 10"/>
          <p:cNvSpPr/>
          <p:nvPr/>
        </p:nvSpPr>
        <p:spPr>
          <a:xfrm>
            <a:off x="3418256" y="2331720"/>
            <a:ext cx="2485568" cy="3017520"/>
          </a:xfrm>
          <a:prstGeom prst="roundRect">
            <a:avLst>
              <a:gd name="adj" fmla="val 3679"/>
            </a:avLst>
          </a:prstGeom>
          <a:solidFill>
            <a:srgbClr val="F2F4F6"/>
          </a:solidFill>
          <a:ln w="12700">
            <a:solidFill>
              <a:srgbClr val="F2F4F6"/>
            </a:solidFill>
            <a:prstDash val="solid"/>
          </a:ln>
        </p:spPr>
      </p:sp>
      <p:sp>
        <p:nvSpPr>
          <p:cNvPr id="15" name="Shape 11"/>
          <p:cNvSpPr/>
          <p:nvPr/>
        </p:nvSpPr>
        <p:spPr>
          <a:xfrm>
            <a:off x="3619424" y="2532888"/>
            <a:ext cx="548640" cy="548640"/>
          </a:xfrm>
          <a:prstGeom prst="ellipse">
            <a:avLst/>
          </a:prstGeom>
          <a:solidFill>
            <a:srgbClr val="2B3E50"/>
          </a:solidFill>
          <a:ln w="12700">
            <a:solidFill>
              <a:srgbClr val="2B3E50"/>
            </a:solidFill>
            <a:prstDash val="solid"/>
          </a:ln>
        </p:spPr>
      </p:sp>
      <p:sp>
        <p:nvSpPr>
          <p:cNvPr id="16" name="Text 12"/>
          <p:cNvSpPr txBox="1"/>
          <p:nvPr/>
        </p:nvSpPr>
        <p:spPr>
          <a:xfrm>
            <a:off x="3619424" y="253288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7" name="Text 13"/>
          <p:cNvSpPr txBox="1"/>
          <p:nvPr/>
        </p:nvSpPr>
        <p:spPr>
          <a:xfrm>
            <a:off x="3619424" y="320040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Claude đối chiếu thực tế</a:t>
            </a:r>
            <a:endParaRPr lang="en-US" sz="1700" dirty="0"/>
          </a:p>
        </p:txBody>
      </p:sp>
      <p:sp>
        <p:nvSpPr>
          <p:cNvPr id="18" name="Text 14"/>
          <p:cNvSpPr txBox="1"/>
          <p:nvPr/>
        </p:nvSpPr>
        <p:spPr>
          <a:xfrm>
            <a:off x="3619424" y="3904488"/>
            <a:ext cx="2083232" cy="1280160"/>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Liệt kê tình huống callcenter nội quy CHƯA quy định: ca qua đêm, quên chấm công, đổi ca, OT không đăng ký…</a:t>
            </a:r>
            <a:endParaRPr lang="en-US" sz="1450" dirty="0"/>
          </a:p>
        </p:txBody>
      </p:sp>
      <p:pic>
        <p:nvPicPr>
          <p:cNvPr id="19" name="Image 1" descr="preencoded.png">    </p:cNvPr>
          <p:cNvPicPr>
            <a:picLocks noChangeAspect="1"/>
          </p:cNvPicPr>
          <p:nvPr/>
        </p:nvPicPr>
        <p:blipFill>
          <a:blip r:embed="rId2"/>
          <a:stretch>
            <a:fillRect/>
          </a:stretch>
        </p:blipFill>
        <p:spPr>
          <a:xfrm>
            <a:off x="5986120" y="3730752"/>
            <a:ext cx="219456" cy="219456"/>
          </a:xfrm>
          <a:prstGeom prst="rect">
            <a:avLst/>
          </a:prstGeom>
        </p:spPr>
      </p:pic>
      <p:sp>
        <p:nvSpPr>
          <p:cNvPr id="20" name="Shape 15"/>
          <p:cNvSpPr/>
          <p:nvPr/>
        </p:nvSpPr>
        <p:spPr>
          <a:xfrm>
            <a:off x="6287872" y="2331720"/>
            <a:ext cx="2485568" cy="3017520"/>
          </a:xfrm>
          <a:prstGeom prst="roundRect">
            <a:avLst>
              <a:gd name="adj" fmla="val 3679"/>
            </a:avLst>
          </a:prstGeom>
          <a:solidFill>
            <a:srgbClr val="F2F4F6"/>
          </a:solidFill>
          <a:ln w="12700">
            <a:solidFill>
              <a:srgbClr val="F2F4F6"/>
            </a:solidFill>
            <a:prstDash val="solid"/>
          </a:ln>
        </p:spPr>
      </p:sp>
      <p:sp>
        <p:nvSpPr>
          <p:cNvPr id="21" name="Shape 16"/>
          <p:cNvSpPr/>
          <p:nvPr/>
        </p:nvSpPr>
        <p:spPr>
          <a:xfrm>
            <a:off x="6489040" y="2532888"/>
            <a:ext cx="548640" cy="548640"/>
          </a:xfrm>
          <a:prstGeom prst="ellipse">
            <a:avLst/>
          </a:prstGeom>
          <a:solidFill>
            <a:srgbClr val="2B3E50"/>
          </a:solidFill>
          <a:ln w="12700">
            <a:solidFill>
              <a:srgbClr val="2B3E50"/>
            </a:solidFill>
            <a:prstDash val="solid"/>
          </a:ln>
        </p:spPr>
      </p:sp>
      <p:sp>
        <p:nvSpPr>
          <p:cNvPr id="22" name="Text 17"/>
          <p:cNvSpPr txBox="1"/>
          <p:nvPr/>
        </p:nvSpPr>
        <p:spPr>
          <a:xfrm>
            <a:off x="6489040" y="253288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3" name="Text 18"/>
          <p:cNvSpPr txBox="1"/>
          <p:nvPr/>
        </p:nvSpPr>
        <p:spPr>
          <a:xfrm>
            <a:off x="6489040" y="320040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Claude hỏi lại</a:t>
            </a:r>
            <a:endParaRPr lang="en-US" sz="1700" dirty="0"/>
          </a:p>
        </p:txBody>
      </p:sp>
      <p:sp>
        <p:nvSpPr>
          <p:cNvPr id="24" name="Text 19"/>
          <p:cNvSpPr txBox="1"/>
          <p:nvPr/>
        </p:nvSpPr>
        <p:spPr>
          <a:xfrm>
            <a:off x="6489040" y="3904488"/>
            <a:ext cx="2083232" cy="1280160"/>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Mỗi điểm mơ hồ kèm 2 phương án và hệ quả bằng số. Hỏi mở thì HR khó trả lời; 2 phương án thì HR chỉ việc chọn.</a:t>
            </a:r>
            <a:endParaRPr lang="en-US" sz="1450" dirty="0"/>
          </a:p>
        </p:txBody>
      </p:sp>
      <p:pic>
        <p:nvPicPr>
          <p:cNvPr id="25" name="Image 2" descr="preencoded.png">    </p:cNvPr>
          <p:cNvPicPr>
            <a:picLocks noChangeAspect="1"/>
          </p:cNvPicPr>
          <p:nvPr/>
        </p:nvPicPr>
        <p:blipFill>
          <a:blip r:embed="rId3"/>
          <a:stretch>
            <a:fillRect/>
          </a:stretch>
        </p:blipFill>
        <p:spPr>
          <a:xfrm>
            <a:off x="8855735" y="3730752"/>
            <a:ext cx="219456" cy="219456"/>
          </a:xfrm>
          <a:prstGeom prst="rect">
            <a:avLst/>
          </a:prstGeom>
        </p:spPr>
      </p:pic>
      <p:sp>
        <p:nvSpPr>
          <p:cNvPr id="26" name="Shape 20"/>
          <p:cNvSpPr/>
          <p:nvPr/>
        </p:nvSpPr>
        <p:spPr>
          <a:xfrm>
            <a:off x="9157487" y="2331720"/>
            <a:ext cx="2485568" cy="3017520"/>
          </a:xfrm>
          <a:prstGeom prst="roundRect">
            <a:avLst>
              <a:gd name="adj" fmla="val 3679"/>
            </a:avLst>
          </a:prstGeom>
          <a:solidFill>
            <a:srgbClr val="F2F4F6"/>
          </a:solidFill>
          <a:ln w="12700">
            <a:solidFill>
              <a:srgbClr val="F2F4F6"/>
            </a:solidFill>
            <a:prstDash val="solid"/>
          </a:ln>
        </p:spPr>
      </p:sp>
      <p:sp>
        <p:nvSpPr>
          <p:cNvPr id="27" name="Shape 21"/>
          <p:cNvSpPr/>
          <p:nvPr/>
        </p:nvSpPr>
        <p:spPr>
          <a:xfrm>
            <a:off x="9358655" y="2532888"/>
            <a:ext cx="548640" cy="548640"/>
          </a:xfrm>
          <a:prstGeom prst="ellipse">
            <a:avLst/>
          </a:prstGeom>
          <a:solidFill>
            <a:srgbClr val="D9773A"/>
          </a:solidFill>
          <a:ln w="12700">
            <a:solidFill>
              <a:srgbClr val="D9773A"/>
            </a:solidFill>
            <a:prstDash val="solid"/>
          </a:ln>
        </p:spPr>
      </p:sp>
      <p:sp>
        <p:nvSpPr>
          <p:cNvPr id="28" name="Text 22"/>
          <p:cNvSpPr txBox="1"/>
          <p:nvPr/>
        </p:nvSpPr>
        <p:spPr>
          <a:xfrm>
            <a:off x="9358655" y="253288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9" name="Text 23"/>
          <p:cNvSpPr txBox="1"/>
          <p:nvPr/>
        </p:nvSpPr>
        <p:spPr>
          <a:xfrm>
            <a:off x="9358655" y="320040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HR chốt</a:t>
            </a:r>
            <a:endParaRPr lang="en-US" sz="1700" dirty="0"/>
          </a:p>
        </p:txBody>
      </p:sp>
      <p:sp>
        <p:nvSpPr>
          <p:cNvPr id="30" name="Text 24"/>
          <p:cNvSpPr txBox="1"/>
          <p:nvPr/>
        </p:nvSpPr>
        <p:spPr>
          <a:xfrm>
            <a:off x="9358655" y="3904488"/>
            <a:ext cx="2083232" cy="1280160"/>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Chọn phương án, ghi ngày hiệu lực, người duyệt. AI đề xuất — doanh nghiệp chịu trách nhiệm pháp lý về công.</a:t>
            </a:r>
            <a:endParaRPr lang="en-US" sz="1450" dirty="0"/>
          </a:p>
        </p:txBody>
      </p:sp>
      <p:sp>
        <p:nvSpPr>
          <p:cNvPr id="31" name="Shape 25"/>
          <p:cNvSpPr/>
          <p:nvPr/>
        </p:nvSpPr>
        <p:spPr>
          <a:xfrm>
            <a:off x="548640" y="5577840"/>
            <a:ext cx="11094415" cy="685800"/>
          </a:xfrm>
          <a:prstGeom prst="roundRect">
            <a:avLst>
              <a:gd name="adj" fmla="val 10667"/>
            </a:avLst>
          </a:prstGeom>
          <a:solidFill>
            <a:srgbClr val="FBE7DA"/>
          </a:solidFill>
          <a:ln w="12700">
            <a:solidFill>
              <a:srgbClr val="FBE7DA"/>
            </a:solidFill>
            <a:prstDash val="solid"/>
          </a:ln>
        </p:spPr>
      </p:sp>
      <p:sp>
        <p:nvSpPr>
          <p:cNvPr id="32" name="Text 26"/>
          <p:cNvSpPr txBox="1"/>
          <p:nvPr/>
        </p:nvSpPr>
        <p:spPr>
          <a:xfrm>
            <a:off x="777240" y="5577840"/>
            <a:ext cx="10637215" cy="685800"/>
          </a:xfrm>
          <a:prstGeom prst="rect">
            <a:avLst/>
          </a:prstGeom>
          <a:noFill/>
          <a:ln/>
        </p:spPr>
        <p:txBody>
          <a:bodyPr wrap="square" lIns="0" tIns="0" rIns="0" bIns="0" rtlCol="0" anchor="ctr">
            <a:normAutofit/>
          </a:bodyPr>
          <a:lstStyle/>
          <a:p>
            <a:pPr indent="0" marL="0">
              <a:buNone/>
            </a:pPr>
            <a:r>
              <a:rPr lang="en-US" sz="1400" dirty="0">
                <a:solidFill>
                  <a:srgbClr val="1B2A38"/>
                </a:solidFill>
                <a:latin typeface="Calibri" pitchFamily="34" charset="0"/>
                <a:ea typeface="Calibri" pitchFamily="34" charset="-122"/>
                <a:cs typeface="Calibri" pitchFamily="34" charset="-120"/>
              </a:rPr>
              <a:t>Hệ số OT, giới hạn OT, giờ làm đêm, ngày lễ = THAM SỐ – HR xác nhận theo Bộ luật Lao động và văn bản hiện hành, ghi người và ngày xác nhận. Không để AI tự “nhớ”.</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Soi nội quy Sao Việt: 6 điểm mơ hồ thật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200545"/>
                <a:gridCol w="1008583"/>
                <a:gridCol w="4034333"/>
                <a:gridCol w="3850954"/>
              </a:tblGrid>
              <a:tr h="542109">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Điểm mơ hồ</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Điều</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Tình huống thật trong dữ liệu</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Câu hỏi cho HR (2 phương án)</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542109">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Muộn &gt; 30 phút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3.2 · 3.3</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NV0109 07/09 muộn 41’: nửa công, hay nửa công + trừ 41’?</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Thay thế hay cộng dồn? NV0109: trừ 90’ hay 237’ (ngoài 2 công)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42109">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Về sớm “tương tự”</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3.4 · 6.1</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Máy không hiểu chữ “tương tự”</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Có ngưỡng 5’, nửa công &gt; 30’, tính vào “3 lần/tháng”?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42109">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Ca qua đêm</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1.2 · 1.3</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Ca D: 8 giờ − 30’ nghỉ = 7,5 giờ, nhưng “1 công = 8 giờ”</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Gán ngày nào? 18 ca D = 18 công hay 16,875 công?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42109">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OT không đăng ký</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4.1 · 4.2</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NV0112 ở lại 86–99’ × 4 ngày (364’), có cuộc gọi, không đơn</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Không tính, hay cho bổ sung đơn? Block 30’ làm tròn lên hay xuống?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42109">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Đăng nhập là căn cứ gì?</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6.2</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NV0114 12/09 chấm công đủ ca, 0 giờ đăng nhập</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Công chỉ theo chấm công, hay phải có giải trình Trưởng ca?</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42109">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Những chỗ “im lặng”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PT (NV0111), quên quẹt lần 4, nửa ngày ca C/D, đổi ca, ngày lễ</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Mỗi chỗ một câu Hx — HR chốt, ghi ngày hiệu lực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9" name="Text 5"/>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Cạm bẫy: Claude viết “cách hiểu hợp lý nhất là…” = AI đã quyết thay HR. Yêu cầu chuyển về câu hỏi có 2 phương án.</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3.1 · Bảng quy tắc công + câu hỏi cho HR</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20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Có Bảng quy tắc công v0 — mỗi quy tắc một dòng có mã QC-xx — và danh sách câu hỏi cho HR, mỗi câu 2 phương án.</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859536"/>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noi_quy_cham_cong.md</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danh_muc_ca.csv</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Project “Vận hành &amp; Chấm công”</a:t>
            </a:r>
            <a:endParaRPr lang="en-US" sz="1050" dirty="0"/>
          </a:p>
        </p:txBody>
      </p:sp>
      <p:sp>
        <p:nvSpPr>
          <p:cNvPr id="14" name="Text 10"/>
          <p:cNvSpPr txBox="1"/>
          <p:nvPr/>
        </p:nvSpPr>
        <p:spPr>
          <a:xfrm>
            <a:off x="777240" y="5202936"/>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504688"/>
            <a:ext cx="3474720" cy="603504"/>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15–22 quy tắc + 8–12 câu hỏi cho HR. Không có con số pháp lý nào; mọi điểm mơ hồ trỏ về một câu Hx.</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Upload nội quy + danh mục ca</a:t>
            </a:r>
            <a:pPr indent="0" marL="0">
              <a:buNone/>
            </a:pPr>
            <a:r>
              <a:rPr lang="en-US" sz="1450" dirty="0">
                <a:solidFill>
                  <a:srgbClr val="1B2A38"/>
                </a:solidFill>
                <a:latin typeface="Calibri" pitchFamily="34" charset="0"/>
                <a:ea typeface="Calibri" pitchFamily="34" charset="-122"/>
                <a:cs typeface="Calibri" pitchFamily="34" charset="-120"/>
              </a:rPr>
              <a:t> — cần cột nghỉ giữa ca và qua_dem để Claude thấy ca D chỉ 7,5 giờ.</a:t>
            </a:r>
            <a:endParaRPr lang="en-US" sz="1450" dirty="0"/>
          </a:p>
        </p:txBody>
      </p:sp>
      <p:sp>
        <p:nvSpPr>
          <p:cNvPr id="19" name="Shape 15"/>
          <p:cNvSpPr/>
          <p:nvPr/>
        </p:nvSpPr>
        <p:spPr>
          <a:xfrm>
            <a:off x="4800600" y="2520696"/>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52069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474976"/>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Chạy prompt syllabus</a:t>
            </a:r>
            <a:pPr indent="0" marL="0">
              <a:buNone/>
            </a:pPr>
            <a:r>
              <a:rPr lang="en-US" sz="1450" dirty="0">
                <a:solidFill>
                  <a:srgbClr val="1B2A38"/>
                </a:solidFill>
                <a:latin typeface="Calibri" pitchFamily="34" charset="0"/>
                <a:ea typeface="Calibri" pitchFamily="34" charset="-122"/>
                <a:cs typeface="Calibri" pitchFamily="34" charset="-120"/>
              </a:rPr>
              <a:t> — ở slide sau — 3 phần tách biệt: quy tắc / chưa quy định / mơ hồ.</a:t>
            </a:r>
            <a:endParaRPr lang="en-US" sz="1450" dirty="0"/>
          </a:p>
        </p:txBody>
      </p:sp>
      <p:sp>
        <p:nvSpPr>
          <p:cNvPr id="22" name="Shape 18"/>
          <p:cNvSpPr/>
          <p:nvPr/>
        </p:nvSpPr>
        <p:spPr>
          <a:xfrm>
            <a:off x="4800600" y="3304032"/>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30403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258312"/>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Chuẩn hóa bảng</a:t>
            </a:r>
            <a:pPr indent="0" marL="0">
              <a:buNone/>
            </a:pPr>
            <a:r>
              <a:rPr lang="en-US" sz="1450" dirty="0">
                <a:solidFill>
                  <a:srgbClr val="1B2A38"/>
                </a:solidFill>
                <a:latin typeface="Calibri" pitchFamily="34" charset="0"/>
                <a:ea typeface="Calibri" pitchFamily="34" charset="-122"/>
                <a:cs typeface="Calibri" pitchFamily="34" charset="-120"/>
              </a:rPr>
              <a:t> — mã QC-01… theo nhóm; cột Loại: Tính công / Cảnh báo / Tham số; ví dụ số bằng ca thật.</a:t>
            </a:r>
            <a:endParaRPr lang="en-US" sz="1450" dirty="0"/>
          </a:p>
        </p:txBody>
      </p:sp>
      <p:sp>
        <p:nvSpPr>
          <p:cNvPr id="25" name="Shape 21"/>
          <p:cNvSpPr/>
          <p:nvPr/>
        </p:nvSpPr>
        <p:spPr>
          <a:xfrm>
            <a:off x="4800600" y="4087368"/>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08736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041648"/>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Bổ sung tình huống nội quy chưa có</a:t>
            </a:r>
            <a:pPr indent="0" marL="0">
              <a:buNone/>
            </a:pPr>
            <a:r>
              <a:rPr lang="en-US" sz="1450" dirty="0">
                <a:solidFill>
                  <a:srgbClr val="1B2A38"/>
                </a:solidFill>
                <a:latin typeface="Calibri" pitchFamily="34" charset="0"/>
                <a:ea typeface="Calibri" pitchFamily="34" charset="-122"/>
                <a:cs typeface="Calibri" pitchFamily="34" charset="-120"/>
              </a:rPr>
              <a:t> — ghép lượt quẹt, ca đêm, thiếu quẹt, không đăng nhập, OT không đơn, đơn chờ duyệt, PT.</a:t>
            </a:r>
            <a:endParaRPr lang="en-US" sz="1450" dirty="0"/>
          </a:p>
        </p:txBody>
      </p:sp>
      <p:sp>
        <p:nvSpPr>
          <p:cNvPr id="28" name="Shape 24"/>
          <p:cNvSpPr/>
          <p:nvPr/>
        </p:nvSpPr>
        <p:spPr>
          <a:xfrm>
            <a:off x="4800600" y="4870704"/>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487070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4824984"/>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Lập câu hỏi cho HR</a:t>
            </a:r>
            <a:pPr indent="0" marL="0">
              <a:buNone/>
            </a:pPr>
            <a:r>
              <a:rPr lang="en-US" sz="1450" dirty="0">
                <a:solidFill>
                  <a:srgbClr val="1B2A38"/>
                </a:solidFill>
                <a:latin typeface="Calibri" pitchFamily="34" charset="0"/>
                <a:ea typeface="Calibri" pitchFamily="34" charset="-122"/>
                <a:cs typeface="Calibri" pitchFamily="34" charset="-120"/>
              </a:rPr>
              <a:t> — Mã Hx | Điều | Câu hỏi | PA A | PA B | Hệ quả ví dụ — sắp theo ảnh hưởng tới lương.</a:t>
            </a:r>
            <a:endParaRPr lang="en-US" sz="1450" dirty="0"/>
          </a:p>
        </p:txBody>
      </p:sp>
      <p:sp>
        <p:nvSpPr>
          <p:cNvPr id="31" name="Shape 27"/>
          <p:cNvSpPr/>
          <p:nvPr/>
        </p:nvSpPr>
        <p:spPr>
          <a:xfrm>
            <a:off x="4800600" y="5654040"/>
            <a:ext cx="438912" cy="438912"/>
          </a:xfrm>
          <a:prstGeom prst="ellipse">
            <a:avLst/>
          </a:prstGeom>
          <a:solidFill>
            <a:srgbClr val="2E7D7A"/>
          </a:solidFill>
          <a:ln w="12700">
            <a:solidFill>
              <a:srgbClr val="2E7D7A"/>
            </a:solidFill>
            <a:prstDash val="solid"/>
          </a:ln>
        </p:spPr>
      </p:sp>
      <p:sp>
        <p:nvSpPr>
          <p:cNvPr id="32" name="Text 28"/>
          <p:cNvSpPr txBox="1"/>
          <p:nvPr/>
        </p:nvSpPr>
        <p:spPr>
          <a:xfrm>
            <a:off x="4800600" y="56540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3" name="Text 29"/>
          <p:cNvSpPr txBox="1"/>
          <p:nvPr/>
        </p:nvSpPr>
        <p:spPr>
          <a:xfrm>
            <a:off x="5394960" y="5608320"/>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Lưu vào Project</a:t>
            </a:r>
            <a:pPr indent="0" marL="0">
              <a:buNone/>
            </a:pPr>
            <a:r>
              <a:rPr lang="en-US" sz="1450" dirty="0">
                <a:solidFill>
                  <a:srgbClr val="1B2A38"/>
                </a:solidFill>
                <a:latin typeface="Calibri" pitchFamily="34" charset="0"/>
                <a:ea typeface="Calibri" pitchFamily="34" charset="-122"/>
                <a:cs typeface="Calibri" pitchFamily="34" charset="-120"/>
              </a:rPr>
              <a:t> — Bang_quy_tac_cong_v0; ghi vào Instructions: quy tắc “CHỜ HR” thì báo lại, không tự chọn.</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Prompt mẫu — Chuyển nội quy thành bảng quy tắc</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Tài liệu đính kèm là nội quy chấm công của Sao Việt</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(noi_quy_cham_cong.md) và danh mục ca (danh_muc_ca.csv).</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1. Liệt kê TẤT CẢ quy tắc liên quan đến tính công</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   dưới dạng bảng: Mã quy tắc | Điều kiện (Nếu...) |</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   Cách tính (Thì...) | Ví dụ số cụ thể |</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   Trích dẫn điều khoản gốc</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2. Liệt kê các tình huống thực tế trong callcenter mà</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   nội quy CHƯA quy định (ca qua đêm, quên chấm công,</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   đổi ca, nghỉ nửa ngày, OT không đăng ký...).</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3. Liệt kê các điểm mâu thuẫn hoặc mơ hồ, mỗi điểm kèm</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   2 phương án để HR chọn.</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Không tự đưa ra số liệu pháp lý; nếu cần, ghi</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"tham số – HR xác nhận".</a:t>
            </a:r>
            <a:endParaRPr lang="en-US" sz="140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viết như vậy?</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Kèm danh mục ca:</a:t>
            </a:r>
            <a:pPr indent="0" marL="0">
              <a:buNone/>
            </a:pPr>
            <a:r>
              <a:rPr lang="en-US" sz="1400" dirty="0">
                <a:solidFill>
                  <a:srgbClr val="1B2A38"/>
                </a:solidFill>
                <a:latin typeface="Calibri" pitchFamily="34" charset="0"/>
                <a:ea typeface="Calibri" pitchFamily="34" charset="-122"/>
                <a:cs typeface="Calibri" pitchFamily="34" charset="-120"/>
              </a:rPr>
              <a:t> có giờ nghỉ và cột qua đêm — ví dụ số mới đúng ca thật.</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Tách 3 phần:</a:t>
            </a:r>
            <a:pPr indent="0" marL="0">
              <a:buNone/>
            </a:pPr>
            <a:r>
              <a:rPr lang="en-US" sz="1400" dirty="0">
                <a:solidFill>
                  <a:srgbClr val="1B2A38"/>
                </a:solidFill>
                <a:latin typeface="Calibri" pitchFamily="34" charset="0"/>
                <a:ea typeface="Calibri" pitchFamily="34" charset="-122"/>
                <a:cs typeface="Calibri" pitchFamily="34" charset="-120"/>
              </a:rPr>
              <a:t> nếu gộp, Claude “giải quyết” luôn chỗ mơ hồ trong bảng.</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Trích điều khoản:</a:t>
            </a:r>
            <a:pPr indent="0" marL="0">
              <a:buNone/>
            </a:pPr>
            <a:r>
              <a:rPr lang="en-US" sz="1400" dirty="0">
                <a:solidFill>
                  <a:srgbClr val="1B2A38"/>
                </a:solidFill>
                <a:latin typeface="Calibri" pitchFamily="34" charset="0"/>
                <a:ea typeface="Calibri" pitchFamily="34" charset="-122"/>
                <a:cs typeface="Calibri" pitchFamily="34" charset="-120"/>
              </a:rPr>
              <a:t> mỗi con số công đều có địa chỉ.</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2 phương án:</a:t>
            </a:r>
            <a:pPr indent="0" marL="0">
              <a:buNone/>
            </a:pPr>
            <a:r>
              <a:rPr lang="en-US" sz="1400" dirty="0">
                <a:solidFill>
                  <a:srgbClr val="1B2A38"/>
                </a:solidFill>
                <a:latin typeface="Calibri" pitchFamily="34" charset="0"/>
                <a:ea typeface="Calibri" pitchFamily="34" charset="-122"/>
                <a:cs typeface="Calibri" pitchFamily="34" charset="-120"/>
              </a:rPr>
              <a:t> HR chỉ việc chọn, không phải viết lại từ đầu.</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Cấm số liệu pháp lý:</a:t>
            </a:r>
            <a:pPr indent="0" marL="0">
              <a:buNone/>
            </a:pPr>
            <a:r>
              <a:rPr lang="en-US" sz="1400" dirty="0">
                <a:solidFill>
                  <a:srgbClr val="1B2A38"/>
                </a:solidFill>
                <a:latin typeface="Calibri" pitchFamily="34" charset="0"/>
                <a:ea typeface="Calibri" pitchFamily="34" charset="-122"/>
                <a:cs typeface="Calibri" pitchFamily="34" charset="-120"/>
              </a:rPr>
              <a:t> tham số có người xác nhận.</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3.1 — trích 8/22 quy tắc</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604564"/>
                <a:gridCol w="2521458"/>
                <a:gridCol w="4034333"/>
                <a:gridCol w="2934060"/>
              </a:tblGrid>
              <a:tr h="421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Mã · Loại</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Nếu…</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Thì…</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Ví dụ số (dữ liệu mẫu)</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42164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QC-02 · TC*</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Máy không phân vào/ra</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Cửa sổ ca [−3h, +4h]; vào = lượt đầu, ra = lượt cuối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NV0110 08/09: 12:58:00 và 12:58:07</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2164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QC-03 · TC+CB</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Có đăng nhập, thiếu lượt quẹt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Tạm đủ công; đơn bổ sung trong 2 ngày (Điều 2.2)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NV0116 09/09 chỉ có lượt 22:06</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2164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QC-05 · TC</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Muộn 5–30 phút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Trừ theo phút (đơn giá: tham số); toàn bộ hay phần vượt 5’: H2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NV0109 09/09 vào 13:27 ca C → 27’</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2164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QC-06 · TC</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Muộn &gt; 30 phút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Nửa công — CHỜ HR – H1 (tạm: phương án A)</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NV0109 07/09 vào 13:41 → 41’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2164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QC-08 · TC*</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Ca có qua_dem = Có</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Công gán ngày bắt đầu ca; 1 công hay 7,5/8: H4</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NV0116 14/09: 21:48 → 06:11 (15/09)</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2164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QC-11 · TS</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Làm thêm giờ đã duyệt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Hệ số, giới hạn OT: tham số – HR xác nhận</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Không điền số</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2164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QC-12 · CB*</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Ở lại ≥ 30’, không có đơn OT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Không tự tính OT; cờ “Cần xác minh”; H5</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NV0112 08/09 ra 18:26 (86’)</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2164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QC-18 · CB*</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Có chấm công, không LOGIN</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Không trừ công; cờ cho Trưởng ca; H6</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NV0114 12/09 07:57–17:05</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9" name="Text 5"/>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TC = tính công · CB = cảnh báo · TS = tham số · * = đề xuất, nội quy chưa có. Bản đủ 22 quy tắc + 12 câu hỏi H1–H12: Giải pháp buổi 3.</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Kiến trúc file công: 4 sheet, 4 grain</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Shape 4"/>
          <p:cNvSpPr/>
          <p:nvPr/>
        </p:nvSpPr>
        <p:spPr>
          <a:xfrm>
            <a:off x="548640" y="1691640"/>
            <a:ext cx="2485568" cy="3657600"/>
          </a:xfrm>
          <a:prstGeom prst="roundRect">
            <a:avLst>
              <a:gd name="adj" fmla="val 3679"/>
            </a:avLst>
          </a:prstGeom>
          <a:solidFill>
            <a:srgbClr val="F2F4F6"/>
          </a:solidFill>
          <a:ln w="12700">
            <a:solidFill>
              <a:srgbClr val="F2F4F6"/>
            </a:solidFill>
            <a:prstDash val="solid"/>
          </a:ln>
        </p:spPr>
      </p:sp>
      <p:sp>
        <p:nvSpPr>
          <p:cNvPr id="8" name="Shape 5"/>
          <p:cNvSpPr/>
          <p:nvPr/>
        </p:nvSpPr>
        <p:spPr>
          <a:xfrm>
            <a:off x="749808" y="1892808"/>
            <a:ext cx="548640" cy="548640"/>
          </a:xfrm>
          <a:prstGeom prst="ellipse">
            <a:avLst/>
          </a:prstGeom>
          <a:solidFill>
            <a:srgbClr val="2B3E50"/>
          </a:solidFill>
          <a:ln w="12700">
            <a:solidFill>
              <a:srgbClr val="2B3E50"/>
            </a:solidFill>
            <a:prstDash val="solid"/>
          </a:ln>
        </p:spPr>
      </p:sp>
      <p:sp>
        <p:nvSpPr>
          <p:cNvPr id="9" name="Text 6"/>
          <p:cNvSpPr txBox="1"/>
          <p:nvPr/>
        </p:nvSpPr>
        <p:spPr>
          <a:xfrm>
            <a:off x="749808"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7"/>
          <p:cNvSpPr txBox="1"/>
          <p:nvPr/>
        </p:nvSpPr>
        <p:spPr>
          <a:xfrm>
            <a:off x="749808"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Lich_ca</a:t>
            </a:r>
            <a:endParaRPr lang="en-US" sz="1700" dirty="0"/>
          </a:p>
        </p:txBody>
      </p:sp>
      <p:sp>
        <p:nvSpPr>
          <p:cNvPr id="11" name="Text 8"/>
          <p:cNvSpPr txBox="1"/>
          <p:nvPr/>
        </p:nvSpPr>
        <p:spPr>
          <a:xfrm>
            <a:off x="749808"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b="1" dirty="0">
                <a:solidFill>
                  <a:srgbClr val="1B2A38"/>
                </a:solidFill>
                <a:latin typeface="Calibri" pitchFamily="34" charset="0"/>
                <a:ea typeface="Calibri" pitchFamily="34" charset="-122"/>
                <a:cs typeface="Calibri" pitchFamily="34" charset="-120"/>
              </a:rPr>
              <a:t>1 dòng = 1 người × 1 ngày</a:t>
            </a:r>
            <a:pPr indent="0" marL="0">
              <a:buNone/>
            </a:pPr>
            <a:r>
              <a:rPr lang="en-US" sz="1400" dirty="0">
                <a:solidFill>
                  <a:srgbClr val="1B2A38"/>
                </a:solidFill>
                <a:latin typeface="Calibri" pitchFamily="34" charset="0"/>
                <a:ea typeface="Calibri" pitchFamily="34" charset="-122"/>
                <a:cs typeface="Calibri" pitchFamily="34" charset="-120"/>
              </a:rPr>
              <a:t>, kể cả OFF</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266 dòng (19 × 14)</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Chỉ Trưởng ca sửa, khi đổi ca có duyệt</a:t>
            </a:r>
            <a:endParaRPr lang="en-US" sz="1400" dirty="0"/>
          </a:p>
        </p:txBody>
      </p:sp>
      <p:pic>
        <p:nvPicPr>
          <p:cNvPr id="12" name="Image 0" descr="preencoded.png">    </p:cNvPr>
          <p:cNvPicPr>
            <a:picLocks noChangeAspect="1"/>
          </p:cNvPicPr>
          <p:nvPr/>
        </p:nvPicPr>
        <p:blipFill>
          <a:blip r:embed="rId1"/>
          <a:stretch>
            <a:fillRect/>
          </a:stretch>
        </p:blipFill>
        <p:spPr>
          <a:xfrm>
            <a:off x="3116504" y="3410712"/>
            <a:ext cx="219456" cy="219456"/>
          </a:xfrm>
          <a:prstGeom prst="rect">
            <a:avLst/>
          </a:prstGeom>
        </p:spPr>
      </p:pic>
      <p:sp>
        <p:nvSpPr>
          <p:cNvPr id="13" name="Shape 9"/>
          <p:cNvSpPr/>
          <p:nvPr/>
        </p:nvSpPr>
        <p:spPr>
          <a:xfrm>
            <a:off x="3418256" y="1691640"/>
            <a:ext cx="2485568" cy="3657600"/>
          </a:xfrm>
          <a:prstGeom prst="roundRect">
            <a:avLst>
              <a:gd name="adj" fmla="val 3679"/>
            </a:avLst>
          </a:prstGeom>
          <a:solidFill>
            <a:srgbClr val="F2F4F6"/>
          </a:solidFill>
          <a:ln w="12700">
            <a:solidFill>
              <a:srgbClr val="F2F4F6"/>
            </a:solidFill>
            <a:prstDash val="solid"/>
          </a:ln>
        </p:spPr>
      </p:sp>
      <p:sp>
        <p:nvSpPr>
          <p:cNvPr id="14" name="Shape 10"/>
          <p:cNvSpPr/>
          <p:nvPr/>
        </p:nvSpPr>
        <p:spPr>
          <a:xfrm>
            <a:off x="3619424" y="1892808"/>
            <a:ext cx="548640" cy="548640"/>
          </a:xfrm>
          <a:prstGeom prst="ellipse">
            <a:avLst/>
          </a:prstGeom>
          <a:solidFill>
            <a:srgbClr val="2B3E50"/>
          </a:solidFill>
          <a:ln w="12700">
            <a:solidFill>
              <a:srgbClr val="2B3E50"/>
            </a:solidFill>
            <a:prstDash val="solid"/>
          </a:ln>
        </p:spPr>
      </p:sp>
      <p:sp>
        <p:nvSpPr>
          <p:cNvPr id="15" name="Text 11"/>
          <p:cNvSpPr txBox="1"/>
          <p:nvPr/>
        </p:nvSpPr>
        <p:spPr>
          <a:xfrm>
            <a:off x="3619424"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2"/>
          <p:cNvSpPr txBox="1"/>
          <p:nvPr/>
        </p:nvSpPr>
        <p:spPr>
          <a:xfrm>
            <a:off x="3619424"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Cham_cong_goc</a:t>
            </a:r>
            <a:endParaRPr lang="en-US" sz="1700" dirty="0"/>
          </a:p>
        </p:txBody>
      </p:sp>
      <p:sp>
        <p:nvSpPr>
          <p:cNvPr id="17" name="Text 13"/>
          <p:cNvSpPr txBox="1"/>
          <p:nvPr/>
        </p:nvSpPr>
        <p:spPr>
          <a:xfrm>
            <a:off x="3619424"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b="1" dirty="0">
                <a:solidFill>
                  <a:srgbClr val="1B2A38"/>
                </a:solidFill>
                <a:latin typeface="Calibri" pitchFamily="34" charset="0"/>
                <a:ea typeface="Calibri" pitchFamily="34" charset="-122"/>
                <a:cs typeface="Calibri" pitchFamily="34" charset="-120"/>
              </a:rPr>
              <a:t>1 dòng = 1 lượt đặt tay</a:t>
            </a:r>
            <a:pPr indent="0" marL="0">
              <a:buNone/>
            </a:pP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449 lượt quẹt</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KHÔNG BAO GIỜ sửa tay — là bằng chứng</a:t>
            </a:r>
            <a:endParaRPr lang="en-US" sz="1400" dirty="0"/>
          </a:p>
        </p:txBody>
      </p:sp>
      <p:pic>
        <p:nvPicPr>
          <p:cNvPr id="18" name="Image 1" descr="preencoded.png">    </p:cNvPr>
          <p:cNvPicPr>
            <a:picLocks noChangeAspect="1"/>
          </p:cNvPicPr>
          <p:nvPr/>
        </p:nvPicPr>
        <p:blipFill>
          <a:blip r:embed="rId2"/>
          <a:stretch>
            <a:fillRect/>
          </a:stretch>
        </p:blipFill>
        <p:spPr>
          <a:xfrm>
            <a:off x="5986120" y="3410712"/>
            <a:ext cx="219456" cy="219456"/>
          </a:xfrm>
          <a:prstGeom prst="rect">
            <a:avLst/>
          </a:prstGeom>
        </p:spPr>
      </p:pic>
      <p:sp>
        <p:nvSpPr>
          <p:cNvPr id="19" name="Shape 14"/>
          <p:cNvSpPr/>
          <p:nvPr/>
        </p:nvSpPr>
        <p:spPr>
          <a:xfrm>
            <a:off x="6287872" y="1691640"/>
            <a:ext cx="2485568" cy="3657600"/>
          </a:xfrm>
          <a:prstGeom prst="roundRect">
            <a:avLst>
              <a:gd name="adj" fmla="val 3679"/>
            </a:avLst>
          </a:prstGeom>
          <a:solidFill>
            <a:srgbClr val="F2F4F6"/>
          </a:solidFill>
          <a:ln w="12700">
            <a:solidFill>
              <a:srgbClr val="F2F4F6"/>
            </a:solidFill>
            <a:prstDash val="solid"/>
          </a:ln>
        </p:spPr>
      </p:sp>
      <p:sp>
        <p:nvSpPr>
          <p:cNvPr id="20" name="Shape 15"/>
          <p:cNvSpPr/>
          <p:nvPr/>
        </p:nvSpPr>
        <p:spPr>
          <a:xfrm>
            <a:off x="6489040" y="1892808"/>
            <a:ext cx="548640" cy="548640"/>
          </a:xfrm>
          <a:prstGeom prst="ellipse">
            <a:avLst/>
          </a:prstGeom>
          <a:solidFill>
            <a:srgbClr val="2B3E50"/>
          </a:solidFill>
          <a:ln w="12700">
            <a:solidFill>
              <a:srgbClr val="2B3E50"/>
            </a:solidFill>
            <a:prstDash val="solid"/>
          </a:ln>
        </p:spPr>
      </p:sp>
      <p:sp>
        <p:nvSpPr>
          <p:cNvPr id="21" name="Text 16"/>
          <p:cNvSpPr txBox="1"/>
          <p:nvPr/>
        </p:nvSpPr>
        <p:spPr>
          <a:xfrm>
            <a:off x="6489040"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2" name="Text 17"/>
          <p:cNvSpPr txBox="1"/>
          <p:nvPr/>
        </p:nvSpPr>
        <p:spPr>
          <a:xfrm>
            <a:off x="6489040"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Cong_ngay</a:t>
            </a:r>
            <a:endParaRPr lang="en-US" sz="1700" dirty="0"/>
          </a:p>
        </p:txBody>
      </p:sp>
      <p:sp>
        <p:nvSpPr>
          <p:cNvPr id="23" name="Text 18"/>
          <p:cNvSpPr txBox="1"/>
          <p:nvPr/>
        </p:nvSpPr>
        <p:spPr>
          <a:xfrm>
            <a:off x="6489040"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b="1" dirty="0">
                <a:solidFill>
                  <a:srgbClr val="1B2A38"/>
                </a:solidFill>
                <a:latin typeface="Calibri" pitchFamily="34" charset="0"/>
                <a:ea typeface="Calibri" pitchFamily="34" charset="-122"/>
                <a:cs typeface="Calibri" pitchFamily="34" charset="-120"/>
              </a:rPr>
              <a:t>1 dòng = 1 người × 1 ca được xếp</a:t>
            </a:r>
            <a:pPr indent="0" marL="0">
              <a:buNone/>
            </a:pP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220 dòng (bỏ 46 OFF)</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Tính từ lịch ca + lượt quẹt + danh mục ca + đơn</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Người chỉ điền cột Kết luận</a:t>
            </a:r>
            <a:endParaRPr lang="en-US" sz="1400" dirty="0"/>
          </a:p>
        </p:txBody>
      </p:sp>
      <p:pic>
        <p:nvPicPr>
          <p:cNvPr id="24" name="Image 2" descr="preencoded.png">    </p:cNvPr>
          <p:cNvPicPr>
            <a:picLocks noChangeAspect="1"/>
          </p:cNvPicPr>
          <p:nvPr/>
        </p:nvPicPr>
        <p:blipFill>
          <a:blip r:embed="rId3"/>
          <a:stretch>
            <a:fillRect/>
          </a:stretch>
        </p:blipFill>
        <p:spPr>
          <a:xfrm>
            <a:off x="8855735" y="3410712"/>
            <a:ext cx="219456" cy="219456"/>
          </a:xfrm>
          <a:prstGeom prst="rect">
            <a:avLst/>
          </a:prstGeom>
        </p:spPr>
      </p:pic>
      <p:sp>
        <p:nvSpPr>
          <p:cNvPr id="25" name="Shape 19"/>
          <p:cNvSpPr/>
          <p:nvPr/>
        </p:nvSpPr>
        <p:spPr>
          <a:xfrm>
            <a:off x="9157487" y="1691640"/>
            <a:ext cx="2485568" cy="3657600"/>
          </a:xfrm>
          <a:prstGeom prst="roundRect">
            <a:avLst>
              <a:gd name="adj" fmla="val 3679"/>
            </a:avLst>
          </a:prstGeom>
          <a:solidFill>
            <a:srgbClr val="F2F4F6"/>
          </a:solidFill>
          <a:ln w="12700">
            <a:solidFill>
              <a:srgbClr val="F2F4F6"/>
            </a:solidFill>
            <a:prstDash val="solid"/>
          </a:ln>
        </p:spPr>
      </p:sp>
      <p:sp>
        <p:nvSpPr>
          <p:cNvPr id="26" name="Shape 20"/>
          <p:cNvSpPr/>
          <p:nvPr/>
        </p:nvSpPr>
        <p:spPr>
          <a:xfrm>
            <a:off x="9358655" y="1892808"/>
            <a:ext cx="548640" cy="548640"/>
          </a:xfrm>
          <a:prstGeom prst="ellipse">
            <a:avLst/>
          </a:prstGeom>
          <a:solidFill>
            <a:srgbClr val="D9773A"/>
          </a:solidFill>
          <a:ln w="12700">
            <a:solidFill>
              <a:srgbClr val="D9773A"/>
            </a:solidFill>
            <a:prstDash val="solid"/>
          </a:ln>
        </p:spPr>
      </p:sp>
      <p:sp>
        <p:nvSpPr>
          <p:cNvPr id="27" name="Text 21"/>
          <p:cNvSpPr txBox="1"/>
          <p:nvPr/>
        </p:nvSpPr>
        <p:spPr>
          <a:xfrm>
            <a:off x="9358655"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8" name="Text 22"/>
          <p:cNvSpPr txBox="1"/>
          <p:nvPr/>
        </p:nvSpPr>
        <p:spPr>
          <a:xfrm>
            <a:off x="9358655"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Cong_thang</a:t>
            </a:r>
            <a:endParaRPr lang="en-US" sz="1700" dirty="0"/>
          </a:p>
        </p:txBody>
      </p:sp>
      <p:sp>
        <p:nvSpPr>
          <p:cNvPr id="29" name="Text 23"/>
          <p:cNvSpPr txBox="1"/>
          <p:nvPr/>
        </p:nvSpPr>
        <p:spPr>
          <a:xfrm>
            <a:off x="9358655"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b="1" dirty="0">
                <a:solidFill>
                  <a:srgbClr val="1B2A38"/>
                </a:solidFill>
                <a:latin typeface="Calibri" pitchFamily="34" charset="0"/>
                <a:ea typeface="Calibri" pitchFamily="34" charset="-122"/>
                <a:cs typeface="Calibri" pitchFamily="34" charset="-120"/>
              </a:rPr>
              <a:t>1 dòng = 1 người</a:t>
            </a:r>
            <a:pPr indent="0" marL="0">
              <a:buNone/>
            </a:pP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19 dòng</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COUNTIFS / SUMIFS từ Cong_ngay — không gõ tay</a:t>
            </a:r>
            <a:endParaRPr lang="en-US" sz="1400" dirty="0"/>
          </a:p>
        </p:txBody>
      </p:sp>
      <p:sp>
        <p:nvSpPr>
          <p:cNvPr id="30" name="Shape 24"/>
          <p:cNvSpPr/>
          <p:nvPr/>
        </p:nvSpPr>
        <p:spPr>
          <a:xfrm>
            <a:off x="548640" y="5577840"/>
            <a:ext cx="11094415" cy="685800"/>
          </a:xfrm>
          <a:prstGeom prst="roundRect">
            <a:avLst>
              <a:gd name="adj" fmla="val 10667"/>
            </a:avLst>
          </a:prstGeom>
          <a:solidFill>
            <a:srgbClr val="FBE7DA"/>
          </a:solidFill>
          <a:ln w="12700">
            <a:solidFill>
              <a:srgbClr val="FBE7DA"/>
            </a:solidFill>
            <a:prstDash val="solid"/>
          </a:ln>
        </p:spPr>
      </p:sp>
      <p:sp>
        <p:nvSpPr>
          <p:cNvPr id="31" name="Text 25"/>
          <p:cNvSpPr txBox="1"/>
          <p:nvPr/>
        </p:nvSpPr>
        <p:spPr>
          <a:xfrm>
            <a:off x="777240" y="5577840"/>
            <a:ext cx="10637215" cy="685800"/>
          </a:xfrm>
          <a:prstGeom prst="rect">
            <a:avLst/>
          </a:prstGeom>
          <a:noFill/>
          <a:ln/>
        </p:spPr>
        <p:txBody>
          <a:bodyPr wrap="square" lIns="0" tIns="0" rIns="0" bIns="0" rtlCol="0" anchor="ctr">
            <a:normAutofit/>
          </a:bodyPr>
          <a:lstStyle/>
          <a:p>
            <a:pPr indent="0" marL="0">
              <a:buNone/>
            </a:pPr>
            <a:r>
              <a:rPr lang="en-US" sz="1400" dirty="0">
                <a:solidFill>
                  <a:srgbClr val="1B2A38"/>
                </a:solidFill>
                <a:latin typeface="Calibri" pitchFamily="34" charset="0"/>
                <a:ea typeface="Calibri" pitchFamily="34" charset="-122"/>
                <a:cs typeface="Calibri" pitchFamily="34" charset="-120"/>
              </a:rPr>
              <a:t>Vì sao Cong_ngay xuất phát từ lịch ca, không từ lượt quẹt? Để thấy cả ca KHÔNG có lượt quẹt nào: NV0110 16/09 vắng, NV0104 10/09 nghỉ phép.</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Ghép lượt quẹt thành vào/ra: quy tắc cửa sổ ca</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Shape 4"/>
          <p:cNvSpPr/>
          <p:nvPr/>
        </p:nvSpPr>
        <p:spPr>
          <a:xfrm>
            <a:off x="548640" y="1691640"/>
            <a:ext cx="5171700" cy="4572000"/>
          </a:xfrm>
          <a:prstGeom prst="roundRect">
            <a:avLst>
              <a:gd name="adj" fmla="val 2000"/>
            </a:avLst>
          </a:prstGeom>
          <a:solidFill>
            <a:srgbClr val="DDEFEE"/>
          </a:solidFill>
          <a:ln w="12700">
            <a:solidFill>
              <a:srgbClr val="DDEFEE"/>
            </a:solidFill>
            <a:prstDash val="solid"/>
          </a:ln>
        </p:spPr>
      </p:sp>
      <p:sp>
        <p:nvSpPr>
          <p:cNvPr id="8" name="Shape 5"/>
          <p:cNvSpPr/>
          <p:nvPr/>
        </p:nvSpPr>
        <p:spPr>
          <a:xfrm>
            <a:off x="777240" y="1920240"/>
            <a:ext cx="457200" cy="45720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86968" y="2029968"/>
            <a:ext cx="237744" cy="237744"/>
          </a:xfrm>
          <a:prstGeom prst="rect">
            <a:avLst/>
          </a:prstGeom>
        </p:spPr>
      </p:pic>
      <p:sp>
        <p:nvSpPr>
          <p:cNvPr id="10" name="Text 6"/>
          <p:cNvSpPr txBox="1"/>
          <p:nvPr/>
        </p:nvSpPr>
        <p:spPr>
          <a:xfrm>
            <a:off x="1417320" y="1920240"/>
            <a:ext cx="4074420" cy="457200"/>
          </a:xfrm>
          <a:prstGeom prst="rect">
            <a:avLst/>
          </a:prstGeom>
          <a:noFill/>
          <a:ln/>
        </p:spPr>
        <p:txBody>
          <a:bodyPr wrap="square" lIns="0" tIns="0" rIns="0" bIns="0" rtlCol="0" anchor="ctr"/>
          <a:lstStyle/>
          <a:p>
            <a:pPr indent="0" marL="0">
              <a:buNone/>
            </a:pPr>
            <a:r>
              <a:rPr lang="en-US" sz="1800" b="1" dirty="0">
                <a:solidFill>
                  <a:srgbClr val="2E7D7A"/>
                </a:solidFill>
                <a:latin typeface="Calibri" pitchFamily="34" charset="0"/>
                <a:ea typeface="Calibri" pitchFamily="34" charset="-122"/>
                <a:cs typeface="Calibri" pitchFamily="34" charset="-120"/>
              </a:rPr>
              <a:t>Quy tắc 4 bước</a:t>
            </a:r>
            <a:endParaRPr lang="en-US" sz="1800" dirty="0"/>
          </a:p>
        </p:txBody>
      </p:sp>
      <p:sp>
        <p:nvSpPr>
          <p:cNvPr id="11" name="Text 7"/>
          <p:cNvSpPr txBox="1"/>
          <p:nvPr/>
        </p:nvSpPr>
        <p:spPr>
          <a:xfrm>
            <a:off x="822960" y="2560320"/>
            <a:ext cx="4623060" cy="3520440"/>
          </a:xfrm>
          <a:prstGeom prst="rect">
            <a:avLst/>
          </a:prstGeom>
          <a:noFill/>
          <a:ln/>
        </p:spPr>
        <p:txBody>
          <a:bodyPr wrap="square" lIns="0" tIns="0" rIns="0" bIns="0" rtlCol="0" anchor="t">
            <a:normAutofit/>
          </a:bodyPr>
          <a:lstStyle/>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Cửa sổ ca</a:t>
            </a:r>
            <a:pPr indent="0" marL="0">
              <a:buNone/>
            </a:pPr>
            <a:r>
              <a:rPr lang="en-US" sz="1450" dirty="0">
                <a:solidFill>
                  <a:srgbClr val="1B2A38"/>
                </a:solidFill>
                <a:latin typeface="Calibri" pitchFamily="34" charset="0"/>
                <a:ea typeface="Calibri" pitchFamily="34" charset="-122"/>
                <a:cs typeface="Calibri" pitchFamily="34" charset="-120"/>
              </a:rPr>
              <a:t> = [bắt đầu − 3 giờ, kết thúc + 4 giờ]. Ca D 14/09: 19:00 → 10:00 ngày 15/09.</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Điểm giữa ca</a:t>
            </a:r>
            <a:pPr indent="0" marL="0">
              <a:buNone/>
            </a:pPr>
            <a:r>
              <a:rPr lang="en-US" sz="1450" dirty="0">
                <a:solidFill>
                  <a:srgbClr val="1B2A38"/>
                </a:solidFill>
                <a:latin typeface="Calibri" pitchFamily="34" charset="0"/>
                <a:ea typeface="Calibri" pitchFamily="34" charset="-122"/>
                <a:cs typeface="Calibri" pitchFamily="34" charset="-120"/>
              </a:rPr>
              <a:t> = trung bình bắt đầu và kết thúc: S 12:30 · C 17:30 · D 02:00.</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Giờ vào</a:t>
            </a:r>
            <a:pPr indent="0" marL="0">
              <a:buNone/>
            </a:pPr>
            <a:r>
              <a:rPr lang="en-US" sz="1450" dirty="0">
                <a:solidFill>
                  <a:srgbClr val="1B2A38"/>
                </a:solidFill>
                <a:latin typeface="Calibri" pitchFamily="34" charset="0"/>
                <a:ea typeface="Calibri" pitchFamily="34" charset="-122"/>
                <a:cs typeface="Calibri" pitchFamily="34" charset="-120"/>
              </a:rPr>
              <a:t> = lượt quẹt ĐẦU TIÊN trong cửa sổ, trước giữa ca.</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Giờ ra</a:t>
            </a:r>
            <a:pPr indent="0" marL="0">
              <a:buNone/>
            </a:pPr>
            <a:r>
              <a:rPr lang="en-US" sz="1450" dirty="0">
                <a:solidFill>
                  <a:srgbClr val="1B2A38"/>
                </a:solidFill>
                <a:latin typeface="Calibri" pitchFamily="34" charset="0"/>
                <a:ea typeface="Calibri" pitchFamily="34" charset="-122"/>
                <a:cs typeface="Calibri" pitchFamily="34" charset="-120"/>
              </a:rPr>
              <a:t> = lượt quẹt CUỐI CÙNG trong cửa sổ, sau giữa ca.</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Sheets/Excel:</a:t>
            </a:r>
            <a:pPr indent="0" marL="0">
              <a:buNone/>
            </a:pPr>
            <a:r>
              <a:rPr lang="en-US" sz="1450" dirty="0">
                <a:solidFill>
                  <a:srgbClr val="1B2A38"/>
                </a:solidFill>
                <a:latin typeface="Calibri" pitchFamily="34" charset="0"/>
                <a:ea typeface="Calibri" pitchFamily="34" charset="-122"/>
                <a:cs typeface="Calibri" pitchFamily="34" charset="-120"/>
              </a:rPr>
              <a:t> MINIFS / MAXIFS, bọc IF(COUNTIFS(…)=0; ""; …) để ô trống khi không có lượt.</a:t>
            </a:r>
            <a:endParaRPr lang="en-US" sz="1450" dirty="0"/>
          </a:p>
        </p:txBody>
      </p:sp>
      <p:sp>
        <p:nvSpPr>
          <p:cNvPr id="12" name="Shape 8"/>
          <p:cNvSpPr/>
          <p:nvPr/>
        </p:nvSpPr>
        <p:spPr>
          <a:xfrm>
            <a:off x="6040380" y="1691640"/>
            <a:ext cx="5602675" cy="4572000"/>
          </a:xfrm>
          <a:prstGeom prst="roundRect">
            <a:avLst>
              <a:gd name="adj" fmla="val 2000"/>
            </a:avLst>
          </a:prstGeom>
          <a:solidFill>
            <a:srgbClr val="FBE7DA"/>
          </a:solidFill>
          <a:ln w="12700">
            <a:solidFill>
              <a:srgbClr val="FBE7DA"/>
            </a:solidFill>
            <a:prstDash val="solid"/>
          </a:ln>
        </p:spPr>
      </p:sp>
      <p:sp>
        <p:nvSpPr>
          <p:cNvPr id="13" name="Shape 9"/>
          <p:cNvSpPr/>
          <p:nvPr/>
        </p:nvSpPr>
        <p:spPr>
          <a:xfrm>
            <a:off x="6268980" y="1920240"/>
            <a:ext cx="457200" cy="457200"/>
          </a:xfrm>
          <a:prstGeom prst="roundRect">
            <a:avLst>
              <a:gd name="adj" fmla="val 22000"/>
            </a:avLst>
          </a:prstGeom>
          <a:solidFill>
            <a:srgbClr val="D9773A"/>
          </a:solidFill>
          <a:ln w="12700">
            <a:solidFill>
              <a:srgbClr val="D9773A"/>
            </a:solidFill>
            <a:prstDash val="solid"/>
          </a:ln>
        </p:spPr>
      </p:sp>
      <p:pic>
        <p:nvPicPr>
          <p:cNvPr id="14" name="Image 1" descr="preencoded.png">    </p:cNvPr>
          <p:cNvPicPr>
            <a:picLocks noChangeAspect="1"/>
          </p:cNvPicPr>
          <p:nvPr/>
        </p:nvPicPr>
        <p:blipFill>
          <a:blip r:embed="rId2"/>
          <a:stretch>
            <a:fillRect/>
          </a:stretch>
        </p:blipFill>
        <p:spPr>
          <a:xfrm>
            <a:off x="6378708" y="2029968"/>
            <a:ext cx="237744" cy="237744"/>
          </a:xfrm>
          <a:prstGeom prst="rect">
            <a:avLst/>
          </a:prstGeom>
        </p:spPr>
      </p:pic>
      <p:sp>
        <p:nvSpPr>
          <p:cNvPr id="15" name="Text 10"/>
          <p:cNvSpPr txBox="1"/>
          <p:nvPr/>
        </p:nvSpPr>
        <p:spPr>
          <a:xfrm>
            <a:off x="6909060" y="1920240"/>
            <a:ext cx="4505395" cy="457200"/>
          </a:xfrm>
          <a:prstGeom prst="rect">
            <a:avLst/>
          </a:prstGeom>
          <a:noFill/>
          <a:ln/>
        </p:spPr>
        <p:txBody>
          <a:bodyPr wrap="square" lIns="0" tIns="0" rIns="0" bIns="0" rtlCol="0" anchor="ctr"/>
          <a:lstStyle/>
          <a:p>
            <a:pPr indent="0" marL="0">
              <a:buNone/>
            </a:pPr>
            <a:r>
              <a:rPr lang="en-US" sz="1800" b="1" dirty="0">
                <a:solidFill>
                  <a:srgbClr val="D9773A"/>
                </a:solidFill>
                <a:latin typeface="Calibri" pitchFamily="34" charset="0"/>
                <a:ea typeface="Calibri" pitchFamily="34" charset="-122"/>
                <a:cs typeface="Calibri" pitchFamily="34" charset="-120"/>
              </a:rPr>
              <a:t>Tự xử lý ca khó — trừ một cái bẫy</a:t>
            </a:r>
            <a:endParaRPr lang="en-US" sz="1800" dirty="0"/>
          </a:p>
        </p:txBody>
      </p:sp>
      <p:sp>
        <p:nvSpPr>
          <p:cNvPr id="16" name="Text 11"/>
          <p:cNvSpPr txBox="1"/>
          <p:nvPr/>
        </p:nvSpPr>
        <p:spPr>
          <a:xfrm>
            <a:off x="6314700" y="2560320"/>
            <a:ext cx="5054035" cy="3520440"/>
          </a:xfrm>
          <a:prstGeom prst="rect">
            <a:avLst/>
          </a:prstGeom>
          <a:noFill/>
          <a:ln/>
        </p:spPr>
        <p:txBody>
          <a:bodyPr wrap="square" lIns="0" tIns="0" rIns="0" bIns="0" rtlCol="0" anchor="t">
            <a:normAutofit/>
          </a:bodyPr>
          <a:lstStyle/>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Quẹt đúp:</a:t>
            </a:r>
            <a:pPr indent="0" marL="0">
              <a:buNone/>
            </a:pPr>
            <a:r>
              <a:rPr lang="en-US" sz="1450" dirty="0">
                <a:solidFill>
                  <a:srgbClr val="1B2A38"/>
                </a:solidFill>
                <a:latin typeface="Calibri" pitchFamily="34" charset="0"/>
                <a:ea typeface="Calibri" pitchFamily="34" charset="-122"/>
                <a:cs typeface="Calibri" pitchFamily="34" charset="-120"/>
              </a:rPr>
              <a:t> NV0110 08/09 12:58:00 + 12:58:07 → lượt 2 bị “nuốt”, không xóa tay 17 lượt.</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Ca đêm:</a:t>
            </a:r>
            <a:pPr indent="0" marL="0">
              <a:buNone/>
            </a:pPr>
            <a:r>
              <a:rPr lang="en-US" sz="1450" dirty="0">
                <a:solidFill>
                  <a:srgbClr val="1B2A38"/>
                </a:solidFill>
                <a:latin typeface="Calibri" pitchFamily="34" charset="0"/>
                <a:ea typeface="Calibri" pitchFamily="34" charset="-122"/>
                <a:cs typeface="Calibri" pitchFamily="34" charset="-120"/>
              </a:rPr>
              <a:t> 06:11 sáng 15/09 thuộc ca D 14/09 của NV0116 → có mặt 7,88 h.</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Quên quẹt:</a:t>
            </a:r>
            <a:pPr indent="0" marL="0">
              <a:buNone/>
            </a:pPr>
            <a:r>
              <a:rPr lang="en-US" sz="1450" dirty="0">
                <a:solidFill>
                  <a:srgbClr val="1B2A38"/>
                </a:solidFill>
                <a:latin typeface="Calibri" pitchFamily="34" charset="0"/>
                <a:ea typeface="Calibri" pitchFamily="34" charset="-122"/>
                <a:cs typeface="Calibri" pitchFamily="34" charset="-120"/>
              </a:rPr>
              <a:t> NV0116 09/09 chỉ có 22:06 → có giờ ra, thiếu giờ vào → cờ.</a:t>
            </a:r>
            <a:endParaRPr lang="en-US" sz="1450" dirty="0"/>
          </a:p>
          <a:p>
            <a:pPr marL="228600" indent="-228600">
              <a:spcAft>
                <a:spcPts val="700"/>
              </a:spcAft>
              <a:buSzPct val="100000"/>
              <a:buChar char="•"/>
            </a:pPr>
            <a:r>
              <a:rPr lang="en-US" sz="1450" b="1" dirty="0">
                <a:solidFill>
                  <a:srgbClr val="C0392B"/>
                </a:solidFill>
                <a:latin typeface="Calibri" pitchFamily="34" charset="0"/>
                <a:ea typeface="Calibri" pitchFamily="34" charset="-122"/>
                <a:cs typeface="Calibri" pitchFamily="34" charset="-120"/>
              </a:rPr>
              <a:t>Bẫy nghỉ nửa ngày:</a:t>
            </a:r>
            <a:pPr indent="0" marL="0">
              <a:buNone/>
            </a:pPr>
            <a:r>
              <a:rPr lang="en-US" sz="1450" dirty="0">
                <a:solidFill>
                  <a:srgbClr val="1B2A38"/>
                </a:solidFill>
                <a:latin typeface="Calibri" pitchFamily="34" charset="0"/>
                <a:ea typeface="Calibri" pitchFamily="34" charset="-122"/>
                <a:cs typeface="Calibri" pitchFamily="34" charset="-120"/>
              </a:rPr>
              <a:t> NV0113 09/09 đến 12:55 (sau giữa ca 12:30) → bị hiểu “thiếu vào”. Tra đơn TRƯỚC, dời giờ bắt đầu ca.</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3.2 · File công 4 sheet: ngày &amp; tháng</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25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Đổ lượt quẹt mới vào Cham_cong_goc là Cong_ngay, Cong_thang tự cập nhật — mỗi con số lần ngược được về lượt quẹt gốc.</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1115568"/>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lich_ca_2026-09.csv (266 dòng)</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danh_muc_ca.csv (4 ca)</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cham_cong_2026-09.csv (449 lượt)</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don_phep_ot_2026-09.csv (5 đơn)</a:t>
            </a:r>
            <a:endParaRPr lang="en-US" sz="1050" dirty="0"/>
          </a:p>
        </p:txBody>
      </p:sp>
      <p:sp>
        <p:nvSpPr>
          <p:cNvPr id="14" name="Text 10"/>
          <p:cNvSpPr txBox="1"/>
          <p:nvPr/>
        </p:nvSpPr>
        <p:spPr>
          <a:xfrm>
            <a:off x="777240" y="5458968"/>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760720"/>
            <a:ext cx="3474720" cy="347472"/>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Cong_ngay 220 dòng + Cong_thang 19 dòng chạy bằng công thức — tháng sau chỉ đổ dữ liệu mới.</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Claude tính Cong_ngay bằng code</a:t>
            </a:r>
            <a:pPr indent="0" marL="0">
              <a:buNone/>
            </a:pPr>
            <a:r>
              <a:rPr lang="en-US" sz="1450" dirty="0">
                <a:solidFill>
                  <a:srgbClr val="1B2A38"/>
                </a:solidFill>
                <a:latin typeface="Calibri" pitchFamily="34" charset="0"/>
                <a:ea typeface="Calibri" pitchFamily="34" charset="-122"/>
                <a:cs typeface="Calibri" pitchFamily="34" charset="-120"/>
              </a:rPr>
              <a:t> — làm bản đối chiếu — prompt ở slide sau.</a:t>
            </a:r>
            <a:endParaRPr lang="en-US" sz="1450" dirty="0"/>
          </a:p>
        </p:txBody>
      </p:sp>
      <p:sp>
        <p:nvSpPr>
          <p:cNvPr id="19" name="Shape 15"/>
          <p:cNvSpPr/>
          <p:nvPr/>
        </p:nvSpPr>
        <p:spPr>
          <a:xfrm>
            <a:off x="4800600" y="2677363"/>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67736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63164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Đối chiếu tổng trước khi xem chi tiết</a:t>
            </a:r>
            <a:pPr indent="0" marL="0">
              <a:buNone/>
            </a:pPr>
            <a:r>
              <a:rPr lang="en-US" sz="1450" dirty="0">
                <a:solidFill>
                  <a:srgbClr val="1B2A38"/>
                </a:solidFill>
                <a:latin typeface="Calibri" pitchFamily="34" charset="0"/>
                <a:ea typeface="Calibri" pitchFamily="34" charset="-122"/>
                <a:cs typeface="Calibri" pitchFamily="34" charset="-120"/>
              </a:rPr>
              <a:t> — Cong_ngay + ngày OFF = Lich_ca? Có lượt quẹt “mồ côi”? Bao nhiêu lượt đúp bị nuốt?</a:t>
            </a:r>
            <a:endParaRPr lang="en-US" sz="1450" dirty="0"/>
          </a:p>
        </p:txBody>
      </p:sp>
      <p:sp>
        <p:nvSpPr>
          <p:cNvPr id="22" name="Shape 18"/>
          <p:cNvSpPr/>
          <p:nvPr/>
        </p:nvSpPr>
        <p:spPr>
          <a:xfrm>
            <a:off x="4800600" y="3617366"/>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61736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571646"/>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Dựng 4 sheet trong Sheets/Excel</a:t>
            </a:r>
            <a:pPr indent="0" marL="0">
              <a:buNone/>
            </a:pPr>
            <a:r>
              <a:rPr lang="en-US" sz="1450" dirty="0">
                <a:solidFill>
                  <a:srgbClr val="1B2A38"/>
                </a:solidFill>
                <a:latin typeface="Calibri" pitchFamily="34" charset="0"/>
                <a:ea typeface="Calibri" pitchFamily="34" charset="-122"/>
                <a:cs typeface="Calibri" pitchFamily="34" charset="-120"/>
              </a:rPr>
              <a:t> — import CSV, kiểm =ISNUMBER(), dán công thức cửa sổ ca, kéo hết 220 dòng.</a:t>
            </a:r>
            <a:endParaRPr lang="en-US" sz="1450" dirty="0"/>
          </a:p>
        </p:txBody>
      </p:sp>
      <p:sp>
        <p:nvSpPr>
          <p:cNvPr id="25" name="Shape 21"/>
          <p:cNvSpPr/>
          <p:nvPr/>
        </p:nvSpPr>
        <p:spPr>
          <a:xfrm>
            <a:off x="4800600" y="4557370"/>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55737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51165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Thêm cột công theo bảng quy tắc</a:t>
            </a:r>
            <a:pPr indent="0" marL="0">
              <a:buNone/>
            </a:pPr>
            <a:r>
              <a:rPr lang="en-US" sz="1450" dirty="0">
                <a:solidFill>
                  <a:srgbClr val="1B2A38"/>
                </a:solidFill>
                <a:latin typeface="Calibri" pitchFamily="34" charset="0"/>
                <a:ea typeface="Calibri" pitchFamily="34" charset="-122"/>
                <a:cs typeface="Calibri" pitchFamily="34" charset="-120"/>
              </a:rPr>
              <a:t> — quy tắc “CHỜ HR” dùng phương án tạm, ghi tên phương án ngay trên tiêu đề cột.</a:t>
            </a:r>
            <a:endParaRPr lang="en-US" sz="1450" dirty="0"/>
          </a:p>
        </p:txBody>
      </p:sp>
      <p:sp>
        <p:nvSpPr>
          <p:cNvPr id="28" name="Shape 24"/>
          <p:cNvSpPr/>
          <p:nvPr/>
        </p:nvSpPr>
        <p:spPr>
          <a:xfrm>
            <a:off x="4800600" y="5497373"/>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549737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545165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Dựng Cong_thang, so với Claude</a:t>
            </a:r>
            <a:pPr indent="0" marL="0">
              <a:buNone/>
            </a:pPr>
            <a:r>
              <a:rPr lang="en-US" sz="1450" dirty="0">
                <a:solidFill>
                  <a:srgbClr val="1B2A38"/>
                </a:solidFill>
                <a:latin typeface="Calibri" pitchFamily="34" charset="0"/>
                <a:ea typeface="Calibri" pitchFamily="34" charset="-122"/>
                <a:cs typeface="Calibri" pitchFamily="34" charset="-120"/>
              </a:rPr>
              <a:t> — COUNTIFS / SUMIFS theo ma_nv; mọi dòng lệch phải giải thích được bên nào đúng.</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Prompt mẫu — Tính bảng Cong_ngay bằng code</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Dùng Bảng quy tắc công trong Project. Tính Cong_ngay bằng code:</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Grain: 1 dòng = 1 người × 1 ngày có ca trong lich_ca</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(bỏ OFF).</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Ghép giờ ca từ danh_muc_ca; ca có qua_dem = Có thì giờ</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kết thúc thuộc ngày hôm sau, công gán ngày bắt đầu ca.</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Máy chấm công KHÔNG phân vào/ra.</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Cửa sổ ca = [bắt đầu − 3h, kết thúc + 4h].</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Giờ vào = lượt quẹt đầu tiên trong cửa sổ, trước giữa ca;</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giờ ra = lượt quẹt cuối cùng trong cửa sổ, sau giữa ca.</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Cột: ma_nv, ngay, ca, vao, ra, phut_muon, phut_ve_som,</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phut_sau_ca, gio_co_mat (= ra − vào − nghỉ giữa ca),</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don (loại + trạng thái duyệt từ don_phep_ot), ghi_chu.</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ghi_chu ghi rõ: "thiếu quẹt vào", "thiếu quẹt ra",</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"vắng – không có lượt quẹt", "có đơn ... (trạng thái)".</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Xuất Cong_ngay.csv. Báo: tổng số dòng, số dòng mỗi loại ca,</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số dòng có ghi chú.</a:t>
            </a:r>
            <a:endParaRPr lang="en-US" sz="125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viết như vậy?</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Grain từ lịch ca:</a:t>
            </a:r>
            <a:pPr indent="0" marL="0">
              <a:buNone/>
            </a:pPr>
            <a:r>
              <a:rPr lang="en-US" sz="1400" dirty="0">
                <a:solidFill>
                  <a:srgbClr val="1B2A38"/>
                </a:solidFill>
                <a:latin typeface="Calibri" pitchFamily="34" charset="0"/>
                <a:ea typeface="Calibri" pitchFamily="34" charset="-122"/>
                <a:cs typeface="Calibri" pitchFamily="34" charset="-120"/>
              </a:rPr>
              <a:t> thấy cả ca vắng, ca nghỉ phép.</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Nhắc lại cửa sổ ca:</a:t>
            </a:r>
            <a:pPr indent="0" marL="0">
              <a:buNone/>
            </a:pPr>
            <a:r>
              <a:rPr lang="en-US" sz="1400" dirty="0">
                <a:solidFill>
                  <a:srgbClr val="1B2A38"/>
                </a:solidFill>
                <a:latin typeface="Calibri" pitchFamily="34" charset="0"/>
                <a:ea typeface="Calibri" pitchFamily="34" charset="-122"/>
                <a:cs typeface="Calibri" pitchFamily="34" charset="-120"/>
              </a:rPr>
              <a:t> Claude hay “đơn giản hóa” thành lượt 1 = vào, lượt 2 = ra.</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Ca đêm gán ngày bắt đầu:</a:t>
            </a:r>
            <a:pPr indent="0" marL="0">
              <a:buNone/>
            </a:pPr>
            <a:r>
              <a:rPr lang="en-US" sz="1400" dirty="0">
                <a:solidFill>
                  <a:srgbClr val="1B2A38"/>
                </a:solidFill>
                <a:latin typeface="Calibri" pitchFamily="34" charset="0"/>
                <a:ea typeface="Calibri" pitchFamily="34" charset="-122"/>
                <a:cs typeface="Calibri" pitchFamily="34" charset="-120"/>
              </a:rPr>
              <a:t> khớp với lịch ca.</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ghi_chu bắt buộc:</a:t>
            </a:r>
            <a:pPr indent="0" marL="0">
              <a:buNone/>
            </a:pPr>
            <a:r>
              <a:rPr lang="en-US" sz="1400" dirty="0">
                <a:solidFill>
                  <a:srgbClr val="1B2A38"/>
                </a:solidFill>
                <a:latin typeface="Calibri" pitchFamily="34" charset="0"/>
                <a:ea typeface="Calibri" pitchFamily="34" charset="-122"/>
                <a:cs typeface="Calibri" pitchFamily="34" charset="-120"/>
              </a:rPr>
              <a:t> mọi ô vào/ra trống đều có lý do.</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Báo số dòng:</a:t>
            </a:r>
            <a:pPr indent="0" marL="0">
              <a:buNone/>
            </a:pPr>
            <a:r>
              <a:rPr lang="en-US" sz="1400" dirty="0">
                <a:solidFill>
                  <a:srgbClr val="1B2A38"/>
                </a:solidFill>
                <a:latin typeface="Calibri" pitchFamily="34" charset="0"/>
                <a:ea typeface="Calibri" pitchFamily="34" charset="-122"/>
                <a:cs typeface="Calibri" pitchFamily="34" charset="-120"/>
              </a:rPr>
              <a:t> để đối chiếu 220 + 46 = 266.</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3.2 — file công khớp tổng</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So với lời giải tham chiếu: lệch vài phút do cách cắt cửa sổ ca là bình thường — lệch số dòng thì không.</a:t>
            </a:r>
            <a:endParaRPr lang="en-US" sz="1600" dirty="0"/>
          </a:p>
        </p:txBody>
      </p:sp>
      <p:sp>
        <p:nvSpPr>
          <p:cNvPr id="8" name="Shape 5"/>
          <p:cNvSpPr/>
          <p:nvPr/>
        </p:nvSpPr>
        <p:spPr>
          <a:xfrm>
            <a:off x="548640" y="2286000"/>
            <a:ext cx="2567864" cy="3200400"/>
          </a:xfrm>
          <a:prstGeom prst="roundRect">
            <a:avLst>
              <a:gd name="adj" fmla="val 3561"/>
            </a:avLst>
          </a:prstGeom>
          <a:solidFill>
            <a:srgbClr val="F2F4F6"/>
          </a:solidFill>
          <a:ln w="12700">
            <a:solidFill>
              <a:srgbClr val="F2F4F6"/>
            </a:solidFill>
            <a:prstDash val="solid"/>
          </a:ln>
        </p:spPr>
      </p:sp>
      <p:sp>
        <p:nvSpPr>
          <p:cNvPr id="9" name="Text 6"/>
          <p:cNvSpPr txBox="1"/>
          <p:nvPr/>
        </p:nvSpPr>
        <p:spPr>
          <a:xfrm>
            <a:off x="777240" y="2468880"/>
            <a:ext cx="2110664" cy="1005840"/>
          </a:xfrm>
          <a:prstGeom prst="rect">
            <a:avLst/>
          </a:prstGeom>
          <a:noFill/>
          <a:ln/>
        </p:spPr>
        <p:txBody>
          <a:bodyPr wrap="square" lIns="0" tIns="0" rIns="0" bIns="0" rtlCol="0" anchor="ctr"/>
          <a:lstStyle/>
          <a:p>
            <a:pPr indent="0" marL="0">
              <a:buNone/>
            </a:pPr>
            <a:r>
              <a:rPr lang="en-US" sz="4400" b="1" dirty="0">
                <a:solidFill>
                  <a:srgbClr val="D9773A"/>
                </a:solidFill>
                <a:latin typeface="Cambria" pitchFamily="34" charset="0"/>
                <a:ea typeface="Cambria" pitchFamily="34" charset="-122"/>
                <a:cs typeface="Cambria" pitchFamily="34" charset="-120"/>
              </a:rPr>
              <a:t>220</a:t>
            </a:r>
            <a:endParaRPr lang="en-US" sz="4400" dirty="0"/>
          </a:p>
        </p:txBody>
      </p:sp>
      <p:sp>
        <p:nvSpPr>
          <p:cNvPr id="10" name="Text 7"/>
          <p:cNvSpPr txBox="1"/>
          <p:nvPr/>
        </p:nvSpPr>
        <p:spPr>
          <a:xfrm>
            <a:off x="777240"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dòng Cong_ngay</a:t>
            </a:r>
            <a:endParaRPr lang="en-US" sz="1550" dirty="0"/>
          </a:p>
        </p:txBody>
      </p:sp>
      <p:sp>
        <p:nvSpPr>
          <p:cNvPr id="11" name="Text 8"/>
          <p:cNvSpPr txBox="1"/>
          <p:nvPr/>
        </p:nvSpPr>
        <p:spPr>
          <a:xfrm>
            <a:off x="777240"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S 96 · C 96 · D 18 · PT 10. Cộng 46 ngày OFF = 266 = số dòng Lich_ca. 6 dòng trống vào/ra đều có ghi chú.</a:t>
            </a:r>
            <a:endParaRPr lang="en-US" sz="1250" dirty="0"/>
          </a:p>
        </p:txBody>
      </p:sp>
      <p:sp>
        <p:nvSpPr>
          <p:cNvPr id="12" name="Shape 9"/>
          <p:cNvSpPr/>
          <p:nvPr/>
        </p:nvSpPr>
        <p:spPr>
          <a:xfrm>
            <a:off x="3390824" y="2286000"/>
            <a:ext cx="2567864" cy="3200400"/>
          </a:xfrm>
          <a:prstGeom prst="roundRect">
            <a:avLst>
              <a:gd name="adj" fmla="val 3561"/>
            </a:avLst>
          </a:prstGeom>
          <a:solidFill>
            <a:srgbClr val="DDEFEE"/>
          </a:solidFill>
          <a:ln w="12700">
            <a:solidFill>
              <a:srgbClr val="DDEFEE"/>
            </a:solidFill>
            <a:prstDash val="solid"/>
          </a:ln>
        </p:spPr>
      </p:sp>
      <p:sp>
        <p:nvSpPr>
          <p:cNvPr id="13" name="Text 10"/>
          <p:cNvSpPr txBox="1"/>
          <p:nvPr/>
        </p:nvSpPr>
        <p:spPr>
          <a:xfrm>
            <a:off x="3619424" y="2468880"/>
            <a:ext cx="2110664" cy="1005840"/>
          </a:xfrm>
          <a:prstGeom prst="rect">
            <a:avLst/>
          </a:prstGeom>
          <a:noFill/>
          <a:ln/>
        </p:spPr>
        <p:txBody>
          <a:bodyPr wrap="square" lIns="0" tIns="0" rIns="0" bIns="0" rtlCol="0" anchor="ctr"/>
          <a:lstStyle/>
          <a:p>
            <a:pPr indent="0" marL="0">
              <a:buNone/>
            </a:pPr>
            <a:r>
              <a:rPr lang="en-US" sz="4400" b="1" dirty="0">
                <a:solidFill>
                  <a:srgbClr val="2E7D7A"/>
                </a:solidFill>
                <a:latin typeface="Cambria" pitchFamily="34" charset="0"/>
                <a:ea typeface="Cambria" pitchFamily="34" charset="-122"/>
                <a:cs typeface="Cambria" pitchFamily="34" charset="-120"/>
              </a:rPr>
              <a:t>17</a:t>
            </a:r>
            <a:endParaRPr lang="en-US" sz="4400" dirty="0"/>
          </a:p>
        </p:txBody>
      </p:sp>
      <p:sp>
        <p:nvSpPr>
          <p:cNvPr id="14" name="Text 11"/>
          <p:cNvSpPr txBox="1"/>
          <p:nvPr/>
        </p:nvSpPr>
        <p:spPr>
          <a:xfrm>
            <a:off x="3619424"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lượt quẹt đúp bị “nuốt”</a:t>
            </a:r>
            <a:endParaRPr lang="en-US" sz="1550" dirty="0"/>
          </a:p>
        </p:txBody>
      </p:sp>
      <p:sp>
        <p:nvSpPr>
          <p:cNvPr id="15" name="Text 12"/>
          <p:cNvSpPr txBox="1"/>
          <p:nvPr/>
        </p:nvSpPr>
        <p:spPr>
          <a:xfrm>
            <a:off x="3619424"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Không ca nào “làm vài giây”. 18 ca D đều gán ngày bắt đầu ca.</a:t>
            </a:r>
            <a:endParaRPr lang="en-US" sz="1250" dirty="0"/>
          </a:p>
        </p:txBody>
      </p:sp>
      <p:sp>
        <p:nvSpPr>
          <p:cNvPr id="16" name="Shape 13"/>
          <p:cNvSpPr/>
          <p:nvPr/>
        </p:nvSpPr>
        <p:spPr>
          <a:xfrm>
            <a:off x="6233008" y="2286000"/>
            <a:ext cx="2567864" cy="3200400"/>
          </a:xfrm>
          <a:prstGeom prst="roundRect">
            <a:avLst>
              <a:gd name="adj" fmla="val 3561"/>
            </a:avLst>
          </a:prstGeom>
          <a:solidFill>
            <a:srgbClr val="FBE7DA"/>
          </a:solidFill>
          <a:ln w="12700">
            <a:solidFill>
              <a:srgbClr val="FBE7DA"/>
            </a:solidFill>
            <a:prstDash val="solid"/>
          </a:ln>
        </p:spPr>
      </p:sp>
      <p:sp>
        <p:nvSpPr>
          <p:cNvPr id="17" name="Text 14"/>
          <p:cNvSpPr txBox="1"/>
          <p:nvPr/>
        </p:nvSpPr>
        <p:spPr>
          <a:xfrm>
            <a:off x="6461608" y="2468880"/>
            <a:ext cx="2110664" cy="1005840"/>
          </a:xfrm>
          <a:prstGeom prst="rect">
            <a:avLst/>
          </a:prstGeom>
          <a:noFill/>
          <a:ln/>
        </p:spPr>
        <p:txBody>
          <a:bodyPr wrap="square" lIns="0" tIns="0" rIns="0" bIns="0" rtlCol="0" anchor="ctr"/>
          <a:lstStyle/>
          <a:p>
            <a:pPr indent="0" marL="0">
              <a:buNone/>
            </a:pPr>
            <a:r>
              <a:rPr lang="en-US" sz="4400" b="1" dirty="0">
                <a:solidFill>
                  <a:srgbClr val="D9773A"/>
                </a:solidFill>
                <a:latin typeface="Cambria" pitchFamily="34" charset="0"/>
                <a:ea typeface="Cambria" pitchFamily="34" charset="-122"/>
                <a:cs typeface="Cambria" pitchFamily="34" charset="-120"/>
              </a:rPr>
              <a:t>237’</a:t>
            </a:r>
            <a:endParaRPr lang="en-US" sz="4400" dirty="0"/>
          </a:p>
        </p:txBody>
      </p:sp>
      <p:sp>
        <p:nvSpPr>
          <p:cNvPr id="18" name="Text 15"/>
          <p:cNvSpPr txBox="1"/>
          <p:nvPr/>
        </p:nvSpPr>
        <p:spPr>
          <a:xfrm>
            <a:off x="6461608"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NV0109: 8 lần muộn ≥ 5’</a:t>
            </a:r>
            <a:endParaRPr lang="en-US" sz="1550" dirty="0"/>
          </a:p>
        </p:txBody>
      </p:sp>
      <p:sp>
        <p:nvSpPr>
          <p:cNvPr id="19" name="Text 16"/>
          <p:cNvSpPr txBox="1"/>
          <p:nvPr/>
        </p:nvSpPr>
        <p:spPr>
          <a:xfrm>
            <a:off x="6461608"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15–41 phút; 4 lần &gt; 30’ → QC-06, chờ HR chốt H1.</a:t>
            </a:r>
            <a:endParaRPr lang="en-US" sz="1250" dirty="0"/>
          </a:p>
        </p:txBody>
      </p:sp>
      <p:sp>
        <p:nvSpPr>
          <p:cNvPr id="20" name="Shape 17"/>
          <p:cNvSpPr/>
          <p:nvPr/>
        </p:nvSpPr>
        <p:spPr>
          <a:xfrm>
            <a:off x="9075191" y="2286000"/>
            <a:ext cx="2567864" cy="3200400"/>
          </a:xfrm>
          <a:prstGeom prst="roundRect">
            <a:avLst>
              <a:gd name="adj" fmla="val 3561"/>
            </a:avLst>
          </a:prstGeom>
          <a:solidFill>
            <a:srgbClr val="DDF1E5"/>
          </a:solidFill>
          <a:ln w="12700">
            <a:solidFill>
              <a:srgbClr val="DDF1E5"/>
            </a:solidFill>
            <a:prstDash val="solid"/>
          </a:ln>
        </p:spPr>
      </p:sp>
      <p:sp>
        <p:nvSpPr>
          <p:cNvPr id="21" name="Text 18"/>
          <p:cNvSpPr txBox="1"/>
          <p:nvPr/>
        </p:nvSpPr>
        <p:spPr>
          <a:xfrm>
            <a:off x="9303791" y="2468880"/>
            <a:ext cx="2110664" cy="1005840"/>
          </a:xfrm>
          <a:prstGeom prst="rect">
            <a:avLst/>
          </a:prstGeom>
          <a:noFill/>
          <a:ln/>
        </p:spPr>
        <p:txBody>
          <a:bodyPr wrap="square" lIns="0" tIns="0" rIns="0" bIns="0" rtlCol="0" anchor="ctr"/>
          <a:lstStyle/>
          <a:p>
            <a:pPr indent="0" marL="0">
              <a:buNone/>
            </a:pPr>
            <a:r>
              <a:rPr lang="en-US" sz="4400" b="1" dirty="0">
                <a:solidFill>
                  <a:srgbClr val="2E8B57"/>
                </a:solidFill>
                <a:latin typeface="Cambria" pitchFamily="34" charset="0"/>
                <a:ea typeface="Cambria" pitchFamily="34" charset="-122"/>
                <a:cs typeface="Cambria" pitchFamily="34" charset="-120"/>
              </a:rPr>
              <a:t>209,5</a:t>
            </a:r>
            <a:endParaRPr lang="en-US" sz="4400" dirty="0"/>
          </a:p>
        </p:txBody>
      </p:sp>
      <p:sp>
        <p:nvSpPr>
          <p:cNvPr id="22" name="Text 19"/>
          <p:cNvSpPr txBox="1"/>
          <p:nvPr/>
        </p:nvSpPr>
        <p:spPr>
          <a:xfrm>
            <a:off x="9303791"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công sau QC-06 (phương án tạm A)</a:t>
            </a:r>
            <a:endParaRPr lang="en-US" sz="1550" dirty="0"/>
          </a:p>
        </p:txBody>
      </p:sp>
      <p:sp>
        <p:nvSpPr>
          <p:cNvPr id="23" name="Text 20"/>
          <p:cNvSpPr txBox="1"/>
          <p:nvPr/>
        </p:nvSpPr>
        <p:spPr>
          <a:xfrm>
            <a:off x="9303791"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211,5 công làm − 2 công (4 lần muộn &gt; 30’). 5 công trong đó là 10 ca PT.</a:t>
            </a:r>
            <a:endParaRPr lang="en-US" sz="1250" dirty="0"/>
          </a:p>
        </p:txBody>
      </p:sp>
      <p:sp>
        <p:nvSpPr>
          <p:cNvPr id="24" name="Shape 21"/>
          <p:cNvSpPr/>
          <p:nvPr/>
        </p:nvSpPr>
        <p:spPr>
          <a:xfrm>
            <a:off x="548640" y="5669280"/>
            <a:ext cx="11094415" cy="594360"/>
          </a:xfrm>
          <a:prstGeom prst="roundRect">
            <a:avLst>
              <a:gd name="adj" fmla="val 12308"/>
            </a:avLst>
          </a:prstGeom>
          <a:solidFill>
            <a:srgbClr val="F2F4F6"/>
          </a:solidFill>
          <a:ln w="12700">
            <a:solidFill>
              <a:srgbClr val="F2F4F6"/>
            </a:solidFill>
            <a:prstDash val="solid"/>
          </a:ln>
        </p:spPr>
      </p:sp>
      <p:sp>
        <p:nvSpPr>
          <p:cNvPr id="25" name="Text 22"/>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Đối chiếu tổng: 210 ca toàn thời gian = 206,5 công làm + 1,5 công phép + 1 vắng không phép + 1 chờ duyệt. Lệch 1 dòng → tìm ra trước khi chốt.</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Đọc kết quả đối soát: 4 loại kết luận</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Thứ tự kiểm tra: có đơn? → lỗi dữ liệu? → quy tắc áp đúng chưa? → lúc đó mới xét vi phạm.</a:t>
            </a:r>
            <a:endParaRPr lang="en-US" sz="1600" dirty="0"/>
          </a:p>
        </p:txBody>
      </p:sp>
      <p:sp>
        <p:nvSpPr>
          <p:cNvPr id="8" name="Shape 5"/>
          <p:cNvSpPr/>
          <p:nvPr/>
        </p:nvSpPr>
        <p:spPr>
          <a:xfrm>
            <a:off x="548640" y="2240280"/>
            <a:ext cx="5410048" cy="1874520"/>
          </a:xfrm>
          <a:prstGeom prst="roundRect">
            <a:avLst>
              <a:gd name="adj" fmla="val 4878"/>
            </a:avLst>
          </a:prstGeom>
          <a:solidFill>
            <a:srgbClr val="F2F4F6"/>
          </a:solidFill>
          <a:ln w="12700">
            <a:solidFill>
              <a:srgbClr val="F2F4F6"/>
            </a:solidFill>
            <a:prstDash val="solid"/>
          </a:ln>
        </p:spPr>
      </p:sp>
      <p:sp>
        <p:nvSpPr>
          <p:cNvPr id="9" name="Shape 6"/>
          <p:cNvSpPr/>
          <p:nvPr/>
        </p:nvSpPr>
        <p:spPr>
          <a:xfrm>
            <a:off x="777240" y="2468880"/>
            <a:ext cx="457200" cy="457200"/>
          </a:xfrm>
          <a:prstGeom prst="roundRect">
            <a:avLst>
              <a:gd name="adj" fmla="val 22000"/>
            </a:avLst>
          </a:prstGeom>
          <a:solidFill>
            <a:srgbClr val="2B3E50"/>
          </a:solidFill>
          <a:ln w="12700">
            <a:solidFill>
              <a:srgbClr val="2B3E50"/>
            </a:solidFill>
            <a:prstDash val="solid"/>
          </a:ln>
        </p:spPr>
      </p:sp>
      <p:pic>
        <p:nvPicPr>
          <p:cNvPr id="10" name="Image 0" descr="preencoded.png">    </p:cNvPr>
          <p:cNvPicPr>
            <a:picLocks noChangeAspect="1"/>
          </p:cNvPicPr>
          <p:nvPr/>
        </p:nvPicPr>
        <p:blipFill>
          <a:blip r:embed="rId1"/>
          <a:stretch>
            <a:fillRect/>
          </a:stretch>
        </p:blipFill>
        <p:spPr>
          <a:xfrm>
            <a:off x="886968" y="2578608"/>
            <a:ext cx="237744" cy="237744"/>
          </a:xfrm>
          <a:prstGeom prst="rect">
            <a:avLst/>
          </a:prstGeom>
        </p:spPr>
      </p:pic>
      <p:sp>
        <p:nvSpPr>
          <p:cNvPr id="11" name="Text 7"/>
          <p:cNvSpPr txBox="1"/>
          <p:nvPr/>
        </p:nvSpPr>
        <p:spPr>
          <a:xfrm>
            <a:off x="1417320" y="2468880"/>
            <a:ext cx="4312768" cy="45720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Lỗi dữ liệu</a:t>
            </a:r>
            <a:endParaRPr lang="en-US" sz="1800" dirty="0"/>
          </a:p>
        </p:txBody>
      </p:sp>
      <p:sp>
        <p:nvSpPr>
          <p:cNvPr id="12" name="Text 8"/>
          <p:cNvSpPr txBox="1"/>
          <p:nvPr/>
        </p:nvSpPr>
        <p:spPr>
          <a:xfrm>
            <a:off x="777240" y="3090672"/>
            <a:ext cx="4952848" cy="86868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Hệ thống ghi thiếu/sai, thực tế không có vấn đề</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NV0116 09/09: đăng nhập đủ ca, thiếu quẹt vào</a:t>
            </a:r>
            <a:endParaRPr lang="en-US" sz="1400" dirty="0"/>
          </a:p>
          <a:p>
            <a:pPr marL="228600" indent="-228600">
              <a:spcAft>
                <a:spcPts val="500"/>
              </a:spcAft>
              <a:buSzPct val="100000"/>
              <a:buChar char="•"/>
            </a:pPr>
            <a:r>
              <a:rPr lang="en-US" sz="1400" b="1" dirty="0">
                <a:solidFill>
                  <a:srgbClr val="1B2A38"/>
                </a:solidFill>
                <a:latin typeface="Calibri" pitchFamily="34" charset="0"/>
                <a:ea typeface="Calibri" pitchFamily="34" charset="-122"/>
                <a:cs typeface="Calibri" pitchFamily="34" charset="-120"/>
              </a:rPr>
              <a:t>Làm gì:</a:t>
            </a:r>
            <a:pPr indent="0" marL="0">
              <a:buNone/>
            </a:pPr>
            <a:r>
              <a:rPr lang="en-US" sz="1400" dirty="0">
                <a:solidFill>
                  <a:srgbClr val="1B2A38"/>
                </a:solidFill>
                <a:latin typeface="Calibri" pitchFamily="34" charset="0"/>
                <a:ea typeface="Calibri" pitchFamily="34" charset="-122"/>
                <a:cs typeface="Calibri" pitchFamily="34" charset="-120"/>
              </a:rPr>
              <a:t> đơn bổ sung (Điều 2.2), không phạt</a:t>
            </a:r>
            <a:endParaRPr lang="en-US" sz="1400" dirty="0"/>
          </a:p>
        </p:txBody>
      </p:sp>
      <p:sp>
        <p:nvSpPr>
          <p:cNvPr id="13" name="Shape 9"/>
          <p:cNvSpPr/>
          <p:nvPr/>
        </p:nvSpPr>
        <p:spPr>
          <a:xfrm>
            <a:off x="6233008" y="2240280"/>
            <a:ext cx="5410048" cy="1874520"/>
          </a:xfrm>
          <a:prstGeom prst="roundRect">
            <a:avLst>
              <a:gd name="adj" fmla="val 4878"/>
            </a:avLst>
          </a:prstGeom>
          <a:solidFill>
            <a:srgbClr val="DDF1E5"/>
          </a:solidFill>
          <a:ln w="12700">
            <a:solidFill>
              <a:srgbClr val="DDF1E5"/>
            </a:solidFill>
            <a:prstDash val="solid"/>
          </a:ln>
        </p:spPr>
      </p:sp>
      <p:sp>
        <p:nvSpPr>
          <p:cNvPr id="14" name="Shape 10"/>
          <p:cNvSpPr/>
          <p:nvPr/>
        </p:nvSpPr>
        <p:spPr>
          <a:xfrm>
            <a:off x="6461608" y="2468880"/>
            <a:ext cx="457200" cy="457200"/>
          </a:xfrm>
          <a:prstGeom prst="roundRect">
            <a:avLst>
              <a:gd name="adj" fmla="val 22000"/>
            </a:avLst>
          </a:prstGeom>
          <a:solidFill>
            <a:srgbClr val="2E8B57"/>
          </a:solidFill>
          <a:ln w="12700">
            <a:solidFill>
              <a:srgbClr val="2E8B57"/>
            </a:solidFill>
            <a:prstDash val="solid"/>
          </a:ln>
        </p:spPr>
      </p:sp>
      <p:pic>
        <p:nvPicPr>
          <p:cNvPr id="15" name="Image 1" descr="preencoded.png">    </p:cNvPr>
          <p:cNvPicPr>
            <a:picLocks noChangeAspect="1"/>
          </p:cNvPicPr>
          <p:nvPr/>
        </p:nvPicPr>
        <p:blipFill>
          <a:blip r:embed="rId2"/>
          <a:stretch>
            <a:fillRect/>
          </a:stretch>
        </p:blipFill>
        <p:spPr>
          <a:xfrm>
            <a:off x="6571336" y="2578608"/>
            <a:ext cx="237744" cy="237744"/>
          </a:xfrm>
          <a:prstGeom prst="rect">
            <a:avLst/>
          </a:prstGeom>
        </p:spPr>
      </p:pic>
      <p:sp>
        <p:nvSpPr>
          <p:cNvPr id="16" name="Text 11"/>
          <p:cNvSpPr txBox="1"/>
          <p:nvPr/>
        </p:nvSpPr>
        <p:spPr>
          <a:xfrm>
            <a:off x="7101688" y="2468880"/>
            <a:ext cx="4312768" cy="45720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Hợp lệ (có đơn / có lý do)</a:t>
            </a:r>
            <a:endParaRPr lang="en-US" sz="1800" dirty="0"/>
          </a:p>
        </p:txBody>
      </p:sp>
      <p:sp>
        <p:nvSpPr>
          <p:cNvPr id="17" name="Text 12"/>
          <p:cNvSpPr txBox="1"/>
          <p:nvPr/>
        </p:nvSpPr>
        <p:spPr>
          <a:xfrm>
            <a:off x="6461608" y="3090672"/>
            <a:ext cx="4952848" cy="86868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Bất thường nhưng đã duyệt hoặc giải thích được</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NV0104 10/09 phép · NV0102 11/09 OT 2h đã duyệt</a:t>
            </a:r>
            <a:endParaRPr lang="en-US" sz="1400" dirty="0"/>
          </a:p>
          <a:p>
            <a:pPr marL="228600" indent="-228600">
              <a:spcAft>
                <a:spcPts val="500"/>
              </a:spcAft>
              <a:buSzPct val="100000"/>
              <a:buChar char="•"/>
            </a:pPr>
            <a:r>
              <a:rPr lang="en-US" sz="1400" b="1" dirty="0">
                <a:solidFill>
                  <a:srgbClr val="1B2A38"/>
                </a:solidFill>
                <a:latin typeface="Calibri" pitchFamily="34" charset="0"/>
                <a:ea typeface="Calibri" pitchFamily="34" charset="-122"/>
                <a:cs typeface="Calibri" pitchFamily="34" charset="-120"/>
              </a:rPr>
              <a:t>Làm gì:</a:t>
            </a:r>
            <a:pPr indent="0" marL="0">
              <a:buNone/>
            </a:pPr>
            <a:r>
              <a:rPr lang="en-US" sz="1400" dirty="0">
                <a:solidFill>
                  <a:srgbClr val="1B2A38"/>
                </a:solidFill>
                <a:latin typeface="Calibri" pitchFamily="34" charset="0"/>
                <a:ea typeface="Calibri" pitchFamily="34" charset="-122"/>
                <a:cs typeface="Calibri" pitchFamily="34" charset="-120"/>
              </a:rPr>
              <a:t> đóng cờ, ghi số đơn</a:t>
            </a:r>
            <a:endParaRPr lang="en-US" sz="1400" dirty="0"/>
          </a:p>
        </p:txBody>
      </p:sp>
      <p:sp>
        <p:nvSpPr>
          <p:cNvPr id="18" name="Shape 13"/>
          <p:cNvSpPr/>
          <p:nvPr/>
        </p:nvSpPr>
        <p:spPr>
          <a:xfrm>
            <a:off x="548640" y="4389120"/>
            <a:ext cx="5410048" cy="1874520"/>
          </a:xfrm>
          <a:prstGeom prst="roundRect">
            <a:avLst>
              <a:gd name="adj" fmla="val 4878"/>
            </a:avLst>
          </a:prstGeom>
          <a:solidFill>
            <a:srgbClr val="F8E1DE"/>
          </a:solidFill>
          <a:ln w="12700">
            <a:solidFill>
              <a:srgbClr val="F8E1DE"/>
            </a:solidFill>
            <a:prstDash val="solid"/>
          </a:ln>
        </p:spPr>
      </p:sp>
      <p:sp>
        <p:nvSpPr>
          <p:cNvPr id="19" name="Shape 14"/>
          <p:cNvSpPr/>
          <p:nvPr/>
        </p:nvSpPr>
        <p:spPr>
          <a:xfrm>
            <a:off x="777240" y="4617720"/>
            <a:ext cx="457200" cy="457200"/>
          </a:xfrm>
          <a:prstGeom prst="roundRect">
            <a:avLst>
              <a:gd name="adj" fmla="val 22000"/>
            </a:avLst>
          </a:prstGeom>
          <a:solidFill>
            <a:srgbClr val="C0392B"/>
          </a:solidFill>
          <a:ln w="12700">
            <a:solidFill>
              <a:srgbClr val="C0392B"/>
            </a:solidFill>
            <a:prstDash val="solid"/>
          </a:ln>
        </p:spPr>
      </p:sp>
      <p:pic>
        <p:nvPicPr>
          <p:cNvPr id="20" name="Image 2" descr="preencoded.png">    </p:cNvPr>
          <p:cNvPicPr>
            <a:picLocks noChangeAspect="1"/>
          </p:cNvPicPr>
          <p:nvPr/>
        </p:nvPicPr>
        <p:blipFill>
          <a:blip r:embed="rId3"/>
          <a:stretch>
            <a:fillRect/>
          </a:stretch>
        </p:blipFill>
        <p:spPr>
          <a:xfrm>
            <a:off x="886968" y="4727448"/>
            <a:ext cx="237744" cy="237744"/>
          </a:xfrm>
          <a:prstGeom prst="rect">
            <a:avLst/>
          </a:prstGeom>
        </p:spPr>
      </p:pic>
      <p:sp>
        <p:nvSpPr>
          <p:cNvPr id="21" name="Text 15"/>
          <p:cNvSpPr txBox="1"/>
          <p:nvPr/>
        </p:nvSpPr>
        <p:spPr>
          <a:xfrm>
            <a:off x="1417320" y="4617720"/>
            <a:ext cx="4312768" cy="45720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Vi phạm (đề xuất)</a:t>
            </a:r>
            <a:endParaRPr lang="en-US" sz="1800" dirty="0"/>
          </a:p>
        </p:txBody>
      </p:sp>
      <p:sp>
        <p:nvSpPr>
          <p:cNvPr id="22" name="Text 16"/>
          <p:cNvSpPr txBox="1"/>
          <p:nvPr/>
        </p:nvSpPr>
        <p:spPr>
          <a:xfrm>
            <a:off x="777240" y="5239512"/>
            <a:ext cx="4952848" cy="86868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Bằng chứng rõ, không có lý do được chấp nhận</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NV0109 muộn 8 lần · NV0110 16/09 vắng, không đơn</a:t>
            </a:r>
            <a:endParaRPr lang="en-US" sz="1400" dirty="0"/>
          </a:p>
          <a:p>
            <a:pPr marL="228600" indent="-228600">
              <a:spcAft>
                <a:spcPts val="500"/>
              </a:spcAft>
              <a:buSzPct val="100000"/>
              <a:buChar char="•"/>
            </a:pPr>
            <a:r>
              <a:rPr lang="en-US" sz="1400" b="1" dirty="0">
                <a:solidFill>
                  <a:srgbClr val="1B2A38"/>
                </a:solidFill>
                <a:latin typeface="Calibri" pitchFamily="34" charset="0"/>
                <a:ea typeface="Calibri" pitchFamily="34" charset="-122"/>
                <a:cs typeface="Calibri" pitchFamily="34" charset="-120"/>
              </a:rPr>
              <a:t>Làm gì:</a:t>
            </a:r>
            <a:pPr indent="0" marL="0">
              <a:buNone/>
            </a:pPr>
            <a:r>
              <a:rPr lang="en-US" sz="1400" dirty="0">
                <a:solidFill>
                  <a:srgbClr val="1B2A38"/>
                </a:solidFill>
                <a:latin typeface="Calibri" pitchFamily="34" charset="0"/>
                <a:ea typeface="Calibri" pitchFamily="34" charset="-122"/>
                <a:cs typeface="Calibri" pitchFamily="34" charset="-120"/>
              </a:rPr>
              <a:t> Trưởng ca + HR xử lý theo nội quy</a:t>
            </a:r>
            <a:endParaRPr lang="en-US" sz="1400" dirty="0"/>
          </a:p>
        </p:txBody>
      </p:sp>
      <p:sp>
        <p:nvSpPr>
          <p:cNvPr id="23" name="Shape 17"/>
          <p:cNvSpPr/>
          <p:nvPr/>
        </p:nvSpPr>
        <p:spPr>
          <a:xfrm>
            <a:off x="6233008" y="4389120"/>
            <a:ext cx="5410048" cy="1874520"/>
          </a:xfrm>
          <a:prstGeom prst="roundRect">
            <a:avLst>
              <a:gd name="adj" fmla="val 4878"/>
            </a:avLst>
          </a:prstGeom>
          <a:solidFill>
            <a:srgbClr val="FBE7DA"/>
          </a:solidFill>
          <a:ln w="12700">
            <a:solidFill>
              <a:srgbClr val="FBE7DA"/>
            </a:solidFill>
            <a:prstDash val="solid"/>
          </a:ln>
        </p:spPr>
      </p:sp>
      <p:sp>
        <p:nvSpPr>
          <p:cNvPr id="24" name="Shape 18"/>
          <p:cNvSpPr/>
          <p:nvPr/>
        </p:nvSpPr>
        <p:spPr>
          <a:xfrm>
            <a:off x="6461608" y="4617720"/>
            <a:ext cx="457200" cy="457200"/>
          </a:xfrm>
          <a:prstGeom prst="roundRect">
            <a:avLst>
              <a:gd name="adj" fmla="val 22000"/>
            </a:avLst>
          </a:prstGeom>
          <a:solidFill>
            <a:srgbClr val="D9773A"/>
          </a:solidFill>
          <a:ln w="12700">
            <a:solidFill>
              <a:srgbClr val="D9773A"/>
            </a:solidFill>
            <a:prstDash val="solid"/>
          </a:ln>
        </p:spPr>
      </p:sp>
      <p:pic>
        <p:nvPicPr>
          <p:cNvPr id="25" name="Image 3" descr="preencoded.png">    </p:cNvPr>
          <p:cNvPicPr>
            <a:picLocks noChangeAspect="1"/>
          </p:cNvPicPr>
          <p:nvPr/>
        </p:nvPicPr>
        <p:blipFill>
          <a:blip r:embed="rId4"/>
          <a:stretch>
            <a:fillRect/>
          </a:stretch>
        </p:blipFill>
        <p:spPr>
          <a:xfrm>
            <a:off x="6571336" y="4727448"/>
            <a:ext cx="237744" cy="237744"/>
          </a:xfrm>
          <a:prstGeom prst="rect">
            <a:avLst/>
          </a:prstGeom>
        </p:spPr>
      </p:pic>
      <p:sp>
        <p:nvSpPr>
          <p:cNvPr id="26" name="Text 19"/>
          <p:cNvSpPr txBox="1"/>
          <p:nvPr/>
        </p:nvSpPr>
        <p:spPr>
          <a:xfrm>
            <a:off x="7101688" y="4617720"/>
            <a:ext cx="4312768" cy="45720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Cần xác minh</a:t>
            </a:r>
            <a:endParaRPr lang="en-US" sz="1800" dirty="0"/>
          </a:p>
        </p:txBody>
      </p:sp>
      <p:sp>
        <p:nvSpPr>
          <p:cNvPr id="27" name="Text 20"/>
          <p:cNvSpPr txBox="1"/>
          <p:nvPr/>
        </p:nvSpPr>
        <p:spPr>
          <a:xfrm>
            <a:off x="6461608" y="5239512"/>
            <a:ext cx="4952848" cy="86868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Dữ liệu chưa đủ để kết luận</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NV0114 12/09, 19/09: chấm công, không đăng nhập</a:t>
            </a:r>
            <a:endParaRPr lang="en-US" sz="1400" dirty="0"/>
          </a:p>
          <a:p>
            <a:pPr marL="228600" indent="-228600">
              <a:spcAft>
                <a:spcPts val="500"/>
              </a:spcAft>
              <a:buSzPct val="100000"/>
              <a:buChar char="•"/>
            </a:pPr>
            <a:r>
              <a:rPr lang="en-US" sz="1400" b="1" dirty="0">
                <a:solidFill>
                  <a:srgbClr val="1B2A38"/>
                </a:solidFill>
                <a:latin typeface="Calibri" pitchFamily="34" charset="0"/>
                <a:ea typeface="Calibri" pitchFamily="34" charset="-122"/>
                <a:cs typeface="Calibri" pitchFamily="34" charset="-120"/>
              </a:rPr>
              <a:t>Làm gì:</a:t>
            </a:r>
            <a:pPr indent="0" marL="0">
              <a:buNone/>
            </a:pPr>
            <a:r>
              <a:rPr lang="en-US" sz="1400" dirty="0">
                <a:solidFill>
                  <a:srgbClr val="1B2A38"/>
                </a:solidFill>
                <a:latin typeface="Calibri" pitchFamily="34" charset="0"/>
                <a:ea typeface="Calibri" pitchFamily="34" charset="-122"/>
                <a:cs typeface="Calibri" pitchFamily="34" charset="-120"/>
              </a:rPr>
              <a:t> giao người, giao hạn xác minh</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Ngưỡng tỷ lệ sản xuất phải theo dự án × ca</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graphicFrame>
        <p:nvGraphicFramePr>
          <p:cNvPr id="7" name="Chart 0" descr=""/>
          <p:cNvGraphicFramePr/>
          <p:nvPr/>
        </p:nvGraphicFramePr>
        <p:xfrm>
          <a:off x="548640" y="1691640"/>
          <a:ext cx="7315200" cy="457200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183880" y="1691640"/>
            <a:ext cx="3459175" cy="4572000"/>
          </a:xfrm>
          <a:prstGeom prst="roundRect">
            <a:avLst>
              <a:gd name="adj" fmla="val 2643"/>
            </a:avLst>
          </a:prstGeom>
          <a:solidFill>
            <a:srgbClr val="F2F4F6"/>
          </a:solidFill>
          <a:ln w="12700">
            <a:solidFill>
              <a:srgbClr val="F2F4F6"/>
            </a:solidFill>
            <a:prstDash val="solid"/>
          </a:ln>
        </p:spPr>
      </p:sp>
      <p:sp>
        <p:nvSpPr>
          <p:cNvPr id="9" name="Shape 5"/>
          <p:cNvSpPr/>
          <p:nvPr/>
        </p:nvSpPr>
        <p:spPr>
          <a:xfrm>
            <a:off x="8412480" y="1920240"/>
            <a:ext cx="457200" cy="457200"/>
          </a:xfrm>
          <a:prstGeom prst="roundRect">
            <a:avLst>
              <a:gd name="adj" fmla="val 22000"/>
            </a:avLst>
          </a:prstGeom>
          <a:solidFill>
            <a:srgbClr val="D9773A"/>
          </a:solidFill>
          <a:ln w="12700">
            <a:solidFill>
              <a:srgbClr val="D9773A"/>
            </a:solidFill>
            <a:prstDash val="solid"/>
          </a:ln>
        </p:spPr>
      </p:sp>
      <p:pic>
        <p:nvPicPr>
          <p:cNvPr id="10" name="Image 0" descr="preencoded.png">    </p:cNvPr>
          <p:cNvPicPr>
            <a:picLocks noChangeAspect="1"/>
          </p:cNvPicPr>
          <p:nvPr/>
        </p:nvPicPr>
        <p:blipFill>
          <a:blip r:embed="rId2"/>
          <a:stretch>
            <a:fillRect/>
          </a:stretch>
        </p:blipFill>
        <p:spPr>
          <a:xfrm>
            <a:off x="8522208" y="2029968"/>
            <a:ext cx="237744" cy="237744"/>
          </a:xfrm>
          <a:prstGeom prst="rect">
            <a:avLst/>
          </a:prstGeom>
        </p:spPr>
      </p:pic>
      <p:sp>
        <p:nvSpPr>
          <p:cNvPr id="11" name="Text 6"/>
          <p:cNvSpPr txBox="1"/>
          <p:nvPr/>
        </p:nvSpPr>
        <p:spPr>
          <a:xfrm>
            <a:off x="9006840" y="1920240"/>
            <a:ext cx="2453335" cy="457200"/>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Đọc biểu đồ</a:t>
            </a:r>
            <a:endParaRPr lang="en-US" sz="1700" dirty="0"/>
          </a:p>
        </p:txBody>
      </p:sp>
      <p:sp>
        <p:nvSpPr>
          <p:cNvPr id="12" name="Text 7"/>
          <p:cNvSpPr txBox="1"/>
          <p:nvPr/>
        </p:nvSpPr>
        <p:spPr>
          <a:xfrm>
            <a:off x="8412480" y="2560320"/>
            <a:ext cx="3001975" cy="352044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Ngưỡng chung 50%</a:t>
            </a:r>
            <a:pPr indent="0" marL="0">
              <a:buNone/>
            </a:pPr>
            <a:r>
              <a:rPr lang="en-US" sz="1400" dirty="0">
                <a:solidFill>
                  <a:srgbClr val="1B2A38"/>
                </a:solidFill>
                <a:latin typeface="Calibri" pitchFamily="34" charset="0"/>
                <a:ea typeface="Calibri" pitchFamily="34" charset="-122"/>
                <a:cs typeface="Calibri" pitchFamily="34" charset="-120"/>
              </a:rPr>
              <a:t> gắn cờ NV0115 19/09 ca D (49,1%) — chỉ thấp hơn trung vị ca đêm vài điểm.</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Outbound thấp tự nhiên:</a:t>
            </a:r>
            <a:pPr indent="0" marL="0">
              <a:buNone/>
            </a:pPr>
            <a:r>
              <a:rPr lang="en-US" sz="1400" dirty="0">
                <a:solidFill>
                  <a:srgbClr val="1B2A38"/>
                </a:solidFill>
                <a:latin typeface="Calibri" pitchFamily="34" charset="0"/>
                <a:ea typeface="Calibri" pitchFamily="34" charset="-122"/>
                <a:cs typeface="Calibri" pitchFamily="34" charset="-120"/>
              </a:rPr>
              <a:t> quay số, đổ chuông, máy bận không tính là sản xuất.</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Ca đêm inbound</a:t>
            </a:r>
            <a:pPr indent="0" marL="0">
              <a:buNone/>
            </a:pPr>
            <a:r>
              <a:rPr lang="en-US" sz="1400" dirty="0">
                <a:solidFill>
                  <a:srgbClr val="1B2A38"/>
                </a:solidFill>
                <a:latin typeface="Calibri" pitchFamily="34" charset="0"/>
                <a:ea typeface="Calibri" pitchFamily="34" charset="-122"/>
                <a:cs typeface="Calibri" pitchFamily="34" charset="-120"/>
              </a:rPr>
              <a:t> thấp vì ít khách gọi, không phải vì agent lười.</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Đề xuất:</a:t>
            </a:r>
            <a:pPr indent="0" marL="0">
              <a:buNone/>
            </a:pPr>
            <a:r>
              <a:rPr lang="en-US" sz="1400" dirty="0">
                <a:solidFill>
                  <a:srgbClr val="1B2A38"/>
                </a:solidFill>
                <a:latin typeface="Calibri" pitchFamily="34" charset="0"/>
                <a:ea typeface="Calibri" pitchFamily="34" charset="-122"/>
                <a:cs typeface="Calibri" pitchFamily="34" charset="-120"/>
              </a:rPr>
              <a:t> “thấp hơn trung vị cùng dự án × ca quá 10 điểm %” — Vận hành chốt.</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1732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41732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KIỂM TRA NHANH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Câu hỏi nhanh</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Shape 4"/>
          <p:cNvSpPr/>
          <p:nvPr/>
        </p:nvSpPr>
        <p:spPr>
          <a:xfrm>
            <a:off x="548640" y="1691640"/>
            <a:ext cx="11094415" cy="1234440"/>
          </a:xfrm>
          <a:prstGeom prst="roundRect">
            <a:avLst>
              <a:gd name="adj" fmla="val 7407"/>
            </a:avLst>
          </a:prstGeom>
          <a:solidFill>
            <a:srgbClr val="ECE6F5"/>
          </a:solidFill>
          <a:ln w="12700">
            <a:solidFill>
              <a:srgbClr val="ECE6F5"/>
            </a:solidFill>
            <a:prstDash val="solid"/>
          </a:ln>
        </p:spPr>
      </p:sp>
      <p:sp>
        <p:nvSpPr>
          <p:cNvPr id="8" name="Shape 5"/>
          <p:cNvSpPr/>
          <p:nvPr/>
        </p:nvSpPr>
        <p:spPr>
          <a:xfrm>
            <a:off x="777240" y="1993392"/>
            <a:ext cx="640080" cy="640080"/>
          </a:xfrm>
          <a:prstGeom prst="roundRect">
            <a:avLst>
              <a:gd name="adj" fmla="val 22000"/>
            </a:avLst>
          </a:prstGeom>
          <a:solidFill>
            <a:srgbClr val="6E4E9E"/>
          </a:solidFill>
          <a:ln w="12700">
            <a:solidFill>
              <a:srgbClr val="6E4E9E"/>
            </a:solidFill>
            <a:prstDash val="solid"/>
          </a:ln>
        </p:spPr>
      </p:sp>
      <p:pic>
        <p:nvPicPr>
          <p:cNvPr id="9" name="Image 0" descr="preencoded.png">    </p:cNvPr>
          <p:cNvPicPr>
            <a:picLocks noChangeAspect="1"/>
          </p:cNvPicPr>
          <p:nvPr/>
        </p:nvPicPr>
        <p:blipFill>
          <a:blip r:embed="rId1"/>
          <a:stretch>
            <a:fillRect/>
          </a:stretch>
        </p:blipFill>
        <p:spPr>
          <a:xfrm>
            <a:off x="930859" y="2147011"/>
            <a:ext cx="332842" cy="332842"/>
          </a:xfrm>
          <a:prstGeom prst="rect">
            <a:avLst/>
          </a:prstGeom>
        </p:spPr>
      </p:pic>
      <p:sp>
        <p:nvSpPr>
          <p:cNvPr id="10" name="Text 6"/>
          <p:cNvSpPr txBox="1"/>
          <p:nvPr/>
        </p:nvSpPr>
        <p:spPr>
          <a:xfrm>
            <a:off x="1645920" y="1801368"/>
            <a:ext cx="9768535" cy="100584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NV0112 ở lại sau ca 86’, 89’, 99’, 90’ trong 4 ngày, có đăng nhập và có cuộc gọi, không có đơn OT. Điều 4.1: OT phải đăng ký trước. Làm gì trước khi chốt công?</a:t>
            </a:r>
            <a:endParaRPr lang="en-US" sz="1800" dirty="0"/>
          </a:p>
        </p:txBody>
      </p:sp>
      <p:sp>
        <p:nvSpPr>
          <p:cNvPr id="11" name="Shape 7"/>
          <p:cNvSpPr/>
          <p:nvPr/>
        </p:nvSpPr>
        <p:spPr>
          <a:xfrm>
            <a:off x="548640" y="3154680"/>
            <a:ext cx="5432908" cy="1440180"/>
          </a:xfrm>
          <a:prstGeom prst="roundRect">
            <a:avLst>
              <a:gd name="adj" fmla="val 6349"/>
            </a:avLst>
          </a:prstGeom>
          <a:solidFill>
            <a:srgbClr val="FFFFFF"/>
          </a:solidFill>
          <a:ln w="15875">
            <a:solidFill>
              <a:srgbClr val="D5DAE0"/>
            </a:solidFill>
            <a:prstDash val="solid"/>
          </a:ln>
        </p:spPr>
      </p:sp>
      <p:sp>
        <p:nvSpPr>
          <p:cNvPr id="12" name="Shape 8"/>
          <p:cNvSpPr/>
          <p:nvPr/>
        </p:nvSpPr>
        <p:spPr>
          <a:xfrm>
            <a:off x="749808" y="3623310"/>
            <a:ext cx="502920" cy="502920"/>
          </a:xfrm>
          <a:prstGeom prst="ellipse">
            <a:avLst/>
          </a:prstGeom>
          <a:solidFill>
            <a:srgbClr val="6E4E9E"/>
          </a:solidFill>
          <a:ln w="12700">
            <a:solidFill>
              <a:srgbClr val="6E4E9E"/>
            </a:solidFill>
            <a:prstDash val="solid"/>
          </a:ln>
        </p:spPr>
      </p:sp>
      <p:sp>
        <p:nvSpPr>
          <p:cNvPr id="13" name="Text 9"/>
          <p:cNvSpPr txBox="1"/>
          <p:nvPr/>
        </p:nvSpPr>
        <p:spPr>
          <a:xfrm>
            <a:off x="749808"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0"/>
          <p:cNvSpPr txBox="1"/>
          <p:nvPr/>
        </p:nvSpPr>
        <p:spPr>
          <a:xfrm>
            <a:off x="1417320"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Không tính OT vì không đăng ký — đúng nội quy.</a:t>
            </a:r>
            <a:endParaRPr lang="en-US" sz="1500" dirty="0"/>
          </a:p>
        </p:txBody>
      </p:sp>
      <p:sp>
        <p:nvSpPr>
          <p:cNvPr id="15" name="Shape 11"/>
          <p:cNvSpPr/>
          <p:nvPr/>
        </p:nvSpPr>
        <p:spPr>
          <a:xfrm>
            <a:off x="6210148" y="3154680"/>
            <a:ext cx="5432908" cy="1440180"/>
          </a:xfrm>
          <a:prstGeom prst="roundRect">
            <a:avLst>
              <a:gd name="adj" fmla="val 6349"/>
            </a:avLst>
          </a:prstGeom>
          <a:solidFill>
            <a:srgbClr val="FFFFFF"/>
          </a:solidFill>
          <a:ln w="15875">
            <a:solidFill>
              <a:srgbClr val="D5DAE0"/>
            </a:solidFill>
            <a:prstDash val="solid"/>
          </a:ln>
        </p:spPr>
      </p:sp>
      <p:sp>
        <p:nvSpPr>
          <p:cNvPr id="16" name="Shape 12"/>
          <p:cNvSpPr/>
          <p:nvPr/>
        </p:nvSpPr>
        <p:spPr>
          <a:xfrm>
            <a:off x="6411316" y="3623310"/>
            <a:ext cx="502920" cy="502920"/>
          </a:xfrm>
          <a:prstGeom prst="ellipse">
            <a:avLst/>
          </a:prstGeom>
          <a:solidFill>
            <a:srgbClr val="6E4E9E"/>
          </a:solidFill>
          <a:ln w="12700">
            <a:solidFill>
              <a:srgbClr val="6E4E9E"/>
            </a:solidFill>
            <a:prstDash val="solid"/>
          </a:ln>
        </p:spPr>
      </p:sp>
      <p:sp>
        <p:nvSpPr>
          <p:cNvPr id="17" name="Text 13"/>
          <p:cNvSpPr txBox="1"/>
          <p:nvPr/>
        </p:nvSpPr>
        <p:spPr>
          <a:xfrm>
            <a:off x="6411316"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8" name="Text 14"/>
          <p:cNvSpPr txBox="1"/>
          <p:nvPr/>
        </p:nvSpPr>
        <p:spPr>
          <a:xfrm>
            <a:off x="7078828"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Tự động tính 6 giờ OT vì dữ liệu chứng minh có làm.</a:t>
            </a:r>
            <a:endParaRPr lang="en-US" sz="1500" dirty="0"/>
          </a:p>
        </p:txBody>
      </p:sp>
      <p:sp>
        <p:nvSpPr>
          <p:cNvPr id="19" name="Shape 15"/>
          <p:cNvSpPr/>
          <p:nvPr/>
        </p:nvSpPr>
        <p:spPr>
          <a:xfrm>
            <a:off x="548640" y="4823460"/>
            <a:ext cx="5432908" cy="1440180"/>
          </a:xfrm>
          <a:prstGeom prst="roundRect">
            <a:avLst>
              <a:gd name="adj" fmla="val 6349"/>
            </a:avLst>
          </a:prstGeom>
          <a:solidFill>
            <a:srgbClr val="FFFFFF"/>
          </a:solidFill>
          <a:ln w="15875">
            <a:solidFill>
              <a:srgbClr val="D5DAE0"/>
            </a:solidFill>
            <a:prstDash val="solid"/>
          </a:ln>
        </p:spPr>
      </p:sp>
      <p:sp>
        <p:nvSpPr>
          <p:cNvPr id="20" name="Shape 16"/>
          <p:cNvSpPr/>
          <p:nvPr/>
        </p:nvSpPr>
        <p:spPr>
          <a:xfrm>
            <a:off x="749808" y="5292090"/>
            <a:ext cx="502920" cy="502920"/>
          </a:xfrm>
          <a:prstGeom prst="ellipse">
            <a:avLst/>
          </a:prstGeom>
          <a:solidFill>
            <a:srgbClr val="6E4E9E"/>
          </a:solidFill>
          <a:ln w="12700">
            <a:solidFill>
              <a:srgbClr val="6E4E9E"/>
            </a:solidFill>
            <a:prstDash val="solid"/>
          </a:ln>
        </p:spPr>
      </p:sp>
      <p:sp>
        <p:nvSpPr>
          <p:cNvPr id="21" name="Text 17"/>
          <p:cNvSpPr txBox="1"/>
          <p:nvPr/>
        </p:nvSpPr>
        <p:spPr>
          <a:xfrm>
            <a:off x="749808"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2" name="Text 18"/>
          <p:cNvSpPr txBox="1"/>
          <p:nvPr/>
        </p:nvSpPr>
        <p:spPr>
          <a:xfrm>
            <a:off x="1417320"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“Cần xác minh”: hỏi Trưởng ca ai yêu cầu ở lại; HR quyết theo câu H5; ghi nhận lỗ hổng quy trình đăng ký OT.</a:t>
            </a:r>
            <a:endParaRPr lang="en-US" sz="1500" dirty="0"/>
          </a:p>
        </p:txBody>
      </p:sp>
      <p:sp>
        <p:nvSpPr>
          <p:cNvPr id="23" name="Shape 19"/>
          <p:cNvSpPr/>
          <p:nvPr/>
        </p:nvSpPr>
        <p:spPr>
          <a:xfrm>
            <a:off x="6210148" y="4823460"/>
            <a:ext cx="5432908" cy="1440180"/>
          </a:xfrm>
          <a:prstGeom prst="roundRect">
            <a:avLst>
              <a:gd name="adj" fmla="val 6349"/>
            </a:avLst>
          </a:prstGeom>
          <a:solidFill>
            <a:srgbClr val="FFFFFF"/>
          </a:solidFill>
          <a:ln w="15875">
            <a:solidFill>
              <a:srgbClr val="D5DAE0"/>
            </a:solidFill>
            <a:prstDash val="solid"/>
          </a:ln>
        </p:spPr>
      </p:sp>
      <p:sp>
        <p:nvSpPr>
          <p:cNvPr id="24" name="Shape 20"/>
          <p:cNvSpPr/>
          <p:nvPr/>
        </p:nvSpPr>
        <p:spPr>
          <a:xfrm>
            <a:off x="6411316" y="5292090"/>
            <a:ext cx="502920" cy="502920"/>
          </a:xfrm>
          <a:prstGeom prst="ellipse">
            <a:avLst/>
          </a:prstGeom>
          <a:solidFill>
            <a:srgbClr val="6E4E9E"/>
          </a:solidFill>
          <a:ln w="12700">
            <a:solidFill>
              <a:srgbClr val="6E4E9E"/>
            </a:solidFill>
            <a:prstDash val="solid"/>
          </a:ln>
        </p:spPr>
      </p:sp>
      <p:sp>
        <p:nvSpPr>
          <p:cNvPr id="25" name="Text 21"/>
          <p:cNvSpPr txBox="1"/>
          <p:nvPr/>
        </p:nvSpPr>
        <p:spPr>
          <a:xfrm>
            <a:off x="6411316"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6" name="Text 22"/>
          <p:cNvSpPr txBox="1"/>
          <p:nvPr/>
        </p:nvSpPr>
        <p:spPr>
          <a:xfrm>
            <a:off x="7078828"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“Vi phạm” vì làm thêm khi chưa được duyệt.</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3.3 · Đối soát 3 lớp thời gian</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20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Báo cáo đối soát 14 ngày: danh sách cờ xếp theo mức độ, tổng giờ chênh lệch theo team, 3 nhận xét xu hướng.</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1115568"/>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Cong_ngay.csv (Lab 3.2, 220 dòng)</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trang_thai_agent_2026-09.csv</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call_log_2026-09.csv (đã làm sạch)</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don_phep_ot_2026-09.csv</a:t>
            </a:r>
            <a:endParaRPr lang="en-US" sz="1050" dirty="0"/>
          </a:p>
        </p:txBody>
      </p:sp>
      <p:sp>
        <p:nvSpPr>
          <p:cNvPr id="14" name="Text 10"/>
          <p:cNvSpPr txBox="1"/>
          <p:nvPr/>
        </p:nvSpPr>
        <p:spPr>
          <a:xfrm>
            <a:off x="777240" y="5458968"/>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760720"/>
            <a:ext cx="3474720" cy="347472"/>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~40 cờ (36–44 chấp nhận được nếu giải thích được chênh lệch). Không câu nào kết luận vi phạm.</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Bổ sung bảng nối mã</a:t>
            </a:r>
            <a:pPr indent="0" marL="0">
              <a:buNone/>
            </a:pPr>
            <a:r>
              <a:rPr lang="en-US" sz="1450" dirty="0">
                <a:solidFill>
                  <a:srgbClr val="1B2A38"/>
                </a:solidFill>
                <a:latin typeface="Calibri" pitchFamily="34" charset="0"/>
                <a:ea typeface="Calibri" pitchFamily="34" charset="-122"/>
                <a:cs typeface="Calibri" pitchFamily="34" charset="-120"/>
              </a:rPr>
              <a:t> — NV0118 ↔ EXT2018 — thiếu dòng này NV0118 bị 6 cờ oan.</a:t>
            </a:r>
            <a:endParaRPr lang="en-US" sz="1450" dirty="0"/>
          </a:p>
        </p:txBody>
      </p:sp>
      <p:sp>
        <p:nvSpPr>
          <p:cNvPr id="19" name="Shape 15"/>
          <p:cNvSpPr/>
          <p:nvPr/>
        </p:nvSpPr>
        <p:spPr>
          <a:xfrm>
            <a:off x="4800600" y="2520696"/>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52069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474976"/>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Chốt định nghĩa đối soát v1</a:t>
            </a:r>
            <a:pPr indent="0" marL="0">
              <a:buNone/>
            </a:pPr>
            <a:r>
              <a:rPr lang="en-US" sz="1450" dirty="0">
                <a:solidFill>
                  <a:srgbClr val="1B2A38"/>
                </a:solidFill>
                <a:latin typeface="Calibri" pitchFamily="34" charset="0"/>
                <a:ea typeface="Calibri" pitchFamily="34" charset="-122"/>
                <a:cs typeface="Calibri" pitchFamily="34" charset="-120"/>
              </a:rPr>
              <a:t> — có mặt, đăng nhập, sản xuất (call log đã làm sạch), cửa sổ ca, ca đêm.</a:t>
            </a:r>
            <a:endParaRPr lang="en-US" sz="1450" dirty="0"/>
          </a:p>
        </p:txBody>
      </p:sp>
      <p:sp>
        <p:nvSpPr>
          <p:cNvPr id="22" name="Shape 18"/>
          <p:cNvSpPr/>
          <p:nvPr/>
        </p:nvSpPr>
        <p:spPr>
          <a:xfrm>
            <a:off x="4800600" y="3304032"/>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30403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258312"/>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Chạy prompt syllabus</a:t>
            </a:r>
            <a:pPr indent="0" marL="0">
              <a:buNone/>
            </a:pPr>
            <a:r>
              <a:rPr lang="en-US" sz="1450" dirty="0">
                <a:solidFill>
                  <a:srgbClr val="1B2A38"/>
                </a:solidFill>
                <a:latin typeface="Calibri" pitchFamily="34" charset="0"/>
                <a:ea typeface="Calibri" pitchFamily="34" charset="-122"/>
                <a:cs typeface="Calibri" pitchFamily="34" charset="-120"/>
              </a:rPr>
              <a:t> — giữ ngưỡng [60] phút và [50]% để so với kết quả mẫu.</a:t>
            </a:r>
            <a:endParaRPr lang="en-US" sz="1450" dirty="0"/>
          </a:p>
        </p:txBody>
      </p:sp>
      <p:sp>
        <p:nvSpPr>
          <p:cNvPr id="25" name="Shape 21"/>
          <p:cNvSpPr/>
          <p:nvPr/>
        </p:nvSpPr>
        <p:spPr>
          <a:xfrm>
            <a:off x="4800600" y="4087368"/>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08736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041648"/>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Bổ sung cờ từ bảng công &amp; đơn</a:t>
            </a:r>
            <a:pPr indent="0" marL="0">
              <a:buNone/>
            </a:pPr>
            <a:r>
              <a:rPr lang="en-US" sz="1450" dirty="0">
                <a:solidFill>
                  <a:srgbClr val="1B2A38"/>
                </a:solidFill>
                <a:latin typeface="Calibri" pitchFamily="34" charset="0"/>
                <a:ea typeface="Calibri" pitchFamily="34" charset="-122"/>
                <a:cs typeface="Calibri" pitchFamily="34" charset="-120"/>
              </a:rPr>
              <a:t> — vắng, muộn ≥ 5’, ở lại ≥ 30’ (kèm tình trạng đơn); ngày có đơn phép chỉ 1 cờ.</a:t>
            </a:r>
            <a:endParaRPr lang="en-US" sz="1450" dirty="0"/>
          </a:p>
        </p:txBody>
      </p:sp>
      <p:sp>
        <p:nvSpPr>
          <p:cNvPr id="28" name="Shape 24"/>
          <p:cNvSpPr/>
          <p:nvPr/>
        </p:nvSpPr>
        <p:spPr>
          <a:xfrm>
            <a:off x="4800600" y="4870704"/>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487070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4824984"/>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Xếp mức độ + phân loại đề xuất</a:t>
            </a:r>
            <a:pPr indent="0" marL="0">
              <a:buNone/>
            </a:pPr>
            <a:r>
              <a:rPr lang="en-US" sz="1450" dirty="0">
                <a:solidFill>
                  <a:srgbClr val="1B2A38"/>
                </a:solidFill>
                <a:latin typeface="Calibri" pitchFamily="34" charset="0"/>
                <a:ea typeface="Calibri" pitchFamily="34" charset="-122"/>
                <a:cs typeface="Calibri" pitchFamily="34" charset="-120"/>
              </a:rPr>
              <a:t> — Mức 1/2/3; để trống Kết luận và Người kết luận.</a:t>
            </a:r>
            <a:endParaRPr lang="en-US" sz="1450" dirty="0"/>
          </a:p>
        </p:txBody>
      </p:sp>
      <p:sp>
        <p:nvSpPr>
          <p:cNvPr id="31" name="Shape 27"/>
          <p:cNvSpPr/>
          <p:nvPr/>
        </p:nvSpPr>
        <p:spPr>
          <a:xfrm>
            <a:off x="4800600" y="5654040"/>
            <a:ext cx="438912" cy="438912"/>
          </a:xfrm>
          <a:prstGeom prst="ellipse">
            <a:avLst/>
          </a:prstGeom>
          <a:solidFill>
            <a:srgbClr val="2E7D7A"/>
          </a:solidFill>
          <a:ln w="12700">
            <a:solidFill>
              <a:srgbClr val="2E7D7A"/>
            </a:solidFill>
            <a:prstDash val="solid"/>
          </a:ln>
        </p:spPr>
      </p:sp>
      <p:sp>
        <p:nvSpPr>
          <p:cNvPr id="32" name="Text 28"/>
          <p:cNvSpPr txBox="1"/>
          <p:nvPr/>
        </p:nvSpPr>
        <p:spPr>
          <a:xfrm>
            <a:off x="4800600" y="56540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3" name="Text 29"/>
          <p:cNvSpPr txBox="1"/>
          <p:nvPr/>
        </p:nvSpPr>
        <p:spPr>
          <a:xfrm>
            <a:off x="5394960" y="5608320"/>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Tổng hợp theo team + 3 nhận xét</a:t>
            </a:r>
            <a:pPr indent="0" marL="0">
              <a:buNone/>
            </a:pPr>
            <a:r>
              <a:rPr lang="en-US" sz="1450" dirty="0">
                <a:solidFill>
                  <a:srgbClr val="1B2A38"/>
                </a:solidFill>
                <a:latin typeface="Calibri" pitchFamily="34" charset="0"/>
                <a:ea typeface="Calibri" pitchFamily="34" charset="-122"/>
                <a:cs typeface="Calibri" pitchFamily="34" charset="-120"/>
              </a:rPr>
              <a:t> — mỗi nhận xét có số liệu và 1 câu hỏi cho một người cụ thể.</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Prompt mẫu — Đối soát 3 lớp thời gian</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Dữ liệu đính kèm (07/09–20/09/2026): bảng công ngày,</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giờ đăng nhập tổng đài theo agent/ngày, giờ sản xuất</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(đàm thoại + giữ máy + ACW) theo agent/ngày.</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Dùng bảng nối mã trong Project.</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Với từng người × ngày, tính:</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 Chênh lệch A = Giờ có mặt − Giờ đăng nhập</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 Chênh lệch B = Giờ đăng nhập − Giờ sản xuất</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 Tỷ lệ sản xuất = Giờ sản xuất / Giờ có mặt</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Gắn cờ khi: A &gt; [60] phút; tỷ lệ sản xuất &lt; [50]%;</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có chấm công nhưng không đăng nhập;</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có đăng nhập nhưng không có chấm công.</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Xuất: (1) bảng các trường hợp bị gắn cờ, xếp theo mức độ;</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(2) tổng giờ chênh lệch theo team;</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(3) 3 nhận xét về xu hướng. Tính trên dữ liệu thực tế.</a:t>
            </a:r>
            <a:endParaRPr lang="en-US" sz="140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viết như vậy?</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Ngưỡng trong [ ]:</a:t>
            </a:r>
            <a:pPr indent="0" marL="0">
              <a:buNone/>
            </a:pPr>
            <a:r>
              <a:rPr lang="en-US" sz="1400" dirty="0">
                <a:solidFill>
                  <a:srgbClr val="1B2A38"/>
                </a:solidFill>
                <a:latin typeface="Calibri" pitchFamily="34" charset="0"/>
                <a:ea typeface="Calibri" pitchFamily="34" charset="-122"/>
                <a:cs typeface="Calibri" pitchFamily="34" charset="-120"/>
              </a:rPr>
              <a:t> là tham số — lần đầu dùng ngưỡng chung để thấy nó gắn cờ oan ở đâu.</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Tách A và B:</a:t>
            </a:r>
            <a:pPr indent="0" marL="0">
              <a:buNone/>
            </a:pPr>
            <a:r>
              <a:rPr lang="en-US" sz="1400" dirty="0">
                <a:solidFill>
                  <a:srgbClr val="1B2A38"/>
                </a:solidFill>
                <a:latin typeface="Calibri" pitchFamily="34" charset="0"/>
                <a:ea typeface="Calibri" pitchFamily="34" charset="-122"/>
                <a:cs typeface="Calibri" pitchFamily="34" charset="-120"/>
              </a:rPr>
              <a:t> mỗi khoảng hở là một nghi vấn khác nhau.</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2 cờ “lệch lớp”:</a:t>
            </a:r>
            <a:pPr indent="0" marL="0">
              <a:buNone/>
            </a:pPr>
            <a:r>
              <a:rPr lang="en-US" sz="1400" dirty="0">
                <a:solidFill>
                  <a:srgbClr val="1B2A38"/>
                </a:solidFill>
                <a:latin typeface="Calibri" pitchFamily="34" charset="0"/>
                <a:ea typeface="Calibri" pitchFamily="34" charset="-122"/>
                <a:cs typeface="Calibri" pitchFamily="34" charset="-120"/>
              </a:rPr>
              <a:t> bắt chấm công hộ / quên quẹt.</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Theo team + xu hướng:</a:t>
            </a:r>
            <a:pPr indent="0" marL="0">
              <a:buNone/>
            </a:pPr>
            <a:r>
              <a:rPr lang="en-US" sz="1400" dirty="0">
                <a:solidFill>
                  <a:srgbClr val="1B2A38"/>
                </a:solidFill>
                <a:latin typeface="Calibri" pitchFamily="34" charset="0"/>
                <a:ea typeface="Calibri" pitchFamily="34" charset="-122"/>
                <a:cs typeface="Calibri" pitchFamily="34" charset="-120"/>
              </a:rPr>
              <a:t> tránh tranh luận cảm tính “team B lười”.</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Trước khi chạy:</a:t>
            </a:r>
            <a:pPr indent="0" marL="0">
              <a:buNone/>
            </a:pPr>
            <a:r>
              <a:rPr lang="en-US" sz="1400" dirty="0">
                <a:solidFill>
                  <a:srgbClr val="1B2A38"/>
                </a:solidFill>
                <a:latin typeface="Calibri" pitchFamily="34" charset="0"/>
                <a:ea typeface="Calibri" pitchFamily="34" charset="-122"/>
                <a:cs typeface="Calibri" pitchFamily="34" charset="-120"/>
              </a:rPr>
              <a:t> định nghĩa v1 + EXT2018 trong Project.</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3.3 — 40 trường hợp gắn cờ</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117439"/>
                <a:gridCol w="687670"/>
                <a:gridCol w="733515"/>
                <a:gridCol w="733515"/>
                <a:gridCol w="733515"/>
                <a:gridCol w="5088761"/>
              </a:tblGrid>
              <a:tr h="37947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Loại cờ</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Số</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TS-A</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TS-B</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CS-A</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Ai</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37947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A &gt; 60 phút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NV0106 (67–90’; 2 ngày kèm tỷ lệ SX &lt; 50%)</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7947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Tỷ lệ sản xuất &lt; 50% (riêng)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NV0108 ×9 (38,3–48,2%) · NV0115 19/09 ca D (49,1%)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7947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Đi muộn ≥ 5 phút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NV0109 (15–41’)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7947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Ở lại sau ca ≥ 30 phút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NV0112 ×4 không đơn · NV0102 OT đã duyệt · NV0113 chờ duyệt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7947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Có đơn phép — đối chiếu</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NV0104 đã duyệt · NV0113 nửa ngày · NV0107 chờ duyệt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7947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Có chấm công, không đăng nhập</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NV0114 12/09, 19/09</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7947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Có đăng nhập, thiếu chấm công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NV0116 09/09 (thiếu vào), 17/09 ca D (thiếu ra)</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7947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Vắng (không quẹt, không đăng nhập)</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NV0110 16/09</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7947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Tổng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DF1E5"/>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40</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DF1E5"/>
                    </a:solidFill>
                  </a:tcPr>
                </a:tc>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DF1E5"/>
                    </a:solidFill>
                  </a:tcPr>
                </a:tc>
                <a:tc>
                  <a:txBody>
                    <a:bodyPr/>
                    <a:lstStyle/>
                    <a:p>
                      <a:pPr indent="0" marL="0">
                        <a:buNone/>
                      </a:pPr>
                      <a:r>
                        <a:rPr lang="en-US" sz="1250" b="1" dirty="0">
                          <a:solidFill>
                            <a:srgbClr val="C0392B"/>
                          </a:solidFill>
                          <a:latin typeface="Calibri" pitchFamily="34" charset="0"/>
                          <a:ea typeface="Calibri" pitchFamily="34" charset="-122"/>
                          <a:cs typeface="Calibri" pitchFamily="34" charset="-120"/>
                        </a:rPr>
                        <a:t>27</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DF1E5"/>
                    </a:solidFill>
                  </a:tcPr>
                </a:tc>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11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DF1E5"/>
                    </a:solidFill>
                  </a:tcPr>
                </a:tc>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Mức 1: 19 dòng · Mức 2: 17 dòng · Mức 3: 4 dòng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DF1E5"/>
                    </a:solidFill>
                  </a:tcPr>
                </a:tc>
              </a:tr>
            </a:tbl>
          </a:graphicData>
        </a:graphic>
      </p:graphicFrame>
      <p:sp>
        <p:nvSpPr>
          <p:cNvPr id="8" name="Shape 4"/>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9" name="Text 5"/>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Phân loại đề xuất: Hợp lệ 4 · Lỗi dữ liệu 2 · Vi phạm (đề xuất) 9 · Cần xác minh 25 — cột Kết luận vẫn để trống cho người.</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3.3 — giờ rò rỉ theo team</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212 người-ngày có đủ 3 lớp. Tỷ lệ SX: TS-A 63,1% · TS-B 57,7% · CS-A 62,8%.</a:t>
            </a:r>
            <a:endParaRPr lang="en-US" sz="1600" dirty="0"/>
          </a:p>
        </p:txBody>
      </p:sp>
      <p:graphicFrame>
        <p:nvGraphicFramePr>
          <p:cNvPr id="8" name="Chart 0" descr=""/>
          <p:cNvGraphicFramePr/>
          <p:nvPr/>
        </p:nvGraphicFramePr>
        <p:xfrm>
          <a:off x="548640" y="2240280"/>
          <a:ext cx="7315200" cy="402336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183880" y="2240280"/>
            <a:ext cx="3459175" cy="4023360"/>
          </a:xfrm>
          <a:prstGeom prst="roundRect">
            <a:avLst>
              <a:gd name="adj" fmla="val 2643"/>
            </a:avLst>
          </a:prstGeom>
          <a:solidFill>
            <a:srgbClr val="F2F4F6"/>
          </a:solidFill>
          <a:ln w="12700">
            <a:solidFill>
              <a:srgbClr val="F2F4F6"/>
            </a:solidFill>
            <a:prstDash val="solid"/>
          </a:ln>
        </p:spPr>
      </p:sp>
      <p:sp>
        <p:nvSpPr>
          <p:cNvPr id="10" name="Shape 6"/>
          <p:cNvSpPr/>
          <p:nvPr/>
        </p:nvSpPr>
        <p:spPr>
          <a:xfrm>
            <a:off x="8412480" y="2468880"/>
            <a:ext cx="457200" cy="457200"/>
          </a:xfrm>
          <a:prstGeom prst="roundRect">
            <a:avLst>
              <a:gd name="adj" fmla="val 22000"/>
            </a:avLst>
          </a:prstGeom>
          <a:solidFill>
            <a:srgbClr val="D9773A"/>
          </a:solidFill>
          <a:ln w="12700">
            <a:solidFill>
              <a:srgbClr val="D9773A"/>
            </a:solidFill>
            <a:prstDash val="solid"/>
          </a:ln>
        </p:spPr>
      </p:sp>
      <p:pic>
        <p:nvPicPr>
          <p:cNvPr id="11" name="Image 0" descr="preencoded.png">    </p:cNvPr>
          <p:cNvPicPr>
            <a:picLocks noChangeAspect="1"/>
          </p:cNvPicPr>
          <p:nvPr/>
        </p:nvPicPr>
        <p:blipFill>
          <a:blip r:embed="rId2"/>
          <a:stretch>
            <a:fillRect/>
          </a:stretch>
        </p:blipFill>
        <p:spPr>
          <a:xfrm>
            <a:off x="8522208" y="2578608"/>
            <a:ext cx="237744" cy="237744"/>
          </a:xfrm>
          <a:prstGeom prst="rect">
            <a:avLst/>
          </a:prstGeom>
        </p:spPr>
      </p:pic>
      <p:sp>
        <p:nvSpPr>
          <p:cNvPr id="12" name="Text 7"/>
          <p:cNvSpPr txBox="1"/>
          <p:nvPr/>
        </p:nvSpPr>
        <p:spPr>
          <a:xfrm>
            <a:off x="9006840" y="2468880"/>
            <a:ext cx="2453335" cy="457200"/>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Đọc biểu đồ</a:t>
            </a:r>
            <a:endParaRPr lang="en-US" sz="1700" dirty="0"/>
          </a:p>
        </p:txBody>
      </p:sp>
      <p:sp>
        <p:nvSpPr>
          <p:cNvPr id="13" name="Text 8"/>
          <p:cNvSpPr txBox="1"/>
          <p:nvPr/>
        </p:nvSpPr>
        <p:spPr>
          <a:xfrm>
            <a:off x="8412480" y="3108960"/>
            <a:ext cx="3001975" cy="297180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TS-B: 27/40 cờ, 25 cờ thuộc 3 người</a:t>
            </a:r>
            <a:pPr indent="0" marL="0">
              <a:buNone/>
            </a:pPr>
            <a:r>
              <a:rPr lang="en-US" sz="1400" dirty="0">
                <a:solidFill>
                  <a:srgbClr val="1B2A38"/>
                </a:solidFill>
                <a:latin typeface="Calibri" pitchFamily="34" charset="0"/>
                <a:ea typeface="Calibri" pitchFamily="34" charset="-122"/>
                <a:cs typeface="Calibri" pitchFamily="34" charset="-120"/>
              </a:rPr>
              <a:t> (NV0106, NV0108, NV0109) — 3 mẫu khác nhau, 3 cuộc trao đổi khác nhau.</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Lãng phí lặp lại:</a:t>
            </a:r>
            <a:pPr indent="0" marL="0">
              <a:buNone/>
            </a:pPr>
            <a:r>
              <a:rPr lang="en-US" sz="1400" dirty="0">
                <a:solidFill>
                  <a:srgbClr val="1B2A38"/>
                </a:solidFill>
                <a:latin typeface="Calibri" pitchFamily="34" charset="0"/>
                <a:ea typeface="Calibri" pitchFamily="34" charset="-122"/>
                <a:cs typeface="Calibri" pitchFamily="34" charset="-120"/>
              </a:rPr>
              <a:t> 10,35 h trong 21,22 h A của TS-B nằm ở 8 ngày của NV0106.</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CS-A: quy trình OT chưa theo kịp</a:t>
            </a:r>
            <a:pPr indent="0" marL="0">
              <a:buNone/>
            </a:pPr>
            <a:r>
              <a:rPr lang="en-US" sz="1400" dirty="0">
                <a:solidFill>
                  <a:srgbClr val="1B2A38"/>
                </a:solidFill>
                <a:latin typeface="Calibri" pitchFamily="34" charset="0"/>
                <a:ea typeface="Calibri" pitchFamily="34" charset="-122"/>
                <a:cs typeface="Calibri" pitchFamily="34" charset="-120"/>
              </a:rPr>
              <a:t> — 4 lần ở lại không đơn, 1 đơn chờ duyệt, 2 lần thiếu quẹt.</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Mỗi nhận xét 1 câu hỏi</a:t>
            </a:r>
            <a:pPr indent="0" marL="0">
              <a:buNone/>
            </a:pPr>
            <a:r>
              <a:rPr lang="en-US" sz="1400" dirty="0">
                <a:solidFill>
                  <a:srgbClr val="1B2A38"/>
                </a:solidFill>
                <a:latin typeface="Calibri" pitchFamily="34" charset="0"/>
                <a:ea typeface="Calibri" pitchFamily="34" charset="-122"/>
                <a:cs typeface="Calibri" pitchFamily="34" charset="-120"/>
              </a:rPr>
              <a:t> cho người cụ thể: anh Tùng, IT, HR (H5).</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TRÌNH BÀY</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HR + Trưởng ca: thống nhất cách xử lý (10 phút)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Dùng danh sách 40 cờ của Lab 3.3. Chia cặp: một người vai HR (chị Mai), một người vai Trưởng ca (anh Tùng).</a:t>
            </a:r>
            <a:endParaRPr lang="en-US" sz="1600" dirty="0"/>
          </a:p>
        </p:txBody>
      </p:sp>
      <p:sp>
        <p:nvSpPr>
          <p:cNvPr id="8" name="Shape 5"/>
          <p:cNvSpPr/>
          <p:nvPr/>
        </p:nvSpPr>
        <p:spPr>
          <a:xfrm>
            <a:off x="548640" y="2240280"/>
            <a:ext cx="3515258" cy="4023360"/>
          </a:xfrm>
          <a:prstGeom prst="roundRect">
            <a:avLst>
              <a:gd name="adj" fmla="val 2601"/>
            </a:avLst>
          </a:prstGeom>
          <a:solidFill>
            <a:srgbClr val="F2F4F6"/>
          </a:solidFill>
          <a:ln w="12700">
            <a:solidFill>
              <a:srgbClr val="F2F4F6"/>
            </a:solidFill>
            <a:prstDash val="solid"/>
          </a:ln>
        </p:spPr>
      </p:sp>
      <p:sp>
        <p:nvSpPr>
          <p:cNvPr id="9" name="Shape 6"/>
          <p:cNvSpPr/>
          <p:nvPr/>
        </p:nvSpPr>
        <p:spPr>
          <a:xfrm>
            <a:off x="777240" y="2468880"/>
            <a:ext cx="566928" cy="566928"/>
          </a:xfrm>
          <a:prstGeom prst="roundRect">
            <a:avLst>
              <a:gd name="adj" fmla="val 22000"/>
            </a:avLst>
          </a:prstGeom>
          <a:solidFill>
            <a:srgbClr val="2B3E50"/>
          </a:solidFill>
          <a:ln w="12700">
            <a:solidFill>
              <a:srgbClr val="2B3E50"/>
            </a:solidFill>
            <a:prstDash val="solid"/>
          </a:ln>
        </p:spPr>
      </p:sp>
      <p:pic>
        <p:nvPicPr>
          <p:cNvPr id="10" name="Image 0" descr="preencoded.png">    </p:cNvPr>
          <p:cNvPicPr>
            <a:picLocks noChangeAspect="1"/>
          </p:cNvPicPr>
          <p:nvPr/>
        </p:nvPicPr>
        <p:blipFill>
          <a:blip r:embed="rId1"/>
          <a:stretch>
            <a:fillRect/>
          </a:stretch>
        </p:blipFill>
        <p:spPr>
          <a:xfrm>
            <a:off x="913303" y="2604943"/>
            <a:ext cx="294803" cy="294803"/>
          </a:xfrm>
          <a:prstGeom prst="rect">
            <a:avLst/>
          </a:prstGeom>
        </p:spPr>
      </p:pic>
      <p:sp>
        <p:nvSpPr>
          <p:cNvPr id="11" name="Text 7"/>
          <p:cNvSpPr txBox="1"/>
          <p:nvPr/>
        </p:nvSpPr>
        <p:spPr>
          <a:xfrm>
            <a:off x="1527048"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Vai Trưởng ca</a:t>
            </a:r>
            <a:endParaRPr lang="en-US" sz="1650" dirty="0"/>
          </a:p>
        </p:txBody>
      </p:sp>
      <p:sp>
        <p:nvSpPr>
          <p:cNvPr id="12" name="Text 8"/>
          <p:cNvSpPr txBox="1"/>
          <p:nvPr/>
        </p:nvSpPr>
        <p:spPr>
          <a:xfrm>
            <a:off x="777240"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Xem 27 cờ của TS-B — 25 cờ thuộc NV0106, NV0108, NV0109</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Trả lời câu hỏi xác minh: có giao việc khác? máy trạm?</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Xác nhận không đổi ca, không đơn trước khi gọi là “vi phạm”</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Hỏi nhân viên bằng dữ liệu, không bằng kết luận</a:t>
            </a:r>
            <a:endParaRPr lang="en-US" sz="1500" dirty="0"/>
          </a:p>
        </p:txBody>
      </p:sp>
      <p:sp>
        <p:nvSpPr>
          <p:cNvPr id="13" name="Shape 9"/>
          <p:cNvSpPr/>
          <p:nvPr/>
        </p:nvSpPr>
        <p:spPr>
          <a:xfrm>
            <a:off x="4338218" y="2240280"/>
            <a:ext cx="3515258" cy="4023360"/>
          </a:xfrm>
          <a:prstGeom prst="roundRect">
            <a:avLst>
              <a:gd name="adj" fmla="val 2601"/>
            </a:avLst>
          </a:prstGeom>
          <a:solidFill>
            <a:srgbClr val="F2F4F6"/>
          </a:solidFill>
          <a:ln w="12700">
            <a:solidFill>
              <a:srgbClr val="F2F4F6"/>
            </a:solidFill>
            <a:prstDash val="solid"/>
          </a:ln>
        </p:spPr>
      </p:sp>
      <p:sp>
        <p:nvSpPr>
          <p:cNvPr id="14" name="Shape 10"/>
          <p:cNvSpPr/>
          <p:nvPr/>
        </p:nvSpPr>
        <p:spPr>
          <a:xfrm>
            <a:off x="4566818" y="2468880"/>
            <a:ext cx="566928" cy="566928"/>
          </a:xfrm>
          <a:prstGeom prst="roundRect">
            <a:avLst>
              <a:gd name="adj" fmla="val 22000"/>
            </a:avLst>
          </a:prstGeom>
          <a:solidFill>
            <a:srgbClr val="2B3E50"/>
          </a:solidFill>
          <a:ln w="12700">
            <a:solidFill>
              <a:srgbClr val="2B3E50"/>
            </a:solidFill>
            <a:prstDash val="solid"/>
          </a:ln>
        </p:spPr>
      </p:sp>
      <p:pic>
        <p:nvPicPr>
          <p:cNvPr id="15" name="Image 1" descr="preencoded.png">    </p:cNvPr>
          <p:cNvPicPr>
            <a:picLocks noChangeAspect="1"/>
          </p:cNvPicPr>
          <p:nvPr/>
        </p:nvPicPr>
        <p:blipFill>
          <a:blip r:embed="rId2"/>
          <a:stretch>
            <a:fillRect/>
          </a:stretch>
        </p:blipFill>
        <p:spPr>
          <a:xfrm>
            <a:off x="4702881" y="2604943"/>
            <a:ext cx="294803" cy="294803"/>
          </a:xfrm>
          <a:prstGeom prst="rect">
            <a:avLst/>
          </a:prstGeom>
        </p:spPr>
      </p:pic>
      <p:sp>
        <p:nvSpPr>
          <p:cNvPr id="16" name="Text 11"/>
          <p:cNvSpPr txBox="1"/>
          <p:nvPr/>
        </p:nvSpPr>
        <p:spPr>
          <a:xfrm>
            <a:off x="5316626"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Vai HR</a:t>
            </a:r>
            <a:endParaRPr lang="en-US" sz="1650" dirty="0"/>
          </a:p>
        </p:txBody>
      </p:sp>
      <p:sp>
        <p:nvSpPr>
          <p:cNvPr id="17" name="Text 12"/>
          <p:cNvSpPr txBox="1"/>
          <p:nvPr/>
        </p:nvSpPr>
        <p:spPr>
          <a:xfrm>
            <a:off x="4566818"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Xử lý Mức 1 trước (19 dòng): ảnh hưởng công/lương</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Chọn phương án H1, H5, H6 — hoặc ghi “cần BGĐ”</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Đơn chờ duyệt (NV0107, NV0113): ai duyệt, hạn nào?</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Ghi Kết luận + Người kết luận</a:t>
            </a:r>
            <a:endParaRPr lang="en-US" sz="1500" dirty="0"/>
          </a:p>
        </p:txBody>
      </p:sp>
      <p:sp>
        <p:nvSpPr>
          <p:cNvPr id="18" name="Shape 13"/>
          <p:cNvSpPr/>
          <p:nvPr/>
        </p:nvSpPr>
        <p:spPr>
          <a:xfrm>
            <a:off x="8127797" y="2240280"/>
            <a:ext cx="3515258" cy="4023360"/>
          </a:xfrm>
          <a:prstGeom prst="roundRect">
            <a:avLst>
              <a:gd name="adj" fmla="val 2601"/>
            </a:avLst>
          </a:prstGeom>
          <a:solidFill>
            <a:srgbClr val="FBE7DA"/>
          </a:solidFill>
          <a:ln w="12700">
            <a:solidFill>
              <a:srgbClr val="FBE7DA"/>
            </a:solidFill>
            <a:prstDash val="solid"/>
          </a:ln>
        </p:spPr>
      </p:sp>
      <p:sp>
        <p:nvSpPr>
          <p:cNvPr id="19" name="Shape 14"/>
          <p:cNvSpPr/>
          <p:nvPr/>
        </p:nvSpPr>
        <p:spPr>
          <a:xfrm>
            <a:off x="8356397" y="2468880"/>
            <a:ext cx="566928" cy="566928"/>
          </a:xfrm>
          <a:prstGeom prst="roundRect">
            <a:avLst>
              <a:gd name="adj" fmla="val 22000"/>
            </a:avLst>
          </a:prstGeom>
          <a:solidFill>
            <a:srgbClr val="D9773A"/>
          </a:solidFill>
          <a:ln w="12700">
            <a:solidFill>
              <a:srgbClr val="D9773A"/>
            </a:solidFill>
            <a:prstDash val="solid"/>
          </a:ln>
        </p:spPr>
      </p:sp>
      <p:pic>
        <p:nvPicPr>
          <p:cNvPr id="20" name="Image 2" descr="preencoded.png">    </p:cNvPr>
          <p:cNvPicPr>
            <a:picLocks noChangeAspect="1"/>
          </p:cNvPicPr>
          <p:nvPr/>
        </p:nvPicPr>
        <p:blipFill>
          <a:blip r:embed="rId3"/>
          <a:stretch>
            <a:fillRect/>
          </a:stretch>
        </p:blipFill>
        <p:spPr>
          <a:xfrm>
            <a:off x="8492460" y="2604943"/>
            <a:ext cx="294803" cy="294803"/>
          </a:xfrm>
          <a:prstGeom prst="rect">
            <a:avLst/>
          </a:prstGeom>
        </p:spPr>
      </p:pic>
      <p:sp>
        <p:nvSpPr>
          <p:cNvPr id="21" name="Text 15"/>
          <p:cNvSpPr txBox="1"/>
          <p:nvPr/>
        </p:nvSpPr>
        <p:spPr>
          <a:xfrm>
            <a:off x="9106205"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Cả hai cùng chốt</a:t>
            </a:r>
            <a:endParaRPr lang="en-US" sz="1650" dirty="0"/>
          </a:p>
        </p:txBody>
      </p:sp>
      <p:sp>
        <p:nvSpPr>
          <p:cNvPr id="22" name="Text 16"/>
          <p:cNvSpPr txBox="1"/>
          <p:nvPr/>
        </p:nvSpPr>
        <p:spPr>
          <a:xfrm>
            <a:off x="8356397"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Mỗi cờ: 1 trong 4 loại + người và hạn xác minh</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1 việc sửa QUY TRÌNH, không chỉ nhắc nhở người</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Ngưỡng nào cần đổi theo dự án × ca?</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Báo lại lớp: 3 quyết định đã chốt</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77924"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1677924"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THỰC HÀNH TẠI NHÀ</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Thực hành tại nhà (1 giờ)</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3 · Chấm công &amp; đối soát</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223760" cy="914400"/>
        </p:xfrm>
        <a:graphic>
          <a:graphicData uri="http://schemas.openxmlformats.org/drawingml/2006/table">
            <a:tbl>
              <a:tblPr/>
              <a:tblGrid>
                <a:gridCol w="731520"/>
                <a:gridCol w="5303520"/>
                <a:gridCol w="118872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Bước</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Việc làm</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Thời gian</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Chạy đối soát 3 lớp cho 1 tuần thật (hoặc tuần 14–20/09 của dữ liệu mẫu), đủ loại cờ, có đối chiếu tổng.</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Xử lý từng cờ: tra đơn → lỗi dữ liệu → quy tắc → xác minh với Trưởng ca; ghi Kết luận (lỗi dữ liệu / hợp lệ / vi phạm) + Căn cứ.</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Cập nhật Bảng quy tắc công v2 với tình huống mới: mã, điều kiện, cách tính, ví dụ số, lý do thay đổi.</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bl>
          </a:graphicData>
        </a:graphic>
      </p:graphicFrame>
      <p:sp>
        <p:nvSpPr>
          <p:cNvPr id="8" name="Shape 4"/>
          <p:cNvSpPr/>
          <p:nvPr/>
        </p:nvSpPr>
        <p:spPr>
          <a:xfrm>
            <a:off x="8092440" y="1691640"/>
            <a:ext cx="3550615" cy="2240280"/>
          </a:xfrm>
          <a:prstGeom prst="roundRect">
            <a:avLst>
              <a:gd name="adj" fmla="val 4082"/>
            </a:avLst>
          </a:prstGeom>
          <a:solidFill>
            <a:srgbClr val="1B2A38"/>
          </a:solidFill>
          <a:ln w="12700">
            <a:solidFill>
              <a:srgbClr val="1B2A38"/>
            </a:solidFill>
            <a:prstDash val="solid"/>
          </a:ln>
        </p:spPr>
      </p:sp>
      <p:sp>
        <p:nvSpPr>
          <p:cNvPr id="9" name="Shape 5"/>
          <p:cNvSpPr/>
          <p:nvPr/>
        </p:nvSpPr>
        <p:spPr>
          <a:xfrm>
            <a:off x="8321040" y="1920240"/>
            <a:ext cx="457200" cy="457200"/>
          </a:xfrm>
          <a:prstGeom prst="roundRect">
            <a:avLst>
              <a:gd name="adj" fmla="val 22000"/>
            </a:avLst>
          </a:prstGeom>
          <a:solidFill>
            <a:srgbClr val="D9773A"/>
          </a:solidFill>
          <a:ln w="12700">
            <a:solidFill>
              <a:srgbClr val="D9773A"/>
            </a:solidFill>
            <a:prstDash val="solid"/>
          </a:ln>
        </p:spPr>
      </p:sp>
      <p:pic>
        <p:nvPicPr>
          <p:cNvPr id="10" name="Image 0" descr="preencoded.png">    </p:cNvPr>
          <p:cNvPicPr>
            <a:picLocks noChangeAspect="1"/>
          </p:cNvPicPr>
          <p:nvPr/>
        </p:nvPicPr>
        <p:blipFill>
          <a:blip r:embed="rId1"/>
          <a:stretch>
            <a:fillRect/>
          </a:stretch>
        </p:blipFill>
        <p:spPr>
          <a:xfrm>
            <a:off x="8430768" y="2029968"/>
            <a:ext cx="237744" cy="237744"/>
          </a:xfrm>
          <a:prstGeom prst="rect">
            <a:avLst/>
          </a:prstGeom>
        </p:spPr>
      </p:pic>
      <p:sp>
        <p:nvSpPr>
          <p:cNvPr id="11" name="Text 6"/>
          <p:cNvSpPr txBox="1"/>
          <p:nvPr/>
        </p:nvSpPr>
        <p:spPr>
          <a:xfrm>
            <a:off x="8915400" y="1920240"/>
            <a:ext cx="2544775"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Nộp bài</a:t>
            </a:r>
            <a:endParaRPr lang="en-US" sz="1800" dirty="0"/>
          </a:p>
        </p:txBody>
      </p:sp>
      <p:sp>
        <p:nvSpPr>
          <p:cNvPr id="12" name="Text 7"/>
          <p:cNvSpPr txBox="1"/>
          <p:nvPr/>
        </p:nvSpPr>
        <p:spPr>
          <a:xfrm>
            <a:off x="8321040" y="2514600"/>
            <a:ext cx="3093415" cy="1325880"/>
          </a:xfrm>
          <a:prstGeom prst="rect">
            <a:avLst/>
          </a:prstGeom>
          <a:noFill/>
          <a:ln/>
        </p:spPr>
        <p:txBody>
          <a:bodyPr wrap="square" lIns="0" tIns="0" rIns="0" bIns="0" rtlCol="0" anchor="t">
            <a:normAutofit/>
          </a:bodyPr>
          <a:lstStyle/>
          <a:p>
            <a:pPr indent="0" marL="0">
              <a:buNone/>
            </a:pPr>
            <a:r>
              <a:rPr lang="en-US" sz="1400" dirty="0">
                <a:solidFill>
                  <a:srgbClr val="E6ECF1"/>
                </a:solidFill>
                <a:latin typeface="Calibri" pitchFamily="34" charset="0"/>
                <a:ea typeface="Calibri" pitchFamily="34" charset="-122"/>
                <a:cs typeface="Calibri" pitchFamily="34" charset="-120"/>
              </a:rPr>
              <a:t>Báo cáo đối soát 1 tuần có cột Kết luận (tách “đề xuất AI” và “kết luận người”) + Bảng quy tắc công v2.</a:t>
            </a:r>
            <a:endParaRPr lang="en-US" sz="1400" dirty="0"/>
          </a:p>
        </p:txBody>
      </p:sp>
      <p:sp>
        <p:nvSpPr>
          <p:cNvPr id="13" name="Shape 8"/>
          <p:cNvSpPr/>
          <p:nvPr/>
        </p:nvSpPr>
        <p:spPr>
          <a:xfrm>
            <a:off x="8092440" y="4160520"/>
            <a:ext cx="3550615" cy="2103120"/>
          </a:xfrm>
          <a:prstGeom prst="roundRect">
            <a:avLst>
              <a:gd name="adj" fmla="val 4348"/>
            </a:avLst>
          </a:prstGeom>
          <a:solidFill>
            <a:srgbClr val="FBE7DA"/>
          </a:solidFill>
          <a:ln w="12700">
            <a:solidFill>
              <a:srgbClr val="FBE7DA"/>
            </a:solidFill>
            <a:prstDash val="solid"/>
          </a:ln>
        </p:spPr>
      </p:sp>
      <p:sp>
        <p:nvSpPr>
          <p:cNvPr id="14" name="Text 9"/>
          <p:cNvSpPr txBox="1"/>
          <p:nvPr/>
        </p:nvSpPr>
        <p:spPr>
          <a:xfrm>
            <a:off x="8321040" y="4343400"/>
            <a:ext cx="3093415" cy="173736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Chưa có dữ liệu thật?</a:t>
            </a:r>
            <a:pPr indent="0" marL="0">
              <a:buNone/>
            </a:pPr>
            <a:r>
              <a:rPr lang="en-US" sz="1300" dirty="0">
                <a:solidFill>
                  <a:srgbClr val="1B2A38"/>
                </a:solidFill>
                <a:latin typeface="Calibri" pitchFamily="34" charset="0"/>
                <a:ea typeface="Calibri" pitchFamily="34" charset="-122"/>
                <a:cs typeface="Calibri" pitchFamily="34" charset="-120"/>
              </a:rPr>
              <a:t> Dùng tuần 14–20/09: lời giải tham chiếu có 19 cờ trên 113 ca được xếp.</a:t>
            </a:r>
            <a:endParaRPr lang="en-US" sz="1300" dirty="0"/>
          </a:p>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Không kết luận “vi phạm”</a:t>
            </a:r>
            <a:pPr indent="0" marL="0">
              <a:buNone/>
            </a:pPr>
            <a:r>
              <a:rPr lang="en-US" sz="1300" dirty="0">
                <a:solidFill>
                  <a:srgbClr val="1B2A38"/>
                </a:solidFill>
                <a:latin typeface="Calibri" pitchFamily="34" charset="0"/>
                <a:ea typeface="Calibri" pitchFamily="34" charset="-122"/>
                <a:cs typeface="Calibri" pitchFamily="34" charset="-120"/>
              </a:rPr>
              <a:t> khi chưa có căn cứ xác minh — nhất là NV0114, NV0106.</a:t>
            </a:r>
            <a:endParaRPr lang="en-US" sz="1300" dirty="0"/>
          </a:p>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Rubric &amp; prompt hỗ trợ:</a:t>
            </a:r>
            <a:pPr indent="0" marL="0">
              <a:buNone/>
            </a:pPr>
            <a:r>
              <a:rPr lang="en-US" sz="1300" dirty="0">
                <a:solidFill>
                  <a:srgbClr val="1B2A38"/>
                </a:solidFill>
                <a:latin typeface="Calibri" pitchFamily="34" charset="0"/>
                <a:ea typeface="Calibri" pitchFamily="34" charset="-122"/>
                <a:cs typeface="Calibri" pitchFamily="34" charset="-120"/>
              </a:rPr>
              <a:t> ebook → Buổi 3 → Thực hành tại nhà.</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A38"/>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Tổng kết buổi học</a:t>
            </a:r>
            <a:endParaRPr lang="en-US" sz="3000" dirty="0"/>
          </a:p>
        </p:txBody>
      </p:sp>
      <p:sp>
        <p:nvSpPr>
          <p:cNvPr id="4" name="Text 1"/>
          <p:cNvSpPr txBox="1"/>
          <p:nvPr/>
        </p:nvSpPr>
        <p:spPr>
          <a:xfrm>
            <a:off x="548640" y="1417320"/>
            <a:ext cx="6766560" cy="411480"/>
          </a:xfrm>
          <a:prstGeom prst="rect">
            <a:avLst/>
          </a:prstGeom>
          <a:noFill/>
          <a:ln/>
        </p:spPr>
        <p:txBody>
          <a:bodyPr wrap="square" lIns="0" tIns="0" rIns="0" bIns="0" rtlCol="0" anchor="t"/>
          <a:lstStyle/>
          <a:p>
            <a:pPr indent="0" marL="0">
              <a:buNone/>
            </a:pPr>
            <a:r>
              <a:rPr lang="en-US" sz="1500" b="1" spc="100" kern="0" dirty="0">
                <a:solidFill>
                  <a:srgbClr val="D9773A"/>
                </a:solidFill>
                <a:latin typeface="Calibri" pitchFamily="34" charset="0"/>
                <a:ea typeface="Calibri" pitchFamily="34" charset="-122"/>
                <a:cs typeface="Calibri" pitchFamily="34" charset="-120"/>
              </a:rPr>
              <a:t>Hôm nay bạn đã làm được</a:t>
            </a:r>
            <a:endParaRPr lang="en-US" sz="1500" dirty="0"/>
          </a:p>
        </p:txBody>
      </p:sp>
      <p:sp>
        <p:nvSpPr>
          <p:cNvPr id="5" name="Text 2"/>
          <p:cNvSpPr txBox="1"/>
          <p:nvPr/>
        </p:nvSpPr>
        <p:spPr>
          <a:xfrm>
            <a:off x="548640" y="1920240"/>
            <a:ext cx="6766560" cy="4206240"/>
          </a:xfrm>
          <a:prstGeom prst="rect">
            <a:avLst/>
          </a:prstGeom>
          <a:noFill/>
          <a:ln/>
        </p:spPr>
        <p:txBody>
          <a:bodyPr wrap="square" lIns="0" tIns="0" rIns="0" bIns="0" rtlCol="0" anchor="t">
            <a:normAutofit/>
          </a:bodyPr>
          <a:lstStyle/>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Biết vì sao chấm công callcenter không dùng được công thức văn phòng: ca xoay, ca đêm, máy không phân vào/ra</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Đọc được 3 lớp thời gian: có mặt ≥ đăng nhập ≥ sản xuất — khoảng hở A, B và tỷ lệ sản xuất</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Bảng quy tắc công QC-xx + câu hỏi cho HR, mỗi câu 2 phương án; số liệu pháp lý là tham số</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File công 4 sheet: 220 dòng Cong_ngay, đối chiếu tổng khớp</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Báo cáo đối soát 40 cờ — AI đề xuất phân loại, người kết luận</a:t>
            </a:r>
            <a:endParaRPr lang="en-US" sz="1550" dirty="0"/>
          </a:p>
        </p:txBody>
      </p:sp>
      <p:sp>
        <p:nvSpPr>
          <p:cNvPr id="6" name="Shape 3"/>
          <p:cNvSpPr/>
          <p:nvPr/>
        </p:nvSpPr>
        <p:spPr>
          <a:xfrm>
            <a:off x="7680960" y="1417320"/>
            <a:ext cx="3962095" cy="4709160"/>
          </a:xfrm>
          <a:prstGeom prst="roundRect">
            <a:avLst>
              <a:gd name="adj" fmla="val 2769"/>
            </a:avLst>
          </a:prstGeom>
          <a:solidFill>
            <a:srgbClr val="2B3E50"/>
          </a:solidFill>
          <a:ln w="12700">
            <a:solidFill>
              <a:srgbClr val="2B3E50"/>
            </a:solidFill>
            <a:prstDash val="solid"/>
          </a:ln>
        </p:spPr>
      </p:sp>
      <p:sp>
        <p:nvSpPr>
          <p:cNvPr id="7" name="Shape 4"/>
          <p:cNvSpPr/>
          <p:nvPr/>
        </p:nvSpPr>
        <p:spPr>
          <a:xfrm>
            <a:off x="7955280" y="1691640"/>
            <a:ext cx="502920" cy="502920"/>
          </a:xfrm>
          <a:prstGeom prst="roundRect">
            <a:avLst>
              <a:gd name="adj" fmla="val 22000"/>
            </a:avLst>
          </a:prstGeom>
          <a:solidFill>
            <a:srgbClr val="D9773A"/>
          </a:solidFill>
          <a:ln w="12700">
            <a:solidFill>
              <a:srgbClr val="D9773A"/>
            </a:solidFill>
            <a:prstDash val="solid"/>
          </a:ln>
        </p:spPr>
      </p:sp>
      <p:pic>
        <p:nvPicPr>
          <p:cNvPr id="8" name="Image 0" descr="preencoded.png">    </p:cNvPr>
          <p:cNvPicPr>
            <a:picLocks noChangeAspect="1"/>
          </p:cNvPicPr>
          <p:nvPr/>
        </p:nvPicPr>
        <p:blipFill>
          <a:blip r:embed="rId1"/>
          <a:stretch>
            <a:fillRect/>
          </a:stretch>
        </p:blipFill>
        <p:spPr>
          <a:xfrm>
            <a:off x="8075981" y="1812341"/>
            <a:ext cx="261518" cy="261518"/>
          </a:xfrm>
          <a:prstGeom prst="rect">
            <a:avLst/>
          </a:prstGeom>
        </p:spPr>
      </p:pic>
      <p:sp>
        <p:nvSpPr>
          <p:cNvPr id="9" name="Text 5"/>
          <p:cNvSpPr txBox="1"/>
          <p:nvPr/>
        </p:nvSpPr>
        <p:spPr>
          <a:xfrm>
            <a:off x="8595360" y="1691640"/>
            <a:ext cx="2864815"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Buổi 4 · KPI &amp; dashboard</a:t>
            </a:r>
            <a:endParaRPr lang="en-US" sz="1800" dirty="0"/>
          </a:p>
        </p:txBody>
      </p:sp>
      <p:sp>
        <p:nvSpPr>
          <p:cNvPr id="10" name="Text 6"/>
          <p:cNvSpPr txBox="1"/>
          <p:nvPr/>
        </p:nvSpPr>
        <p:spPr>
          <a:xfrm>
            <a:off x="7955280" y="2423160"/>
            <a:ext cx="3413455" cy="3520440"/>
          </a:xfrm>
          <a:prstGeom prst="rect">
            <a:avLst/>
          </a:prstGeom>
          <a:noFill/>
          <a:ln/>
        </p:spPr>
        <p:txBody>
          <a:bodyPr wrap="square" lIns="0" tIns="0" rIns="0" bIns="0" rtlCol="0" anchor="t">
            <a:normAutofit/>
          </a:bodyPr>
          <a:lstStyle/>
          <a:p>
            <a:pPr marL="228600" indent="-228600">
              <a:spcAft>
                <a:spcPts val="900"/>
              </a:spcAft>
              <a:buSzPct val="100000"/>
              <a:buChar char="•"/>
            </a:pPr>
            <a:r>
              <a:rPr lang="en-US" sz="1450" dirty="0">
                <a:solidFill>
                  <a:srgbClr val="E6ECF1"/>
                </a:solidFill>
                <a:latin typeface="Calibri" pitchFamily="34" charset="0"/>
                <a:ea typeface="Calibri" pitchFamily="34" charset="-122"/>
                <a:cs typeface="Calibri" pitchFamily="34" charset="-120"/>
              </a:rPr>
              <a:t>Nối sản lượng (buổi 2) với giờ công đã đối soát (buổi 3)</a:t>
            </a:r>
            <a:endParaRPr lang="en-US" sz="1450" dirty="0"/>
          </a:p>
          <a:p>
            <a:pPr marL="228600" indent="-228600">
              <a:spcAft>
                <a:spcPts val="900"/>
              </a:spcAft>
              <a:buSzPct val="100000"/>
              <a:buChar char="•"/>
            </a:pPr>
            <a:r>
              <a:rPr lang="en-US" sz="1450" dirty="0">
                <a:solidFill>
                  <a:srgbClr val="E6ECF1"/>
                </a:solidFill>
                <a:latin typeface="Calibri" pitchFamily="34" charset="0"/>
                <a:ea typeface="Calibri" pitchFamily="34" charset="-122"/>
                <a:cs typeface="Calibri" pitchFamily="34" charset="-120"/>
              </a:rPr>
              <a:t>Từ điển chỉ số v1 + scorecard agent</a:t>
            </a:r>
            <a:endParaRPr lang="en-US" sz="1450" dirty="0"/>
          </a:p>
          <a:p>
            <a:pPr marL="228600" indent="-228600">
              <a:spcAft>
                <a:spcPts val="900"/>
              </a:spcAft>
              <a:buSzPct val="100000"/>
              <a:buChar char="•"/>
            </a:pPr>
            <a:r>
              <a:rPr lang="en-US" sz="1450" dirty="0">
                <a:solidFill>
                  <a:srgbClr val="E6ECF1"/>
                </a:solidFill>
                <a:latin typeface="Calibri" pitchFamily="34" charset="0"/>
                <a:ea typeface="Calibri" pitchFamily="34" charset="-122"/>
                <a:cs typeface="Calibri" pitchFamily="34" charset="-120"/>
              </a:rPr>
              <a:t>Dashboard 3 tab: Trưởng ca – HR – CEO</a:t>
            </a:r>
            <a:endParaRPr lang="en-US" sz="1450" dirty="0"/>
          </a:p>
          <a:p>
            <a:pPr marL="228600" indent="-228600">
              <a:spcAft>
                <a:spcPts val="900"/>
              </a:spcAft>
              <a:buSzPct val="100000"/>
              <a:buChar char="•"/>
            </a:pPr>
            <a:r>
              <a:rPr lang="en-US" sz="1450" b="1" dirty="0">
                <a:solidFill>
                  <a:srgbClr val="E6ECF1"/>
                </a:solidFill>
                <a:latin typeface="Calibri" pitchFamily="34" charset="0"/>
                <a:ea typeface="Calibri" pitchFamily="34" charset="-122"/>
                <a:cs typeface="Calibri" pitchFamily="34" charset="-120"/>
              </a:rPr>
              <a:t>Mang theo:</a:t>
            </a:r>
            <a:pPr indent="0" marL="0">
              <a:buNone/>
            </a:pPr>
            <a:r>
              <a:rPr lang="en-US" sz="1450" dirty="0">
                <a:solidFill>
                  <a:srgbClr val="E6ECF1"/>
                </a:solidFill>
                <a:latin typeface="Calibri" pitchFamily="34" charset="0"/>
                <a:ea typeface="Calibri" pitchFamily="34" charset="-122"/>
                <a:cs typeface="Calibri" pitchFamily="34" charset="-120"/>
              </a:rPr>
              <a:t> bảng công đã đối soát + % lỗi dữ liệu / vi phạm thật của bài về nhà</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Sao Việt Contact Center (hư cấu)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3 — Số hóa chấm công &amp; đối soát</dc:title>
  <dc:subject>PptxGenJS Presentation</dc:subject>
  <dc:creator>Claude cho Callcenter</dc:creator>
  <cp:lastModifiedBy>Claude cho Callcenter</cp:lastModifiedBy>
  <cp:revision>1</cp:revision>
  <dcterms:created xsi:type="dcterms:W3CDTF">2026-10-01T07:27:05Z</dcterms:created>
  <dcterms:modified xsi:type="dcterms:W3CDTF">2026-10-01T07:27:05Z</dcterms:modified>
</cp:coreProperties>
</file>