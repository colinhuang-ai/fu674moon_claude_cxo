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Giờ công lãng phí (giờ)</c:v>
                </c:pt>
              </c:strCache>
            </c:strRef>
          </c:tx>
          <c:spPr>
            <a:solidFill>
              <a:srgbClr val="B8C2CC"/>
            </a:solidFill>
            <a:effectLst/>
          </c:spPr>
          <c:invertIfNegative val="0"/>
          <c:dLbls>
            <c:numFmt formatCode="0.0" sourceLinked="0"/>
            <c:txPr>
              <a:bodyPr/>
              <a:lstStyle/>
              <a:p>
                <a:pPr>
                  <a:defRPr b="0" i="0" strike="noStrike" sz="1000" u="none">
                    <a:solidFill>
                      <a:srgbClr val="1B2A38"/>
                    </a:solidFill>
                    <a:latin typeface="Arial"/>
                  </a:defRPr>
                </a:pPr>
              </a:p>
            </c:txPr>
            <c:showLegendKey val="0"/>
            <c:showVal val="1"/>
            <c:showCatName val="0"/>
            <c:showSerName val="0"/>
            <c:showPercent val="0"/>
            <c:showBubbleSize val="0"/>
            <c:showLeaderLines val="0"/>
          </c:dLbls>
          <c:dPt>
            <c:idx val="0"/>
            <c:invertIfNegative val="0"/>
            <c:bubble3D val="0"/>
            <c:spPr>
              <a:solidFill>
                <a:srgbClr val="B8C2CC"/>
              </a:solidFill>
              <a:effectLst/>
            </c:spPr>
          </c:dPt>
          <c:dPt>
            <c:idx val="1"/>
            <c:invertIfNegative val="0"/>
            <c:bubble3D val="0"/>
            <c:spPr>
              <a:solidFill>
                <a:srgbClr val="D9773A"/>
              </a:solidFill>
              <a:effectLst/>
            </c:spPr>
          </c:dPt>
          <c:dPt>
            <c:idx val="2"/>
            <c:invertIfNegative val="0"/>
            <c:bubble3D val="0"/>
            <c:spPr>
              <a:solidFill>
                <a:srgbClr val="2B3E50"/>
              </a:solidFill>
              <a:effectLst/>
            </c:spPr>
          </c:dPt>
          <c:cat>
            <c:multiLvlStrRef>
              <c:f>Sheet1!$A$2:$A$4</c:f>
              <c:multiLvlStrCache>
                <c:ptCount val="3"/>
                <c:lvl>
                  <c:pt idx="0">
                    <c:v>Ngưỡng 0 phút</c:v>
                  </c:pt>
                  <c:pt idx="1">
                    <c:v>Ngưỡng 15 phút (v1)</c:v>
                  </c:pt>
                  <c:pt idx="2">
                    <c:v>Ngưỡng 30 phút</c:v>
                  </c:pt>
                </c:lvl>
              </c:multiLvlStrCache>
            </c:multiLvlStrRef>
          </c:cat>
          <c:val>
            <c:numRef>
              <c:f>Sheet1!$B$2:$B$4</c:f>
              <c:numCache>
                <c:formatCode>General</c:formatCode>
                <c:ptCount val="3"/>
                <c:pt idx="0">
                  <c:v>62.7</c:v>
                </c:pt>
                <c:pt idx="1">
                  <c:v>24.3</c:v>
                </c:pt>
                <c:pt idx="2">
                  <c:v>21.8</c:v>
                </c:pt>
              </c:numCache>
            </c:numRef>
          </c:val>
        </c:ser>
        <c:dLbls>
          <c:numFmt formatCode="0.0" sourceLinked="0"/>
          <c:txPr>
            <a:bodyPr/>
            <a:lstStyle/>
            <a:p>
              <a:pPr>
                <a:defRPr b="0" i="0" strike="noStrike" sz="1000" u="none">
                  <a:solidFill>
                    <a:srgbClr val="1B2A3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78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6E9ED"/>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78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Cuộc gọi / giờ công</c:v>
                </c:pt>
              </c:strCache>
            </c:strRef>
          </c:tx>
          <c:spPr>
            <a:solidFill>
              <a:srgbClr val="B8C2CC"/>
            </a:solidFill>
            <a:effectLst/>
          </c:spPr>
          <c:invertIfNegative val="0"/>
          <c:dLbls>
            <c:numFmt formatCode="0.0" sourceLinked="0"/>
            <c:txPr>
              <a:bodyPr/>
              <a:lstStyle/>
              <a:p>
                <a:pPr>
                  <a:defRPr b="0" i="0" strike="noStrike" sz="1100" u="none">
                    <a:solidFill>
                      <a:srgbClr val="1B2A38"/>
                    </a:solidFill>
                    <a:latin typeface="Arial"/>
                  </a:defRPr>
                </a:pPr>
              </a:p>
            </c:txPr>
            <c:showLegendKey val="0"/>
            <c:showVal val="1"/>
            <c:showCatName val="0"/>
            <c:showSerName val="0"/>
            <c:showPercent val="0"/>
            <c:showBubbleSize val="0"/>
            <c:showLeaderLines val="0"/>
          </c:dLbls>
          <c:dPt>
            <c:idx val="0"/>
            <c:invertIfNegative val="0"/>
            <c:bubble3D val="0"/>
            <c:spPr>
              <a:solidFill>
                <a:srgbClr val="B8C2CC"/>
              </a:solidFill>
              <a:effectLst/>
            </c:spPr>
          </c:dPt>
          <c:dPt>
            <c:idx val="1"/>
            <c:invertIfNegative val="0"/>
            <c:bubble3D val="0"/>
            <c:spPr>
              <a:solidFill>
                <a:srgbClr val="B8C2CC"/>
              </a:solidFill>
              <a:effectLst/>
            </c:spPr>
          </c:dPt>
          <c:dPt>
            <c:idx val="2"/>
            <c:invertIfNegative val="0"/>
            <c:bubble3D val="0"/>
            <c:spPr>
              <a:solidFill>
                <a:srgbClr val="B8C2CC"/>
              </a:solidFill>
              <a:effectLst/>
            </c:spPr>
          </c:dPt>
          <c:dPt>
            <c:idx val="3"/>
            <c:invertIfNegative val="0"/>
            <c:bubble3D val="0"/>
            <c:spPr>
              <a:solidFill>
                <a:srgbClr val="B8C2CC"/>
              </a:solidFill>
              <a:effectLst/>
            </c:spPr>
          </c:dPt>
          <c:dPt>
            <c:idx val="4"/>
            <c:invertIfNegative val="0"/>
            <c:bubble3D val="0"/>
            <c:spPr>
              <a:solidFill>
                <a:srgbClr val="B8C2CC"/>
              </a:solidFill>
              <a:effectLst/>
            </c:spPr>
          </c:dPt>
          <c:dPt>
            <c:idx val="5"/>
            <c:invertIfNegative val="0"/>
            <c:bubble3D val="0"/>
            <c:spPr>
              <a:solidFill>
                <a:srgbClr val="2E7D7A"/>
              </a:solidFill>
              <a:effectLst/>
            </c:spPr>
          </c:dPt>
          <c:dPt>
            <c:idx val="6"/>
            <c:invertIfNegative val="0"/>
            <c:bubble3D val="0"/>
            <c:spPr>
              <a:solidFill>
                <a:srgbClr val="B8C2CC"/>
              </a:solidFill>
              <a:effectLst/>
            </c:spPr>
          </c:dPt>
          <c:dPt>
            <c:idx val="7"/>
            <c:invertIfNegative val="0"/>
            <c:bubble3D val="0"/>
            <c:spPr>
              <a:solidFill>
                <a:srgbClr val="B8C2CC"/>
              </a:solidFill>
              <a:effectLst/>
            </c:spPr>
          </c:dPt>
          <c:dPt>
            <c:idx val="8"/>
            <c:invertIfNegative val="0"/>
            <c:bubble3D val="0"/>
            <c:spPr>
              <a:solidFill>
                <a:srgbClr val="B8C2CC"/>
              </a:solidFill>
              <a:effectLst/>
            </c:spPr>
          </c:dPt>
          <c:dPt>
            <c:idx val="9"/>
            <c:invertIfNegative val="0"/>
            <c:bubble3D val="0"/>
            <c:spPr>
              <a:solidFill>
                <a:srgbClr val="B8C2CC"/>
              </a:solidFill>
              <a:effectLst/>
            </c:spPr>
          </c:dPt>
          <c:dPt>
            <c:idx val="10"/>
            <c:invertIfNegative val="0"/>
            <c:bubble3D val="0"/>
            <c:spPr>
              <a:solidFill>
                <a:srgbClr val="D9773A"/>
              </a:solidFill>
              <a:effectLst/>
            </c:spPr>
          </c:dPt>
          <c:cat>
            <c:multiLvlStrRef>
              <c:f>Sheet1!$A$2:$A$12</c:f>
              <c:multiLvlStrCache>
                <c:ptCount val="11"/>
                <c:lvl>
                  <c:pt idx="0">
                    <c:v>NV0108</c:v>
                  </c:pt>
                  <c:pt idx="1">
                    <c:v>NV0106</c:v>
                  </c:pt>
                  <c:pt idx="2">
                    <c:v>NV0109</c:v>
                  </c:pt>
                  <c:pt idx="3">
                    <c:v>NV0110</c:v>
                  </c:pt>
                  <c:pt idx="4">
                    <c:v>NV0111</c:v>
                  </c:pt>
                  <c:pt idx="5">
                    <c:v>NV0105</c:v>
                  </c:pt>
                  <c:pt idx="6">
                    <c:v>NV0104</c:v>
                  </c:pt>
                  <c:pt idx="7">
                    <c:v>NV0107</c:v>
                  </c:pt>
                  <c:pt idx="8">
                    <c:v>NV0102</c:v>
                  </c:pt>
                  <c:pt idx="9">
                    <c:v>NV0101</c:v>
                  </c:pt>
                  <c:pt idx="10">
                    <c:v>NV0103</c:v>
                  </c:pt>
                </c:lvl>
              </c:multiLvlStrCache>
            </c:multiLvlStrRef>
          </c:cat>
          <c:val>
            <c:numRef>
              <c:f>Sheet1!$B$2:$B$12</c:f>
              <c:numCache>
                <c:formatCode>General</c:formatCode>
                <c:ptCount val="11"/>
                <c:pt idx="0">
                  <c:v>16.9</c:v>
                </c:pt>
                <c:pt idx="1">
                  <c:v>22.2</c:v>
                </c:pt>
                <c:pt idx="2">
                  <c:v>23.8</c:v>
                </c:pt>
                <c:pt idx="3">
                  <c:v>24</c:v>
                </c:pt>
                <c:pt idx="4">
                  <c:v>24.1</c:v>
                </c:pt>
                <c:pt idx="5">
                  <c:v>24.3</c:v>
                </c:pt>
                <c:pt idx="6">
                  <c:v>24.3</c:v>
                </c:pt>
                <c:pt idx="7">
                  <c:v>24.4</c:v>
                </c:pt>
                <c:pt idx="8">
                  <c:v>24.4</c:v>
                </c:pt>
                <c:pt idx="9">
                  <c:v>24.4</c:v>
                </c:pt>
                <c:pt idx="10">
                  <c:v>28.4</c:v>
                </c:pt>
              </c:numCache>
            </c:numRef>
          </c:val>
        </c:ser>
        <c:dLbls>
          <c:numFmt formatCode="0.0" sourceLinked="0"/>
          <c:txPr>
            <a:bodyPr/>
            <a:lstStyle/>
            <a:p>
              <a:pPr>
                <a:defRPr b="0" i="0" strike="noStrike" sz="1100" u="none">
                  <a:solidFill>
                    <a:srgbClr val="1B2A38"/>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A38"/>
                </a:solidFill>
                <a:latin typeface="Calibri"/>
              </a:defRPr>
            </a:pPr>
            <a:endParaRPr lang="en-US"/>
          </a:p>
        </c:txPr>
        <c:crossAx val="2094734552"/>
        <c:crosses val="autoZero"/>
        <c:auto val="1"/>
        <c:lblAlgn val="ctr"/>
        <c:noMultiLvlLbl val="1"/>
      </c:catAx>
      <c:valAx>
        <c:axId val="2094734552"/>
        <c:scaling>
          <c:orientation val="minMax"/>
          <c:max val="33"/>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Cuộc thành công / giờ công</c:v>
                </c:pt>
              </c:strCache>
            </c:strRef>
          </c:tx>
          <c:spPr>
            <a:solidFill>
              <a:srgbClr val="D9773A"/>
            </a:solidFill>
            <a:effectLst/>
          </c:spPr>
          <c:invertIfNegative val="0"/>
          <c:dLbls>
            <c:numFmt formatCode="0.00" sourceLinked="0"/>
            <c:txPr>
              <a:bodyPr/>
              <a:lstStyle/>
              <a:p>
                <a:pPr>
                  <a:defRPr b="0" i="0" strike="noStrike" sz="1100" u="none">
                    <a:solidFill>
                      <a:srgbClr val="1B2A38"/>
                    </a:solidFill>
                    <a:latin typeface="Arial"/>
                  </a:defRPr>
                </a:pPr>
              </a:p>
            </c:txPr>
            <c:showLegendKey val="0"/>
            <c:showVal val="1"/>
            <c:showCatName val="0"/>
            <c:showSerName val="0"/>
            <c:showPercent val="0"/>
            <c:showBubbleSize val="0"/>
            <c:showLeaderLines val="0"/>
          </c:dLbls>
          <c:dPt>
            <c:idx val="0"/>
            <c:invertIfNegative val="0"/>
            <c:bubble3D val="0"/>
            <c:spPr>
              <a:solidFill>
                <a:srgbClr val="D9773A"/>
              </a:solidFill>
              <a:effectLst/>
            </c:spPr>
          </c:dPt>
          <c:dPt>
            <c:idx val="1"/>
            <c:invertIfNegative val="0"/>
            <c:bubble3D val="0"/>
            <c:spPr>
              <a:solidFill>
                <a:srgbClr val="B8C2CC"/>
              </a:solidFill>
              <a:effectLst/>
            </c:spPr>
          </c:dPt>
          <c:dPt>
            <c:idx val="2"/>
            <c:invertIfNegative val="0"/>
            <c:bubble3D val="0"/>
            <c:spPr>
              <a:solidFill>
                <a:srgbClr val="B8C2CC"/>
              </a:solidFill>
              <a:effectLst/>
            </c:spPr>
          </c:dPt>
          <c:dPt>
            <c:idx val="3"/>
            <c:invertIfNegative val="0"/>
            <c:bubble3D val="0"/>
            <c:spPr>
              <a:solidFill>
                <a:srgbClr val="B8C2CC"/>
              </a:solidFill>
              <a:effectLst/>
            </c:spPr>
          </c:dPt>
          <c:dPt>
            <c:idx val="4"/>
            <c:invertIfNegative val="0"/>
            <c:bubble3D val="0"/>
            <c:spPr>
              <a:solidFill>
                <a:srgbClr val="B8C2CC"/>
              </a:solidFill>
              <a:effectLst/>
            </c:spPr>
          </c:dPt>
          <c:dPt>
            <c:idx val="5"/>
            <c:invertIfNegative val="0"/>
            <c:bubble3D val="0"/>
            <c:spPr>
              <a:solidFill>
                <a:srgbClr val="B8C2CC"/>
              </a:solidFill>
              <a:effectLst/>
            </c:spPr>
          </c:dPt>
          <c:dPt>
            <c:idx val="6"/>
            <c:invertIfNegative val="0"/>
            <c:bubble3D val="0"/>
            <c:spPr>
              <a:solidFill>
                <a:srgbClr val="B8C2CC"/>
              </a:solidFill>
              <a:effectLst/>
            </c:spPr>
          </c:dPt>
          <c:dPt>
            <c:idx val="7"/>
            <c:invertIfNegative val="0"/>
            <c:bubble3D val="0"/>
            <c:spPr>
              <a:solidFill>
                <a:srgbClr val="B8C2CC"/>
              </a:solidFill>
              <a:effectLst/>
            </c:spPr>
          </c:dPt>
          <c:dPt>
            <c:idx val="8"/>
            <c:invertIfNegative val="0"/>
            <c:bubble3D val="0"/>
            <c:spPr>
              <a:solidFill>
                <a:srgbClr val="B8C2CC"/>
              </a:solidFill>
              <a:effectLst/>
            </c:spPr>
          </c:dPt>
          <c:dPt>
            <c:idx val="9"/>
            <c:invertIfNegative val="0"/>
            <c:bubble3D val="0"/>
            <c:spPr>
              <a:solidFill>
                <a:srgbClr val="B8C2CC"/>
              </a:solidFill>
              <a:effectLst/>
            </c:spPr>
          </c:dPt>
          <c:dPt>
            <c:idx val="10"/>
            <c:invertIfNegative val="0"/>
            <c:bubble3D val="0"/>
            <c:spPr>
              <a:solidFill>
                <a:srgbClr val="2E7D7A"/>
              </a:solidFill>
              <a:effectLst/>
            </c:spPr>
          </c:dPt>
          <c:cat>
            <c:multiLvlStrRef>
              <c:f>Sheet1!$A$2:$A$12</c:f>
              <c:multiLvlStrCache>
                <c:ptCount val="11"/>
                <c:lvl>
                  <c:pt idx="0">
                    <c:v>NV0103</c:v>
                  </c:pt>
                  <c:pt idx="1">
                    <c:v>NV0108</c:v>
                  </c:pt>
                  <c:pt idx="2">
                    <c:v>NV0107</c:v>
                  </c:pt>
                  <c:pt idx="3">
                    <c:v>NV0104</c:v>
                  </c:pt>
                  <c:pt idx="4">
                    <c:v>NV0111</c:v>
                  </c:pt>
                  <c:pt idx="5">
                    <c:v>NV0102</c:v>
                  </c:pt>
                  <c:pt idx="6">
                    <c:v>NV0101</c:v>
                  </c:pt>
                  <c:pt idx="7">
                    <c:v>NV0106</c:v>
                  </c:pt>
                  <c:pt idx="8">
                    <c:v>NV0110</c:v>
                  </c:pt>
                  <c:pt idx="9">
                    <c:v>NV0109</c:v>
                  </c:pt>
                  <c:pt idx="10">
                    <c:v>NV0105</c:v>
                  </c:pt>
                </c:lvl>
              </c:multiLvlStrCache>
            </c:multiLvlStrRef>
          </c:cat>
          <c:val>
            <c:numRef>
              <c:f>Sheet1!$B$2:$B$12</c:f>
              <c:numCache>
                <c:formatCode>General</c:formatCode>
                <c:ptCount val="11"/>
                <c:pt idx="0">
                  <c:v>0.54</c:v>
                </c:pt>
                <c:pt idx="1">
                  <c:v>1.09</c:v>
                </c:pt>
                <c:pt idx="2">
                  <c:v>1.26</c:v>
                </c:pt>
                <c:pt idx="3">
                  <c:v>1.29</c:v>
                </c:pt>
                <c:pt idx="4">
                  <c:v>1.3</c:v>
                </c:pt>
                <c:pt idx="5">
                  <c:v>1.31</c:v>
                </c:pt>
                <c:pt idx="6">
                  <c:v>1.31</c:v>
                </c:pt>
                <c:pt idx="7">
                  <c:v>1.34</c:v>
                </c:pt>
                <c:pt idx="8">
                  <c:v>1.36</c:v>
                </c:pt>
                <c:pt idx="9">
                  <c:v>1.41</c:v>
                </c:pt>
                <c:pt idx="10">
                  <c:v>1.54</c:v>
                </c:pt>
              </c:numCache>
            </c:numRef>
          </c:val>
        </c:ser>
        <c:dLbls>
          <c:numFmt formatCode="0.00" sourceLinked="0"/>
          <c:txPr>
            <a:bodyPr/>
            <a:lstStyle/>
            <a:p>
              <a:pPr>
                <a:defRPr b="0" i="0" strike="noStrike" sz="1100" u="none">
                  <a:solidFill>
                    <a:srgbClr val="1B2A38"/>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A38"/>
                </a:solidFill>
                <a:latin typeface="Calibri"/>
              </a:defRPr>
            </a:pPr>
            <a:endParaRPr lang="en-US"/>
          </a:p>
        </c:txPr>
        <c:crossAx val="2094734552"/>
        <c:crosses val="autoZero"/>
        <c:auto val="1"/>
        <c:lblAlgn val="ctr"/>
        <c:noMultiLvlLbl val="1"/>
      </c:catAx>
      <c:valAx>
        <c:axId val="2094734552"/>
        <c:scaling>
          <c:orientation val="minMax"/>
          <c:max val="1.8"/>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1 phút. Nhắc lại hành trình: buổi 2 có bảng sản lượng sạch, buổi 3 có bảng công đã đối soát — hôm nay nối hai bảng thành ngôn ngữ chung của cả công ty. Kể nhanh cảnh giao ban: anh Tùng báo giờ công TS-B 489,7 giờ (giờ đăng nhập), chị Mai báo 510,9 giờ (giờ có mặt) — 20 phút đầu họp chỉ để cãi số nào đúng. Ebook: Buổi 4 → Tổng quan, có bảng “con số neo” để học viên tự kiểm tra trong suốt buổi.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nhanh 3 mục tiêu. Hỏi lớp: ở công ty bạn, “năng suất” đang tính trên giờ nào — giờ có mặt, giờ đăng nhập hay giờ trong lịch ca? Thường mỗi phòng trả lời một kiểu, và đó chính là vấn đề buổi này giải quyết. Nhấn mạnh: ngưỡng cảnh báo là quyết định quản trị — Claude đề xuất và kiểm chứng, người chốt.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25% kiến thức, 55% lab, phần còn lại review và góp ý. Lab 4.3 (30 phút) là lab dài nhất — giữ đúng giờ ở phần kiến thức để không phải cắt lab. Chuẩn bị trước cho phần 105–115: mời một Trưởng ca, một HR và một người đóng vai CEO xem dashboard của chính họ.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Mời 1–2 học viên đọc tóm tắt 5 dòng của bài về nhà buổi 3, rồi so với số mong đợi trên slide (ebook → Giải pháp → Buổi 3, mục chấm bài tại nhà). Nhấn mạnh: “vi phạm” vẫn chỉ là đề xuất cho đến khi Trưởng ca/HR kết luận có căn cứ — kết luận vi phạm cho NV0114 hay NV0106 khi chưa xác minh là sai. Cả kỳ 14 ngày có 40 cờ: 4 hợp lệ, 2 lỗi dữ liệu, 9 vi phạm đề xuất, 25 cần xác minh. Dẫn sang buổi 4: phần lớn cờ “cần xác minh” là chuyện năng suất (đăng nhập trễ, NOT_READY dài) — hôm nay ta biến chúng thành KPI có ngưỡng.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 qua phễu 6 lớp của NV0105: 97,88 giờ có mặt → 95,72 giờ đăng nhập → 62,06 giờ sản xuất → 2.382 cuộc → 1.144 liên hệ được → 151 thành công. Mỗi KPI là tỷ lệ giữa hai lớp, nên khi một người thấp ta biết khâu nào thấp — phễu để chẩn đoán, không chỉ chấm điểm. AHT chỉ tính cuộc ANSWERED/CONNECTED, bỏ treo line &gt; 7.200 giây, bỏ cuộc 0 giây và cuộc trống agent. Hỏi lớp: chị Hạnh trả lời CEO “0,74” — sai ở đâu? (slide sau). Ebook: Buổi 4 → Bài 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quan trọng nhất của phần KPI. Cho lớp 30 giây tự tìm lỗi trong phép tính 1.257 ÷ 1.707 trước khi nói đáp án. Nhấn mạnh: tỷ lệ &gt; 100% (NV0116 1,18, NV0113 1,014) là dấu hiệu dữ liệu thiếu, không phải “siêu năng suất” — phải gắn cờ trước khi đưa lên dashboard. Lỗi hay gặp: dùng giờ đăng nhập làm “giờ công” (ra 1,28) — che mất phần có mặt mà không đăng nhập. Ebook: Buổi 4 → Bài 01, mục “4 quy tắc thống nhất tử số – mẫu số”.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Giờ công lãng phí là con số CEO hiểu ngay vì quy ra tiền được. Không có ngưỡng, ca nào của ai cũng “lãng phí” vài phút hợp lý nên tổng phình lên 62,7 giờ. Ngưỡng 15 phút để lộ đúng 2 người: NV0114 (2 ca có chấm công nhưng không đăng nhập) và NV0106 (8 ca đăng nhập trễ 62–90 phút) — nhắc: NV0114 cần HR xác minh, chưa được kết luận vi phạm. Chi phí giờ công bình quân là tham số HR xác nhận; 50.000 đ/giờ chỉ là giả định minh họa. Ebook: Buổi 4 → Bài 01, mục “Giờ công lãng phí”.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chỉ số chẩn đoán ba nguyên nhân khác nhau, dẫn tới ba hành động khác nhau: kèm cặp cá nhân, xếp lại ca, hay sửa lỗi hệ thống. Hỏi lớp: đặt mục tiêu occupancy 95% có tốt không? Trên ~90% agent không có nhịp thở, hàng đợi dài ra rất nhanh, bỏ máy và nghỉ việc tăng. Shrinkage của Sao Việt thấp hơn tham khảo vì kỳ đo chỉ 14 ngày và lịch ca đã trừ nghỉ không lương — mục tiêu tham khảo phải điều chỉnh theo cách định nghĩa mẫu số. Bẫy dữ liệu: 7 sự kiện READY nằm sau LOGOUT; không loại thì NV0108 có 172,5 giờ sẵn sàng thay vì 65,4. Ebook: Buổi 4 → Bài 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ĐÁP ÁN: B. Đăng nhập đủ (loại A), khi sẵn sàng thì bận như mọi người (occupancy bình thường → loại C). Hao hụt nằm giữa “đăng nhập” và “sẵn sàng”: shrinkage 31,9% với NOT_READY “Lỗi hệ thống” 11,2 giờ, “Vệ sinh” 9,7 giờ, “Việc riêng” 9,3 giờ. D sai: AHT của NV0108 là 195 giây, gần mức team; AHT cao làm tăng giờ sản xuất chứ không làm giảm.
Hành động đúng: tách “Lỗi hệ thống” (báo IT anh Khoa kiểm tra máy trạm) với “Việc riêng/Vệ sinh” (Trưởng ca nói chuyện). Ebook: Buổi 4 → Kiểm tra nhanh 04, câu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Kể kịch bản: nếu tháng trước thưởng theo cuộc/giờ công, NV0103 nhận thưởng cao nhất và cả team sẽ học theo — gọi dồn, cúp sớm. Hai biểu đồ là cùng 11 agent outbound, chỉ đổi thước đo: NV0103 rơi từ hạng 1 xuống hạng 11. Đây là định luật Goodhart: khi thước đo thành mục tiêu thưởng phạt, nó thôi phản ánh điều ta muốn. Nhắc: số liệu chỉ ra câu hỏi, không nói vì sao — kết luận về con người cần Trưởng ca nói chuyện và nghe cuộc gọi mẫu. Ebook: Buổi 4 → Bài 03 (có phần “Thực hành ngay” xếp hạng 2 cách).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Nguyên tắc: mỗi chỉ số “số lượng” phải đi kèm một chỉ số “chất lượng” hoặc “hệ quả” kéo theo hướng ngược lại; agent chỉ đẹp khi đẹp cả hai. TC/giờ công là chỉ số CEO vì tự cân bằng: muốn tăng phải vừa đăng nhập đủ, vừa gọi đều, vừa chốt tốt. Hỏi lớp: KPI thưởng hiện tại ở công ty bạn đã có đối trọng chưa? Khi nhờ Claude soát bộ KPI, thêm ràng buộc “không đề xuất chỉ số cần dữ liệu chúng tôi chưa có” — tránh CSAT, NPS khi chưa có dữ liệu. Ebook: Buổi 4 → Bài 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Kể chuyện anh Tùng gửi bảng xếp hạng 19 agent theo tổng số cuộc: CS-A đứng cuối, NV0111 bán thời gian bị xếp thấp, NV0118 mới vào không biết mình bị so với ai. Scorecard gộp 5–6 KPI thành một điểm để ưu tiên; điểm thành phần mới là nội dung buổi coaching. Ví dụ NV0103: TC/giờ 41,5 điểm × 35% = 14,5; tỷ lệ chốt 34,5 × 15% = 5,2; cộng các KPI còn lại ≈ 73,1 — thấp nhất TS-BH dù gọi nhiều nhất. Nhấn mạnh: scorecard để kèm cặp, không để phạt; công bố cách tính minh bạch cho agent. Ebook: Buổi 4 → Bài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Kể lại cuộc giao ban: 489,7 giờ (giờ đăng nhập TS-B) và 510,9 giờ (giờ có mặt TS-B) — không ai sai phép tính, sai ở chỗ mỗi người một nguồn, một định nghĩa. Dashboard tốt bắt đầu từ câu hỏi người xem cần trả lời và hành động họ sẽ làm, không phải “có dữ liệu gì vẽ nấy”. CEO chỉ cần 6 con số vì CEO không coaching agent — chi tiết để ở tab dưới, ai cần thì mở. Hỏi lớp: CEO của bạn mở báo cáo lúc nào, trên thiết bị gì? Ebook: Buổi 4 → Bài 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Màu chỉ có giá trị khi người xem tin nó: tô xanh cho một con số lỗi là cách nhanh nhất để dashboard bị bỏ rơi. Dòng nguồn mẫu: “call_log_2026-09.csv (đến 20/09/2026 23:59) · bảng công v1 · Tu_dien_chi_so_v1. Cập nhật 21/09/2026 07:45.” — trả lời trước câu “sao số này khác báo cáo tổng đài?”. Lỗi hay gặp: nhồi 15 biểu đồ vào một màn hình, thẻ số không ghi mẫu số, trục cột không bắt đầu từ 0. Gợi ý làm phần “Thực hành ngay” của bài 08: phác wireframe tab Trưởng ca bằng bảng chữ để dán vào prompt Lab 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ĐÁP ÁN: A. 1.663,1 giờ chính là tổng giờ đăng nhập của 19 agent. Mọi tab phải đọc cùng cột “giờ có mặt” theo từ điển v1; lệch 44 giờ là lệch định nghĩa, không phải làm tròn. B trái nguyên tắc cốt lõi của dashboard dùng chung. D sai vì EXT2099 không có giờ công nào trong bảng công, nên không thể làm tăng giờ công.
Cách sửa: yêu cầu Claude sửa định nghĩa tab Trưởng ca về giờ có mặt, rồi in lại bảng đối chiếu tổng giờ công theo team. Ebook: Buổi 4 → Kiểm tra nhanh 09, câu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làm từ điển trước: dashboard chỉ là hiển thị của từ điển — chưa thống nhất mẫu số thì dashboard đẹp mấy cũng bị hỏi “số này tính sao?”. Đi vòng lớp ở bước 2: nhiều nhóm dùng một ngưỡng chung cho cả hai dự án → cả team inbound đỏ ở cuộc/giờ, màu đỏ mất nghĩa. Bước 4: occupancy inbound giao cho Trưởng vận hành (người xếp lịch), không giao cho agent. Lỗi hay gặp: Claude tự điền “chuẩn ngành” cho mọi ô — yêu cầu ghi nguồn căn cứ cho từng ngưỡng. Ebook: Buổi 4 → Lab 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học viên copy từ ebook (Lab 4.1, bước 1 và 2) thay vì gõ lại. Bước 3 (kiểm chứng ngưỡng trên dữ liệu 14 ngày) và bước 4 (người chịu trách nhiệm + 3 quy tắc chung) có prompt riêng trong ebook. Nếu Claude chọn giờ đăng nhập làm mẫu số, sửa ngay: “Giờ công = giờ có mặt theo bảng công v1. Sửa lại mọi chỉ số /giờ công.” Nếu Claude so TS-BH với CS-VT trong cùng bảng: “Không so sánh chéo dự án; mọi phân phối màu tính riêng từng dự 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Trích 8 dòng; bản đủ 20 dòng kèm công thức và nguồn ở ebook → Giải pháp → Buổi 4, mục 2. Phân phối màu là phép thử của ngưỡng: 100% xanh là ngưỡng vô dụng, &gt; 50% đỏ là ngưỡng không thực tế. Điểm đáng bàn: occupancy CS-VT không ai xanh (NV0115, NV0116, NV0119 đỏ 63,5–64,4%) → cả team dưới 75% là vấn đề xếp ca theo giờ, không phải cá nhân. Tỷ lệ đăng nhập: NV0106 88,7% và NV0114 81,4% đỏ; NV0113 và NV0116 &gt; 100% → xám, không tô màu.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làm trong Sheets mà không để Claude chấm luôn: scorecard là thứ người khác phải kiểm tra được — công thức nằm trong ô, trọng số nằm ở sheet cấu hình. Claude viết công thức, dựng bảng KPI và soát lỗi, không phải hộp đen chấm điểm. Bước 1 có prompt riêng trong ebook (18 cột, CÙNG TẬP NGÀY, đối chiếu tổng trước khi chấm). Lỗi hay gặp: tổng thành công 1.257 thay vì 1.238 (tính cả EXT2099), điểm tổng ~600 (quên nhân trọng số), công thức lỗi vì dấu ; hay , theo locale. Ebook: Buổi 4 → Lab 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prompt bước 3 của Lab 4.2; dán dòng tiêu đề thật của sheet KPI vào chỗ trong ngoặc vuông. Nhắc: điểm tổng lấy trọng số bằng SUMIFS từ Cau_hinh, không gõ cứng. Bước 4 (soát scorecard) có prompt riêng trong ebook; nếu Claude đề xuất “cảnh cáo NV0103”, nhắc: AI không đề xuất kỷ luật, chỉ đề xuất nội dung coaching.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tham chiếu tính bằng pandas trên dữ liệu mẫu; NV0113 và NV0116 đã tính lại trên cùng tập ngày có chấm công. Cho các nhóm so điểm của mình: lệch nhẹ do chọn trọng số/mục tiêu khác là chấp nhận được, miễn tổng trọng số = 100%, NV0103 nằm cuối TS-A và NV0116, NV0118 không có hạng. Xu hướng tuần: NV0102 1,57 → 1,05 (tổng kỳ “ổn” nhưng đang giảm mạnh), NV0106 1,14 → 1,53 — nhưng tuần 2 đảo ca nên phải so với xu hướng chung của team cùng ca. Bảng đủ 19 agent: ebook → Giải pháp → Buổi 4, mục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Artifact: dựng bản dùng thử trong 30 phút, không cần IT, người dùng thật góp ý ngay trong buổi; khi bố cục đã ổn mới chuyển Looker Studio/Power BI. Bước 3 bắt buộc: đừng tin dashboard đẹp — yêu cầu Claude in bảng đối chiếu tử số/mẫu số từng thẻ. Mỗi vòng chỉnh chỉ sửa một loại vấn đề và luôn ghi “Giữ nguyên mọi phần khác”, vì Claude đôi khi viết lại cả trang. An toàn dữ liệu: dashboard có số từng nhân viên — chỉ chia sẻ trong phạm vi được phân quyền (Phụ lục C). Ebook: Buổi 4 → Lab 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prompt mẫu của syllabus; chỗ “Ngưỡng màu” dán khối ngưỡng ở slide sau. Dữ liệu mẫu chỉ có 14 ngày nên “xu hướng 30 ngày” hiện 14 điểm — chạy dữ liệu thật đủ tháng thì tự dài ra. Nếu Artifact dùng thư viện ngoài không tải được: “Chỉ dùng HTML/CSS/JS thuần, vẽ biểu đồ bằng SVG.” Nếu biểu đồ trống vì file quá lớn: “Tổng hợp trước theo ngày × giờ × agent rồi mới nhúng.”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Ngưỡng lấy từ Từ điển chỉ số v1 (Lab 4.1). Khi đổi ngưỡng: sửa từ điển trước rồi mới sửa prompt — từ điển là nguồn gốc. Lưu prompt cuối cùng (sau các vòng chỉnh) vào Project với tên Prompt_dashboard_v1; buổi 5 sẽ đóng gói thành Skill. Bản đầy đủ, có ký hiệu màu, ở ebook → Buổi 4 → Lab 4.3, bước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6 thẻ tab CEO kỳ 07–20/09, không lọc, theo lời giải tham chiếu. Sai lệch ≤ 0,1 do làm tròn là bình thường; lệch lớn hơn gần như luôn do định nghĩa tử số/mẫu số — mỗi thẻ đã ghi kèm “nếu ra số này thì lỗi ở đâu”. Tỷ lệ sản xuất 61,5% cộng giờ sản xuất mọi ca; áp triệt để cùng tập ngày ra 60,8% — cả hai chấp nhận được nếu chân trang ghi rõ quy ước. Tab HR mong đợi: đi muộn 8/220 ca = 3,6% (toàn bộ NV0109), 1 vắng không phép (NV0110 16/09), 10 ca chênh lệch &gt; 60’ (NV0106 × 8, NV0114 × 2). Kiểm chứng đủ 3 tab: ebook → Giải pháp → Buổi 4, mục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vai trò 3 phút: mở dashboard của nhóm, trả lời 3 câu trên thẻ của mình. Giảng viên ghi góp ý lên bảng theo thứ tự ưu tiên: sai số → thiếu thông tin để hành động → khó dùng → thẩm mỹ; đây là đầu vào của dashboard v2 ở bài về nhà. Người đóng CEO nên mở trên điện thoại thật. Sau buổi, khuyến khích tập role play: CEO chất vấn con số, hoặc coaching NV0103 bằng scorecard (ebook → Buổi 4 → Role 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Giao bài 5 phút cuối. Nhấn mạnh: nhật ký phải có hành động cụ thể, không chỉ “đã xem”; và phải có ít nhất 1 dòng ghi dashboard KHÔNG giúp được — đó là nguyên liệu cho v2. HR đối chiếu 5 điểm; tổng giờ công theo team phải ra TS-A 484,1 · TS-B 510,9 · CS-A 712,1 giờ. Rubric: nhật ký 30%, đối chiếu HR 20%, chất lượng v2 30%, phản tư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Chốt 3 câu: tử số và mẫu số phải cùng ngôn ngữ; mỗi KPI số lượng cần một đối trọng; một nguồn — nhiều góc nhìn. Nhắc chuẩn bị buổi 5: gom “nguyên liệu Skill” vào Project (quy tắc làm sạch, mã kết quả, bảng quy tắc công, từ điển chỉ số, prompt dashboard). Hỏi CEO: 3 con số nào muốn thấy lúc 8h sáng — đó sẽ là phần tóm tắt của báo cáo ngày. Ebook: Buổi 4 → Tổng kết.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image" Target="../media/image-10-1.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38"/>
        </a:solidFill>
      </p:bgPr>
    </p:bg>
    <p:spTree>
      <p:nvGrpSpPr>
        <p:cNvPr id="1" name=""/>
        <p:cNvGrpSpPr/>
        <p:nvPr/>
      </p:nvGrpSpPr>
      <p:grpSpPr>
        <a:xfrm>
          <a:off x="0" y="0"/>
          <a:ext cx="0" cy="0"/>
          <a:chOff x="0" y="0"/>
          <a:chExt cx="0" cy="0"/>
        </a:xfrm>
      </p:grpSpPr>
      <p:sp>
        <p:nvSpPr>
          <p:cNvPr id="3" name="Text 0"/>
          <p:cNvSpPr txBox="1"/>
          <p:nvPr/>
        </p:nvSpPr>
        <p:spPr>
          <a:xfrm>
            <a:off x="548640" y="640080"/>
            <a:ext cx="3657600" cy="365760"/>
          </a:xfrm>
          <a:prstGeom prst="rect">
            <a:avLst/>
          </a:prstGeom>
          <a:noFill/>
          <a:ln/>
        </p:spPr>
        <p:txBody>
          <a:bodyPr wrap="square" lIns="0" tIns="0" rIns="0" bIns="0" rtlCol="0" anchor="t"/>
          <a:lstStyle/>
          <a:p>
            <a:pPr indent="0" marL="0">
              <a:buNone/>
            </a:pPr>
            <a:r>
              <a:rPr lang="en-US" sz="1400" b="1" spc="300" kern="0" dirty="0">
                <a:solidFill>
                  <a:srgbClr val="D9773A"/>
                </a:solidFill>
                <a:latin typeface="Calibri" pitchFamily="34" charset="0"/>
                <a:ea typeface="Calibri" pitchFamily="34" charset="-122"/>
                <a:cs typeface="Calibri" pitchFamily="34" charset="-120"/>
              </a:rPr>
              <a:t>BUỔI 4 / 5</a:t>
            </a:r>
            <a:endParaRPr lang="en-US" sz="1400" dirty="0"/>
          </a:p>
        </p:txBody>
      </p:sp>
      <p:sp>
        <p:nvSpPr>
          <p:cNvPr id="4" name="Text 1"/>
          <p:cNvSpPr txBox="1"/>
          <p:nvPr/>
        </p:nvSpPr>
        <p:spPr>
          <a:xfrm>
            <a:off x="548640" y="1051560"/>
            <a:ext cx="7498080" cy="1737360"/>
          </a:xfrm>
          <a:prstGeom prst="rect">
            <a:avLst/>
          </a:prstGeom>
          <a:noFill/>
          <a:ln/>
        </p:spPr>
        <p:txBody>
          <a:bodyPr wrap="square" lIns="0" tIns="0" rIns="0" bIns="0" rtlCol="0" anchor="t">
            <a:normAutofit/>
          </a:bodyPr>
          <a:lstStyle/>
          <a:p>
            <a:pPr indent="0" marL="0">
              <a:buNone/>
            </a:pPr>
            <a:r>
              <a:rPr lang="en-US" sz="4000" b="1" dirty="0">
                <a:solidFill>
                  <a:srgbClr val="FFFFFF"/>
                </a:solidFill>
                <a:latin typeface="Cambria" pitchFamily="34" charset="0"/>
                <a:ea typeface="Cambria" pitchFamily="34" charset="-122"/>
                <a:cs typeface="Cambria" pitchFamily="34" charset="-120"/>
              </a:rPr>
              <a:t>KPI năng suất &amp;</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dashboard dùng chung</a:t>
            </a:r>
            <a:endParaRPr lang="en-US" sz="4000" dirty="0"/>
          </a:p>
        </p:txBody>
      </p:sp>
      <p:sp>
        <p:nvSpPr>
          <p:cNvPr id="5" name="Text 2"/>
          <p:cNvSpPr txBox="1"/>
          <p:nvPr/>
        </p:nvSpPr>
        <p:spPr>
          <a:xfrm>
            <a:off x="548640" y="2880360"/>
            <a:ext cx="7132320" cy="822960"/>
          </a:xfrm>
          <a:prstGeom prst="rect">
            <a:avLst/>
          </a:prstGeom>
          <a:noFill/>
          <a:ln/>
        </p:spPr>
        <p:txBody>
          <a:bodyPr wrap="square" lIns="0" tIns="0" rIns="0" bIns="0" rtlCol="0" anchor="t"/>
          <a:lstStyle/>
          <a:p>
            <a:pPr indent="0" marL="0">
              <a:buNone/>
            </a:pPr>
            <a:r>
              <a:rPr lang="en-US" sz="1700" i="1" dirty="0">
                <a:solidFill>
                  <a:srgbClr val="C9D3DD"/>
                </a:solidFill>
                <a:latin typeface="Calibri" pitchFamily="34" charset="0"/>
                <a:ea typeface="Calibri" pitchFamily="34" charset="-122"/>
                <a:cs typeface="Calibri" pitchFamily="34" charset="-120"/>
              </a:rPr>
              <a:t>Hai bảng sạch của buổi 2–3 thành ngôn ngữ chung: một từ điển, một scorecard, một dashboard — hết cảnh cãi nhau số nào đúng.</a:t>
            </a:r>
            <a:endParaRPr lang="en-US" sz="1700" dirty="0"/>
          </a:p>
        </p:txBody>
      </p:sp>
      <p:sp>
        <p:nvSpPr>
          <p:cNvPr id="6" name="Text 3"/>
          <p:cNvSpPr txBox="1"/>
          <p:nvPr/>
        </p:nvSpPr>
        <p:spPr>
          <a:xfrm>
            <a:off x="548640" y="5989320"/>
            <a:ext cx="7315200" cy="320040"/>
          </a:xfrm>
          <a:prstGeom prst="rect">
            <a:avLst/>
          </a:prstGeom>
          <a:noFill/>
          <a:ln/>
        </p:spPr>
        <p:txBody>
          <a:bodyPr wrap="square" lIns="0" tIns="0" rIns="0" bIns="0" rtlCol="0" anchor="t"/>
          <a:lstStyle/>
          <a:p>
            <a:pPr indent="0" marL="0">
              <a:buNone/>
            </a:pPr>
            <a:r>
              <a:rPr lang="en-US" sz="1200" dirty="0">
                <a:solidFill>
                  <a:srgbClr val="9AA8B6"/>
                </a:solidFill>
                <a:latin typeface="Calibri" pitchFamily="34" charset="0"/>
                <a:ea typeface="Calibri" pitchFamily="34" charset="-122"/>
                <a:cs typeface="Calibri" pitchFamily="34" charset="-120"/>
              </a:rPr>
              <a:t>Claude cho Callcenter · Số hóa sản lượng cuộc gọi &amp; chấm công</a:t>
            </a:r>
            <a:endParaRPr lang="en-US" sz="1200" dirty="0"/>
          </a:p>
        </p:txBody>
      </p:sp>
      <p:sp>
        <p:nvSpPr>
          <p:cNvPr id="7" name="Text 4"/>
          <p:cNvSpPr txBox="1"/>
          <p:nvPr/>
        </p:nvSpPr>
        <p:spPr>
          <a:xfrm>
            <a:off x="548640" y="3886200"/>
            <a:ext cx="7132320" cy="320040"/>
          </a:xfrm>
          <a:prstGeom prst="rect">
            <a:avLst/>
          </a:prstGeom>
          <a:noFill/>
          <a:ln/>
        </p:spPr>
        <p:txBody>
          <a:bodyPr wrap="square" lIns="0" tIns="0" rIns="0" bIns="0" rtlCol="0" anchor="t"/>
          <a:lstStyle/>
          <a:p>
            <a:pPr indent="0" marL="0">
              <a:buNone/>
            </a:pPr>
            <a:r>
              <a:rPr lang="en-US" sz="1300" dirty="0">
                <a:solidFill>
                  <a:srgbClr val="D9773A"/>
                </a:solidFill>
                <a:latin typeface="Calibri" pitchFamily="34" charset="0"/>
                <a:ea typeface="Calibri" pitchFamily="34" charset="-122"/>
                <a:cs typeface="Calibri" pitchFamily="34" charset="-120"/>
              </a:rPr>
              <a:t>2 giờ trên lớp + 1 giờ thực hành tại nhà</a:t>
            </a:r>
            <a:endParaRPr lang="en-US" sz="1300" dirty="0"/>
          </a:p>
        </p:txBody>
      </p:sp>
      <p:sp>
        <p:nvSpPr>
          <p:cNvPr id="8" name="Shape 5"/>
          <p:cNvSpPr/>
          <p:nvPr/>
        </p:nvSpPr>
        <p:spPr>
          <a:xfrm>
            <a:off x="8001000" y="640080"/>
            <a:ext cx="3642055" cy="5486400"/>
          </a:xfrm>
          <a:prstGeom prst="roundRect">
            <a:avLst>
              <a:gd name="adj" fmla="val 3013"/>
            </a:avLst>
          </a:prstGeom>
          <a:solidFill>
            <a:srgbClr val="2B3E50"/>
          </a:solidFill>
          <a:ln w="12700">
            <a:solidFill>
              <a:srgbClr val="2B3E50"/>
            </a:solidFill>
            <a:prstDash val="solid"/>
          </a:ln>
        </p:spPr>
      </p:sp>
      <p:sp>
        <p:nvSpPr>
          <p:cNvPr id="9" name="Shape 6"/>
          <p:cNvSpPr/>
          <p:nvPr/>
        </p:nvSpPr>
        <p:spPr>
          <a:xfrm>
            <a:off x="8321040" y="914400"/>
            <a:ext cx="548640" cy="548640"/>
          </a:xfrm>
          <a:prstGeom prst="roundRect">
            <a:avLst>
              <a:gd name="adj" fmla="val 22000"/>
            </a:avLst>
          </a:prstGeom>
          <a:solidFill>
            <a:srgbClr val="D9773A"/>
          </a:solidFill>
          <a:ln w="12700">
            <a:solidFill>
              <a:srgbClr val="D9773A"/>
            </a:solidFill>
            <a:prstDash val="solid"/>
          </a:ln>
        </p:spPr>
      </p:sp>
      <p:pic>
        <p:nvPicPr>
          <p:cNvPr id="10" name="Image 0" descr="preencoded.png">    </p:cNvPr>
          <p:cNvPicPr>
            <a:picLocks noChangeAspect="1"/>
          </p:cNvPicPr>
          <p:nvPr/>
        </p:nvPicPr>
        <p:blipFill>
          <a:blip r:embed="rId1"/>
          <a:stretch>
            <a:fillRect/>
          </a:stretch>
        </p:blipFill>
        <p:spPr>
          <a:xfrm>
            <a:off x="8452714" y="1046074"/>
            <a:ext cx="285293" cy="285293"/>
          </a:xfrm>
          <a:prstGeom prst="rect">
            <a:avLst/>
          </a:prstGeom>
        </p:spPr>
      </p:pic>
      <p:sp>
        <p:nvSpPr>
          <p:cNvPr id="11" name="Text 7"/>
          <p:cNvSpPr txBox="1"/>
          <p:nvPr/>
        </p:nvSpPr>
        <p:spPr>
          <a:xfrm>
            <a:off x="9006840" y="914400"/>
            <a:ext cx="2453335" cy="5486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Sản phẩm mang về</a:t>
            </a:r>
            <a:endParaRPr lang="en-US" sz="1800" dirty="0"/>
          </a:p>
        </p:txBody>
      </p:sp>
      <p:sp>
        <p:nvSpPr>
          <p:cNvPr id="12" name="Text 8"/>
          <p:cNvSpPr txBox="1"/>
          <p:nvPr/>
        </p:nvSpPr>
        <p:spPr>
          <a:xfrm>
            <a:off x="8321040" y="1737360"/>
            <a:ext cx="3047695" cy="4114800"/>
          </a:xfrm>
          <a:prstGeom prst="rect">
            <a:avLst/>
          </a:prstGeom>
          <a:noFill/>
          <a:ln/>
        </p:spPr>
        <p:txBody>
          <a:bodyPr wrap="square" lIns="0" tIns="0" rIns="0" bIns="0" rtlCol="0" anchor="t"/>
          <a:lstStyle/>
          <a:p>
            <a:pPr marL="228600" indent="-228600">
              <a:spcAft>
                <a:spcPts val="1000"/>
              </a:spcAft>
              <a:buSzPct val="100000"/>
              <a:buChar char="•"/>
            </a:pPr>
            <a:r>
              <a:rPr lang="en-US" sz="1450" b="1" dirty="0">
                <a:solidFill>
                  <a:srgbClr val="E6ECF1"/>
                </a:solidFill>
                <a:latin typeface="Calibri" pitchFamily="34" charset="0"/>
                <a:ea typeface="Calibri" pitchFamily="34" charset="-122"/>
                <a:cs typeface="Calibri" pitchFamily="34" charset="-120"/>
              </a:rPr>
              <a:t>Từ điển chỉ số v1</a:t>
            </a:r>
            <a:pPr indent="0" marL="0">
              <a:buNone/>
            </a:pPr>
            <a:r>
              <a:rPr lang="en-US" sz="1450" dirty="0">
                <a:solidFill>
                  <a:srgbClr val="E6ECF1"/>
                </a:solidFill>
                <a:latin typeface="Calibri" pitchFamily="34" charset="0"/>
                <a:ea typeface="Calibri" pitchFamily="34" charset="-122"/>
                <a:cs typeface="Calibri" pitchFamily="34" charset="-120"/>
              </a:rPr>
              <a:t> — tử số, mẫu số, ngưỡng vàng/đỏ tách theo dự án</a:t>
            </a:r>
            <a:endParaRPr lang="en-US" sz="1450" dirty="0"/>
          </a:p>
          <a:p>
            <a:pPr marL="228600" indent="-228600">
              <a:spcAft>
                <a:spcPts val="1000"/>
              </a:spcAft>
              <a:buSzPct val="100000"/>
              <a:buChar char="•"/>
            </a:pPr>
            <a:r>
              <a:rPr lang="en-US" sz="1450" b="1" dirty="0">
                <a:solidFill>
                  <a:srgbClr val="E6ECF1"/>
                </a:solidFill>
                <a:latin typeface="Calibri" pitchFamily="34" charset="0"/>
                <a:ea typeface="Calibri" pitchFamily="34" charset="-122"/>
                <a:cs typeface="Calibri" pitchFamily="34" charset="-120"/>
              </a:rPr>
              <a:t>Scorecard agent</a:t>
            </a:r>
            <a:pPr indent="0" marL="0">
              <a:buNone/>
            </a:pPr>
            <a:r>
              <a:rPr lang="en-US" sz="1450" dirty="0">
                <a:solidFill>
                  <a:srgbClr val="E6ECF1"/>
                </a:solidFill>
                <a:latin typeface="Calibri" pitchFamily="34" charset="0"/>
                <a:ea typeface="Calibri" pitchFamily="34" charset="-122"/>
                <a:cs typeface="Calibri" pitchFamily="34" charset="-120"/>
              </a:rPr>
              <a:t> 5–6 KPI có trọng số, xếp hạng công bằng trong team</a:t>
            </a:r>
            <a:endParaRPr lang="en-US" sz="1450" dirty="0"/>
          </a:p>
          <a:p>
            <a:pPr marL="228600" indent="-228600">
              <a:spcAft>
                <a:spcPts val="1000"/>
              </a:spcAft>
              <a:buSzPct val="100000"/>
              <a:buChar char="•"/>
            </a:pPr>
            <a:r>
              <a:rPr lang="en-US" sz="1450" b="1" dirty="0">
                <a:solidFill>
                  <a:srgbClr val="E6ECF1"/>
                </a:solidFill>
                <a:latin typeface="Calibri" pitchFamily="34" charset="0"/>
                <a:ea typeface="Calibri" pitchFamily="34" charset="-122"/>
                <a:cs typeface="Calibri" pitchFamily="34" charset="-120"/>
              </a:rPr>
              <a:t>Dashboard 3 tab</a:t>
            </a:r>
            <a:pPr indent="0" marL="0">
              <a:buNone/>
            </a:pPr>
            <a:r>
              <a:rPr lang="en-US" sz="1450" dirty="0">
                <a:solidFill>
                  <a:srgbClr val="E6ECF1"/>
                </a:solidFill>
                <a:latin typeface="Calibri" pitchFamily="34" charset="0"/>
                <a:ea typeface="Calibri" pitchFamily="34" charset="-122"/>
                <a:cs typeface="Calibri" pitchFamily="34" charset="-120"/>
              </a:rPr>
              <a:t> Trưởng ca – HR – CEO, cùng một nguồn số liệu</a:t>
            </a:r>
            <a:endParaRPr lang="en-US" sz="1450" dirty="0"/>
          </a:p>
          <a:p>
            <a:pPr marL="228600" indent="-228600">
              <a:spcAft>
                <a:spcPts val="1000"/>
              </a:spcAft>
              <a:buSzPct val="100000"/>
              <a:buChar char="•"/>
            </a:pPr>
            <a:r>
              <a:rPr lang="en-US" sz="1450" b="1" dirty="0">
                <a:solidFill>
                  <a:srgbClr val="E6ECF1"/>
                </a:solidFill>
                <a:latin typeface="Calibri" pitchFamily="34" charset="0"/>
                <a:ea typeface="Calibri" pitchFamily="34" charset="-122"/>
                <a:cs typeface="Calibri" pitchFamily="34" charset="-120"/>
              </a:rPr>
              <a:t>Ngưỡng cảnh báo</a:t>
            </a:r>
            <a:pPr indent="0" marL="0">
              <a:buNone/>
            </a:pPr>
            <a:r>
              <a:rPr lang="en-US" sz="1450" dirty="0">
                <a:solidFill>
                  <a:srgbClr val="E6ECF1"/>
                </a:solidFill>
                <a:latin typeface="Calibri" pitchFamily="34" charset="0"/>
                <a:ea typeface="Calibri" pitchFamily="34" charset="-122"/>
                <a:cs typeface="Calibri" pitchFamily="34" charset="-120"/>
              </a:rPr>
              <a:t> xanh / vàng / đỏ + xám “kiểm tra dữ liệu”</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896112" cy="292608"/>
          </a:xfrm>
          <a:prstGeom prst="roundRect">
            <a:avLst>
              <a:gd name="adj" fmla="val 50000"/>
            </a:avLst>
          </a:prstGeom>
          <a:solidFill>
            <a:srgbClr val="F2F4F6"/>
          </a:solidFill>
          <a:ln w="12700">
            <a:solidFill>
              <a:srgbClr val="F2F4F6"/>
            </a:solidFill>
            <a:prstDash val="solid"/>
          </a:ln>
        </p:spPr>
      </p:sp>
      <p:sp>
        <p:nvSpPr>
          <p:cNvPr id="3" name="Text 1"/>
          <p:cNvSpPr txBox="1"/>
          <p:nvPr/>
        </p:nvSpPr>
        <p:spPr>
          <a:xfrm>
            <a:off x="548640" y="384048"/>
            <a:ext cx="896112" cy="292608"/>
          </a:xfrm>
          <a:prstGeom prst="rect">
            <a:avLst/>
          </a:prstGeom>
          <a:noFill/>
          <a:ln/>
        </p:spPr>
        <p:txBody>
          <a:bodyPr wrap="square" lIns="0" tIns="0" rIns="0" bIns="0" rtlCol="0" anchor="ctr"/>
          <a:lstStyle/>
          <a:p>
            <a:pPr algn="ctr" indent="0" marL="0">
              <a:buNone/>
            </a:pPr>
            <a:r>
              <a:rPr lang="en-US" sz="1050" b="1" spc="150" kern="0" dirty="0">
                <a:solidFill>
                  <a:srgbClr val="2B3E50"/>
                </a:solidFill>
                <a:latin typeface="Calibri" pitchFamily="34" charset="0"/>
                <a:ea typeface="Calibri" pitchFamily="34" charset="-122"/>
                <a:cs typeface="Calibri" pitchFamily="34" charset="-120"/>
              </a:rPr>
              <a:t>LỘ TRÌNH</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Mục tiêu buổi học</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4 · KPI năng suất &amp; dashboard</a:t>
            </a:r>
            <a:endParaRPr lang="en-US" sz="1000" dirty="0"/>
          </a:p>
        </p:txBody>
      </p:sp>
      <p:sp>
        <p:nvSpPr>
          <p:cNvPr id="7" name="Shape 4"/>
          <p:cNvSpPr/>
          <p:nvPr/>
        </p:nvSpPr>
        <p:spPr>
          <a:xfrm>
            <a:off x="548640" y="1691640"/>
            <a:ext cx="11094415" cy="1051560"/>
          </a:xfrm>
          <a:prstGeom prst="roundRect">
            <a:avLst>
              <a:gd name="adj" fmla="val 8696"/>
            </a:avLst>
          </a:prstGeom>
          <a:solidFill>
            <a:srgbClr val="F2F4F6"/>
          </a:solidFill>
          <a:ln w="12700">
            <a:solidFill>
              <a:srgbClr val="F2F4F6"/>
            </a:solidFill>
            <a:prstDash val="solid"/>
          </a:ln>
        </p:spPr>
      </p:sp>
      <p:sp>
        <p:nvSpPr>
          <p:cNvPr id="8" name="Shape 5"/>
          <p:cNvSpPr/>
          <p:nvPr/>
        </p:nvSpPr>
        <p:spPr>
          <a:xfrm>
            <a:off x="777240" y="1933956"/>
            <a:ext cx="566928" cy="566928"/>
          </a:xfrm>
          <a:prstGeom prst="roundRect">
            <a:avLst>
              <a:gd name="adj" fmla="val 22000"/>
            </a:avLst>
          </a:prstGeom>
          <a:solidFill>
            <a:srgbClr val="D9773A"/>
          </a:solidFill>
          <a:ln w="12700">
            <a:solidFill>
              <a:srgbClr val="D9773A"/>
            </a:solidFill>
            <a:prstDash val="solid"/>
          </a:ln>
        </p:spPr>
      </p:sp>
      <p:pic>
        <p:nvPicPr>
          <p:cNvPr id="9" name="Image 0" descr="preencoded.png">    </p:cNvPr>
          <p:cNvPicPr>
            <a:picLocks noChangeAspect="1"/>
          </p:cNvPicPr>
          <p:nvPr/>
        </p:nvPicPr>
        <p:blipFill>
          <a:blip r:embed="rId1"/>
          <a:stretch>
            <a:fillRect/>
          </a:stretch>
        </p:blipFill>
        <p:spPr>
          <a:xfrm>
            <a:off x="913303" y="2070019"/>
            <a:ext cx="294803" cy="294803"/>
          </a:xfrm>
          <a:prstGeom prst="rect">
            <a:avLst/>
          </a:prstGeom>
        </p:spPr>
      </p:pic>
      <p:sp>
        <p:nvSpPr>
          <p:cNvPr id="10" name="Text 6"/>
          <p:cNvSpPr txBox="1"/>
          <p:nvPr/>
        </p:nvSpPr>
        <p:spPr>
          <a:xfrm>
            <a:off x="1554480" y="1819656"/>
            <a:ext cx="9966960" cy="384048"/>
          </a:xfrm>
          <a:prstGeom prst="rect">
            <a:avLst/>
          </a:prstGeom>
          <a:noFill/>
          <a:ln/>
        </p:spPr>
        <p:txBody>
          <a:bodyPr wrap="square" lIns="0" tIns="0" rIns="0" bIns="0" rtlCol="0" anchor="ctr"/>
          <a:lstStyle/>
          <a:p>
            <a:pPr indent="0" marL="0">
              <a:buNone/>
            </a:pPr>
            <a:r>
              <a:rPr lang="en-US" sz="1800" b="1" dirty="0">
                <a:solidFill>
                  <a:srgbClr val="1B2A38"/>
                </a:solidFill>
                <a:latin typeface="Calibri" pitchFamily="34" charset="0"/>
                <a:ea typeface="Calibri" pitchFamily="34" charset="-122"/>
                <a:cs typeface="Calibri" pitchFamily="34" charset="-120"/>
              </a:rPr>
              <a:t>Nối sản lượng với công thành bộ KPI năng suất thống nhất</a:t>
            </a:r>
            <a:endParaRPr lang="en-US" sz="1800" dirty="0"/>
          </a:p>
        </p:txBody>
      </p:sp>
      <p:sp>
        <p:nvSpPr>
          <p:cNvPr id="11" name="Text 7"/>
          <p:cNvSpPr txBox="1"/>
          <p:nvPr/>
        </p:nvSpPr>
        <p:spPr>
          <a:xfrm>
            <a:off x="1554480" y="2194560"/>
            <a:ext cx="9966960" cy="484632"/>
          </a:xfrm>
          <a:prstGeom prst="rect">
            <a:avLst/>
          </a:prstGeom>
          <a:noFill/>
          <a:ln/>
        </p:spPr>
        <p:txBody>
          <a:bodyPr wrap="square" lIns="0" tIns="0" rIns="0" bIns="0" rtlCol="0" anchor="t"/>
          <a:lstStyle/>
          <a:p>
            <a:pPr indent="0" marL="0">
              <a:buNone/>
            </a:pPr>
            <a:r>
              <a:rPr lang="en-US" sz="1400" dirty="0">
                <a:solidFill>
                  <a:srgbClr val="6B7785"/>
                </a:solidFill>
                <a:latin typeface="Calibri" pitchFamily="34" charset="0"/>
                <a:ea typeface="Calibri" pitchFamily="34" charset="-122"/>
                <a:cs typeface="Calibri" pitchFamily="34" charset="-120"/>
              </a:rPr>
              <a:t>Cuộc/giờ công, thành công/giờ công, AHT, tỷ lệ sản xuất, Occupancy, Shrinkage, Adherence — tử số và mẫu số cùng phạm vi.</a:t>
            </a:r>
            <a:endParaRPr lang="en-US" sz="1400" dirty="0"/>
          </a:p>
        </p:txBody>
      </p:sp>
      <p:sp>
        <p:nvSpPr>
          <p:cNvPr id="12" name="Shape 8"/>
          <p:cNvSpPr/>
          <p:nvPr/>
        </p:nvSpPr>
        <p:spPr>
          <a:xfrm>
            <a:off x="548640" y="2971800"/>
            <a:ext cx="11094415" cy="1051560"/>
          </a:xfrm>
          <a:prstGeom prst="roundRect">
            <a:avLst>
              <a:gd name="adj" fmla="val 8696"/>
            </a:avLst>
          </a:prstGeom>
          <a:solidFill>
            <a:srgbClr val="F2F4F6"/>
          </a:solidFill>
          <a:ln w="12700">
            <a:solidFill>
              <a:srgbClr val="F2F4F6"/>
            </a:solidFill>
            <a:prstDash val="solid"/>
          </a:ln>
        </p:spPr>
      </p:sp>
      <p:sp>
        <p:nvSpPr>
          <p:cNvPr id="13" name="Shape 9"/>
          <p:cNvSpPr/>
          <p:nvPr/>
        </p:nvSpPr>
        <p:spPr>
          <a:xfrm>
            <a:off x="777240" y="3214116"/>
            <a:ext cx="566928" cy="566928"/>
          </a:xfrm>
          <a:prstGeom prst="roundRect">
            <a:avLst>
              <a:gd name="adj" fmla="val 22000"/>
            </a:avLst>
          </a:prstGeom>
          <a:solidFill>
            <a:srgbClr val="D9773A"/>
          </a:solidFill>
          <a:ln w="12700">
            <a:solidFill>
              <a:srgbClr val="D9773A"/>
            </a:solidFill>
            <a:prstDash val="solid"/>
          </a:ln>
        </p:spPr>
      </p:sp>
      <p:pic>
        <p:nvPicPr>
          <p:cNvPr id="14" name="Image 1" descr="preencoded.png">    </p:cNvPr>
          <p:cNvPicPr>
            <a:picLocks noChangeAspect="1"/>
          </p:cNvPicPr>
          <p:nvPr/>
        </p:nvPicPr>
        <p:blipFill>
          <a:blip r:embed="rId2"/>
          <a:stretch>
            <a:fillRect/>
          </a:stretch>
        </p:blipFill>
        <p:spPr>
          <a:xfrm>
            <a:off x="913303" y="3350179"/>
            <a:ext cx="294803" cy="294803"/>
          </a:xfrm>
          <a:prstGeom prst="rect">
            <a:avLst/>
          </a:prstGeom>
        </p:spPr>
      </p:pic>
      <p:sp>
        <p:nvSpPr>
          <p:cNvPr id="15" name="Text 10"/>
          <p:cNvSpPr txBox="1"/>
          <p:nvPr/>
        </p:nvSpPr>
        <p:spPr>
          <a:xfrm>
            <a:off x="1554480" y="3099816"/>
            <a:ext cx="9966960" cy="384048"/>
          </a:xfrm>
          <a:prstGeom prst="rect">
            <a:avLst/>
          </a:prstGeom>
          <a:noFill/>
          <a:ln/>
        </p:spPr>
        <p:txBody>
          <a:bodyPr wrap="square" lIns="0" tIns="0" rIns="0" bIns="0" rtlCol="0" anchor="ctr"/>
          <a:lstStyle/>
          <a:p>
            <a:pPr indent="0" marL="0">
              <a:buNone/>
            </a:pPr>
            <a:r>
              <a:rPr lang="en-US" sz="1800" b="1" dirty="0">
                <a:solidFill>
                  <a:srgbClr val="1B2A38"/>
                </a:solidFill>
                <a:latin typeface="Calibri" pitchFamily="34" charset="0"/>
                <a:ea typeface="Calibri" pitchFamily="34" charset="-122"/>
                <a:cs typeface="Calibri" pitchFamily="34" charset="-120"/>
              </a:rPr>
              <a:t>Tạo scorecard agent và dashboard cho Trưởng ca, HR, CEO</a:t>
            </a:r>
            <a:endParaRPr lang="en-US" sz="1800" dirty="0"/>
          </a:p>
        </p:txBody>
      </p:sp>
      <p:sp>
        <p:nvSpPr>
          <p:cNvPr id="16" name="Text 11"/>
          <p:cNvSpPr txBox="1"/>
          <p:nvPr/>
        </p:nvSpPr>
        <p:spPr>
          <a:xfrm>
            <a:off x="1554480" y="3474720"/>
            <a:ext cx="9966960" cy="484632"/>
          </a:xfrm>
          <a:prstGeom prst="rect">
            <a:avLst/>
          </a:prstGeom>
          <a:noFill/>
          <a:ln/>
        </p:spPr>
        <p:txBody>
          <a:bodyPr wrap="square" lIns="0" tIns="0" rIns="0" bIns="0" rtlCol="0" anchor="t"/>
          <a:lstStyle/>
          <a:p>
            <a:pPr indent="0" marL="0">
              <a:buNone/>
            </a:pPr>
            <a:r>
              <a:rPr lang="en-US" sz="1400" dirty="0">
                <a:solidFill>
                  <a:srgbClr val="6B7785"/>
                </a:solidFill>
                <a:latin typeface="Calibri" pitchFamily="34" charset="0"/>
                <a:ea typeface="Calibri" pitchFamily="34" charset="-122"/>
                <a:cs typeface="Calibri" pitchFamily="34" charset="-120"/>
              </a:rPr>
              <a:t>Ba góc nhìn khác nhau nhưng cùng một nguồn số liệu và một Từ điển chỉ số.</a:t>
            </a:r>
            <a:endParaRPr lang="en-US" sz="1400" dirty="0"/>
          </a:p>
        </p:txBody>
      </p:sp>
      <p:sp>
        <p:nvSpPr>
          <p:cNvPr id="17" name="Shape 12"/>
          <p:cNvSpPr/>
          <p:nvPr/>
        </p:nvSpPr>
        <p:spPr>
          <a:xfrm>
            <a:off x="548640" y="4251960"/>
            <a:ext cx="11094415" cy="1051560"/>
          </a:xfrm>
          <a:prstGeom prst="roundRect">
            <a:avLst>
              <a:gd name="adj" fmla="val 8696"/>
            </a:avLst>
          </a:prstGeom>
          <a:solidFill>
            <a:srgbClr val="F2F4F6"/>
          </a:solidFill>
          <a:ln w="12700">
            <a:solidFill>
              <a:srgbClr val="F2F4F6"/>
            </a:solidFill>
            <a:prstDash val="solid"/>
          </a:ln>
        </p:spPr>
      </p:sp>
      <p:sp>
        <p:nvSpPr>
          <p:cNvPr id="18" name="Shape 13"/>
          <p:cNvSpPr/>
          <p:nvPr/>
        </p:nvSpPr>
        <p:spPr>
          <a:xfrm>
            <a:off x="777240" y="4494276"/>
            <a:ext cx="566928" cy="566928"/>
          </a:xfrm>
          <a:prstGeom prst="roundRect">
            <a:avLst>
              <a:gd name="adj" fmla="val 22000"/>
            </a:avLst>
          </a:prstGeom>
          <a:solidFill>
            <a:srgbClr val="D9773A"/>
          </a:solidFill>
          <a:ln w="12700">
            <a:solidFill>
              <a:srgbClr val="D9773A"/>
            </a:solidFill>
            <a:prstDash val="solid"/>
          </a:ln>
        </p:spPr>
      </p:sp>
      <p:pic>
        <p:nvPicPr>
          <p:cNvPr id="19" name="Image 2" descr="preencoded.png">    </p:cNvPr>
          <p:cNvPicPr>
            <a:picLocks noChangeAspect="1"/>
          </p:cNvPicPr>
          <p:nvPr/>
        </p:nvPicPr>
        <p:blipFill>
          <a:blip r:embed="rId3"/>
          <a:stretch>
            <a:fillRect/>
          </a:stretch>
        </p:blipFill>
        <p:spPr>
          <a:xfrm>
            <a:off x="913303" y="4630339"/>
            <a:ext cx="294803" cy="294803"/>
          </a:xfrm>
          <a:prstGeom prst="rect">
            <a:avLst/>
          </a:prstGeom>
        </p:spPr>
      </p:pic>
      <p:sp>
        <p:nvSpPr>
          <p:cNvPr id="20" name="Text 14"/>
          <p:cNvSpPr txBox="1"/>
          <p:nvPr/>
        </p:nvSpPr>
        <p:spPr>
          <a:xfrm>
            <a:off x="1554480" y="4379976"/>
            <a:ext cx="9966960" cy="384048"/>
          </a:xfrm>
          <a:prstGeom prst="rect">
            <a:avLst/>
          </a:prstGeom>
          <a:noFill/>
          <a:ln/>
        </p:spPr>
        <p:txBody>
          <a:bodyPr wrap="square" lIns="0" tIns="0" rIns="0" bIns="0" rtlCol="0" anchor="ctr"/>
          <a:lstStyle/>
          <a:p>
            <a:pPr indent="0" marL="0">
              <a:buNone/>
            </a:pPr>
            <a:r>
              <a:rPr lang="en-US" sz="1800" b="1" dirty="0">
                <a:solidFill>
                  <a:srgbClr val="1B2A38"/>
                </a:solidFill>
                <a:latin typeface="Calibri" pitchFamily="34" charset="0"/>
                <a:ea typeface="Calibri" pitchFamily="34" charset="-122"/>
                <a:cs typeface="Calibri" pitchFamily="34" charset="-120"/>
              </a:rPr>
              <a:t>Thiết lập ngưỡng cảnh báo</a:t>
            </a:r>
            <a:endParaRPr lang="en-US" sz="1800" dirty="0"/>
          </a:p>
        </p:txBody>
      </p:sp>
      <p:sp>
        <p:nvSpPr>
          <p:cNvPr id="21" name="Text 15"/>
          <p:cNvSpPr txBox="1"/>
          <p:nvPr/>
        </p:nvSpPr>
        <p:spPr>
          <a:xfrm>
            <a:off x="1554480" y="4754880"/>
            <a:ext cx="9966960" cy="484632"/>
          </a:xfrm>
          <a:prstGeom prst="rect">
            <a:avLst/>
          </a:prstGeom>
          <a:noFill/>
          <a:ln/>
        </p:spPr>
        <p:txBody>
          <a:bodyPr wrap="square" lIns="0" tIns="0" rIns="0" bIns="0" rtlCol="0" anchor="t"/>
          <a:lstStyle/>
          <a:p>
            <a:pPr indent="0" marL="0">
              <a:buNone/>
            </a:pPr>
            <a:r>
              <a:rPr lang="en-US" sz="1400" dirty="0">
                <a:solidFill>
                  <a:srgbClr val="6B7785"/>
                </a:solidFill>
                <a:latin typeface="Calibri" pitchFamily="34" charset="0"/>
                <a:ea typeface="Calibri" pitchFamily="34" charset="-122"/>
                <a:cs typeface="Calibri" pitchFamily="34" charset="-120"/>
              </a:rPr>
              <a:t>Xanh/vàng/đỏ theo từng dự án; mục tiêu hợp đồng là ngưỡng đỏ tối thiểu; xám cho dữ liệu cần kiểm tra.</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896112" cy="292608"/>
          </a:xfrm>
          <a:prstGeom prst="roundRect">
            <a:avLst>
              <a:gd name="adj" fmla="val 50000"/>
            </a:avLst>
          </a:prstGeom>
          <a:solidFill>
            <a:srgbClr val="F2F4F6"/>
          </a:solidFill>
          <a:ln w="12700">
            <a:solidFill>
              <a:srgbClr val="F2F4F6"/>
            </a:solidFill>
            <a:prstDash val="solid"/>
          </a:ln>
        </p:spPr>
      </p:sp>
      <p:sp>
        <p:nvSpPr>
          <p:cNvPr id="3" name="Text 1"/>
          <p:cNvSpPr txBox="1"/>
          <p:nvPr/>
        </p:nvSpPr>
        <p:spPr>
          <a:xfrm>
            <a:off x="548640" y="384048"/>
            <a:ext cx="896112" cy="292608"/>
          </a:xfrm>
          <a:prstGeom prst="rect">
            <a:avLst/>
          </a:prstGeom>
          <a:noFill/>
          <a:ln/>
        </p:spPr>
        <p:txBody>
          <a:bodyPr wrap="square" lIns="0" tIns="0" rIns="0" bIns="0" rtlCol="0" anchor="ctr"/>
          <a:lstStyle/>
          <a:p>
            <a:pPr algn="ctr" indent="0" marL="0">
              <a:buNone/>
            </a:pPr>
            <a:r>
              <a:rPr lang="en-US" sz="1050" b="1" spc="150" kern="0" dirty="0">
                <a:solidFill>
                  <a:srgbClr val="2B3E50"/>
                </a:solidFill>
                <a:latin typeface="Calibri" pitchFamily="34" charset="0"/>
                <a:ea typeface="Calibri" pitchFamily="34" charset="-122"/>
                <a:cs typeface="Calibri" pitchFamily="34" charset="-120"/>
              </a:rPr>
              <a:t>LỘ TRÌNH</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Lịch 120 phút</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4 · KPI năng suất &amp; dashboard</a:t>
            </a:r>
            <a:endParaRPr lang="en-US" sz="1000" dirty="0"/>
          </a:p>
        </p:txBody>
      </p:sp>
      <p:sp>
        <p:nvSpPr>
          <p:cNvPr id="7" name="Shape 4"/>
          <p:cNvSpPr/>
          <p:nvPr/>
        </p:nvSpPr>
        <p:spPr>
          <a:xfrm>
            <a:off x="548640" y="1783080"/>
            <a:ext cx="887959" cy="502920"/>
          </a:xfrm>
          <a:prstGeom prst="rect">
            <a:avLst/>
          </a:prstGeom>
          <a:solidFill>
            <a:srgbClr val="6E4E9E"/>
          </a:solidFill>
          <a:ln w="12700">
            <a:solidFill>
              <a:srgbClr val="6E4E9E"/>
            </a:solidFill>
            <a:prstDash val="solid"/>
          </a:ln>
        </p:spPr>
      </p:sp>
      <p:sp>
        <p:nvSpPr>
          <p:cNvPr id="8" name="Text 5"/>
          <p:cNvSpPr txBox="1"/>
          <p:nvPr/>
        </p:nvSpPr>
        <p:spPr>
          <a:xfrm>
            <a:off x="548640" y="1783080"/>
            <a:ext cx="887959"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9" name="Shape 6"/>
          <p:cNvSpPr/>
          <p:nvPr/>
        </p:nvSpPr>
        <p:spPr>
          <a:xfrm>
            <a:off x="1473175" y="1783080"/>
            <a:ext cx="1812493" cy="502920"/>
          </a:xfrm>
          <a:prstGeom prst="rect">
            <a:avLst/>
          </a:prstGeom>
          <a:solidFill>
            <a:srgbClr val="D9773A"/>
          </a:solidFill>
          <a:ln w="12700">
            <a:solidFill>
              <a:srgbClr val="D9773A"/>
            </a:solidFill>
            <a:prstDash val="solid"/>
          </a:ln>
        </p:spPr>
      </p:sp>
      <p:sp>
        <p:nvSpPr>
          <p:cNvPr id="10" name="Text 7"/>
          <p:cNvSpPr txBox="1"/>
          <p:nvPr/>
        </p:nvSpPr>
        <p:spPr>
          <a:xfrm>
            <a:off x="1473175" y="1783080"/>
            <a:ext cx="1812493"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20’</a:t>
            </a:r>
            <a:endParaRPr lang="en-US" sz="1300" dirty="0"/>
          </a:p>
        </p:txBody>
      </p:sp>
      <p:sp>
        <p:nvSpPr>
          <p:cNvPr id="11" name="Shape 8"/>
          <p:cNvSpPr/>
          <p:nvPr/>
        </p:nvSpPr>
        <p:spPr>
          <a:xfrm>
            <a:off x="3322244" y="1783080"/>
            <a:ext cx="887959" cy="502920"/>
          </a:xfrm>
          <a:prstGeom prst="rect">
            <a:avLst/>
          </a:prstGeom>
          <a:solidFill>
            <a:srgbClr val="D9773A"/>
          </a:solidFill>
          <a:ln w="12700">
            <a:solidFill>
              <a:srgbClr val="D9773A"/>
            </a:solidFill>
            <a:prstDash val="solid"/>
          </a:ln>
        </p:spPr>
      </p:sp>
      <p:sp>
        <p:nvSpPr>
          <p:cNvPr id="12" name="Text 9"/>
          <p:cNvSpPr txBox="1"/>
          <p:nvPr/>
        </p:nvSpPr>
        <p:spPr>
          <a:xfrm>
            <a:off x="3322244" y="1783080"/>
            <a:ext cx="887959"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13" name="Shape 10"/>
          <p:cNvSpPr/>
          <p:nvPr/>
        </p:nvSpPr>
        <p:spPr>
          <a:xfrm>
            <a:off x="4246778" y="1783080"/>
            <a:ext cx="5972899" cy="502920"/>
          </a:xfrm>
          <a:prstGeom prst="rect">
            <a:avLst/>
          </a:prstGeom>
          <a:solidFill>
            <a:srgbClr val="2E7D7A"/>
          </a:solidFill>
          <a:ln w="12700">
            <a:solidFill>
              <a:srgbClr val="2E7D7A"/>
            </a:solidFill>
            <a:prstDash val="solid"/>
          </a:ln>
        </p:spPr>
      </p:sp>
      <p:sp>
        <p:nvSpPr>
          <p:cNvPr id="14" name="Text 11"/>
          <p:cNvSpPr txBox="1"/>
          <p:nvPr/>
        </p:nvSpPr>
        <p:spPr>
          <a:xfrm>
            <a:off x="4246778" y="1783080"/>
            <a:ext cx="5972899"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65’</a:t>
            </a:r>
            <a:endParaRPr lang="en-US" sz="1300" dirty="0"/>
          </a:p>
        </p:txBody>
      </p:sp>
      <p:sp>
        <p:nvSpPr>
          <p:cNvPr id="15" name="Shape 12"/>
          <p:cNvSpPr/>
          <p:nvPr/>
        </p:nvSpPr>
        <p:spPr>
          <a:xfrm>
            <a:off x="10256253" y="1783080"/>
            <a:ext cx="887959" cy="502920"/>
          </a:xfrm>
          <a:prstGeom prst="rect">
            <a:avLst/>
          </a:prstGeom>
          <a:solidFill>
            <a:srgbClr val="6E4E9E"/>
          </a:solidFill>
          <a:ln w="12700">
            <a:solidFill>
              <a:srgbClr val="6E4E9E"/>
            </a:solidFill>
            <a:prstDash val="solid"/>
          </a:ln>
        </p:spPr>
      </p:sp>
      <p:sp>
        <p:nvSpPr>
          <p:cNvPr id="16" name="Text 13"/>
          <p:cNvSpPr txBox="1"/>
          <p:nvPr/>
        </p:nvSpPr>
        <p:spPr>
          <a:xfrm>
            <a:off x="10256253" y="1783080"/>
            <a:ext cx="887959"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17" name="Shape 14"/>
          <p:cNvSpPr/>
          <p:nvPr/>
        </p:nvSpPr>
        <p:spPr>
          <a:xfrm>
            <a:off x="11180788" y="1783080"/>
            <a:ext cx="425691" cy="502920"/>
          </a:xfrm>
          <a:prstGeom prst="rect">
            <a:avLst/>
          </a:prstGeom>
          <a:solidFill>
            <a:srgbClr val="D9773A"/>
          </a:solidFill>
          <a:ln w="12700">
            <a:solidFill>
              <a:srgbClr val="D9773A"/>
            </a:solidFill>
            <a:prstDash val="solid"/>
          </a:ln>
        </p:spPr>
      </p:sp>
      <p:sp>
        <p:nvSpPr>
          <p:cNvPr id="18" name="Shape 15"/>
          <p:cNvSpPr/>
          <p:nvPr/>
        </p:nvSpPr>
        <p:spPr>
          <a:xfrm>
            <a:off x="548640" y="2743200"/>
            <a:ext cx="201168" cy="201168"/>
          </a:xfrm>
          <a:prstGeom prst="ellipse">
            <a:avLst/>
          </a:prstGeom>
          <a:solidFill>
            <a:srgbClr val="6E4E9E"/>
          </a:solidFill>
          <a:ln w="12700">
            <a:solidFill>
              <a:srgbClr val="6E4E9E"/>
            </a:solidFill>
            <a:prstDash val="solid"/>
          </a:ln>
        </p:spPr>
      </p:sp>
      <p:sp>
        <p:nvSpPr>
          <p:cNvPr id="19" name="Text 16"/>
          <p:cNvSpPr txBox="1"/>
          <p:nvPr/>
        </p:nvSpPr>
        <p:spPr>
          <a:xfrm>
            <a:off x="914400" y="2651760"/>
            <a:ext cx="1188720" cy="384048"/>
          </a:xfrm>
          <a:prstGeom prst="rect">
            <a:avLst/>
          </a:prstGeom>
          <a:noFill/>
          <a:ln/>
        </p:spPr>
        <p:txBody>
          <a:bodyPr wrap="square" lIns="0" tIns="0" rIns="0" bIns="0" rtlCol="0" anchor="t"/>
          <a:lstStyle/>
          <a:p>
            <a:pPr indent="0" marL="0">
              <a:buNone/>
            </a:pPr>
            <a:r>
              <a:rPr lang="en-US" sz="1500" b="1" dirty="0">
                <a:solidFill>
                  <a:srgbClr val="6E4E9E"/>
                </a:solidFill>
                <a:latin typeface="Calibri" pitchFamily="34" charset="0"/>
                <a:ea typeface="Calibri" pitchFamily="34" charset="-122"/>
                <a:cs typeface="Calibri" pitchFamily="34" charset="-120"/>
              </a:rPr>
              <a:t>0–10</a:t>
            </a:r>
            <a:endParaRPr lang="en-US" sz="1500" dirty="0"/>
          </a:p>
        </p:txBody>
      </p:sp>
      <p:sp>
        <p:nvSpPr>
          <p:cNvPr id="20" name="Text 17"/>
          <p:cNvSpPr txBox="1"/>
          <p:nvPr/>
        </p:nvSpPr>
        <p:spPr>
          <a:xfrm>
            <a:off x="2148840" y="2651760"/>
            <a:ext cx="9418320" cy="556260"/>
          </a:xfrm>
          <a:prstGeom prst="rect">
            <a:avLst/>
          </a:prstGeom>
          <a:noFill/>
          <a:ln/>
        </p:spPr>
        <p:txBody>
          <a:bodyPr wrap="square" lIns="0" tIns="0" rIns="0" bIns="0" rtlCol="0" anchor="t"/>
          <a:lstStyle/>
          <a:p>
            <a:pPr indent="0" marL="0">
              <a:buNone/>
            </a:pPr>
            <a:r>
              <a:rPr lang="en-US" sz="1500" dirty="0">
                <a:solidFill>
                  <a:srgbClr val="1B2A38"/>
                </a:solidFill>
                <a:latin typeface="Calibri" pitchFamily="34" charset="0"/>
                <a:ea typeface="Calibri" pitchFamily="34" charset="-122"/>
                <a:cs typeface="Calibri" pitchFamily="34" charset="-120"/>
              </a:rPr>
              <a:t>Review đối soát buổi 3: bao nhiêu % là lỗi dữ liệu, bao nhiêu % là vi phạm thật</a:t>
            </a:r>
            <a:endParaRPr lang="en-US" sz="1500" dirty="0"/>
          </a:p>
        </p:txBody>
      </p:sp>
      <p:sp>
        <p:nvSpPr>
          <p:cNvPr id="21" name="Shape 18"/>
          <p:cNvSpPr/>
          <p:nvPr/>
        </p:nvSpPr>
        <p:spPr>
          <a:xfrm>
            <a:off x="548640" y="3345180"/>
            <a:ext cx="201168" cy="201168"/>
          </a:xfrm>
          <a:prstGeom prst="ellipse">
            <a:avLst/>
          </a:prstGeom>
          <a:solidFill>
            <a:srgbClr val="D9773A"/>
          </a:solidFill>
          <a:ln w="12700">
            <a:solidFill>
              <a:srgbClr val="D9773A"/>
            </a:solidFill>
            <a:prstDash val="solid"/>
          </a:ln>
        </p:spPr>
      </p:sp>
      <p:sp>
        <p:nvSpPr>
          <p:cNvPr id="22" name="Text 19"/>
          <p:cNvSpPr txBox="1"/>
          <p:nvPr/>
        </p:nvSpPr>
        <p:spPr>
          <a:xfrm>
            <a:off x="914400" y="3253740"/>
            <a:ext cx="1188720" cy="384048"/>
          </a:xfrm>
          <a:prstGeom prst="rect">
            <a:avLst/>
          </a:prstGeom>
          <a:noFill/>
          <a:ln/>
        </p:spPr>
        <p:txBody>
          <a:bodyPr wrap="square" lIns="0" tIns="0" rIns="0" bIns="0" rtlCol="0" anchor="t"/>
          <a:lstStyle/>
          <a:p>
            <a:pPr indent="0" marL="0">
              <a:buNone/>
            </a:pPr>
            <a:r>
              <a:rPr lang="en-US" sz="1500" b="1" dirty="0">
                <a:solidFill>
                  <a:srgbClr val="D9773A"/>
                </a:solidFill>
                <a:latin typeface="Calibri" pitchFamily="34" charset="0"/>
                <a:ea typeface="Calibri" pitchFamily="34" charset="-122"/>
                <a:cs typeface="Calibri" pitchFamily="34" charset="-120"/>
              </a:rPr>
              <a:t>10–30</a:t>
            </a:r>
            <a:endParaRPr lang="en-US" sz="1500" dirty="0"/>
          </a:p>
        </p:txBody>
      </p:sp>
      <p:sp>
        <p:nvSpPr>
          <p:cNvPr id="23" name="Text 20"/>
          <p:cNvSpPr txBox="1"/>
          <p:nvPr/>
        </p:nvSpPr>
        <p:spPr>
          <a:xfrm>
            <a:off x="2148840" y="3253740"/>
            <a:ext cx="9418320" cy="556260"/>
          </a:xfrm>
          <a:prstGeom prst="rect">
            <a:avLst/>
          </a:prstGeom>
          <a:noFill/>
          <a:ln/>
        </p:spPr>
        <p:txBody>
          <a:bodyPr wrap="square" lIns="0" tIns="0" rIns="0" bIns="0" rtlCol="0" anchor="t"/>
          <a:lstStyle/>
          <a:p>
            <a:pPr indent="0" marL="0">
              <a:buNone/>
            </a:pPr>
            <a:r>
              <a:rPr lang="en-US" sz="1500" dirty="0">
                <a:solidFill>
                  <a:srgbClr val="1B2A38"/>
                </a:solidFill>
                <a:latin typeface="Calibri" pitchFamily="34" charset="0"/>
                <a:ea typeface="Calibri" pitchFamily="34" charset="-122"/>
                <a:cs typeface="Calibri" pitchFamily="34" charset="-120"/>
              </a:rPr>
              <a:t>Bộ KPI năng suất · Occupancy / Shrinkage / Adherence · cân bằng KPI bằng cặp đối trọng</a:t>
            </a:r>
            <a:endParaRPr lang="en-US" sz="1500" dirty="0"/>
          </a:p>
        </p:txBody>
      </p:sp>
      <p:sp>
        <p:nvSpPr>
          <p:cNvPr id="24" name="Shape 21"/>
          <p:cNvSpPr/>
          <p:nvPr/>
        </p:nvSpPr>
        <p:spPr>
          <a:xfrm>
            <a:off x="548640" y="3947160"/>
            <a:ext cx="201168" cy="201168"/>
          </a:xfrm>
          <a:prstGeom prst="ellipse">
            <a:avLst/>
          </a:prstGeom>
          <a:solidFill>
            <a:srgbClr val="D9773A"/>
          </a:solidFill>
          <a:ln w="12700">
            <a:solidFill>
              <a:srgbClr val="D9773A"/>
            </a:solidFill>
            <a:prstDash val="solid"/>
          </a:ln>
        </p:spPr>
      </p:sp>
      <p:sp>
        <p:nvSpPr>
          <p:cNvPr id="25" name="Text 22"/>
          <p:cNvSpPr txBox="1"/>
          <p:nvPr/>
        </p:nvSpPr>
        <p:spPr>
          <a:xfrm>
            <a:off x="914400" y="3855720"/>
            <a:ext cx="1188720" cy="384048"/>
          </a:xfrm>
          <a:prstGeom prst="rect">
            <a:avLst/>
          </a:prstGeom>
          <a:noFill/>
          <a:ln/>
        </p:spPr>
        <p:txBody>
          <a:bodyPr wrap="square" lIns="0" tIns="0" rIns="0" bIns="0" rtlCol="0" anchor="t"/>
          <a:lstStyle/>
          <a:p>
            <a:pPr indent="0" marL="0">
              <a:buNone/>
            </a:pPr>
            <a:r>
              <a:rPr lang="en-US" sz="1500" b="1" dirty="0">
                <a:solidFill>
                  <a:srgbClr val="D9773A"/>
                </a:solidFill>
                <a:latin typeface="Calibri" pitchFamily="34" charset="0"/>
                <a:ea typeface="Calibri" pitchFamily="34" charset="-122"/>
                <a:cs typeface="Calibri" pitchFamily="34" charset="-120"/>
              </a:rPr>
              <a:t>30–40</a:t>
            </a:r>
            <a:endParaRPr lang="en-US" sz="1500" dirty="0"/>
          </a:p>
        </p:txBody>
      </p:sp>
      <p:sp>
        <p:nvSpPr>
          <p:cNvPr id="26" name="Text 23"/>
          <p:cNvSpPr txBox="1"/>
          <p:nvPr/>
        </p:nvSpPr>
        <p:spPr>
          <a:xfrm>
            <a:off x="2148840" y="3855720"/>
            <a:ext cx="9418320" cy="556260"/>
          </a:xfrm>
          <a:prstGeom prst="rect">
            <a:avLst/>
          </a:prstGeom>
          <a:noFill/>
          <a:ln/>
        </p:spPr>
        <p:txBody>
          <a:bodyPr wrap="square" lIns="0" tIns="0" rIns="0" bIns="0" rtlCol="0" anchor="t"/>
          <a:lstStyle/>
          <a:p>
            <a:pPr indent="0" marL="0">
              <a:buNone/>
            </a:pPr>
            <a:r>
              <a:rPr lang="en-US" sz="1500" dirty="0">
                <a:solidFill>
                  <a:srgbClr val="1B2A38"/>
                </a:solidFill>
                <a:latin typeface="Calibri" pitchFamily="34" charset="0"/>
                <a:ea typeface="Calibri" pitchFamily="34" charset="-122"/>
                <a:cs typeface="Calibri" pitchFamily="34" charset="-120"/>
              </a:rPr>
              <a:t>Nguyên tắc dashboard: một nguồn → nhiều góc nhìn · xanh/vàng/đỏ · nguồn + thời điểm cập nhật</a:t>
            </a:r>
            <a:endParaRPr lang="en-US" sz="1500" dirty="0"/>
          </a:p>
        </p:txBody>
      </p:sp>
      <p:sp>
        <p:nvSpPr>
          <p:cNvPr id="27" name="Shape 24"/>
          <p:cNvSpPr/>
          <p:nvPr/>
        </p:nvSpPr>
        <p:spPr>
          <a:xfrm>
            <a:off x="548640" y="4549140"/>
            <a:ext cx="201168" cy="201168"/>
          </a:xfrm>
          <a:prstGeom prst="ellipse">
            <a:avLst/>
          </a:prstGeom>
          <a:solidFill>
            <a:srgbClr val="2E7D7A"/>
          </a:solidFill>
          <a:ln w="12700">
            <a:solidFill>
              <a:srgbClr val="2E7D7A"/>
            </a:solidFill>
            <a:prstDash val="solid"/>
          </a:ln>
        </p:spPr>
      </p:sp>
      <p:sp>
        <p:nvSpPr>
          <p:cNvPr id="28" name="Text 25"/>
          <p:cNvSpPr txBox="1"/>
          <p:nvPr/>
        </p:nvSpPr>
        <p:spPr>
          <a:xfrm>
            <a:off x="914400" y="4457700"/>
            <a:ext cx="1188720" cy="384048"/>
          </a:xfrm>
          <a:prstGeom prst="rect">
            <a:avLst/>
          </a:prstGeom>
          <a:noFill/>
          <a:ln/>
        </p:spPr>
        <p:txBody>
          <a:bodyPr wrap="square" lIns="0" tIns="0" rIns="0" bIns="0" rtlCol="0" anchor="t"/>
          <a:lstStyle/>
          <a:p>
            <a:pPr indent="0" marL="0">
              <a:buNone/>
            </a:pPr>
            <a:r>
              <a:rPr lang="en-US" sz="1500" b="1" dirty="0">
                <a:solidFill>
                  <a:srgbClr val="2E7D7A"/>
                </a:solidFill>
                <a:latin typeface="Calibri" pitchFamily="34" charset="0"/>
                <a:ea typeface="Calibri" pitchFamily="34" charset="-122"/>
                <a:cs typeface="Calibri" pitchFamily="34" charset="-120"/>
              </a:rPr>
              <a:t>40–105</a:t>
            </a:r>
            <a:endParaRPr lang="en-US" sz="1500" dirty="0"/>
          </a:p>
        </p:txBody>
      </p:sp>
      <p:sp>
        <p:nvSpPr>
          <p:cNvPr id="29" name="Text 26"/>
          <p:cNvSpPr txBox="1"/>
          <p:nvPr/>
        </p:nvSpPr>
        <p:spPr>
          <a:xfrm>
            <a:off x="2148840" y="4457700"/>
            <a:ext cx="9418320" cy="556260"/>
          </a:xfrm>
          <a:prstGeom prst="rect">
            <a:avLst/>
          </a:prstGeom>
          <a:noFill/>
          <a:ln/>
        </p:spPr>
        <p:txBody>
          <a:bodyPr wrap="square" lIns="0" tIns="0" rIns="0" bIns="0" rtlCol="0" anchor="t"/>
          <a:lstStyle/>
          <a:p>
            <a:pPr indent="0" marL="0">
              <a:buNone/>
            </a:pPr>
            <a:r>
              <a:rPr lang="en-US" sz="1500" dirty="0">
                <a:solidFill>
                  <a:srgbClr val="1B2A38"/>
                </a:solidFill>
                <a:latin typeface="Calibri" pitchFamily="34" charset="0"/>
                <a:ea typeface="Calibri" pitchFamily="34" charset="-122"/>
                <a:cs typeface="Calibri" pitchFamily="34" charset="-120"/>
              </a:rPr>
              <a:t>Lab 4.1 Từ điển chỉ số (15’) · Lab 4.2 Scorecard agent (20’) · Lab 4.3 Dashboard 3 tab (30’)</a:t>
            </a:r>
            <a:endParaRPr lang="en-US" sz="1500" dirty="0"/>
          </a:p>
        </p:txBody>
      </p:sp>
      <p:sp>
        <p:nvSpPr>
          <p:cNvPr id="30" name="Shape 27"/>
          <p:cNvSpPr/>
          <p:nvPr/>
        </p:nvSpPr>
        <p:spPr>
          <a:xfrm>
            <a:off x="548640" y="5151120"/>
            <a:ext cx="201168" cy="201168"/>
          </a:xfrm>
          <a:prstGeom prst="ellipse">
            <a:avLst/>
          </a:prstGeom>
          <a:solidFill>
            <a:srgbClr val="6E4E9E"/>
          </a:solidFill>
          <a:ln w="12700">
            <a:solidFill>
              <a:srgbClr val="6E4E9E"/>
            </a:solidFill>
            <a:prstDash val="solid"/>
          </a:ln>
        </p:spPr>
      </p:sp>
      <p:sp>
        <p:nvSpPr>
          <p:cNvPr id="31" name="Text 28"/>
          <p:cNvSpPr txBox="1"/>
          <p:nvPr/>
        </p:nvSpPr>
        <p:spPr>
          <a:xfrm>
            <a:off x="914400" y="5059680"/>
            <a:ext cx="1188720" cy="384048"/>
          </a:xfrm>
          <a:prstGeom prst="rect">
            <a:avLst/>
          </a:prstGeom>
          <a:noFill/>
          <a:ln/>
        </p:spPr>
        <p:txBody>
          <a:bodyPr wrap="square" lIns="0" tIns="0" rIns="0" bIns="0" rtlCol="0" anchor="t"/>
          <a:lstStyle/>
          <a:p>
            <a:pPr indent="0" marL="0">
              <a:buNone/>
            </a:pPr>
            <a:r>
              <a:rPr lang="en-US" sz="1500" b="1" dirty="0">
                <a:solidFill>
                  <a:srgbClr val="6E4E9E"/>
                </a:solidFill>
                <a:latin typeface="Calibri" pitchFamily="34" charset="0"/>
                <a:ea typeface="Calibri" pitchFamily="34" charset="-122"/>
                <a:cs typeface="Calibri" pitchFamily="34" charset="-120"/>
              </a:rPr>
              <a:t>105–115</a:t>
            </a:r>
            <a:endParaRPr lang="en-US" sz="1500" dirty="0"/>
          </a:p>
        </p:txBody>
      </p:sp>
      <p:sp>
        <p:nvSpPr>
          <p:cNvPr id="32" name="Text 29"/>
          <p:cNvSpPr txBox="1"/>
          <p:nvPr/>
        </p:nvSpPr>
        <p:spPr>
          <a:xfrm>
            <a:off x="2148840" y="5059680"/>
            <a:ext cx="9418320" cy="556260"/>
          </a:xfrm>
          <a:prstGeom prst="rect">
            <a:avLst/>
          </a:prstGeom>
          <a:noFill/>
          <a:ln/>
        </p:spPr>
        <p:txBody>
          <a:bodyPr wrap="square" lIns="0" tIns="0" rIns="0" bIns="0" rtlCol="0" anchor="t"/>
          <a:lstStyle/>
          <a:p>
            <a:pPr indent="0" marL="0">
              <a:buNone/>
            </a:pPr>
            <a:r>
              <a:rPr lang="en-US" sz="1500" dirty="0">
                <a:solidFill>
                  <a:srgbClr val="1B2A38"/>
                </a:solidFill>
                <a:latin typeface="Calibri" pitchFamily="34" charset="0"/>
                <a:ea typeface="Calibri" pitchFamily="34" charset="-122"/>
                <a:cs typeface="Calibri" pitchFamily="34" charset="-120"/>
              </a:rPr>
              <a:t>Trưởng ca, HR, CEO góp ý dashboard của mình</a:t>
            </a:r>
            <a:endParaRPr lang="en-US" sz="1500" dirty="0"/>
          </a:p>
        </p:txBody>
      </p:sp>
      <p:sp>
        <p:nvSpPr>
          <p:cNvPr id="33" name="Shape 30"/>
          <p:cNvSpPr/>
          <p:nvPr/>
        </p:nvSpPr>
        <p:spPr>
          <a:xfrm>
            <a:off x="548640" y="5753100"/>
            <a:ext cx="201168" cy="201168"/>
          </a:xfrm>
          <a:prstGeom prst="ellipse">
            <a:avLst/>
          </a:prstGeom>
          <a:solidFill>
            <a:srgbClr val="D9773A"/>
          </a:solidFill>
          <a:ln w="12700">
            <a:solidFill>
              <a:srgbClr val="D9773A"/>
            </a:solidFill>
            <a:prstDash val="solid"/>
          </a:ln>
        </p:spPr>
      </p:sp>
      <p:sp>
        <p:nvSpPr>
          <p:cNvPr id="34" name="Text 31"/>
          <p:cNvSpPr txBox="1"/>
          <p:nvPr/>
        </p:nvSpPr>
        <p:spPr>
          <a:xfrm>
            <a:off x="914400" y="5661660"/>
            <a:ext cx="1188720" cy="384048"/>
          </a:xfrm>
          <a:prstGeom prst="rect">
            <a:avLst/>
          </a:prstGeom>
          <a:noFill/>
          <a:ln/>
        </p:spPr>
        <p:txBody>
          <a:bodyPr wrap="square" lIns="0" tIns="0" rIns="0" bIns="0" rtlCol="0" anchor="t"/>
          <a:lstStyle/>
          <a:p>
            <a:pPr indent="0" marL="0">
              <a:buNone/>
            </a:pPr>
            <a:r>
              <a:rPr lang="en-US" sz="1500" b="1" dirty="0">
                <a:solidFill>
                  <a:srgbClr val="D9773A"/>
                </a:solidFill>
                <a:latin typeface="Calibri" pitchFamily="34" charset="0"/>
                <a:ea typeface="Calibri" pitchFamily="34" charset="-122"/>
                <a:cs typeface="Calibri" pitchFamily="34" charset="-120"/>
              </a:rPr>
              <a:t>115–120</a:t>
            </a:r>
            <a:endParaRPr lang="en-US" sz="1500" dirty="0"/>
          </a:p>
        </p:txBody>
      </p:sp>
      <p:sp>
        <p:nvSpPr>
          <p:cNvPr id="35" name="Text 32"/>
          <p:cNvSpPr txBox="1"/>
          <p:nvPr/>
        </p:nvSpPr>
        <p:spPr>
          <a:xfrm>
            <a:off x="2148840" y="5661660"/>
            <a:ext cx="9418320" cy="556260"/>
          </a:xfrm>
          <a:prstGeom prst="rect">
            <a:avLst/>
          </a:prstGeom>
          <a:noFill/>
          <a:ln/>
        </p:spPr>
        <p:txBody>
          <a:bodyPr wrap="square" lIns="0" tIns="0" rIns="0" bIns="0" rtlCol="0" anchor="t"/>
          <a:lstStyle/>
          <a:p>
            <a:pPr indent="0" marL="0">
              <a:buNone/>
            </a:pPr>
            <a:r>
              <a:rPr lang="en-US" sz="1500" dirty="0">
                <a:solidFill>
                  <a:srgbClr val="1B2A38"/>
                </a:solidFill>
                <a:latin typeface="Calibri" pitchFamily="34" charset="0"/>
                <a:ea typeface="Calibri" pitchFamily="34" charset="-122"/>
                <a:cs typeface="Calibri" pitchFamily="34" charset="-120"/>
              </a:rPr>
              <a:t>Giao bài thực hành tại nhà</a:t>
            </a:r>
            <a:endParaRPr lang="en-US" sz="15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677924" cy="292608"/>
          </a:xfrm>
          <a:prstGeom prst="roundRect">
            <a:avLst>
              <a:gd name="adj" fmla="val 50000"/>
            </a:avLst>
          </a:prstGeom>
          <a:solidFill>
            <a:srgbClr val="ECE6F5"/>
          </a:solidFill>
          <a:ln w="12700">
            <a:solidFill>
              <a:srgbClr val="ECE6F5"/>
            </a:solidFill>
            <a:prstDash val="solid"/>
          </a:ln>
        </p:spPr>
      </p:sp>
      <p:sp>
        <p:nvSpPr>
          <p:cNvPr id="3" name="Text 1"/>
          <p:cNvSpPr txBox="1"/>
          <p:nvPr/>
        </p:nvSpPr>
        <p:spPr>
          <a:xfrm>
            <a:off x="548640" y="384048"/>
            <a:ext cx="1677924" cy="292608"/>
          </a:xfrm>
          <a:prstGeom prst="rect">
            <a:avLst/>
          </a:prstGeom>
          <a:noFill/>
          <a:ln/>
        </p:spPr>
        <p:txBody>
          <a:bodyPr wrap="square" lIns="0" tIns="0" rIns="0" bIns="0" rtlCol="0" anchor="ctr"/>
          <a:lstStyle/>
          <a:p>
            <a:pPr algn="ctr" indent="0" marL="0">
              <a:buNone/>
            </a:pPr>
            <a:r>
              <a:rPr lang="en-US" sz="1050" b="1" spc="150" kern="0" dirty="0">
                <a:solidFill>
                  <a:srgbClr val="6E4E9E"/>
                </a:solidFill>
                <a:latin typeface="Calibri" pitchFamily="34" charset="0"/>
                <a:ea typeface="Calibri" pitchFamily="34" charset="-122"/>
                <a:cs typeface="Calibri" pitchFamily="34" charset="-120"/>
              </a:rPr>
              <a:t>REVIEW BÀI VỀ NHÀ</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Đối soát tuần 14–20/09: lỗi dữ liệu hay vi phạm thật?</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4 · KPI năng suất &amp; dashboard</a:t>
            </a:r>
            <a:endParaRPr lang="en-US" sz="1000" dirty="0"/>
          </a:p>
        </p:txBody>
      </p:sp>
      <p:sp>
        <p:nvSpPr>
          <p:cNvPr id="7" name="Text 4"/>
          <p:cNvSpPr txBox="1"/>
          <p:nvPr/>
        </p:nvSpPr>
        <p:spPr>
          <a:xfrm>
            <a:off x="548640" y="1645920"/>
            <a:ext cx="11094415" cy="502920"/>
          </a:xfrm>
          <a:prstGeom prst="rect">
            <a:avLst/>
          </a:prstGeom>
          <a:noFill/>
          <a:ln/>
        </p:spPr>
        <p:txBody>
          <a:bodyPr wrap="square" lIns="0" tIns="0" rIns="0" bIns="0" rtlCol="0" anchor="t"/>
          <a:lstStyle/>
          <a:p>
            <a:pPr indent="0" marL="0">
              <a:buNone/>
            </a:pPr>
            <a:r>
              <a:rPr lang="en-US" sz="1600" i="1" dirty="0">
                <a:solidFill>
                  <a:srgbClr val="6B7785"/>
                </a:solidFill>
                <a:latin typeface="Calibri" pitchFamily="34" charset="0"/>
                <a:ea typeface="Calibri" pitchFamily="34" charset="-122"/>
                <a:cs typeface="Calibri" pitchFamily="34" charset="-120"/>
              </a:rPr>
              <a:t>Kết quả mong đợi của bài về nhà buổi 3 (dữ liệu mẫu) — so với cột “Kết luận” của lớp bạn.</a:t>
            </a:r>
            <a:endParaRPr lang="en-US" sz="1600" dirty="0"/>
          </a:p>
        </p:txBody>
      </p:sp>
      <p:sp>
        <p:nvSpPr>
          <p:cNvPr id="8" name="Shape 5"/>
          <p:cNvSpPr/>
          <p:nvPr/>
        </p:nvSpPr>
        <p:spPr>
          <a:xfrm>
            <a:off x="548640" y="2286000"/>
            <a:ext cx="2567864" cy="3200400"/>
          </a:xfrm>
          <a:prstGeom prst="roundRect">
            <a:avLst>
              <a:gd name="adj" fmla="val 3561"/>
            </a:avLst>
          </a:prstGeom>
          <a:solidFill>
            <a:srgbClr val="F2F4F6"/>
          </a:solidFill>
          <a:ln w="12700">
            <a:solidFill>
              <a:srgbClr val="F2F4F6"/>
            </a:solidFill>
            <a:prstDash val="solid"/>
          </a:ln>
        </p:spPr>
      </p:sp>
      <p:sp>
        <p:nvSpPr>
          <p:cNvPr id="9" name="Text 6"/>
          <p:cNvSpPr txBox="1"/>
          <p:nvPr/>
        </p:nvSpPr>
        <p:spPr>
          <a:xfrm>
            <a:off x="777240" y="2468880"/>
            <a:ext cx="2110664" cy="1005840"/>
          </a:xfrm>
          <a:prstGeom prst="rect">
            <a:avLst/>
          </a:prstGeom>
          <a:noFill/>
          <a:ln/>
        </p:spPr>
        <p:txBody>
          <a:bodyPr wrap="square" lIns="0" tIns="0" rIns="0" bIns="0" rtlCol="0" anchor="ctr"/>
          <a:lstStyle/>
          <a:p>
            <a:pPr indent="0" marL="0">
              <a:buNone/>
            </a:pPr>
            <a:r>
              <a:rPr lang="en-US" sz="4400" b="1" dirty="0">
                <a:solidFill>
                  <a:srgbClr val="D9773A"/>
                </a:solidFill>
                <a:latin typeface="Cambria" pitchFamily="34" charset="0"/>
                <a:ea typeface="Cambria" pitchFamily="34" charset="-122"/>
                <a:cs typeface="Cambria" pitchFamily="34" charset="-120"/>
              </a:rPr>
              <a:t>19</a:t>
            </a:r>
            <a:endParaRPr lang="en-US" sz="4400" dirty="0"/>
          </a:p>
        </p:txBody>
      </p:sp>
      <p:sp>
        <p:nvSpPr>
          <p:cNvPr id="10" name="Text 7"/>
          <p:cNvSpPr txBox="1"/>
          <p:nvPr/>
        </p:nvSpPr>
        <p:spPr>
          <a:xfrm>
            <a:off x="777240" y="3520440"/>
            <a:ext cx="2110664" cy="658368"/>
          </a:xfrm>
          <a:prstGeom prst="rect">
            <a:avLst/>
          </a:prstGeom>
          <a:noFill/>
          <a:ln/>
        </p:spPr>
        <p:txBody>
          <a:bodyPr wrap="square" lIns="0" tIns="0" rIns="0" bIns="0" rtlCol="0" anchor="t"/>
          <a:lstStyle/>
          <a:p>
            <a:pPr indent="0" marL="0">
              <a:buNone/>
            </a:pPr>
            <a:r>
              <a:rPr lang="en-US" sz="1550" b="1" dirty="0">
                <a:solidFill>
                  <a:srgbClr val="1B2A38"/>
                </a:solidFill>
                <a:latin typeface="Calibri" pitchFamily="34" charset="0"/>
                <a:ea typeface="Calibri" pitchFamily="34" charset="-122"/>
                <a:cs typeface="Calibri" pitchFamily="34" charset="-120"/>
              </a:rPr>
              <a:t>ca bị gắn cờ trong tuần</a:t>
            </a:r>
            <a:endParaRPr lang="en-US" sz="1550" dirty="0"/>
          </a:p>
        </p:txBody>
      </p:sp>
      <p:sp>
        <p:nvSpPr>
          <p:cNvPr id="11" name="Text 8"/>
          <p:cNvSpPr txBox="1"/>
          <p:nvPr/>
        </p:nvSpPr>
        <p:spPr>
          <a:xfrm>
            <a:off x="777240" y="4233672"/>
            <a:ext cx="2110664" cy="1143000"/>
          </a:xfrm>
          <a:prstGeom prst="rect">
            <a:avLst/>
          </a:prstGeom>
          <a:noFill/>
          <a:ln/>
        </p:spPr>
        <p:txBody>
          <a:bodyPr wrap="square" lIns="0" tIns="0" rIns="0" bIns="0" rtlCol="0" anchor="t"/>
          <a:lstStyle/>
          <a:p>
            <a:pPr indent="0" marL="0">
              <a:buNone/>
            </a:pPr>
            <a:r>
              <a:rPr lang="en-US" sz="1250" dirty="0">
                <a:solidFill>
                  <a:srgbClr val="6B7785"/>
                </a:solidFill>
                <a:latin typeface="Calibri" pitchFamily="34" charset="0"/>
                <a:ea typeface="Calibri" pitchFamily="34" charset="-122"/>
                <a:cs typeface="Calibri" pitchFamily="34" charset="-120"/>
              </a:rPr>
              <a:t>Thêm 1 cờ hợp lệ: NV0115 19/09 (ngưỡng ca D). Cả kỳ 14 ngày: 40 cờ.</a:t>
            </a:r>
            <a:endParaRPr lang="en-US" sz="1250" dirty="0"/>
          </a:p>
        </p:txBody>
      </p:sp>
      <p:sp>
        <p:nvSpPr>
          <p:cNvPr id="12" name="Shape 9"/>
          <p:cNvSpPr/>
          <p:nvPr/>
        </p:nvSpPr>
        <p:spPr>
          <a:xfrm>
            <a:off x="3390824" y="2286000"/>
            <a:ext cx="2567864" cy="3200400"/>
          </a:xfrm>
          <a:prstGeom prst="roundRect">
            <a:avLst>
              <a:gd name="adj" fmla="val 3561"/>
            </a:avLst>
          </a:prstGeom>
          <a:solidFill>
            <a:srgbClr val="F8E1DE"/>
          </a:solidFill>
          <a:ln w="12700">
            <a:solidFill>
              <a:srgbClr val="F8E1DE"/>
            </a:solidFill>
            <a:prstDash val="solid"/>
          </a:ln>
        </p:spPr>
      </p:sp>
      <p:sp>
        <p:nvSpPr>
          <p:cNvPr id="13" name="Text 10"/>
          <p:cNvSpPr txBox="1"/>
          <p:nvPr/>
        </p:nvSpPr>
        <p:spPr>
          <a:xfrm>
            <a:off x="3619424" y="2468880"/>
            <a:ext cx="2110664" cy="1005840"/>
          </a:xfrm>
          <a:prstGeom prst="rect">
            <a:avLst/>
          </a:prstGeom>
          <a:noFill/>
          <a:ln/>
        </p:spPr>
        <p:txBody>
          <a:bodyPr wrap="square" lIns="0" tIns="0" rIns="0" bIns="0" rtlCol="0" anchor="ctr"/>
          <a:lstStyle/>
          <a:p>
            <a:pPr indent="0" marL="0">
              <a:buNone/>
            </a:pPr>
            <a:r>
              <a:rPr lang="en-US" sz="4400" b="1" dirty="0">
                <a:solidFill>
                  <a:srgbClr val="C0392B"/>
                </a:solidFill>
                <a:latin typeface="Cambria" pitchFamily="34" charset="0"/>
                <a:ea typeface="Cambria" pitchFamily="34" charset="-122"/>
                <a:cs typeface="Cambria" pitchFamily="34" charset="-120"/>
              </a:rPr>
              <a:t>26%</a:t>
            </a:r>
            <a:endParaRPr lang="en-US" sz="4400" dirty="0"/>
          </a:p>
        </p:txBody>
      </p:sp>
      <p:sp>
        <p:nvSpPr>
          <p:cNvPr id="14" name="Text 11"/>
          <p:cNvSpPr txBox="1"/>
          <p:nvPr/>
        </p:nvSpPr>
        <p:spPr>
          <a:xfrm>
            <a:off x="3619424" y="3520440"/>
            <a:ext cx="2110664" cy="658368"/>
          </a:xfrm>
          <a:prstGeom prst="rect">
            <a:avLst/>
          </a:prstGeom>
          <a:noFill/>
          <a:ln/>
        </p:spPr>
        <p:txBody>
          <a:bodyPr wrap="square" lIns="0" tIns="0" rIns="0" bIns="0" rtlCol="0" anchor="t"/>
          <a:lstStyle/>
          <a:p>
            <a:pPr indent="0" marL="0">
              <a:buNone/>
            </a:pPr>
            <a:r>
              <a:rPr lang="en-US" sz="1550" b="1" dirty="0">
                <a:solidFill>
                  <a:srgbClr val="1B2A38"/>
                </a:solidFill>
                <a:latin typeface="Calibri" pitchFamily="34" charset="0"/>
                <a:ea typeface="Calibri" pitchFamily="34" charset="-122"/>
                <a:cs typeface="Calibri" pitchFamily="34" charset="-120"/>
              </a:rPr>
              <a:t>vi phạm (đề xuất) — 5/19</a:t>
            </a:r>
            <a:endParaRPr lang="en-US" sz="1550" dirty="0"/>
          </a:p>
        </p:txBody>
      </p:sp>
      <p:sp>
        <p:nvSpPr>
          <p:cNvPr id="15" name="Text 12"/>
          <p:cNvSpPr txBox="1"/>
          <p:nvPr/>
        </p:nvSpPr>
        <p:spPr>
          <a:xfrm>
            <a:off x="3619424" y="4233672"/>
            <a:ext cx="2110664" cy="1143000"/>
          </a:xfrm>
          <a:prstGeom prst="rect">
            <a:avLst/>
          </a:prstGeom>
          <a:noFill/>
          <a:ln/>
        </p:spPr>
        <p:txBody>
          <a:bodyPr wrap="square" lIns="0" tIns="0" rIns="0" bIns="0" rtlCol="0" anchor="t"/>
          <a:lstStyle/>
          <a:p>
            <a:pPr indent="0" marL="0">
              <a:buNone/>
            </a:pPr>
            <a:r>
              <a:rPr lang="en-US" sz="1250" dirty="0">
                <a:solidFill>
                  <a:srgbClr val="6B7785"/>
                </a:solidFill>
                <a:latin typeface="Calibri" pitchFamily="34" charset="0"/>
                <a:ea typeface="Calibri" pitchFamily="34" charset="-122"/>
                <a:cs typeface="Calibri" pitchFamily="34" charset="-120"/>
              </a:rPr>
              <a:t>NV0109 đi muộn 14, 16, 17, 18/09 · NV0110 vắng không phép 16/09.</a:t>
            </a:r>
            <a:endParaRPr lang="en-US" sz="1250" dirty="0"/>
          </a:p>
        </p:txBody>
      </p:sp>
      <p:sp>
        <p:nvSpPr>
          <p:cNvPr id="16" name="Shape 13"/>
          <p:cNvSpPr/>
          <p:nvPr/>
        </p:nvSpPr>
        <p:spPr>
          <a:xfrm>
            <a:off x="6233008" y="2286000"/>
            <a:ext cx="2567864" cy="3200400"/>
          </a:xfrm>
          <a:prstGeom prst="roundRect">
            <a:avLst>
              <a:gd name="adj" fmla="val 3561"/>
            </a:avLst>
          </a:prstGeom>
          <a:solidFill>
            <a:srgbClr val="FBE7DA"/>
          </a:solidFill>
          <a:ln w="12700">
            <a:solidFill>
              <a:srgbClr val="FBE7DA"/>
            </a:solidFill>
            <a:prstDash val="solid"/>
          </a:ln>
        </p:spPr>
      </p:sp>
      <p:sp>
        <p:nvSpPr>
          <p:cNvPr id="17" name="Text 14"/>
          <p:cNvSpPr txBox="1"/>
          <p:nvPr/>
        </p:nvSpPr>
        <p:spPr>
          <a:xfrm>
            <a:off x="6461608" y="2468880"/>
            <a:ext cx="2110664" cy="1005840"/>
          </a:xfrm>
          <a:prstGeom prst="rect">
            <a:avLst/>
          </a:prstGeom>
          <a:noFill/>
          <a:ln/>
        </p:spPr>
        <p:txBody>
          <a:bodyPr wrap="square" lIns="0" tIns="0" rIns="0" bIns="0" rtlCol="0" anchor="ctr"/>
          <a:lstStyle/>
          <a:p>
            <a:pPr indent="0" marL="0">
              <a:buNone/>
            </a:pPr>
            <a:r>
              <a:rPr lang="en-US" sz="4400" b="1" dirty="0">
                <a:solidFill>
                  <a:srgbClr val="D9773A"/>
                </a:solidFill>
                <a:latin typeface="Cambria" pitchFamily="34" charset="0"/>
                <a:ea typeface="Cambria" pitchFamily="34" charset="-122"/>
                <a:cs typeface="Cambria" pitchFamily="34" charset="-120"/>
              </a:rPr>
              <a:t>5%</a:t>
            </a:r>
            <a:endParaRPr lang="en-US" sz="4400" dirty="0"/>
          </a:p>
        </p:txBody>
      </p:sp>
      <p:sp>
        <p:nvSpPr>
          <p:cNvPr id="18" name="Text 15"/>
          <p:cNvSpPr txBox="1"/>
          <p:nvPr/>
        </p:nvSpPr>
        <p:spPr>
          <a:xfrm>
            <a:off x="6461608" y="3520440"/>
            <a:ext cx="2110664" cy="658368"/>
          </a:xfrm>
          <a:prstGeom prst="rect">
            <a:avLst/>
          </a:prstGeom>
          <a:noFill/>
          <a:ln/>
        </p:spPr>
        <p:txBody>
          <a:bodyPr wrap="square" lIns="0" tIns="0" rIns="0" bIns="0" rtlCol="0" anchor="t"/>
          <a:lstStyle/>
          <a:p>
            <a:pPr indent="0" marL="0">
              <a:buNone/>
            </a:pPr>
            <a:r>
              <a:rPr lang="en-US" sz="1550" b="1" dirty="0">
                <a:solidFill>
                  <a:srgbClr val="1B2A38"/>
                </a:solidFill>
                <a:latin typeface="Calibri" pitchFamily="34" charset="0"/>
                <a:ea typeface="Calibri" pitchFamily="34" charset="-122"/>
                <a:cs typeface="Calibri" pitchFamily="34" charset="-120"/>
              </a:rPr>
              <a:t>lỗi dữ liệu — 1/19</a:t>
            </a:r>
            <a:endParaRPr lang="en-US" sz="1550" dirty="0"/>
          </a:p>
        </p:txBody>
      </p:sp>
      <p:sp>
        <p:nvSpPr>
          <p:cNvPr id="19" name="Text 16"/>
          <p:cNvSpPr txBox="1"/>
          <p:nvPr/>
        </p:nvSpPr>
        <p:spPr>
          <a:xfrm>
            <a:off x="6461608" y="4233672"/>
            <a:ext cx="2110664" cy="1143000"/>
          </a:xfrm>
          <a:prstGeom prst="rect">
            <a:avLst/>
          </a:prstGeom>
          <a:noFill/>
          <a:ln/>
        </p:spPr>
        <p:txBody>
          <a:bodyPr wrap="square" lIns="0" tIns="0" rIns="0" bIns="0" rtlCol="0" anchor="t"/>
          <a:lstStyle/>
          <a:p>
            <a:pPr indent="0" marL="0">
              <a:buNone/>
            </a:pPr>
            <a:r>
              <a:rPr lang="en-US" sz="1250" dirty="0">
                <a:solidFill>
                  <a:srgbClr val="6B7785"/>
                </a:solidFill>
                <a:latin typeface="Calibri" pitchFamily="34" charset="0"/>
                <a:ea typeface="Calibri" pitchFamily="34" charset="-122"/>
                <a:cs typeface="Calibri" pitchFamily="34" charset="-120"/>
              </a:rPr>
              <a:t>NV0116 17/09: thiếu quẹt ra ca D, đăng nhập vẫn có 7,6 giờ.</a:t>
            </a:r>
            <a:endParaRPr lang="en-US" sz="1250" dirty="0"/>
          </a:p>
        </p:txBody>
      </p:sp>
      <p:sp>
        <p:nvSpPr>
          <p:cNvPr id="20" name="Shape 17"/>
          <p:cNvSpPr/>
          <p:nvPr/>
        </p:nvSpPr>
        <p:spPr>
          <a:xfrm>
            <a:off x="9075191" y="2286000"/>
            <a:ext cx="2567864" cy="3200400"/>
          </a:xfrm>
          <a:prstGeom prst="roundRect">
            <a:avLst>
              <a:gd name="adj" fmla="val 3561"/>
            </a:avLst>
          </a:prstGeom>
          <a:solidFill>
            <a:srgbClr val="DDEFEE"/>
          </a:solidFill>
          <a:ln w="12700">
            <a:solidFill>
              <a:srgbClr val="DDEFEE"/>
            </a:solidFill>
            <a:prstDash val="solid"/>
          </a:ln>
        </p:spPr>
      </p:sp>
      <p:sp>
        <p:nvSpPr>
          <p:cNvPr id="21" name="Text 18"/>
          <p:cNvSpPr txBox="1"/>
          <p:nvPr/>
        </p:nvSpPr>
        <p:spPr>
          <a:xfrm>
            <a:off x="9303791" y="2468880"/>
            <a:ext cx="2110664" cy="1005840"/>
          </a:xfrm>
          <a:prstGeom prst="rect">
            <a:avLst/>
          </a:prstGeom>
          <a:noFill/>
          <a:ln/>
        </p:spPr>
        <p:txBody>
          <a:bodyPr wrap="square" lIns="0" tIns="0" rIns="0" bIns="0" rtlCol="0" anchor="ctr"/>
          <a:lstStyle/>
          <a:p>
            <a:pPr indent="0" marL="0">
              <a:buNone/>
            </a:pPr>
            <a:r>
              <a:rPr lang="en-US" sz="4400" b="1" dirty="0">
                <a:solidFill>
                  <a:srgbClr val="2E7D7A"/>
                </a:solidFill>
                <a:latin typeface="Cambria" pitchFamily="34" charset="0"/>
                <a:ea typeface="Cambria" pitchFamily="34" charset="-122"/>
                <a:cs typeface="Cambria" pitchFamily="34" charset="-120"/>
              </a:rPr>
              <a:t>63%</a:t>
            </a:r>
            <a:endParaRPr lang="en-US" sz="4400" dirty="0"/>
          </a:p>
        </p:txBody>
      </p:sp>
      <p:sp>
        <p:nvSpPr>
          <p:cNvPr id="22" name="Text 19"/>
          <p:cNvSpPr txBox="1"/>
          <p:nvPr/>
        </p:nvSpPr>
        <p:spPr>
          <a:xfrm>
            <a:off x="9303791" y="3520440"/>
            <a:ext cx="2110664" cy="658368"/>
          </a:xfrm>
          <a:prstGeom prst="rect">
            <a:avLst/>
          </a:prstGeom>
          <a:noFill/>
          <a:ln/>
        </p:spPr>
        <p:txBody>
          <a:bodyPr wrap="square" lIns="0" tIns="0" rIns="0" bIns="0" rtlCol="0" anchor="t"/>
          <a:lstStyle/>
          <a:p>
            <a:pPr indent="0" marL="0">
              <a:buNone/>
            </a:pPr>
            <a:r>
              <a:rPr lang="en-US" sz="1550" b="1" dirty="0">
                <a:solidFill>
                  <a:srgbClr val="1B2A38"/>
                </a:solidFill>
                <a:latin typeface="Calibri" pitchFamily="34" charset="0"/>
                <a:ea typeface="Calibri" pitchFamily="34" charset="-122"/>
                <a:cs typeface="Calibri" pitchFamily="34" charset="-120"/>
              </a:rPr>
              <a:t>cần xác minh — 12/19</a:t>
            </a:r>
            <a:endParaRPr lang="en-US" sz="1550" dirty="0"/>
          </a:p>
        </p:txBody>
      </p:sp>
      <p:sp>
        <p:nvSpPr>
          <p:cNvPr id="23" name="Text 20"/>
          <p:cNvSpPr txBox="1"/>
          <p:nvPr/>
        </p:nvSpPr>
        <p:spPr>
          <a:xfrm>
            <a:off x="9303791" y="4233672"/>
            <a:ext cx="2110664" cy="1143000"/>
          </a:xfrm>
          <a:prstGeom prst="rect">
            <a:avLst/>
          </a:prstGeom>
          <a:noFill/>
          <a:ln/>
        </p:spPr>
        <p:txBody>
          <a:bodyPr wrap="square" lIns="0" tIns="0" rIns="0" bIns="0" rtlCol="0" anchor="t"/>
          <a:lstStyle/>
          <a:p>
            <a:pPr indent="0" marL="0">
              <a:buNone/>
            </a:pPr>
            <a:r>
              <a:rPr lang="en-US" sz="1250" dirty="0">
                <a:solidFill>
                  <a:srgbClr val="6B7785"/>
                </a:solidFill>
                <a:latin typeface="Calibri" pitchFamily="34" charset="0"/>
                <a:ea typeface="Calibri" pitchFamily="34" charset="-122"/>
                <a:cs typeface="Calibri" pitchFamily="34" charset="-120"/>
              </a:rPr>
              <a:t>NV0106 đăng nhập trễ ×4, NV0108 sản xuất thấp ×3, OT và phép chờ duyệt, NV0114.</a:t>
            </a:r>
            <a:endParaRPr lang="en-US" sz="1250" dirty="0"/>
          </a:p>
        </p:txBody>
      </p:sp>
      <p:sp>
        <p:nvSpPr>
          <p:cNvPr id="24" name="Shape 21"/>
          <p:cNvSpPr/>
          <p:nvPr/>
        </p:nvSpPr>
        <p:spPr>
          <a:xfrm>
            <a:off x="548640" y="5669280"/>
            <a:ext cx="11094415" cy="594360"/>
          </a:xfrm>
          <a:prstGeom prst="roundRect">
            <a:avLst>
              <a:gd name="adj" fmla="val 12308"/>
            </a:avLst>
          </a:prstGeom>
          <a:solidFill>
            <a:srgbClr val="F2F4F6"/>
          </a:solidFill>
          <a:ln w="12700">
            <a:solidFill>
              <a:srgbClr val="F2F4F6"/>
            </a:solidFill>
            <a:prstDash val="solid"/>
          </a:ln>
        </p:spPr>
      </p:sp>
      <p:sp>
        <p:nvSpPr>
          <p:cNvPr id="25" name="Text 22"/>
          <p:cNvSpPr txBox="1"/>
          <p:nvPr/>
        </p:nvSpPr>
        <p:spPr>
          <a:xfrm>
            <a:off x="777240" y="5669280"/>
            <a:ext cx="10637215" cy="594360"/>
          </a:xfrm>
          <a:prstGeom prst="rect">
            <a:avLst/>
          </a:prstGeom>
          <a:noFill/>
          <a:ln/>
        </p:spPr>
        <p:txBody>
          <a:bodyPr wrap="square" lIns="0" tIns="0" rIns="0" bIns="0" rtlCol="0" anchor="ctr">
            <a:normAutofit/>
          </a:bodyPr>
          <a:lstStyle/>
          <a:p>
            <a:pPr indent="0" marL="0">
              <a:buNone/>
            </a:pPr>
            <a:r>
              <a:rPr lang="en-US" sz="1350" dirty="0">
                <a:solidFill>
                  <a:srgbClr val="1B2A38"/>
                </a:solidFill>
                <a:latin typeface="Calibri" pitchFamily="34" charset="0"/>
                <a:ea typeface="Calibri" pitchFamily="34" charset="-122"/>
                <a:cs typeface="Calibri" pitchFamily="34" charset="-120"/>
              </a:rPr>
              <a:t>Câu hỏi review: bao nhiêu % đề xuất của AI được người giữ nguyên? Các cờ “cần xác minh” hôm nay sẽ hiện thành ô đỏ trên dashboard.</a:t>
            </a:r>
            <a:endParaRPr lang="en-US" sz="13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982980" cy="292608"/>
          </a:xfrm>
          <a:prstGeom prst="roundRect">
            <a:avLst>
              <a:gd name="adj" fmla="val 50000"/>
            </a:avLst>
          </a:prstGeom>
          <a:solidFill>
            <a:srgbClr val="FBE7DA"/>
          </a:solidFill>
          <a:ln w="12700">
            <a:solidFill>
              <a:srgbClr val="FBE7DA"/>
            </a:solidFill>
            <a:prstDash val="solid"/>
          </a:ln>
        </p:spPr>
      </p:sp>
      <p:sp>
        <p:nvSpPr>
          <p:cNvPr id="3" name="Text 1"/>
          <p:cNvSpPr txBox="1"/>
          <p:nvPr/>
        </p:nvSpPr>
        <p:spPr>
          <a:xfrm>
            <a:off x="548640" y="384048"/>
            <a:ext cx="982980" cy="292608"/>
          </a:xfrm>
          <a:prstGeom prst="rect">
            <a:avLst/>
          </a:prstGeom>
          <a:noFill/>
          <a:ln/>
        </p:spPr>
        <p:txBody>
          <a:bodyPr wrap="square" lIns="0" tIns="0" rIns="0" bIns="0" rtlCol="0" anchor="ctr"/>
          <a:lstStyle/>
          <a:p>
            <a:pPr algn="ctr" indent="0" marL="0">
              <a:buNone/>
            </a:pPr>
            <a:r>
              <a:rPr lang="en-US" sz="1050" b="1" spc="150" kern="0" dirty="0">
                <a:solidFill>
                  <a:srgbClr val="D9773A"/>
                </a:solidFill>
                <a:latin typeface="Calibri" pitchFamily="34" charset="0"/>
                <a:ea typeface="Calibri" pitchFamily="34" charset="-122"/>
                <a:cs typeface="Calibri" pitchFamily="34" charset="-120"/>
              </a:rPr>
              <a:t>KIẾN THỨC</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Bộ KPI năng suất: nối sản lượng với công</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4 · KPI năng suất &amp; dashboard</a:t>
            </a:r>
            <a:endParaRPr lang="en-US" sz="1000" dirty="0"/>
          </a:p>
        </p:txBody>
      </p:sp>
      <p:sp>
        <p:nvSpPr>
          <p:cNvPr id="7" name="Text 4"/>
          <p:cNvSpPr txBox="1"/>
          <p:nvPr/>
        </p:nvSpPr>
        <p:spPr>
          <a:xfrm>
            <a:off x="548640" y="1645920"/>
            <a:ext cx="11094415" cy="502920"/>
          </a:xfrm>
          <a:prstGeom prst="rect">
            <a:avLst/>
          </a:prstGeom>
          <a:noFill/>
          <a:ln/>
        </p:spPr>
        <p:txBody>
          <a:bodyPr wrap="square" lIns="0" tIns="0" rIns="0" bIns="0" rtlCol="0" anchor="t"/>
          <a:lstStyle/>
          <a:p>
            <a:pPr indent="0" marL="0">
              <a:buNone/>
            </a:pPr>
            <a:r>
              <a:rPr lang="en-US" sz="1600" i="1" dirty="0">
                <a:solidFill>
                  <a:srgbClr val="6B7785"/>
                </a:solidFill>
                <a:latin typeface="Calibri" pitchFamily="34" charset="0"/>
                <a:ea typeface="Calibri" pitchFamily="34" charset="-122"/>
                <a:cs typeface="Calibri" pitchFamily="34" charset="-120"/>
              </a:rPr>
              <a:t>CEO hỏi: “Mỗi giờ công mình trả lương tạo ra bao nhiêu hợp đồng?” — mỗi KPI là tỷ lệ giữa hai lớp của phễu.</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240280"/>
          <a:ext cx="11094415" cy="914400"/>
        </p:xfrm>
        <a:graphic>
          <a:graphicData uri="http://schemas.openxmlformats.org/drawingml/2006/table">
            <a:tbl>
              <a:tblPr/>
              <a:tblGrid>
                <a:gridCol w="2475613"/>
                <a:gridCol w="3575886"/>
                <a:gridCol w="2108856"/>
                <a:gridCol w="2934060"/>
              </a:tblGrid>
              <a:tr h="463731">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KPI</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Công thức</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NV0105 (14 ngày)</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Dùng để</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r>
              <a:tr h="463731">
                <a:tc>
                  <a:txBody>
                    <a:bodyPr/>
                    <a:lstStyle/>
                    <a:p>
                      <a:pPr indent="0" marL="0">
                        <a:buNone/>
                      </a:pPr>
                      <a:r>
                        <a:rPr lang="en-US" sz="1350" b="1" dirty="0">
                          <a:solidFill>
                            <a:srgbClr val="1B2A38"/>
                          </a:solidFill>
                          <a:latin typeface="Calibri" pitchFamily="34" charset="0"/>
                          <a:ea typeface="Calibri" pitchFamily="34" charset="-122"/>
                          <a:cs typeface="Calibri" pitchFamily="34" charset="-120"/>
                        </a:rPr>
                        <a:t>Cuộc gọi / giờ công</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Số cuộc / giờ có mặt</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2.382 / 97,88 = 24,3</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Nhịp gọi — chỉ số chính của outbound</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463731">
                <a:tc>
                  <a:txBody>
                    <a:bodyPr/>
                    <a:lstStyle/>
                    <a:p>
                      <a:pPr indent="0" marL="0">
                        <a:buNone/>
                      </a:pPr>
                      <a:r>
                        <a:rPr lang="en-US" sz="1350" b="1" dirty="0">
                          <a:solidFill>
                            <a:srgbClr val="1B2A38"/>
                          </a:solidFill>
                          <a:latin typeface="Calibri" pitchFamily="34" charset="0"/>
                          <a:ea typeface="Calibri" pitchFamily="34" charset="-122"/>
                          <a:cs typeface="Calibri" pitchFamily="34" charset="-120"/>
                        </a:rPr>
                        <a:t>Cuộc thành công / giờ công</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Cuộc thành công / giờ có mặt</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151 / 97,88 = 1,54</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Chỉ số CEO — gắn thẳng với doanh thu</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63731">
                <a:tc>
                  <a:txBody>
                    <a:bodyPr/>
                    <a:lstStyle/>
                    <a:p>
                      <a:pPr indent="0" marL="0">
                        <a:buNone/>
                      </a:pPr>
                      <a:r>
                        <a:rPr lang="en-US" sz="1350" b="1" dirty="0">
                          <a:solidFill>
                            <a:srgbClr val="1B2A38"/>
                          </a:solidFill>
                          <a:latin typeface="Calibri" pitchFamily="34" charset="0"/>
                          <a:ea typeface="Calibri" pitchFamily="34" charset="-122"/>
                          <a:cs typeface="Calibri" pitchFamily="34" charset="-120"/>
                        </a:rPr>
                        <a:t>AHT</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(Đàm thoại + giữ máy + ACW) / số cuộc xử lý</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191 giây</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Độ dài xử lý; quá thấp hay quá cao đều phải hỏi</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463731">
                <a:tc>
                  <a:txBody>
                    <a:bodyPr/>
                    <a:lstStyle/>
                    <a:p>
                      <a:pPr indent="0" marL="0">
                        <a:buNone/>
                      </a:pPr>
                      <a:r>
                        <a:rPr lang="en-US" sz="1350" b="1" dirty="0">
                          <a:solidFill>
                            <a:srgbClr val="1B2A38"/>
                          </a:solidFill>
                          <a:latin typeface="Calibri" pitchFamily="34" charset="0"/>
                          <a:ea typeface="Calibri" pitchFamily="34" charset="-122"/>
                          <a:cs typeface="Calibri" pitchFamily="34" charset="-120"/>
                        </a:rPr>
                        <a:t>Tỷ lệ đăng nhập</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Giờ đăng nhập / giờ có mặt</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95,72 / 97,88 = 97,8%</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Thấp → có mặt nhưng không vào máy</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63731">
                <a:tc>
                  <a:txBody>
                    <a:bodyPr/>
                    <a:lstStyle/>
                    <a:p>
                      <a:pPr indent="0" marL="0">
                        <a:buNone/>
                      </a:pPr>
                      <a:r>
                        <a:rPr lang="en-US" sz="1350" b="1" dirty="0">
                          <a:solidFill>
                            <a:srgbClr val="1B2A38"/>
                          </a:solidFill>
                          <a:latin typeface="Calibri" pitchFamily="34" charset="0"/>
                          <a:ea typeface="Calibri" pitchFamily="34" charset="-122"/>
                          <a:cs typeface="Calibri" pitchFamily="34" charset="-120"/>
                        </a:rPr>
                        <a:t>Tỷ lệ sản xuất</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Giờ sản xuất / giờ có mặt</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62,06 / 97,88 = 63,4%</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Hiệu quả sử dụng giờ công (tổng hợp)</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463731">
                <a:tc>
                  <a:txBody>
                    <a:bodyPr/>
                    <a:lstStyle/>
                    <a:p>
                      <a:pPr indent="0" marL="0">
                        <a:buNone/>
                      </a:pPr>
                      <a:r>
                        <a:rPr lang="en-US" sz="1350" b="1" dirty="0">
                          <a:solidFill>
                            <a:srgbClr val="1B2A38"/>
                          </a:solidFill>
                          <a:latin typeface="Calibri" pitchFamily="34" charset="0"/>
                          <a:ea typeface="Calibri" pitchFamily="34" charset="-122"/>
                          <a:cs typeface="Calibri" pitchFamily="34" charset="-120"/>
                        </a:rPr>
                        <a:t>Giờ công lãng phí</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Σ max(0; có mặt − đăng nhập − ngưỡng) theo ca</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 0 giờ</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Quy ra tiền — ngôn ngữ của CEO</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5669280"/>
            <a:ext cx="11094415" cy="594360"/>
          </a:xfrm>
          <a:prstGeom prst="roundRect">
            <a:avLst>
              <a:gd name="adj" fmla="val 12308"/>
            </a:avLst>
          </a:prstGeom>
          <a:solidFill>
            <a:srgbClr val="FBE7DA"/>
          </a:solidFill>
          <a:ln w="12700">
            <a:solidFill>
              <a:srgbClr val="FBE7DA"/>
            </a:solidFill>
            <a:prstDash val="solid"/>
          </a:ln>
        </p:spPr>
      </p:sp>
      <p:sp>
        <p:nvSpPr>
          <p:cNvPr id="10" name="Text 6"/>
          <p:cNvSpPr txBox="1"/>
          <p:nvPr/>
        </p:nvSpPr>
        <p:spPr>
          <a:xfrm>
            <a:off x="777240" y="5669280"/>
            <a:ext cx="10637215" cy="594360"/>
          </a:xfrm>
          <a:prstGeom prst="rect">
            <a:avLst/>
          </a:prstGeom>
          <a:noFill/>
          <a:ln/>
        </p:spPr>
        <p:txBody>
          <a:bodyPr wrap="square" lIns="0" tIns="0" rIns="0" bIns="0" rtlCol="0" anchor="ctr">
            <a:normAutofit/>
          </a:bodyPr>
          <a:lstStyle/>
          <a:p>
            <a:pPr indent="0" marL="0">
              <a:buNone/>
            </a:pPr>
            <a:r>
              <a:rPr lang="en-US" sz="1350" dirty="0">
                <a:solidFill>
                  <a:srgbClr val="1B2A38"/>
                </a:solidFill>
                <a:latin typeface="Calibri" pitchFamily="34" charset="0"/>
                <a:ea typeface="Calibri" pitchFamily="34" charset="-122"/>
                <a:cs typeface="Calibri" pitchFamily="34" charset="-120"/>
              </a:rPr>
              <a:t>“Giờ công” = giờ có mặt (máy chấm công − nghỉ giữa ca), không phải giờ đăng nhập. Neo TS-BH: 23,7 cuộc/giờ · 1,24 TC/giờ · AHT 186 giây.</a:t>
            </a:r>
            <a:endParaRPr lang="en-US" sz="13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982980" cy="292608"/>
          </a:xfrm>
          <a:prstGeom prst="roundRect">
            <a:avLst>
              <a:gd name="adj" fmla="val 50000"/>
            </a:avLst>
          </a:prstGeom>
          <a:solidFill>
            <a:srgbClr val="FBE7DA"/>
          </a:solidFill>
          <a:ln w="12700">
            <a:solidFill>
              <a:srgbClr val="FBE7DA"/>
            </a:solidFill>
            <a:prstDash val="solid"/>
          </a:ln>
        </p:spPr>
      </p:sp>
      <p:sp>
        <p:nvSpPr>
          <p:cNvPr id="3" name="Text 1"/>
          <p:cNvSpPr txBox="1"/>
          <p:nvPr/>
        </p:nvSpPr>
        <p:spPr>
          <a:xfrm>
            <a:off x="548640" y="384048"/>
            <a:ext cx="982980" cy="292608"/>
          </a:xfrm>
          <a:prstGeom prst="rect">
            <a:avLst/>
          </a:prstGeom>
          <a:noFill/>
          <a:ln/>
        </p:spPr>
        <p:txBody>
          <a:bodyPr wrap="square" lIns="0" tIns="0" rIns="0" bIns="0" rtlCol="0" anchor="ctr"/>
          <a:lstStyle/>
          <a:p>
            <a:pPr algn="ctr" indent="0" marL="0">
              <a:buNone/>
            </a:pPr>
            <a:r>
              <a:rPr lang="en-US" sz="1050" b="1" spc="150" kern="0" dirty="0">
                <a:solidFill>
                  <a:srgbClr val="D9773A"/>
                </a:solidFill>
                <a:latin typeface="Calibri" pitchFamily="34" charset="0"/>
                <a:ea typeface="Calibri" pitchFamily="34" charset="-122"/>
                <a:cs typeface="Calibri" pitchFamily="34" charset="-120"/>
              </a:rPr>
              <a:t>KIẾN THỨC</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4 quy tắc để tử số và mẫu số “nói cùng một ngôn ngữ”</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4 · KPI năng suất &amp; dashboard</a:t>
            </a:r>
            <a:endParaRPr lang="en-US" sz="1000" dirty="0"/>
          </a:p>
        </p:txBody>
      </p:sp>
      <p:sp>
        <p:nvSpPr>
          <p:cNvPr id="7" name="Text 4"/>
          <p:cNvSpPr txBox="1"/>
          <p:nvPr/>
        </p:nvSpPr>
        <p:spPr>
          <a:xfrm>
            <a:off x="548640" y="1645920"/>
            <a:ext cx="11094415" cy="502920"/>
          </a:xfrm>
          <a:prstGeom prst="rect">
            <a:avLst/>
          </a:prstGeom>
          <a:noFill/>
          <a:ln/>
        </p:spPr>
        <p:txBody>
          <a:bodyPr wrap="square" lIns="0" tIns="0" rIns="0" bIns="0" rtlCol="0" anchor="t"/>
          <a:lstStyle/>
          <a:p>
            <a:pPr indent="0" marL="0">
              <a:buNone/>
            </a:pPr>
            <a:r>
              <a:rPr lang="en-US" sz="1600" i="1" dirty="0">
                <a:solidFill>
                  <a:srgbClr val="6B7785"/>
                </a:solidFill>
                <a:latin typeface="Calibri" pitchFamily="34" charset="0"/>
                <a:ea typeface="Calibri" pitchFamily="34" charset="-122"/>
                <a:cs typeface="Calibri" pitchFamily="34" charset="-120"/>
              </a:rPr>
              <a:t>Phần lớn tranh cãi về số liệu nằm ở mẫu số, không phải ở phép chia.</a:t>
            </a:r>
            <a:endParaRPr lang="en-US" sz="1600" dirty="0"/>
          </a:p>
        </p:txBody>
      </p:sp>
      <p:sp>
        <p:nvSpPr>
          <p:cNvPr id="8" name="Shape 5"/>
          <p:cNvSpPr/>
          <p:nvPr/>
        </p:nvSpPr>
        <p:spPr>
          <a:xfrm>
            <a:off x="548640" y="2240280"/>
            <a:ext cx="5410048" cy="1874520"/>
          </a:xfrm>
          <a:prstGeom prst="roundRect">
            <a:avLst>
              <a:gd name="adj" fmla="val 4878"/>
            </a:avLst>
          </a:prstGeom>
          <a:solidFill>
            <a:srgbClr val="FBE7DA"/>
          </a:solidFill>
          <a:ln w="12700">
            <a:solidFill>
              <a:srgbClr val="FBE7DA"/>
            </a:solidFill>
            <a:prstDash val="solid"/>
          </a:ln>
        </p:spPr>
      </p:sp>
      <p:sp>
        <p:nvSpPr>
          <p:cNvPr id="9" name="Shape 6"/>
          <p:cNvSpPr/>
          <p:nvPr/>
        </p:nvSpPr>
        <p:spPr>
          <a:xfrm>
            <a:off x="777240" y="2468880"/>
            <a:ext cx="457200" cy="457200"/>
          </a:xfrm>
          <a:prstGeom prst="roundRect">
            <a:avLst>
              <a:gd name="adj" fmla="val 22000"/>
            </a:avLst>
          </a:prstGeom>
          <a:solidFill>
            <a:srgbClr val="D9773A"/>
          </a:solidFill>
          <a:ln w="12700">
            <a:solidFill>
              <a:srgbClr val="D9773A"/>
            </a:solidFill>
            <a:prstDash val="solid"/>
          </a:ln>
        </p:spPr>
      </p:sp>
      <p:pic>
        <p:nvPicPr>
          <p:cNvPr id="10" name="Image 0" descr="preencoded.png">    </p:cNvPr>
          <p:cNvPicPr>
            <a:picLocks noChangeAspect="1"/>
          </p:cNvPicPr>
          <p:nvPr/>
        </p:nvPicPr>
        <p:blipFill>
          <a:blip r:embed="rId1"/>
          <a:stretch>
            <a:fillRect/>
          </a:stretch>
        </p:blipFill>
        <p:spPr>
          <a:xfrm>
            <a:off x="886968" y="2578608"/>
            <a:ext cx="237744" cy="237744"/>
          </a:xfrm>
          <a:prstGeom prst="rect">
            <a:avLst/>
          </a:prstGeom>
        </p:spPr>
      </p:pic>
      <p:sp>
        <p:nvSpPr>
          <p:cNvPr id="11" name="Text 7"/>
          <p:cNvSpPr txBox="1"/>
          <p:nvPr/>
        </p:nvSpPr>
        <p:spPr>
          <a:xfrm>
            <a:off x="1417320" y="2468880"/>
            <a:ext cx="4312768" cy="457200"/>
          </a:xfrm>
          <a:prstGeom prst="rect">
            <a:avLst/>
          </a:prstGeom>
          <a:noFill/>
          <a:ln/>
        </p:spPr>
        <p:txBody>
          <a:bodyPr wrap="square" lIns="0" tIns="0" rIns="0" bIns="0" rtlCol="0" anchor="ctr">
            <a:normAutofit/>
          </a:bodyPr>
          <a:lstStyle/>
          <a:p>
            <a:pPr indent="0" marL="0">
              <a:buNone/>
            </a:pPr>
            <a:r>
              <a:rPr lang="en-US" sz="1800" b="1" dirty="0">
                <a:solidFill>
                  <a:srgbClr val="1B2A38"/>
                </a:solidFill>
                <a:latin typeface="Calibri" pitchFamily="34" charset="0"/>
                <a:ea typeface="Calibri" pitchFamily="34" charset="-122"/>
                <a:cs typeface="Calibri" pitchFamily="34" charset="-120"/>
              </a:rPr>
              <a:t>Cùng phạm vi</a:t>
            </a:r>
            <a:endParaRPr lang="en-US" sz="1800" dirty="0"/>
          </a:p>
        </p:txBody>
      </p:sp>
      <p:sp>
        <p:nvSpPr>
          <p:cNvPr id="12" name="Text 8"/>
          <p:cNvSpPr txBox="1"/>
          <p:nvPr/>
        </p:nvSpPr>
        <p:spPr>
          <a:xfrm>
            <a:off x="777240" y="3090672"/>
            <a:ext cx="4952848" cy="868680"/>
          </a:xfrm>
          <a:prstGeom prst="rect">
            <a:avLst/>
          </a:prstGeom>
          <a:noFill/>
          <a:ln/>
        </p:spPr>
        <p:txBody>
          <a:bodyPr wrap="square" lIns="0" tIns="0" rIns="0" bIns="0" rtlCol="0" anchor="t">
            <a:normAutofit/>
          </a:bodyPr>
          <a:lstStyle/>
          <a:p>
            <a:pPr indent="0" marL="0">
              <a:buNone/>
            </a:pPr>
            <a:r>
              <a:rPr lang="en-US" sz="1700" dirty="0">
                <a:solidFill>
                  <a:srgbClr val="1B2A38"/>
                </a:solidFill>
                <a:latin typeface="Calibri" pitchFamily="34" charset="0"/>
                <a:ea typeface="Calibri" pitchFamily="34" charset="-122"/>
                <a:cs typeface="Calibri" pitchFamily="34" charset="-120"/>
              </a:rPr>
              <a:t>1.257 TC ÷ 1.707 giờ cả công ty = 0,74 — sai. Chỉ TS-BH có mã “Thành công”: 1.238 ÷ 995,0 giờ TS-BH = 1,24.</a:t>
            </a:r>
            <a:endParaRPr lang="en-US" sz="1700" dirty="0"/>
          </a:p>
        </p:txBody>
      </p:sp>
      <p:sp>
        <p:nvSpPr>
          <p:cNvPr id="13" name="Shape 9"/>
          <p:cNvSpPr/>
          <p:nvPr/>
        </p:nvSpPr>
        <p:spPr>
          <a:xfrm>
            <a:off x="6233008" y="2240280"/>
            <a:ext cx="5410048" cy="1874520"/>
          </a:xfrm>
          <a:prstGeom prst="roundRect">
            <a:avLst>
              <a:gd name="adj" fmla="val 4878"/>
            </a:avLst>
          </a:prstGeom>
          <a:solidFill>
            <a:srgbClr val="F2F4F6"/>
          </a:solidFill>
          <a:ln w="12700">
            <a:solidFill>
              <a:srgbClr val="F2F4F6"/>
            </a:solidFill>
            <a:prstDash val="solid"/>
          </a:ln>
        </p:spPr>
      </p:sp>
      <p:sp>
        <p:nvSpPr>
          <p:cNvPr id="14" name="Shape 10"/>
          <p:cNvSpPr/>
          <p:nvPr/>
        </p:nvSpPr>
        <p:spPr>
          <a:xfrm>
            <a:off x="6461608" y="2468880"/>
            <a:ext cx="457200" cy="457200"/>
          </a:xfrm>
          <a:prstGeom prst="roundRect">
            <a:avLst>
              <a:gd name="adj" fmla="val 22000"/>
            </a:avLst>
          </a:prstGeom>
          <a:solidFill>
            <a:srgbClr val="2B3E50"/>
          </a:solidFill>
          <a:ln w="12700">
            <a:solidFill>
              <a:srgbClr val="2B3E50"/>
            </a:solidFill>
            <a:prstDash val="solid"/>
          </a:ln>
        </p:spPr>
      </p:sp>
      <p:pic>
        <p:nvPicPr>
          <p:cNvPr id="15" name="Image 1" descr="preencoded.png">    </p:cNvPr>
          <p:cNvPicPr>
            <a:picLocks noChangeAspect="1"/>
          </p:cNvPicPr>
          <p:nvPr/>
        </p:nvPicPr>
        <p:blipFill>
          <a:blip r:embed="rId2"/>
          <a:stretch>
            <a:fillRect/>
          </a:stretch>
        </p:blipFill>
        <p:spPr>
          <a:xfrm>
            <a:off x="6571336" y="2578608"/>
            <a:ext cx="237744" cy="237744"/>
          </a:xfrm>
          <a:prstGeom prst="rect">
            <a:avLst/>
          </a:prstGeom>
        </p:spPr>
      </p:pic>
      <p:sp>
        <p:nvSpPr>
          <p:cNvPr id="16" name="Text 11"/>
          <p:cNvSpPr txBox="1"/>
          <p:nvPr/>
        </p:nvSpPr>
        <p:spPr>
          <a:xfrm>
            <a:off x="7101688" y="2468880"/>
            <a:ext cx="4312768" cy="457200"/>
          </a:xfrm>
          <a:prstGeom prst="rect">
            <a:avLst/>
          </a:prstGeom>
          <a:noFill/>
          <a:ln/>
        </p:spPr>
        <p:txBody>
          <a:bodyPr wrap="square" lIns="0" tIns="0" rIns="0" bIns="0" rtlCol="0" anchor="ctr">
            <a:normAutofit/>
          </a:bodyPr>
          <a:lstStyle/>
          <a:p>
            <a:pPr indent="0" marL="0">
              <a:buNone/>
            </a:pPr>
            <a:r>
              <a:rPr lang="en-US" sz="1800" b="1" dirty="0">
                <a:solidFill>
                  <a:srgbClr val="1B2A38"/>
                </a:solidFill>
                <a:latin typeface="Calibri" pitchFamily="34" charset="0"/>
                <a:ea typeface="Calibri" pitchFamily="34" charset="-122"/>
                <a:cs typeface="Calibri" pitchFamily="34" charset="-120"/>
              </a:rPr>
              <a:t>Cùng tập người</a:t>
            </a:r>
            <a:endParaRPr lang="en-US" sz="1800" dirty="0"/>
          </a:p>
        </p:txBody>
      </p:sp>
      <p:sp>
        <p:nvSpPr>
          <p:cNvPr id="17" name="Text 12"/>
          <p:cNvSpPr txBox="1"/>
          <p:nvPr/>
        </p:nvSpPr>
        <p:spPr>
          <a:xfrm>
            <a:off x="6461608" y="3090672"/>
            <a:ext cx="4952848" cy="868680"/>
          </a:xfrm>
          <a:prstGeom prst="rect">
            <a:avLst/>
          </a:prstGeom>
          <a:noFill/>
          <a:ln/>
        </p:spPr>
        <p:txBody>
          <a:bodyPr wrap="square" lIns="0" tIns="0" rIns="0" bIns="0" rtlCol="0" anchor="t">
            <a:normAutofit/>
          </a:bodyPr>
          <a:lstStyle/>
          <a:p>
            <a:pPr indent="0" marL="0">
              <a:buNone/>
            </a:pPr>
            <a:r>
              <a:rPr lang="en-US" sz="1700" dirty="0">
                <a:solidFill>
                  <a:srgbClr val="1B2A38"/>
                </a:solidFill>
                <a:latin typeface="Calibri" pitchFamily="34" charset="0"/>
                <a:ea typeface="Calibri" pitchFamily="34" charset="-122"/>
                <a:cs typeface="Calibri" pitchFamily="34" charset="-120"/>
              </a:rPr>
              <a:t>19 cuộc thành công của thực tập sinh EXT2099 không vào tử số — người này không có dòng nào trong bảng công.</a:t>
            </a:r>
            <a:endParaRPr lang="en-US" sz="1700" dirty="0"/>
          </a:p>
        </p:txBody>
      </p:sp>
      <p:sp>
        <p:nvSpPr>
          <p:cNvPr id="18" name="Shape 13"/>
          <p:cNvSpPr/>
          <p:nvPr/>
        </p:nvSpPr>
        <p:spPr>
          <a:xfrm>
            <a:off x="548640" y="4389120"/>
            <a:ext cx="5410048" cy="1874520"/>
          </a:xfrm>
          <a:prstGeom prst="roundRect">
            <a:avLst>
              <a:gd name="adj" fmla="val 4878"/>
            </a:avLst>
          </a:prstGeom>
          <a:solidFill>
            <a:srgbClr val="F2F4F6"/>
          </a:solidFill>
          <a:ln w="12700">
            <a:solidFill>
              <a:srgbClr val="F2F4F6"/>
            </a:solidFill>
            <a:prstDash val="solid"/>
          </a:ln>
        </p:spPr>
      </p:sp>
      <p:sp>
        <p:nvSpPr>
          <p:cNvPr id="19" name="Shape 14"/>
          <p:cNvSpPr/>
          <p:nvPr/>
        </p:nvSpPr>
        <p:spPr>
          <a:xfrm>
            <a:off x="777240" y="4617720"/>
            <a:ext cx="457200" cy="457200"/>
          </a:xfrm>
          <a:prstGeom prst="roundRect">
            <a:avLst>
              <a:gd name="adj" fmla="val 22000"/>
            </a:avLst>
          </a:prstGeom>
          <a:solidFill>
            <a:srgbClr val="2B3E50"/>
          </a:solidFill>
          <a:ln w="12700">
            <a:solidFill>
              <a:srgbClr val="2B3E50"/>
            </a:solidFill>
            <a:prstDash val="solid"/>
          </a:ln>
        </p:spPr>
      </p:sp>
      <p:pic>
        <p:nvPicPr>
          <p:cNvPr id="20" name="Image 2" descr="preencoded.png">    </p:cNvPr>
          <p:cNvPicPr>
            <a:picLocks noChangeAspect="1"/>
          </p:cNvPicPr>
          <p:nvPr/>
        </p:nvPicPr>
        <p:blipFill>
          <a:blip r:embed="rId3"/>
          <a:stretch>
            <a:fillRect/>
          </a:stretch>
        </p:blipFill>
        <p:spPr>
          <a:xfrm>
            <a:off x="886968" y="4727448"/>
            <a:ext cx="237744" cy="237744"/>
          </a:xfrm>
          <a:prstGeom prst="rect">
            <a:avLst/>
          </a:prstGeom>
        </p:spPr>
      </p:pic>
      <p:sp>
        <p:nvSpPr>
          <p:cNvPr id="21" name="Text 15"/>
          <p:cNvSpPr txBox="1"/>
          <p:nvPr/>
        </p:nvSpPr>
        <p:spPr>
          <a:xfrm>
            <a:off x="1417320" y="4617720"/>
            <a:ext cx="4312768" cy="457200"/>
          </a:xfrm>
          <a:prstGeom prst="rect">
            <a:avLst/>
          </a:prstGeom>
          <a:noFill/>
          <a:ln/>
        </p:spPr>
        <p:txBody>
          <a:bodyPr wrap="square" lIns="0" tIns="0" rIns="0" bIns="0" rtlCol="0" anchor="ctr">
            <a:normAutofit/>
          </a:bodyPr>
          <a:lstStyle/>
          <a:p>
            <a:pPr indent="0" marL="0">
              <a:buNone/>
            </a:pPr>
            <a:r>
              <a:rPr lang="en-US" sz="1800" b="1" dirty="0">
                <a:solidFill>
                  <a:srgbClr val="1B2A38"/>
                </a:solidFill>
                <a:latin typeface="Calibri" pitchFamily="34" charset="0"/>
                <a:ea typeface="Calibri" pitchFamily="34" charset="-122"/>
                <a:cs typeface="Calibri" pitchFamily="34" charset="-120"/>
              </a:rPr>
              <a:t>Cùng tập ngày</a:t>
            </a:r>
            <a:endParaRPr lang="en-US" sz="1800" dirty="0"/>
          </a:p>
        </p:txBody>
      </p:sp>
      <p:sp>
        <p:nvSpPr>
          <p:cNvPr id="22" name="Text 16"/>
          <p:cNvSpPr txBox="1"/>
          <p:nvPr/>
        </p:nvSpPr>
        <p:spPr>
          <a:xfrm>
            <a:off x="777240" y="5239512"/>
            <a:ext cx="4952848" cy="868680"/>
          </a:xfrm>
          <a:prstGeom prst="rect">
            <a:avLst/>
          </a:prstGeom>
          <a:noFill/>
          <a:ln/>
        </p:spPr>
        <p:txBody>
          <a:bodyPr wrap="square" lIns="0" tIns="0" rIns="0" bIns="0" rtlCol="0" anchor="t">
            <a:normAutofit/>
          </a:bodyPr>
          <a:lstStyle/>
          <a:p>
            <a:pPr indent="0" marL="0">
              <a:buNone/>
            </a:pPr>
            <a:r>
              <a:rPr lang="en-US" sz="1700" dirty="0">
                <a:solidFill>
                  <a:srgbClr val="1B2A38"/>
                </a:solidFill>
                <a:latin typeface="Calibri" pitchFamily="34" charset="0"/>
                <a:ea typeface="Calibri" pitchFamily="34" charset="-122"/>
                <a:cs typeface="Calibri" pitchFamily="34" charset="-120"/>
              </a:rPr>
              <a:t>NV0116 có tỷ lệ đăng nhập 1,18 vì 2 ngày thiếu chấm công vẫn cộng giờ đăng nhập. Tính trên cùng tập ngày: 0,978.</a:t>
            </a:r>
            <a:endParaRPr lang="en-US" sz="1700" dirty="0"/>
          </a:p>
        </p:txBody>
      </p:sp>
      <p:sp>
        <p:nvSpPr>
          <p:cNvPr id="23" name="Shape 17"/>
          <p:cNvSpPr/>
          <p:nvPr/>
        </p:nvSpPr>
        <p:spPr>
          <a:xfrm>
            <a:off x="6233008" y="4389120"/>
            <a:ext cx="5410048" cy="1874520"/>
          </a:xfrm>
          <a:prstGeom prst="roundRect">
            <a:avLst>
              <a:gd name="adj" fmla="val 4878"/>
            </a:avLst>
          </a:prstGeom>
          <a:solidFill>
            <a:srgbClr val="F2F4F6"/>
          </a:solidFill>
          <a:ln w="12700">
            <a:solidFill>
              <a:srgbClr val="F2F4F6"/>
            </a:solidFill>
            <a:prstDash val="solid"/>
          </a:ln>
        </p:spPr>
      </p:sp>
      <p:sp>
        <p:nvSpPr>
          <p:cNvPr id="24" name="Shape 18"/>
          <p:cNvSpPr/>
          <p:nvPr/>
        </p:nvSpPr>
        <p:spPr>
          <a:xfrm>
            <a:off x="6461608" y="4617720"/>
            <a:ext cx="457200" cy="457200"/>
          </a:xfrm>
          <a:prstGeom prst="roundRect">
            <a:avLst>
              <a:gd name="adj" fmla="val 22000"/>
            </a:avLst>
          </a:prstGeom>
          <a:solidFill>
            <a:srgbClr val="2B3E50"/>
          </a:solidFill>
          <a:ln w="12700">
            <a:solidFill>
              <a:srgbClr val="2B3E50"/>
            </a:solidFill>
            <a:prstDash val="solid"/>
          </a:ln>
        </p:spPr>
      </p:sp>
      <p:pic>
        <p:nvPicPr>
          <p:cNvPr id="25" name="Image 3" descr="preencoded.png">    </p:cNvPr>
          <p:cNvPicPr>
            <a:picLocks noChangeAspect="1"/>
          </p:cNvPicPr>
          <p:nvPr/>
        </p:nvPicPr>
        <p:blipFill>
          <a:blip r:embed="rId4"/>
          <a:stretch>
            <a:fillRect/>
          </a:stretch>
        </p:blipFill>
        <p:spPr>
          <a:xfrm>
            <a:off x="6571336" y="4727448"/>
            <a:ext cx="237744" cy="237744"/>
          </a:xfrm>
          <a:prstGeom prst="rect">
            <a:avLst/>
          </a:prstGeom>
        </p:spPr>
      </p:pic>
      <p:sp>
        <p:nvSpPr>
          <p:cNvPr id="26" name="Text 19"/>
          <p:cNvSpPr txBox="1"/>
          <p:nvPr/>
        </p:nvSpPr>
        <p:spPr>
          <a:xfrm>
            <a:off x="7101688" y="4617720"/>
            <a:ext cx="4312768" cy="457200"/>
          </a:xfrm>
          <a:prstGeom prst="rect">
            <a:avLst/>
          </a:prstGeom>
          <a:noFill/>
          <a:ln/>
        </p:spPr>
        <p:txBody>
          <a:bodyPr wrap="square" lIns="0" tIns="0" rIns="0" bIns="0" rtlCol="0" anchor="ctr">
            <a:normAutofit/>
          </a:bodyPr>
          <a:lstStyle/>
          <a:p>
            <a:pPr indent="0" marL="0">
              <a:buNone/>
            </a:pPr>
            <a:r>
              <a:rPr lang="en-US" sz="1800" b="1" dirty="0">
                <a:solidFill>
                  <a:srgbClr val="1B2A38"/>
                </a:solidFill>
                <a:latin typeface="Calibri" pitchFamily="34" charset="0"/>
                <a:ea typeface="Calibri" pitchFamily="34" charset="-122"/>
                <a:cs typeface="Calibri" pitchFamily="34" charset="-120"/>
              </a:rPr>
              <a:t>Cộng rồi mới chia</a:t>
            </a:r>
            <a:endParaRPr lang="en-US" sz="1800" dirty="0"/>
          </a:p>
        </p:txBody>
      </p:sp>
      <p:sp>
        <p:nvSpPr>
          <p:cNvPr id="27" name="Text 20"/>
          <p:cNvSpPr txBox="1"/>
          <p:nvPr/>
        </p:nvSpPr>
        <p:spPr>
          <a:xfrm>
            <a:off x="6461608" y="5239512"/>
            <a:ext cx="4952848" cy="868680"/>
          </a:xfrm>
          <a:prstGeom prst="rect">
            <a:avLst/>
          </a:prstGeom>
          <a:noFill/>
          <a:ln/>
        </p:spPr>
        <p:txBody>
          <a:bodyPr wrap="square" lIns="0" tIns="0" rIns="0" bIns="0" rtlCol="0" anchor="t">
            <a:normAutofit/>
          </a:bodyPr>
          <a:lstStyle/>
          <a:p>
            <a:pPr indent="0" marL="0">
              <a:buNone/>
            </a:pPr>
            <a:r>
              <a:rPr lang="en-US" sz="1700" dirty="0">
                <a:solidFill>
                  <a:srgbClr val="1B2A38"/>
                </a:solidFill>
                <a:latin typeface="Calibri" pitchFamily="34" charset="0"/>
                <a:ea typeface="Calibri" pitchFamily="34" charset="-122"/>
                <a:cs typeface="Calibri" pitchFamily="34" charset="-120"/>
              </a:rPr>
              <a:t>Tỷ lệ nhóm = Σ tử ÷ Σ mẫu. Trung bình các tỷ lệ cho NV0111 (41,7 giờ) trọng số ngang người làm 98 giờ.</a:t>
            </a:r>
            <a:endParaRPr lang="en-US" sz="17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982980" cy="292608"/>
          </a:xfrm>
          <a:prstGeom prst="roundRect">
            <a:avLst>
              <a:gd name="adj" fmla="val 50000"/>
            </a:avLst>
          </a:prstGeom>
          <a:solidFill>
            <a:srgbClr val="FBE7DA"/>
          </a:solidFill>
          <a:ln w="12700">
            <a:solidFill>
              <a:srgbClr val="FBE7DA"/>
            </a:solidFill>
            <a:prstDash val="solid"/>
          </a:ln>
        </p:spPr>
      </p:sp>
      <p:sp>
        <p:nvSpPr>
          <p:cNvPr id="3" name="Text 1"/>
          <p:cNvSpPr txBox="1"/>
          <p:nvPr/>
        </p:nvSpPr>
        <p:spPr>
          <a:xfrm>
            <a:off x="548640" y="384048"/>
            <a:ext cx="982980" cy="292608"/>
          </a:xfrm>
          <a:prstGeom prst="rect">
            <a:avLst/>
          </a:prstGeom>
          <a:noFill/>
          <a:ln/>
        </p:spPr>
        <p:txBody>
          <a:bodyPr wrap="square" lIns="0" tIns="0" rIns="0" bIns="0" rtlCol="0" anchor="ctr"/>
          <a:lstStyle/>
          <a:p>
            <a:pPr algn="ctr" indent="0" marL="0">
              <a:buNone/>
            </a:pPr>
            <a:r>
              <a:rPr lang="en-US" sz="1050" b="1" spc="150" kern="0" dirty="0">
                <a:solidFill>
                  <a:srgbClr val="D9773A"/>
                </a:solidFill>
                <a:latin typeface="Calibri" pitchFamily="34" charset="0"/>
                <a:ea typeface="Calibri" pitchFamily="34" charset="-122"/>
                <a:cs typeface="Calibri" pitchFamily="34" charset="-120"/>
              </a:rPr>
              <a:t>KIẾN THỨC</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Giờ công lãng phí: phải có ngưỡng mới lọc được nhiễu</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4 · KPI năng suất &amp; dashboard</a:t>
            </a:r>
            <a:endParaRPr lang="en-US" sz="1000" dirty="0"/>
          </a:p>
        </p:txBody>
      </p:sp>
      <p:sp>
        <p:nvSpPr>
          <p:cNvPr id="7" name="Text 4"/>
          <p:cNvSpPr txBox="1"/>
          <p:nvPr/>
        </p:nvSpPr>
        <p:spPr>
          <a:xfrm>
            <a:off x="548640" y="1645920"/>
            <a:ext cx="11094415" cy="502920"/>
          </a:xfrm>
          <a:prstGeom prst="rect">
            <a:avLst/>
          </a:prstGeom>
          <a:noFill/>
          <a:ln/>
        </p:spPr>
        <p:txBody>
          <a:bodyPr wrap="square" lIns="0" tIns="0" rIns="0" bIns="0" rtlCol="0" anchor="t"/>
          <a:lstStyle/>
          <a:p>
            <a:pPr indent="0" marL="0">
              <a:buNone/>
            </a:pPr>
            <a:r>
              <a:rPr lang="en-US" sz="1600" i="1" dirty="0">
                <a:solidFill>
                  <a:srgbClr val="6B7785"/>
                </a:solidFill>
                <a:latin typeface="Calibri" pitchFamily="34" charset="0"/>
                <a:ea typeface="Calibri" pitchFamily="34" charset="-122"/>
                <a:cs typeface="Calibri" pitchFamily="34" charset="-120"/>
              </a:rPr>
              <a:t>Σ theo ca max(0; giờ có mặt − giờ đăng nhập − ngưỡng) · 19 agent · 14 ngày</a:t>
            </a:r>
            <a:endParaRPr lang="en-US" sz="1600" dirty="0"/>
          </a:p>
        </p:txBody>
      </p:sp>
      <p:graphicFrame>
        <p:nvGraphicFramePr>
          <p:cNvPr id="8" name="Chart 0" descr=""/>
          <p:cNvGraphicFramePr/>
          <p:nvPr/>
        </p:nvGraphicFramePr>
        <p:xfrm>
          <a:off x="548640" y="2240280"/>
          <a:ext cx="7315200" cy="402336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8183880" y="2240280"/>
            <a:ext cx="3459175" cy="4023360"/>
          </a:xfrm>
          <a:prstGeom prst="roundRect">
            <a:avLst>
              <a:gd name="adj" fmla="val 2643"/>
            </a:avLst>
          </a:prstGeom>
          <a:solidFill>
            <a:srgbClr val="F2F4F6"/>
          </a:solidFill>
          <a:ln w="12700">
            <a:solidFill>
              <a:srgbClr val="F2F4F6"/>
            </a:solidFill>
            <a:prstDash val="solid"/>
          </a:ln>
        </p:spPr>
      </p:sp>
      <p:sp>
        <p:nvSpPr>
          <p:cNvPr id="10" name="Shape 6"/>
          <p:cNvSpPr/>
          <p:nvPr/>
        </p:nvSpPr>
        <p:spPr>
          <a:xfrm>
            <a:off x="8412480" y="2468880"/>
            <a:ext cx="457200" cy="457200"/>
          </a:xfrm>
          <a:prstGeom prst="roundRect">
            <a:avLst>
              <a:gd name="adj" fmla="val 22000"/>
            </a:avLst>
          </a:prstGeom>
          <a:solidFill>
            <a:srgbClr val="D9773A"/>
          </a:solidFill>
          <a:ln w="12700">
            <a:solidFill>
              <a:srgbClr val="D9773A"/>
            </a:solidFill>
            <a:prstDash val="solid"/>
          </a:ln>
        </p:spPr>
      </p:sp>
      <p:pic>
        <p:nvPicPr>
          <p:cNvPr id="11" name="Image 0" descr="preencoded.png">    </p:cNvPr>
          <p:cNvPicPr>
            <a:picLocks noChangeAspect="1"/>
          </p:cNvPicPr>
          <p:nvPr/>
        </p:nvPicPr>
        <p:blipFill>
          <a:blip r:embed="rId2"/>
          <a:stretch>
            <a:fillRect/>
          </a:stretch>
        </p:blipFill>
        <p:spPr>
          <a:xfrm>
            <a:off x="8522208" y="2578608"/>
            <a:ext cx="237744" cy="237744"/>
          </a:xfrm>
          <a:prstGeom prst="rect">
            <a:avLst/>
          </a:prstGeom>
        </p:spPr>
      </p:pic>
      <p:sp>
        <p:nvSpPr>
          <p:cNvPr id="12" name="Text 7"/>
          <p:cNvSpPr txBox="1"/>
          <p:nvPr/>
        </p:nvSpPr>
        <p:spPr>
          <a:xfrm>
            <a:off x="9006840" y="2468880"/>
            <a:ext cx="2453335" cy="457200"/>
          </a:xfrm>
          <a:prstGeom prst="rect">
            <a:avLst/>
          </a:prstGeom>
          <a:noFill/>
          <a:ln/>
        </p:spPr>
        <p:txBody>
          <a:bodyPr wrap="square" lIns="0" tIns="0" rIns="0" bIns="0" rtlCol="0" anchor="ctr"/>
          <a:lstStyle/>
          <a:p>
            <a:pPr indent="0" marL="0">
              <a:buNone/>
            </a:pPr>
            <a:r>
              <a:rPr lang="en-US" sz="1700" b="1" dirty="0">
                <a:solidFill>
                  <a:srgbClr val="1B2A38"/>
                </a:solidFill>
                <a:latin typeface="Cambria" pitchFamily="34" charset="0"/>
                <a:ea typeface="Cambria" pitchFamily="34" charset="-122"/>
                <a:cs typeface="Cambria" pitchFamily="34" charset="-120"/>
              </a:rPr>
              <a:t>Đọc biểu đồ</a:t>
            </a:r>
            <a:endParaRPr lang="en-US" sz="1700" dirty="0"/>
          </a:p>
        </p:txBody>
      </p:sp>
      <p:sp>
        <p:nvSpPr>
          <p:cNvPr id="13" name="Text 8"/>
          <p:cNvSpPr txBox="1"/>
          <p:nvPr/>
        </p:nvSpPr>
        <p:spPr>
          <a:xfrm>
            <a:off x="8412480" y="3108960"/>
            <a:ext cx="3001975" cy="2971800"/>
          </a:xfrm>
          <a:prstGeom prst="rect">
            <a:avLst/>
          </a:prstGeom>
          <a:noFill/>
          <a:ln/>
        </p:spPr>
        <p:txBody>
          <a:bodyPr wrap="square" lIns="0" tIns="0" rIns="0" bIns="0" rtlCol="0" anchor="t">
            <a:normAutofit/>
          </a:bodyPr>
          <a:lstStyle/>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Không ngưỡng: 62,7 giờ</a:t>
            </a:r>
            <a:pPr indent="0" marL="0">
              <a:buNone/>
            </a:pPr>
            <a:r>
              <a:rPr lang="en-US" sz="1400" dirty="0">
                <a:solidFill>
                  <a:srgbClr val="1B2A38"/>
                </a:solidFill>
                <a:latin typeface="Calibri" pitchFamily="34" charset="0"/>
                <a:ea typeface="Calibri" pitchFamily="34" charset="-122"/>
                <a:cs typeface="Calibri" pitchFamily="34" charset="-120"/>
              </a:rPr>
              <a:t> — phần lớn là vài phút hợp lý mỗi ca (cất đồ, chấm công, mở máy).</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Ngưỡng 15’: 24,3 giờ</a:t>
            </a:r>
            <a:pPr indent="0" marL="0">
              <a:buNone/>
            </a:pPr>
            <a:r>
              <a:rPr lang="en-US" sz="1400" dirty="0">
                <a:solidFill>
                  <a:srgbClr val="1B2A38"/>
                </a:solidFill>
                <a:latin typeface="Calibri" pitchFamily="34" charset="0"/>
                <a:ea typeface="Calibri" pitchFamily="34" charset="-122"/>
                <a:cs typeface="Calibri" pitchFamily="34" charset="-120"/>
              </a:rPr>
              <a:t>, lộ đúng 2 người: NV0114 15,9 giờ, NV0106 8,4 giờ.</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Quy ra tiền</a:t>
            </a:r>
            <a:pPr indent="0" marL="0">
              <a:buNone/>
            </a:pPr>
            <a:r>
              <a:rPr lang="en-US" sz="1400" dirty="0">
                <a:solidFill>
                  <a:srgbClr val="1B2A38"/>
                </a:solidFill>
                <a:latin typeface="Calibri" pitchFamily="34" charset="0"/>
                <a:ea typeface="Calibri" pitchFamily="34" charset="-122"/>
                <a:cs typeface="Calibri" pitchFamily="34" charset="-120"/>
              </a:rPr>
              <a:t> = giờ lãng phí × chi phí giờ do HR xác nhận. Giả định 50.000 đ/giờ ≈ 1,2 triệu đồng / 2 tuần.</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982980" cy="292608"/>
          </a:xfrm>
          <a:prstGeom prst="roundRect">
            <a:avLst>
              <a:gd name="adj" fmla="val 50000"/>
            </a:avLst>
          </a:prstGeom>
          <a:solidFill>
            <a:srgbClr val="FBE7DA"/>
          </a:solidFill>
          <a:ln w="12700">
            <a:solidFill>
              <a:srgbClr val="FBE7DA"/>
            </a:solidFill>
            <a:prstDash val="solid"/>
          </a:ln>
        </p:spPr>
      </p:sp>
      <p:sp>
        <p:nvSpPr>
          <p:cNvPr id="3" name="Text 1"/>
          <p:cNvSpPr txBox="1"/>
          <p:nvPr/>
        </p:nvSpPr>
        <p:spPr>
          <a:xfrm>
            <a:off x="548640" y="384048"/>
            <a:ext cx="982980" cy="292608"/>
          </a:xfrm>
          <a:prstGeom prst="rect">
            <a:avLst/>
          </a:prstGeom>
          <a:noFill/>
          <a:ln/>
        </p:spPr>
        <p:txBody>
          <a:bodyPr wrap="square" lIns="0" tIns="0" rIns="0" bIns="0" rtlCol="0" anchor="ctr"/>
          <a:lstStyle/>
          <a:p>
            <a:pPr algn="ctr" indent="0" marL="0">
              <a:buNone/>
            </a:pPr>
            <a:r>
              <a:rPr lang="en-US" sz="1050" b="1" spc="150" kern="0" dirty="0">
                <a:solidFill>
                  <a:srgbClr val="D9773A"/>
                </a:solidFill>
                <a:latin typeface="Calibri" pitchFamily="34" charset="0"/>
                <a:ea typeface="Calibri" pitchFamily="34" charset="-122"/>
                <a:cs typeface="Calibri" pitchFamily="34" charset="-120"/>
              </a:rPr>
              <a:t>KIẾN THỨC</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Occupancy · Shrinkage · Adherence</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4 · KPI năng suất &amp; dashboard</a:t>
            </a:r>
            <a:endParaRPr lang="en-US" sz="1000" dirty="0"/>
          </a:p>
        </p:txBody>
      </p:sp>
      <p:sp>
        <p:nvSpPr>
          <p:cNvPr id="7" name="Text 4"/>
          <p:cNvSpPr txBox="1"/>
          <p:nvPr/>
        </p:nvSpPr>
        <p:spPr>
          <a:xfrm>
            <a:off x="548640" y="1645920"/>
            <a:ext cx="11094415" cy="502920"/>
          </a:xfrm>
          <a:prstGeom prst="rect">
            <a:avLst/>
          </a:prstGeom>
          <a:noFill/>
          <a:ln/>
        </p:spPr>
        <p:txBody>
          <a:bodyPr wrap="square" lIns="0" tIns="0" rIns="0" bIns="0" rtlCol="0" anchor="t"/>
          <a:lstStyle/>
          <a:p>
            <a:pPr indent="0" marL="0">
              <a:buNone/>
            </a:pPr>
            <a:r>
              <a:rPr lang="en-US" sz="1600" i="1" dirty="0">
                <a:solidFill>
                  <a:srgbClr val="6B7785"/>
                </a:solidFill>
                <a:latin typeface="Calibri" pitchFamily="34" charset="0"/>
                <a:ea typeface="Calibri" pitchFamily="34" charset="-122"/>
                <a:cs typeface="Calibri" pitchFamily="34" charset="-120"/>
              </a:rPr>
              <a:t>Tỷ lệ sản xuất thấp vì không sẵn sàng, sẵn sàng mà không có cuộc, hay sẵn sàng sai giờ?</a:t>
            </a:r>
            <a:endParaRPr lang="en-US" sz="1600" dirty="0"/>
          </a:p>
        </p:txBody>
      </p:sp>
      <p:sp>
        <p:nvSpPr>
          <p:cNvPr id="8" name="Shape 5"/>
          <p:cNvSpPr/>
          <p:nvPr/>
        </p:nvSpPr>
        <p:spPr>
          <a:xfrm>
            <a:off x="548640" y="2240280"/>
            <a:ext cx="3515258" cy="4023360"/>
          </a:xfrm>
          <a:prstGeom prst="roundRect">
            <a:avLst>
              <a:gd name="adj" fmla="val 2601"/>
            </a:avLst>
          </a:prstGeom>
          <a:solidFill>
            <a:srgbClr val="FBE7DA"/>
          </a:solidFill>
          <a:ln w="12700">
            <a:solidFill>
              <a:srgbClr val="FBE7DA"/>
            </a:solidFill>
            <a:prstDash val="solid"/>
          </a:ln>
        </p:spPr>
      </p:sp>
      <p:sp>
        <p:nvSpPr>
          <p:cNvPr id="9" name="Shape 6"/>
          <p:cNvSpPr/>
          <p:nvPr/>
        </p:nvSpPr>
        <p:spPr>
          <a:xfrm>
            <a:off x="777240" y="2468880"/>
            <a:ext cx="566928" cy="566928"/>
          </a:xfrm>
          <a:prstGeom prst="roundRect">
            <a:avLst>
              <a:gd name="adj" fmla="val 22000"/>
            </a:avLst>
          </a:prstGeom>
          <a:solidFill>
            <a:srgbClr val="D9773A"/>
          </a:solidFill>
          <a:ln w="12700">
            <a:solidFill>
              <a:srgbClr val="D9773A"/>
            </a:solidFill>
            <a:prstDash val="solid"/>
          </a:ln>
        </p:spPr>
      </p:sp>
      <p:pic>
        <p:nvPicPr>
          <p:cNvPr id="10" name="Image 0" descr="preencoded.png">    </p:cNvPr>
          <p:cNvPicPr>
            <a:picLocks noChangeAspect="1"/>
          </p:cNvPicPr>
          <p:nvPr/>
        </p:nvPicPr>
        <p:blipFill>
          <a:blip r:embed="rId1"/>
          <a:stretch>
            <a:fillRect/>
          </a:stretch>
        </p:blipFill>
        <p:spPr>
          <a:xfrm>
            <a:off x="913303" y="2604943"/>
            <a:ext cx="294803" cy="294803"/>
          </a:xfrm>
          <a:prstGeom prst="rect">
            <a:avLst/>
          </a:prstGeom>
        </p:spPr>
      </p:pic>
      <p:sp>
        <p:nvSpPr>
          <p:cNvPr id="11" name="Text 7"/>
          <p:cNvSpPr txBox="1"/>
          <p:nvPr/>
        </p:nvSpPr>
        <p:spPr>
          <a:xfrm>
            <a:off x="1527048" y="2468880"/>
            <a:ext cx="2308250" cy="566928"/>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Occupancy — bận khi sẵn sàng</a:t>
            </a:r>
            <a:endParaRPr lang="en-US" sz="1650" dirty="0"/>
          </a:p>
        </p:txBody>
      </p:sp>
      <p:sp>
        <p:nvSpPr>
          <p:cNvPr id="12" name="Text 8"/>
          <p:cNvSpPr txBox="1"/>
          <p:nvPr/>
        </p:nvSpPr>
        <p:spPr>
          <a:xfrm>
            <a:off x="777240" y="3200400"/>
            <a:ext cx="3058058" cy="2907792"/>
          </a:xfrm>
          <a:prstGeom prst="rect">
            <a:avLst/>
          </a:prstGeom>
          <a:noFill/>
          <a:ln/>
        </p:spPr>
        <p:txBody>
          <a:bodyPr wrap="square" lIns="0" tIns="0" rIns="0" bIns="0" rtlCol="0" anchor="t">
            <a:normAutofit/>
          </a:bodyPr>
          <a:lstStyle/>
          <a:p>
            <a:pPr marL="228600" indent="-228600">
              <a:spcAft>
                <a:spcPts val="500"/>
              </a:spcAft>
              <a:buSzPct val="100000"/>
              <a:buChar char="•"/>
            </a:pPr>
            <a:r>
              <a:rPr lang="en-US" sz="1600" b="1" dirty="0">
                <a:solidFill>
                  <a:srgbClr val="1B2A38"/>
                </a:solidFill>
                <a:latin typeface="Calibri" pitchFamily="34" charset="0"/>
                <a:ea typeface="Calibri" pitchFamily="34" charset="-122"/>
                <a:cs typeface="Calibri" pitchFamily="34" charset="-120"/>
              </a:rPr>
              <a:t>Công thức: </a:t>
            </a:r>
            <a:pPr indent="0" marL="0">
              <a:buNone/>
            </a:pPr>
            <a:r>
              <a:rPr lang="en-US" sz="1600" dirty="0">
                <a:solidFill>
                  <a:srgbClr val="1B2A38"/>
                </a:solidFill>
                <a:latin typeface="Calibri" pitchFamily="34" charset="0"/>
                <a:ea typeface="Calibri" pitchFamily="34" charset="-122"/>
                <a:cs typeface="Calibri" pitchFamily="34" charset="-120"/>
              </a:rPr>
              <a:t>(đàm thoại + giữ máy + ACW) / giờ READY</a:t>
            </a:r>
            <a:endParaRPr lang="en-US" sz="1600" dirty="0"/>
          </a:p>
          <a:p>
            <a:pPr marL="228600" indent="-228600">
              <a:spcAft>
                <a:spcPts val="500"/>
              </a:spcAft>
              <a:buSzPct val="100000"/>
              <a:buChar char="•"/>
            </a:pPr>
            <a:r>
              <a:rPr lang="en-US" sz="1600" b="1" dirty="0">
                <a:solidFill>
                  <a:srgbClr val="1B2A38"/>
                </a:solidFill>
                <a:latin typeface="Calibri" pitchFamily="34" charset="0"/>
                <a:ea typeface="Calibri" pitchFamily="34" charset="-122"/>
                <a:cs typeface="Calibri" pitchFamily="34" charset="-120"/>
              </a:rPr>
              <a:t>Tham khảo: </a:t>
            </a:r>
            <a:pPr indent="0" marL="0">
              <a:buNone/>
            </a:pPr>
            <a:r>
              <a:rPr lang="en-US" sz="1600" dirty="0">
                <a:solidFill>
                  <a:srgbClr val="1B2A38"/>
                </a:solidFill>
                <a:latin typeface="Calibri" pitchFamily="34" charset="0"/>
                <a:ea typeface="Calibri" pitchFamily="34" charset="-122"/>
                <a:cs typeface="Calibri" pitchFamily="34" charset="-120"/>
              </a:rPr>
              <a:t>75–85% (inbound)</a:t>
            </a:r>
            <a:endParaRPr lang="en-US" sz="1600" dirty="0"/>
          </a:p>
          <a:p>
            <a:pPr marL="228600" indent="-228600">
              <a:spcAft>
                <a:spcPts val="500"/>
              </a:spcAft>
              <a:buSzPct val="100000"/>
              <a:buChar char="•"/>
            </a:pPr>
            <a:r>
              <a:rPr lang="en-US" sz="1600" b="1" dirty="0">
                <a:solidFill>
                  <a:srgbClr val="1B2A38"/>
                </a:solidFill>
                <a:latin typeface="Calibri" pitchFamily="34" charset="0"/>
                <a:ea typeface="Calibri" pitchFamily="34" charset="-122"/>
                <a:cs typeface="Calibri" pitchFamily="34" charset="-120"/>
              </a:rPr>
              <a:t>Sao Việt: </a:t>
            </a:r>
            <a:pPr indent="0" marL="0">
              <a:buNone/>
            </a:pPr>
            <a:r>
              <a:rPr lang="en-US" sz="1600" dirty="0">
                <a:solidFill>
                  <a:srgbClr val="1B2A38"/>
                </a:solidFill>
                <a:latin typeface="Calibri" pitchFamily="34" charset="0"/>
                <a:ea typeface="Calibri" pitchFamily="34" charset="-122"/>
                <a:cs typeface="Calibri" pitchFamily="34" charset="-120"/>
              </a:rPr>
              <a:t>TS-BH 67,4% · CS-VT 67,6%</a:t>
            </a:r>
            <a:endParaRPr lang="en-US" sz="1600" dirty="0"/>
          </a:p>
          <a:p>
            <a:pPr marL="228600" indent="-228600">
              <a:spcAft>
                <a:spcPts val="500"/>
              </a:spcAft>
              <a:buSzPct val="100000"/>
              <a:buChar char="•"/>
            </a:pPr>
            <a:r>
              <a:rPr lang="en-US" sz="1600" dirty="0">
                <a:solidFill>
                  <a:srgbClr val="1B2A38"/>
                </a:solidFill>
                <a:latin typeface="Calibri" pitchFamily="34" charset="0"/>
                <a:ea typeface="Calibri" pitchFamily="34" charset="-122"/>
                <a:cs typeface="Calibri" pitchFamily="34" charset="-120"/>
              </a:rPr>
              <a:t>&gt; 90%: burnout, lỗi tăng, khách bỏ máy. Outbound tự nhiên thấp hơn.</a:t>
            </a:r>
            <a:endParaRPr lang="en-US" sz="1600" dirty="0"/>
          </a:p>
        </p:txBody>
      </p:sp>
      <p:sp>
        <p:nvSpPr>
          <p:cNvPr id="13" name="Shape 9"/>
          <p:cNvSpPr/>
          <p:nvPr/>
        </p:nvSpPr>
        <p:spPr>
          <a:xfrm>
            <a:off x="4338218" y="2240280"/>
            <a:ext cx="3515258" cy="4023360"/>
          </a:xfrm>
          <a:prstGeom prst="roundRect">
            <a:avLst>
              <a:gd name="adj" fmla="val 2601"/>
            </a:avLst>
          </a:prstGeom>
          <a:solidFill>
            <a:srgbClr val="DDEFEE"/>
          </a:solidFill>
          <a:ln w="12700">
            <a:solidFill>
              <a:srgbClr val="DDEFEE"/>
            </a:solidFill>
            <a:prstDash val="solid"/>
          </a:ln>
        </p:spPr>
      </p:sp>
      <p:sp>
        <p:nvSpPr>
          <p:cNvPr id="14" name="Shape 10"/>
          <p:cNvSpPr/>
          <p:nvPr/>
        </p:nvSpPr>
        <p:spPr>
          <a:xfrm>
            <a:off x="4566818" y="2468880"/>
            <a:ext cx="566928" cy="566928"/>
          </a:xfrm>
          <a:prstGeom prst="roundRect">
            <a:avLst>
              <a:gd name="adj" fmla="val 22000"/>
            </a:avLst>
          </a:prstGeom>
          <a:solidFill>
            <a:srgbClr val="2E7D7A"/>
          </a:solidFill>
          <a:ln w="12700">
            <a:solidFill>
              <a:srgbClr val="2E7D7A"/>
            </a:solidFill>
            <a:prstDash val="solid"/>
          </a:ln>
        </p:spPr>
      </p:sp>
      <p:pic>
        <p:nvPicPr>
          <p:cNvPr id="15" name="Image 1" descr="preencoded.png">    </p:cNvPr>
          <p:cNvPicPr>
            <a:picLocks noChangeAspect="1"/>
          </p:cNvPicPr>
          <p:nvPr/>
        </p:nvPicPr>
        <p:blipFill>
          <a:blip r:embed="rId2"/>
          <a:stretch>
            <a:fillRect/>
          </a:stretch>
        </p:blipFill>
        <p:spPr>
          <a:xfrm>
            <a:off x="4702881" y="2604943"/>
            <a:ext cx="294803" cy="294803"/>
          </a:xfrm>
          <a:prstGeom prst="rect">
            <a:avLst/>
          </a:prstGeom>
        </p:spPr>
      </p:pic>
      <p:sp>
        <p:nvSpPr>
          <p:cNvPr id="16" name="Text 11"/>
          <p:cNvSpPr txBox="1"/>
          <p:nvPr/>
        </p:nvSpPr>
        <p:spPr>
          <a:xfrm>
            <a:off x="5316626" y="2468880"/>
            <a:ext cx="2308250" cy="566928"/>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Shrinkage — giờ lương “co lại”</a:t>
            </a:r>
            <a:endParaRPr lang="en-US" sz="1650" dirty="0"/>
          </a:p>
        </p:txBody>
      </p:sp>
      <p:sp>
        <p:nvSpPr>
          <p:cNvPr id="17" name="Text 12"/>
          <p:cNvSpPr txBox="1"/>
          <p:nvPr/>
        </p:nvSpPr>
        <p:spPr>
          <a:xfrm>
            <a:off x="4566818" y="3200400"/>
            <a:ext cx="3058058" cy="2907792"/>
          </a:xfrm>
          <a:prstGeom prst="rect">
            <a:avLst/>
          </a:prstGeom>
          <a:noFill/>
          <a:ln/>
        </p:spPr>
        <p:txBody>
          <a:bodyPr wrap="square" lIns="0" tIns="0" rIns="0" bIns="0" rtlCol="0" anchor="t">
            <a:normAutofit/>
          </a:bodyPr>
          <a:lstStyle/>
          <a:p>
            <a:pPr marL="228600" indent="-228600">
              <a:spcAft>
                <a:spcPts val="500"/>
              </a:spcAft>
              <a:buSzPct val="100000"/>
              <a:buChar char="•"/>
            </a:pPr>
            <a:r>
              <a:rPr lang="en-US" sz="1600" b="1" dirty="0">
                <a:solidFill>
                  <a:srgbClr val="1B2A38"/>
                </a:solidFill>
                <a:latin typeface="Calibri" pitchFamily="34" charset="0"/>
                <a:ea typeface="Calibri" pitchFamily="34" charset="-122"/>
                <a:cs typeface="Calibri" pitchFamily="34" charset="-120"/>
              </a:rPr>
              <a:t>Công thức: </a:t>
            </a:r>
            <a:pPr indent="0" marL="0">
              <a:buNone/>
            </a:pPr>
            <a:r>
              <a:rPr lang="en-US" sz="1600" dirty="0">
                <a:solidFill>
                  <a:srgbClr val="1B2A38"/>
                </a:solidFill>
                <a:latin typeface="Calibri" pitchFamily="34" charset="0"/>
                <a:ea typeface="Calibri" pitchFamily="34" charset="-122"/>
                <a:cs typeface="Calibri" pitchFamily="34" charset="-120"/>
              </a:rPr>
              <a:t>(giờ trả lương theo lịch − giờ READY) / giờ theo lịch</a:t>
            </a:r>
            <a:endParaRPr lang="en-US" sz="1600" dirty="0"/>
          </a:p>
          <a:p>
            <a:pPr marL="228600" indent="-228600">
              <a:spcAft>
                <a:spcPts val="500"/>
              </a:spcAft>
              <a:buSzPct val="100000"/>
              <a:buChar char="•"/>
            </a:pPr>
            <a:r>
              <a:rPr lang="en-US" sz="1600" b="1" dirty="0">
                <a:solidFill>
                  <a:srgbClr val="1B2A38"/>
                </a:solidFill>
                <a:latin typeface="Calibri" pitchFamily="34" charset="0"/>
                <a:ea typeface="Calibri" pitchFamily="34" charset="-122"/>
                <a:cs typeface="Calibri" pitchFamily="34" charset="-120"/>
              </a:rPr>
              <a:t>Tham khảo: </a:t>
            </a:r>
            <a:pPr indent="0" marL="0">
              <a:buNone/>
            </a:pPr>
            <a:r>
              <a:rPr lang="en-US" sz="1600" dirty="0">
                <a:solidFill>
                  <a:srgbClr val="1B2A38"/>
                </a:solidFill>
                <a:latin typeface="Calibri" pitchFamily="34" charset="0"/>
                <a:ea typeface="Calibri" pitchFamily="34" charset="-122"/>
                <a:cs typeface="Calibri" pitchFamily="34" charset="-120"/>
              </a:rPr>
              <a:t>25–35% — để lập kế hoạch nhân lực</a:t>
            </a:r>
            <a:endParaRPr lang="en-US" sz="1600" dirty="0"/>
          </a:p>
          <a:p>
            <a:pPr marL="228600" indent="-228600">
              <a:spcAft>
                <a:spcPts val="500"/>
              </a:spcAft>
              <a:buSzPct val="100000"/>
              <a:buChar char="•"/>
            </a:pPr>
            <a:r>
              <a:rPr lang="en-US" sz="1600" b="1" dirty="0">
                <a:solidFill>
                  <a:srgbClr val="1B2A38"/>
                </a:solidFill>
                <a:latin typeface="Calibri" pitchFamily="34" charset="0"/>
                <a:ea typeface="Calibri" pitchFamily="34" charset="-122"/>
                <a:cs typeface="Calibri" pitchFamily="34" charset="-120"/>
              </a:rPr>
              <a:t>Sao Việt: </a:t>
            </a:r>
            <a:pPr indent="0" marL="0">
              <a:buNone/>
            </a:pPr>
            <a:r>
              <a:rPr lang="en-US" sz="1600" dirty="0">
                <a:solidFill>
                  <a:srgbClr val="1B2A38"/>
                </a:solidFill>
                <a:latin typeface="Calibri" pitchFamily="34" charset="0"/>
                <a:ea typeface="Calibri" pitchFamily="34" charset="-122"/>
                <a:cs typeface="Calibri" pitchFamily="34" charset="-120"/>
              </a:rPr>
              <a:t>TS-BH 11,0% · CS-VT 6,6%</a:t>
            </a:r>
            <a:endParaRPr lang="en-US" sz="1600" dirty="0"/>
          </a:p>
          <a:p>
            <a:pPr marL="228600" indent="-228600">
              <a:spcAft>
                <a:spcPts val="500"/>
              </a:spcAft>
              <a:buSzPct val="100000"/>
              <a:buChar char="•"/>
            </a:pPr>
            <a:r>
              <a:rPr lang="en-US" sz="1600" dirty="0">
                <a:solidFill>
                  <a:srgbClr val="1B2A38"/>
                </a:solidFill>
                <a:latin typeface="Calibri" pitchFamily="34" charset="0"/>
                <a:ea typeface="Calibri" pitchFamily="34" charset="-122"/>
                <a:cs typeface="Calibri" pitchFamily="34" charset="-120"/>
              </a:rPr>
              <a:t>NV0108 31,9%; NV0112 −0,8% → ở lại sau ca không có đơn OT.</a:t>
            </a:r>
            <a:endParaRPr lang="en-US" sz="1600" dirty="0"/>
          </a:p>
        </p:txBody>
      </p:sp>
      <p:sp>
        <p:nvSpPr>
          <p:cNvPr id="18" name="Shape 13"/>
          <p:cNvSpPr/>
          <p:nvPr/>
        </p:nvSpPr>
        <p:spPr>
          <a:xfrm>
            <a:off x="8127797" y="2240280"/>
            <a:ext cx="3515258" cy="4023360"/>
          </a:xfrm>
          <a:prstGeom prst="roundRect">
            <a:avLst>
              <a:gd name="adj" fmla="val 2601"/>
            </a:avLst>
          </a:prstGeom>
          <a:solidFill>
            <a:srgbClr val="F2F4F6"/>
          </a:solidFill>
          <a:ln w="12700">
            <a:solidFill>
              <a:srgbClr val="F2F4F6"/>
            </a:solidFill>
            <a:prstDash val="solid"/>
          </a:ln>
        </p:spPr>
      </p:sp>
      <p:sp>
        <p:nvSpPr>
          <p:cNvPr id="19" name="Shape 14"/>
          <p:cNvSpPr/>
          <p:nvPr/>
        </p:nvSpPr>
        <p:spPr>
          <a:xfrm>
            <a:off x="8356397" y="2468880"/>
            <a:ext cx="566928" cy="566928"/>
          </a:xfrm>
          <a:prstGeom prst="roundRect">
            <a:avLst>
              <a:gd name="adj" fmla="val 22000"/>
            </a:avLst>
          </a:prstGeom>
          <a:solidFill>
            <a:srgbClr val="2B3E50"/>
          </a:solidFill>
          <a:ln w="12700">
            <a:solidFill>
              <a:srgbClr val="2B3E50"/>
            </a:solidFill>
            <a:prstDash val="solid"/>
          </a:ln>
        </p:spPr>
      </p:sp>
      <p:pic>
        <p:nvPicPr>
          <p:cNvPr id="20" name="Image 2" descr="preencoded.png">    </p:cNvPr>
          <p:cNvPicPr>
            <a:picLocks noChangeAspect="1"/>
          </p:cNvPicPr>
          <p:nvPr/>
        </p:nvPicPr>
        <p:blipFill>
          <a:blip r:embed="rId3"/>
          <a:stretch>
            <a:fillRect/>
          </a:stretch>
        </p:blipFill>
        <p:spPr>
          <a:xfrm>
            <a:off x="8492460" y="2604943"/>
            <a:ext cx="294803" cy="294803"/>
          </a:xfrm>
          <a:prstGeom prst="rect">
            <a:avLst/>
          </a:prstGeom>
        </p:spPr>
      </p:pic>
      <p:sp>
        <p:nvSpPr>
          <p:cNvPr id="21" name="Text 15"/>
          <p:cNvSpPr txBox="1"/>
          <p:nvPr/>
        </p:nvSpPr>
        <p:spPr>
          <a:xfrm>
            <a:off x="9106205" y="2468880"/>
            <a:ext cx="2308250" cy="566928"/>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Adherence — sẵn sàng đúng lúc</a:t>
            </a:r>
            <a:endParaRPr lang="en-US" sz="1650" dirty="0"/>
          </a:p>
        </p:txBody>
      </p:sp>
      <p:sp>
        <p:nvSpPr>
          <p:cNvPr id="22" name="Text 16"/>
          <p:cNvSpPr txBox="1"/>
          <p:nvPr/>
        </p:nvSpPr>
        <p:spPr>
          <a:xfrm>
            <a:off x="8356397" y="3200400"/>
            <a:ext cx="3058058" cy="2907792"/>
          </a:xfrm>
          <a:prstGeom prst="rect">
            <a:avLst/>
          </a:prstGeom>
          <a:noFill/>
          <a:ln/>
        </p:spPr>
        <p:txBody>
          <a:bodyPr wrap="square" lIns="0" tIns="0" rIns="0" bIns="0" rtlCol="0" anchor="t">
            <a:normAutofit/>
          </a:bodyPr>
          <a:lstStyle/>
          <a:p>
            <a:pPr marL="228600" indent="-228600">
              <a:spcAft>
                <a:spcPts val="500"/>
              </a:spcAft>
              <a:buSzPct val="100000"/>
              <a:buChar char="•"/>
            </a:pPr>
            <a:r>
              <a:rPr lang="en-US" sz="1600" b="1" dirty="0">
                <a:solidFill>
                  <a:srgbClr val="1B2A38"/>
                </a:solidFill>
                <a:latin typeface="Calibri" pitchFamily="34" charset="0"/>
                <a:ea typeface="Calibri" pitchFamily="34" charset="-122"/>
                <a:cs typeface="Calibri" pitchFamily="34" charset="-120"/>
              </a:rPr>
              <a:t>Công thức: </a:t>
            </a:r>
            <a:pPr indent="0" marL="0">
              <a:buNone/>
            </a:pPr>
            <a:r>
              <a:rPr lang="en-US" sz="1600" dirty="0">
                <a:solidFill>
                  <a:srgbClr val="1B2A38"/>
                </a:solidFill>
                <a:latin typeface="Calibri" pitchFamily="34" charset="0"/>
                <a:ea typeface="Calibri" pitchFamily="34" charset="-122"/>
                <a:cs typeface="Calibri" pitchFamily="34" charset="-120"/>
              </a:rPr>
              <a:t>thời gian đúng trạng thái theo lịch / thời gian theo lịch</a:t>
            </a:r>
            <a:endParaRPr lang="en-US" sz="1600" dirty="0"/>
          </a:p>
          <a:p>
            <a:pPr marL="228600" indent="-228600">
              <a:spcAft>
                <a:spcPts val="500"/>
              </a:spcAft>
              <a:buSzPct val="100000"/>
              <a:buChar char="•"/>
            </a:pPr>
            <a:r>
              <a:rPr lang="en-US" sz="1600" b="1" dirty="0">
                <a:solidFill>
                  <a:srgbClr val="1B2A38"/>
                </a:solidFill>
                <a:latin typeface="Calibri" pitchFamily="34" charset="0"/>
                <a:ea typeface="Calibri" pitchFamily="34" charset="-122"/>
                <a:cs typeface="Calibri" pitchFamily="34" charset="-120"/>
              </a:rPr>
              <a:t>Tham khảo: </a:t>
            </a:r>
            <a:pPr indent="0" marL="0">
              <a:buNone/>
            </a:pPr>
            <a:r>
              <a:rPr lang="en-US" sz="1600" dirty="0">
                <a:solidFill>
                  <a:srgbClr val="1B2A38"/>
                </a:solidFill>
                <a:latin typeface="Calibri" pitchFamily="34" charset="0"/>
                <a:ea typeface="Calibri" pitchFamily="34" charset="-122"/>
                <a:cs typeface="Calibri" pitchFamily="34" charset="-120"/>
              </a:rPr>
              <a:t>≥ 90%</a:t>
            </a:r>
            <a:endParaRPr lang="en-US" sz="1600" dirty="0"/>
          </a:p>
          <a:p>
            <a:pPr marL="228600" indent="-228600">
              <a:spcAft>
                <a:spcPts val="500"/>
              </a:spcAft>
              <a:buSzPct val="100000"/>
              <a:buChar char="•"/>
            </a:pPr>
            <a:r>
              <a:rPr lang="en-US" sz="1600" b="1" dirty="0">
                <a:solidFill>
                  <a:srgbClr val="1B2A38"/>
                </a:solidFill>
                <a:latin typeface="Calibri" pitchFamily="34" charset="0"/>
                <a:ea typeface="Calibri" pitchFamily="34" charset="-122"/>
                <a:cs typeface="Calibri" pitchFamily="34" charset="-120"/>
              </a:rPr>
              <a:t>Sao Việt: </a:t>
            </a:r>
            <a:pPr indent="0" marL="0">
              <a:buNone/>
            </a:pPr>
            <a:r>
              <a:rPr lang="en-US" sz="1600" dirty="0">
                <a:solidFill>
                  <a:srgbClr val="1B2A38"/>
                </a:solidFill>
                <a:latin typeface="Calibri" pitchFamily="34" charset="0"/>
                <a:ea typeface="Calibri" pitchFamily="34" charset="-122"/>
                <a:cs typeface="Calibri" pitchFamily="34" charset="-120"/>
              </a:rPr>
              <a:t>TS-BH 95,6% · CS-VT 97,1%</a:t>
            </a:r>
            <a:endParaRPr lang="en-US" sz="1600" dirty="0"/>
          </a:p>
          <a:p>
            <a:pPr marL="228600" indent="-228600">
              <a:spcAft>
                <a:spcPts val="500"/>
              </a:spcAft>
              <a:buSzPct val="100000"/>
              <a:buChar char="•"/>
            </a:pPr>
            <a:r>
              <a:rPr lang="en-US" sz="1600" dirty="0">
                <a:solidFill>
                  <a:srgbClr val="1B2A38"/>
                </a:solidFill>
                <a:latin typeface="Calibri" pitchFamily="34" charset="0"/>
                <a:ea typeface="Calibri" pitchFamily="34" charset="-122"/>
                <a:cs typeface="Calibri" pitchFamily="34" charset="-120"/>
              </a:rPr>
              <a:t>Đo đúng lúc, không chỉ đủ lượng. Thấp nhất: NV0114 82,6%.</a:t>
            </a:r>
            <a:endParaRPr lang="en-US" sz="16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417320" cy="292608"/>
          </a:xfrm>
          <a:prstGeom prst="roundRect">
            <a:avLst>
              <a:gd name="adj" fmla="val 50000"/>
            </a:avLst>
          </a:prstGeom>
          <a:solidFill>
            <a:srgbClr val="ECE6F5"/>
          </a:solidFill>
          <a:ln w="12700">
            <a:solidFill>
              <a:srgbClr val="ECE6F5"/>
            </a:solidFill>
            <a:prstDash val="solid"/>
          </a:ln>
        </p:spPr>
      </p:sp>
      <p:sp>
        <p:nvSpPr>
          <p:cNvPr id="3" name="Text 1"/>
          <p:cNvSpPr txBox="1"/>
          <p:nvPr/>
        </p:nvSpPr>
        <p:spPr>
          <a:xfrm>
            <a:off x="548640" y="384048"/>
            <a:ext cx="1417320" cy="292608"/>
          </a:xfrm>
          <a:prstGeom prst="rect">
            <a:avLst/>
          </a:prstGeom>
          <a:noFill/>
          <a:ln/>
        </p:spPr>
        <p:txBody>
          <a:bodyPr wrap="square" lIns="0" tIns="0" rIns="0" bIns="0" rtlCol="0" anchor="ctr"/>
          <a:lstStyle/>
          <a:p>
            <a:pPr algn="ctr" indent="0" marL="0">
              <a:buNone/>
            </a:pPr>
            <a:r>
              <a:rPr lang="en-US" sz="1050" b="1" spc="150" kern="0" dirty="0">
                <a:solidFill>
                  <a:srgbClr val="6E4E9E"/>
                </a:solidFill>
                <a:latin typeface="Calibri" pitchFamily="34" charset="0"/>
                <a:ea typeface="Calibri" pitchFamily="34" charset="-122"/>
                <a:cs typeface="Calibri" pitchFamily="34" charset="-120"/>
              </a:rPr>
              <a:t>KIỂM TRA NHANH</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Câu hỏi nhanh</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4 · KPI năng suất &amp; dashboard</a:t>
            </a:r>
            <a:endParaRPr lang="en-US" sz="1000" dirty="0"/>
          </a:p>
        </p:txBody>
      </p:sp>
      <p:sp>
        <p:nvSpPr>
          <p:cNvPr id="7" name="Shape 4"/>
          <p:cNvSpPr/>
          <p:nvPr/>
        </p:nvSpPr>
        <p:spPr>
          <a:xfrm>
            <a:off x="548640" y="1691640"/>
            <a:ext cx="11094415" cy="1234440"/>
          </a:xfrm>
          <a:prstGeom prst="roundRect">
            <a:avLst>
              <a:gd name="adj" fmla="val 7407"/>
            </a:avLst>
          </a:prstGeom>
          <a:solidFill>
            <a:srgbClr val="ECE6F5"/>
          </a:solidFill>
          <a:ln w="12700">
            <a:solidFill>
              <a:srgbClr val="ECE6F5"/>
            </a:solidFill>
            <a:prstDash val="solid"/>
          </a:ln>
        </p:spPr>
      </p:sp>
      <p:sp>
        <p:nvSpPr>
          <p:cNvPr id="8" name="Shape 5"/>
          <p:cNvSpPr/>
          <p:nvPr/>
        </p:nvSpPr>
        <p:spPr>
          <a:xfrm>
            <a:off x="777240" y="1993392"/>
            <a:ext cx="640080" cy="640080"/>
          </a:xfrm>
          <a:prstGeom prst="roundRect">
            <a:avLst>
              <a:gd name="adj" fmla="val 22000"/>
            </a:avLst>
          </a:prstGeom>
          <a:solidFill>
            <a:srgbClr val="6E4E9E"/>
          </a:solidFill>
          <a:ln w="12700">
            <a:solidFill>
              <a:srgbClr val="6E4E9E"/>
            </a:solidFill>
            <a:prstDash val="solid"/>
          </a:ln>
        </p:spPr>
      </p:sp>
      <p:pic>
        <p:nvPicPr>
          <p:cNvPr id="9" name="Image 0" descr="preencoded.png">    </p:cNvPr>
          <p:cNvPicPr>
            <a:picLocks noChangeAspect="1"/>
          </p:cNvPicPr>
          <p:nvPr/>
        </p:nvPicPr>
        <p:blipFill>
          <a:blip r:embed="rId1"/>
          <a:stretch>
            <a:fillRect/>
          </a:stretch>
        </p:blipFill>
        <p:spPr>
          <a:xfrm>
            <a:off x="930859" y="2147011"/>
            <a:ext cx="332842" cy="332842"/>
          </a:xfrm>
          <a:prstGeom prst="rect">
            <a:avLst/>
          </a:prstGeom>
        </p:spPr>
      </p:pic>
      <p:sp>
        <p:nvSpPr>
          <p:cNvPr id="10" name="Text 6"/>
          <p:cNvSpPr txBox="1"/>
          <p:nvPr/>
        </p:nvSpPr>
        <p:spPr>
          <a:xfrm>
            <a:off x="1645920" y="1801368"/>
            <a:ext cx="9768535" cy="1005840"/>
          </a:xfrm>
          <a:prstGeom prst="rect">
            <a:avLst/>
          </a:prstGeom>
          <a:noFill/>
          <a:ln/>
        </p:spPr>
        <p:txBody>
          <a:bodyPr wrap="square" lIns="0" tIns="0" rIns="0" bIns="0" rtlCol="0" anchor="ctr">
            <a:normAutofit/>
          </a:bodyPr>
          <a:lstStyle/>
          <a:p>
            <a:pPr indent="0" marL="0">
              <a:buNone/>
            </a:pPr>
            <a:r>
              <a:rPr lang="en-US" sz="1800" b="1" dirty="0">
                <a:solidFill>
                  <a:srgbClr val="1B2A38"/>
                </a:solidFill>
                <a:latin typeface="Calibri" pitchFamily="34" charset="0"/>
                <a:ea typeface="Calibri" pitchFamily="34" charset="-122"/>
                <a:cs typeface="Calibri" pitchFamily="34" charset="-120"/>
              </a:rPr>
              <a:t>NV0108 có tỷ lệ đăng nhập 98% nhưng tỷ lệ sản xuất chỉ 45,3%; occupancy 68,1% (bình thường so với team). Nguyên nhân khả dĩ nhất nằm ở đâu?</a:t>
            </a:r>
            <a:endParaRPr lang="en-US" sz="1800" dirty="0"/>
          </a:p>
        </p:txBody>
      </p:sp>
      <p:sp>
        <p:nvSpPr>
          <p:cNvPr id="11" name="Shape 7"/>
          <p:cNvSpPr/>
          <p:nvPr/>
        </p:nvSpPr>
        <p:spPr>
          <a:xfrm>
            <a:off x="548640" y="3154680"/>
            <a:ext cx="5432908" cy="1440180"/>
          </a:xfrm>
          <a:prstGeom prst="roundRect">
            <a:avLst>
              <a:gd name="adj" fmla="val 6349"/>
            </a:avLst>
          </a:prstGeom>
          <a:solidFill>
            <a:srgbClr val="FFFFFF"/>
          </a:solidFill>
          <a:ln w="15875">
            <a:solidFill>
              <a:srgbClr val="D5DAE0"/>
            </a:solidFill>
            <a:prstDash val="solid"/>
          </a:ln>
        </p:spPr>
      </p:sp>
      <p:sp>
        <p:nvSpPr>
          <p:cNvPr id="12" name="Shape 8"/>
          <p:cNvSpPr/>
          <p:nvPr/>
        </p:nvSpPr>
        <p:spPr>
          <a:xfrm>
            <a:off x="749808" y="3623310"/>
            <a:ext cx="502920" cy="502920"/>
          </a:xfrm>
          <a:prstGeom prst="ellipse">
            <a:avLst/>
          </a:prstGeom>
          <a:solidFill>
            <a:srgbClr val="6E4E9E"/>
          </a:solidFill>
          <a:ln w="12700">
            <a:solidFill>
              <a:srgbClr val="6E4E9E"/>
            </a:solidFill>
            <a:prstDash val="solid"/>
          </a:ln>
        </p:spPr>
      </p:sp>
      <p:sp>
        <p:nvSpPr>
          <p:cNvPr id="13" name="Text 9"/>
          <p:cNvSpPr txBox="1"/>
          <p:nvPr/>
        </p:nvSpPr>
        <p:spPr>
          <a:xfrm>
            <a:off x="749808" y="362331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0"/>
          <p:cNvSpPr txBox="1"/>
          <p:nvPr/>
        </p:nvSpPr>
        <p:spPr>
          <a:xfrm>
            <a:off x="1417320" y="3246120"/>
            <a:ext cx="4381348" cy="1257300"/>
          </a:xfrm>
          <a:prstGeom prst="rect">
            <a:avLst/>
          </a:prstGeom>
          <a:noFill/>
          <a:ln/>
        </p:spPr>
        <p:txBody>
          <a:bodyPr wrap="square" lIns="0" tIns="0" rIns="0" bIns="0" rtlCol="0" anchor="ctr">
            <a:normAutofit/>
          </a:bodyPr>
          <a:lstStyle/>
          <a:p>
            <a:pPr indent="0" marL="0">
              <a:buNone/>
            </a:pPr>
            <a:r>
              <a:rPr lang="en-US" sz="1500" dirty="0">
                <a:solidFill>
                  <a:srgbClr val="1B2A38"/>
                </a:solidFill>
                <a:latin typeface="Calibri" pitchFamily="34" charset="0"/>
                <a:ea typeface="Calibri" pitchFamily="34" charset="-122"/>
                <a:cs typeface="Calibri" pitchFamily="34" charset="-120"/>
              </a:rPr>
              <a:t>Agent đến muộn, chưa đăng nhập kịp</a:t>
            </a:r>
            <a:endParaRPr lang="en-US" sz="1500" dirty="0"/>
          </a:p>
        </p:txBody>
      </p:sp>
      <p:sp>
        <p:nvSpPr>
          <p:cNvPr id="15" name="Shape 11"/>
          <p:cNvSpPr/>
          <p:nvPr/>
        </p:nvSpPr>
        <p:spPr>
          <a:xfrm>
            <a:off x="6210148" y="3154680"/>
            <a:ext cx="5432908" cy="1440180"/>
          </a:xfrm>
          <a:prstGeom prst="roundRect">
            <a:avLst>
              <a:gd name="adj" fmla="val 6349"/>
            </a:avLst>
          </a:prstGeom>
          <a:solidFill>
            <a:srgbClr val="FFFFFF"/>
          </a:solidFill>
          <a:ln w="15875">
            <a:solidFill>
              <a:srgbClr val="D5DAE0"/>
            </a:solidFill>
            <a:prstDash val="solid"/>
          </a:ln>
        </p:spPr>
      </p:sp>
      <p:sp>
        <p:nvSpPr>
          <p:cNvPr id="16" name="Shape 12"/>
          <p:cNvSpPr/>
          <p:nvPr/>
        </p:nvSpPr>
        <p:spPr>
          <a:xfrm>
            <a:off x="6411316" y="3623310"/>
            <a:ext cx="502920" cy="502920"/>
          </a:xfrm>
          <a:prstGeom prst="ellipse">
            <a:avLst/>
          </a:prstGeom>
          <a:solidFill>
            <a:srgbClr val="6E4E9E"/>
          </a:solidFill>
          <a:ln w="12700">
            <a:solidFill>
              <a:srgbClr val="6E4E9E"/>
            </a:solidFill>
            <a:prstDash val="solid"/>
          </a:ln>
        </p:spPr>
      </p:sp>
      <p:sp>
        <p:nvSpPr>
          <p:cNvPr id="17" name="Text 13"/>
          <p:cNvSpPr txBox="1"/>
          <p:nvPr/>
        </p:nvSpPr>
        <p:spPr>
          <a:xfrm>
            <a:off x="6411316" y="362331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8" name="Text 14"/>
          <p:cNvSpPr txBox="1"/>
          <p:nvPr/>
        </p:nvSpPr>
        <p:spPr>
          <a:xfrm>
            <a:off x="7078828" y="3246120"/>
            <a:ext cx="4381348" cy="1257300"/>
          </a:xfrm>
          <a:prstGeom prst="rect">
            <a:avLst/>
          </a:prstGeom>
          <a:noFill/>
          <a:ln/>
        </p:spPr>
        <p:txBody>
          <a:bodyPr wrap="square" lIns="0" tIns="0" rIns="0" bIns="0" rtlCol="0" anchor="ctr">
            <a:normAutofit/>
          </a:bodyPr>
          <a:lstStyle/>
          <a:p>
            <a:pPr indent="0" marL="0">
              <a:buNone/>
            </a:pPr>
            <a:r>
              <a:rPr lang="en-US" sz="1500" dirty="0">
                <a:solidFill>
                  <a:srgbClr val="1B2A38"/>
                </a:solidFill>
                <a:latin typeface="Calibri" pitchFamily="34" charset="0"/>
                <a:ea typeface="Calibri" pitchFamily="34" charset="-122"/>
                <a:cs typeface="Calibri" pitchFamily="34" charset="-120"/>
              </a:rPr>
              <a:t>Thời gian NOT_READY (không sẵn sàng) quá nhiều trong khi đã đăng nhập</a:t>
            </a:r>
            <a:endParaRPr lang="en-US" sz="1500" dirty="0"/>
          </a:p>
        </p:txBody>
      </p:sp>
      <p:sp>
        <p:nvSpPr>
          <p:cNvPr id="19" name="Shape 15"/>
          <p:cNvSpPr/>
          <p:nvPr/>
        </p:nvSpPr>
        <p:spPr>
          <a:xfrm>
            <a:off x="548640" y="4823460"/>
            <a:ext cx="5432908" cy="1440180"/>
          </a:xfrm>
          <a:prstGeom prst="roundRect">
            <a:avLst>
              <a:gd name="adj" fmla="val 6349"/>
            </a:avLst>
          </a:prstGeom>
          <a:solidFill>
            <a:srgbClr val="FFFFFF"/>
          </a:solidFill>
          <a:ln w="15875">
            <a:solidFill>
              <a:srgbClr val="D5DAE0"/>
            </a:solidFill>
            <a:prstDash val="solid"/>
          </a:ln>
        </p:spPr>
      </p:sp>
      <p:sp>
        <p:nvSpPr>
          <p:cNvPr id="20" name="Shape 16"/>
          <p:cNvSpPr/>
          <p:nvPr/>
        </p:nvSpPr>
        <p:spPr>
          <a:xfrm>
            <a:off x="749808" y="5292090"/>
            <a:ext cx="502920" cy="502920"/>
          </a:xfrm>
          <a:prstGeom prst="ellipse">
            <a:avLst/>
          </a:prstGeom>
          <a:solidFill>
            <a:srgbClr val="6E4E9E"/>
          </a:solidFill>
          <a:ln w="12700">
            <a:solidFill>
              <a:srgbClr val="6E4E9E"/>
            </a:solidFill>
            <a:prstDash val="solid"/>
          </a:ln>
        </p:spPr>
      </p:sp>
      <p:sp>
        <p:nvSpPr>
          <p:cNvPr id="21" name="Text 17"/>
          <p:cNvSpPr txBox="1"/>
          <p:nvPr/>
        </p:nvSpPr>
        <p:spPr>
          <a:xfrm>
            <a:off x="749808" y="529209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2" name="Text 18"/>
          <p:cNvSpPr txBox="1"/>
          <p:nvPr/>
        </p:nvSpPr>
        <p:spPr>
          <a:xfrm>
            <a:off x="1417320" y="4914900"/>
            <a:ext cx="4381348" cy="1257300"/>
          </a:xfrm>
          <a:prstGeom prst="rect">
            <a:avLst/>
          </a:prstGeom>
          <a:noFill/>
          <a:ln/>
        </p:spPr>
        <p:txBody>
          <a:bodyPr wrap="square" lIns="0" tIns="0" rIns="0" bIns="0" rtlCol="0" anchor="ctr">
            <a:normAutofit/>
          </a:bodyPr>
          <a:lstStyle/>
          <a:p>
            <a:pPr indent="0" marL="0">
              <a:buNone/>
            </a:pPr>
            <a:r>
              <a:rPr lang="en-US" sz="1500" dirty="0">
                <a:solidFill>
                  <a:srgbClr val="1B2A38"/>
                </a:solidFill>
                <a:latin typeface="Calibri" pitchFamily="34" charset="0"/>
                <a:ea typeface="Calibri" pitchFamily="34" charset="-122"/>
                <a:cs typeface="Calibri" pitchFamily="34" charset="-120"/>
              </a:rPr>
              <a:t>Không có cuộc gọi để xử lý khi sẵn sàng</a:t>
            </a:r>
            <a:endParaRPr lang="en-US" sz="1500" dirty="0"/>
          </a:p>
        </p:txBody>
      </p:sp>
      <p:sp>
        <p:nvSpPr>
          <p:cNvPr id="23" name="Shape 19"/>
          <p:cNvSpPr/>
          <p:nvPr/>
        </p:nvSpPr>
        <p:spPr>
          <a:xfrm>
            <a:off x="6210148" y="4823460"/>
            <a:ext cx="5432908" cy="1440180"/>
          </a:xfrm>
          <a:prstGeom prst="roundRect">
            <a:avLst>
              <a:gd name="adj" fmla="val 6349"/>
            </a:avLst>
          </a:prstGeom>
          <a:solidFill>
            <a:srgbClr val="FFFFFF"/>
          </a:solidFill>
          <a:ln w="15875">
            <a:solidFill>
              <a:srgbClr val="D5DAE0"/>
            </a:solidFill>
            <a:prstDash val="solid"/>
          </a:ln>
        </p:spPr>
      </p:sp>
      <p:sp>
        <p:nvSpPr>
          <p:cNvPr id="24" name="Shape 20"/>
          <p:cNvSpPr/>
          <p:nvPr/>
        </p:nvSpPr>
        <p:spPr>
          <a:xfrm>
            <a:off x="6411316" y="5292090"/>
            <a:ext cx="502920" cy="502920"/>
          </a:xfrm>
          <a:prstGeom prst="ellipse">
            <a:avLst/>
          </a:prstGeom>
          <a:solidFill>
            <a:srgbClr val="6E4E9E"/>
          </a:solidFill>
          <a:ln w="12700">
            <a:solidFill>
              <a:srgbClr val="6E4E9E"/>
            </a:solidFill>
            <a:prstDash val="solid"/>
          </a:ln>
        </p:spPr>
      </p:sp>
      <p:sp>
        <p:nvSpPr>
          <p:cNvPr id="25" name="Text 21"/>
          <p:cNvSpPr txBox="1"/>
          <p:nvPr/>
        </p:nvSpPr>
        <p:spPr>
          <a:xfrm>
            <a:off x="6411316" y="529209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6" name="Text 22"/>
          <p:cNvSpPr txBox="1"/>
          <p:nvPr/>
        </p:nvSpPr>
        <p:spPr>
          <a:xfrm>
            <a:off x="7078828" y="4914900"/>
            <a:ext cx="4381348" cy="1257300"/>
          </a:xfrm>
          <a:prstGeom prst="rect">
            <a:avLst/>
          </a:prstGeom>
          <a:noFill/>
          <a:ln/>
        </p:spPr>
        <p:txBody>
          <a:bodyPr wrap="square" lIns="0" tIns="0" rIns="0" bIns="0" rtlCol="0" anchor="ctr">
            <a:normAutofit/>
          </a:bodyPr>
          <a:lstStyle/>
          <a:p>
            <a:pPr indent="0" marL="0">
              <a:buNone/>
            </a:pPr>
            <a:r>
              <a:rPr lang="en-US" sz="1500" dirty="0">
                <a:solidFill>
                  <a:srgbClr val="1B2A38"/>
                </a:solidFill>
                <a:latin typeface="Calibri" pitchFamily="34" charset="0"/>
                <a:ea typeface="Calibri" pitchFamily="34" charset="-122"/>
                <a:cs typeface="Calibri" pitchFamily="34" charset="-120"/>
              </a:rPr>
              <a:t>AHT quá cao</a:t>
            </a:r>
            <a:endParaRPr lang="en-US" sz="15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982980" cy="292608"/>
          </a:xfrm>
          <a:prstGeom prst="roundRect">
            <a:avLst>
              <a:gd name="adj" fmla="val 50000"/>
            </a:avLst>
          </a:prstGeom>
          <a:solidFill>
            <a:srgbClr val="FBE7DA"/>
          </a:solidFill>
          <a:ln w="12700">
            <a:solidFill>
              <a:srgbClr val="FBE7DA"/>
            </a:solidFill>
            <a:prstDash val="solid"/>
          </a:ln>
        </p:spPr>
      </p:sp>
      <p:sp>
        <p:nvSpPr>
          <p:cNvPr id="3" name="Text 1"/>
          <p:cNvSpPr txBox="1"/>
          <p:nvPr/>
        </p:nvSpPr>
        <p:spPr>
          <a:xfrm>
            <a:off x="548640" y="384048"/>
            <a:ext cx="982980" cy="292608"/>
          </a:xfrm>
          <a:prstGeom prst="rect">
            <a:avLst/>
          </a:prstGeom>
          <a:noFill/>
          <a:ln/>
        </p:spPr>
        <p:txBody>
          <a:bodyPr wrap="square" lIns="0" tIns="0" rIns="0" bIns="0" rtlCol="0" anchor="ctr"/>
          <a:lstStyle/>
          <a:p>
            <a:pPr algn="ctr" indent="0" marL="0">
              <a:buNone/>
            </a:pPr>
            <a:r>
              <a:rPr lang="en-US" sz="1050" b="1" spc="150" kern="0" dirty="0">
                <a:solidFill>
                  <a:srgbClr val="D9773A"/>
                </a:solidFill>
                <a:latin typeface="Calibri" pitchFamily="34" charset="0"/>
                <a:ea typeface="Calibri" pitchFamily="34" charset="-122"/>
                <a:cs typeface="Calibri" pitchFamily="34" charset="-120"/>
              </a:rPr>
              <a:t>KIẾN THỨC</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Cân bằng KPI: đầu bảng cuộc/giờ, cuối bảng thành công/giờ</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4 · KPI năng suất &amp; dashboard</a:t>
            </a:r>
            <a:endParaRPr lang="en-US" sz="1000" dirty="0"/>
          </a:p>
        </p:txBody>
      </p:sp>
      <p:sp>
        <p:nvSpPr>
          <p:cNvPr id="7" name="Shape 4"/>
          <p:cNvSpPr/>
          <p:nvPr/>
        </p:nvSpPr>
        <p:spPr>
          <a:xfrm>
            <a:off x="548640" y="1691640"/>
            <a:ext cx="3672688" cy="4572000"/>
          </a:xfrm>
          <a:prstGeom prst="roundRect">
            <a:avLst>
              <a:gd name="adj" fmla="val 2490"/>
            </a:avLst>
          </a:prstGeom>
          <a:solidFill>
            <a:srgbClr val="FFFFFF"/>
          </a:solidFill>
          <a:ln w="12700">
            <a:solidFill>
              <a:srgbClr val="D5DAE0"/>
            </a:solidFill>
            <a:prstDash val="solid"/>
          </a:ln>
        </p:spPr>
      </p:sp>
      <p:sp>
        <p:nvSpPr>
          <p:cNvPr id="8" name="Text 5"/>
          <p:cNvSpPr txBox="1"/>
          <p:nvPr/>
        </p:nvSpPr>
        <p:spPr>
          <a:xfrm>
            <a:off x="777240" y="1828800"/>
            <a:ext cx="3215488" cy="384048"/>
          </a:xfrm>
          <a:prstGeom prst="rect">
            <a:avLst/>
          </a:prstGeom>
          <a:noFill/>
          <a:ln/>
        </p:spPr>
        <p:txBody>
          <a:bodyPr wrap="square" lIns="0" tIns="0" rIns="0" bIns="0" rtlCol="0" anchor="ctr"/>
          <a:lstStyle/>
          <a:p>
            <a:pPr indent="0" marL="0">
              <a:buNone/>
            </a:pPr>
            <a:r>
              <a:rPr lang="en-US" sz="1500" b="1" dirty="0">
                <a:solidFill>
                  <a:srgbClr val="1B2A38"/>
                </a:solidFill>
                <a:latin typeface="Calibri" pitchFamily="34" charset="0"/>
                <a:ea typeface="Calibri" pitchFamily="34" charset="-122"/>
                <a:cs typeface="Calibri" pitchFamily="34" charset="-120"/>
              </a:rPr>
              <a:t>Cuộc gọi / giờ công</a:t>
            </a:r>
            <a:endParaRPr lang="en-US" sz="1500" dirty="0"/>
          </a:p>
        </p:txBody>
      </p:sp>
      <p:sp>
        <p:nvSpPr>
          <p:cNvPr id="9" name="Text 6"/>
          <p:cNvSpPr txBox="1"/>
          <p:nvPr/>
        </p:nvSpPr>
        <p:spPr>
          <a:xfrm>
            <a:off x="777240" y="2194560"/>
            <a:ext cx="3215488" cy="274320"/>
          </a:xfrm>
          <a:prstGeom prst="rect">
            <a:avLst/>
          </a:prstGeom>
          <a:noFill/>
          <a:ln/>
        </p:spPr>
        <p:txBody>
          <a:bodyPr wrap="square" lIns="0" tIns="0" rIns="0" bIns="0" rtlCol="0" anchor="ctr"/>
          <a:lstStyle/>
          <a:p>
            <a:pPr indent="0" marL="0">
              <a:buNone/>
            </a:pPr>
            <a:r>
              <a:rPr lang="en-US" sz="1150" dirty="0">
                <a:solidFill>
                  <a:srgbClr val="6B7785"/>
                </a:solidFill>
                <a:latin typeface="Calibri" pitchFamily="34" charset="0"/>
                <a:ea typeface="Calibri" pitchFamily="34" charset="-122"/>
                <a:cs typeface="Calibri" pitchFamily="34" charset="-120"/>
              </a:rPr>
              <a:t>11 agent TS-BH · xếp từ cao xuống thấp</a:t>
            </a:r>
            <a:endParaRPr lang="en-US" sz="1150" dirty="0"/>
          </a:p>
        </p:txBody>
      </p:sp>
      <p:graphicFrame>
        <p:nvGraphicFramePr>
          <p:cNvPr id="10" name="Chart 0" descr=""/>
          <p:cNvGraphicFramePr/>
          <p:nvPr/>
        </p:nvGraphicFramePr>
        <p:xfrm>
          <a:off x="640080" y="2514600"/>
          <a:ext cx="3489808" cy="3657600"/>
        </p:xfrm>
        <a:graphic xmlns:a="http://schemas.openxmlformats.org/drawingml/2006/main">
          <a:graphicData uri="http://schemas.openxmlformats.org/drawingml/2006/chart">
            <c:chart xmlns:c="http://schemas.openxmlformats.org/drawingml/2006/chart" r:id="rId1"/>
          </a:graphicData>
        </a:graphic>
      </p:graphicFrame>
      <p:sp>
        <p:nvSpPr>
          <p:cNvPr id="11" name="Shape 7"/>
          <p:cNvSpPr/>
          <p:nvPr/>
        </p:nvSpPr>
        <p:spPr>
          <a:xfrm>
            <a:off x="4495648" y="1691640"/>
            <a:ext cx="3672688" cy="4572000"/>
          </a:xfrm>
          <a:prstGeom prst="roundRect">
            <a:avLst>
              <a:gd name="adj" fmla="val 2490"/>
            </a:avLst>
          </a:prstGeom>
          <a:solidFill>
            <a:srgbClr val="FFFFFF"/>
          </a:solidFill>
          <a:ln w="12700">
            <a:solidFill>
              <a:srgbClr val="D5DAE0"/>
            </a:solidFill>
            <a:prstDash val="solid"/>
          </a:ln>
        </p:spPr>
      </p:sp>
      <p:sp>
        <p:nvSpPr>
          <p:cNvPr id="12" name="Text 8"/>
          <p:cNvSpPr txBox="1"/>
          <p:nvPr/>
        </p:nvSpPr>
        <p:spPr>
          <a:xfrm>
            <a:off x="4724248" y="1828800"/>
            <a:ext cx="3215488" cy="384048"/>
          </a:xfrm>
          <a:prstGeom prst="rect">
            <a:avLst/>
          </a:prstGeom>
          <a:noFill/>
          <a:ln/>
        </p:spPr>
        <p:txBody>
          <a:bodyPr wrap="square" lIns="0" tIns="0" rIns="0" bIns="0" rtlCol="0" anchor="ctr"/>
          <a:lstStyle/>
          <a:p>
            <a:pPr indent="0" marL="0">
              <a:buNone/>
            </a:pPr>
            <a:r>
              <a:rPr lang="en-US" sz="1500" b="1" dirty="0">
                <a:solidFill>
                  <a:srgbClr val="1B2A38"/>
                </a:solidFill>
                <a:latin typeface="Calibri" pitchFamily="34" charset="0"/>
                <a:ea typeface="Calibri" pitchFamily="34" charset="-122"/>
                <a:cs typeface="Calibri" pitchFamily="34" charset="-120"/>
              </a:rPr>
              <a:t>Cuộc thành công / giờ công</a:t>
            </a:r>
            <a:endParaRPr lang="en-US" sz="1500" dirty="0"/>
          </a:p>
        </p:txBody>
      </p:sp>
      <p:sp>
        <p:nvSpPr>
          <p:cNvPr id="13" name="Text 9"/>
          <p:cNvSpPr txBox="1"/>
          <p:nvPr/>
        </p:nvSpPr>
        <p:spPr>
          <a:xfrm>
            <a:off x="4724248" y="2194560"/>
            <a:ext cx="3215488" cy="274320"/>
          </a:xfrm>
          <a:prstGeom prst="rect">
            <a:avLst/>
          </a:prstGeom>
          <a:noFill/>
          <a:ln/>
        </p:spPr>
        <p:txBody>
          <a:bodyPr wrap="square" lIns="0" tIns="0" rIns="0" bIns="0" rtlCol="0" anchor="ctr"/>
          <a:lstStyle/>
          <a:p>
            <a:pPr indent="0" marL="0">
              <a:buNone/>
            </a:pPr>
            <a:r>
              <a:rPr lang="en-US" sz="1150" dirty="0">
                <a:solidFill>
                  <a:srgbClr val="6B7785"/>
                </a:solidFill>
                <a:latin typeface="Calibri" pitchFamily="34" charset="0"/>
                <a:ea typeface="Calibri" pitchFamily="34" charset="-122"/>
                <a:cs typeface="Calibri" pitchFamily="34" charset="-120"/>
              </a:rPr>
              <a:t>cùng 11 agent · xếp từ cao xuống thấp</a:t>
            </a:r>
            <a:endParaRPr lang="en-US" sz="1150" dirty="0"/>
          </a:p>
        </p:txBody>
      </p:sp>
      <p:graphicFrame>
        <p:nvGraphicFramePr>
          <p:cNvPr id="14" name="Chart 1" descr=""/>
          <p:cNvGraphicFramePr/>
          <p:nvPr/>
        </p:nvGraphicFramePr>
        <p:xfrm>
          <a:off x="4587088" y="2514600"/>
          <a:ext cx="3489808" cy="3657600"/>
        </p:xfrm>
        <a:graphic xmlns:a="http://schemas.openxmlformats.org/drawingml/2006/main">
          <a:graphicData uri="http://schemas.openxmlformats.org/drawingml/2006/chart">
            <c:chart xmlns:c="http://schemas.openxmlformats.org/drawingml/2006/chart" r:id="rId2"/>
          </a:graphicData>
        </a:graphic>
      </p:graphicFrame>
      <p:sp>
        <p:nvSpPr>
          <p:cNvPr id="15" name="Shape 10"/>
          <p:cNvSpPr/>
          <p:nvPr/>
        </p:nvSpPr>
        <p:spPr>
          <a:xfrm>
            <a:off x="8488375" y="1691640"/>
            <a:ext cx="3154680" cy="4572000"/>
          </a:xfrm>
          <a:prstGeom prst="roundRect">
            <a:avLst>
              <a:gd name="adj" fmla="val 2899"/>
            </a:avLst>
          </a:prstGeom>
          <a:solidFill>
            <a:srgbClr val="F2F4F6"/>
          </a:solidFill>
          <a:ln w="12700">
            <a:solidFill>
              <a:srgbClr val="F2F4F6"/>
            </a:solidFill>
            <a:prstDash val="solid"/>
          </a:ln>
        </p:spPr>
      </p:sp>
      <p:sp>
        <p:nvSpPr>
          <p:cNvPr id="16" name="Shape 11"/>
          <p:cNvSpPr/>
          <p:nvPr/>
        </p:nvSpPr>
        <p:spPr>
          <a:xfrm>
            <a:off x="8716975" y="1920240"/>
            <a:ext cx="457200" cy="457200"/>
          </a:xfrm>
          <a:prstGeom prst="roundRect">
            <a:avLst>
              <a:gd name="adj" fmla="val 22000"/>
            </a:avLst>
          </a:prstGeom>
          <a:solidFill>
            <a:srgbClr val="D9773A"/>
          </a:solidFill>
          <a:ln w="12700">
            <a:solidFill>
              <a:srgbClr val="D9773A"/>
            </a:solidFill>
            <a:prstDash val="solid"/>
          </a:ln>
        </p:spPr>
      </p:sp>
      <p:pic>
        <p:nvPicPr>
          <p:cNvPr id="17" name="Image 0" descr="preencoded.png">    </p:cNvPr>
          <p:cNvPicPr>
            <a:picLocks noChangeAspect="1"/>
          </p:cNvPicPr>
          <p:nvPr/>
        </p:nvPicPr>
        <p:blipFill>
          <a:blip r:embed="rId3"/>
          <a:stretch>
            <a:fillRect/>
          </a:stretch>
        </p:blipFill>
        <p:spPr>
          <a:xfrm>
            <a:off x="8826703" y="2029968"/>
            <a:ext cx="237744" cy="237744"/>
          </a:xfrm>
          <a:prstGeom prst="rect">
            <a:avLst/>
          </a:prstGeom>
        </p:spPr>
      </p:pic>
      <p:sp>
        <p:nvSpPr>
          <p:cNvPr id="18" name="Text 12"/>
          <p:cNvSpPr txBox="1"/>
          <p:nvPr/>
        </p:nvSpPr>
        <p:spPr>
          <a:xfrm>
            <a:off x="9311335" y="1920240"/>
            <a:ext cx="2148840" cy="457200"/>
          </a:xfrm>
          <a:prstGeom prst="rect">
            <a:avLst/>
          </a:prstGeom>
          <a:noFill/>
          <a:ln/>
        </p:spPr>
        <p:txBody>
          <a:bodyPr wrap="square" lIns="0" tIns="0" rIns="0" bIns="0" rtlCol="0" anchor="ctr"/>
          <a:lstStyle/>
          <a:p>
            <a:pPr indent="0" marL="0">
              <a:buNone/>
            </a:pPr>
            <a:r>
              <a:rPr lang="en-US" sz="1700" b="1" dirty="0">
                <a:solidFill>
                  <a:srgbClr val="1B2A38"/>
                </a:solidFill>
                <a:latin typeface="Cambria" pitchFamily="34" charset="0"/>
                <a:ea typeface="Cambria" pitchFamily="34" charset="-122"/>
                <a:cs typeface="Cambria" pitchFamily="34" charset="-120"/>
              </a:rPr>
              <a:t>Đọc biểu đồ</a:t>
            </a:r>
            <a:endParaRPr lang="en-US" sz="1700" dirty="0"/>
          </a:p>
        </p:txBody>
      </p:sp>
      <p:sp>
        <p:nvSpPr>
          <p:cNvPr id="19" name="Text 13"/>
          <p:cNvSpPr txBox="1"/>
          <p:nvPr/>
        </p:nvSpPr>
        <p:spPr>
          <a:xfrm>
            <a:off x="8716975" y="2560320"/>
            <a:ext cx="2697480" cy="3520440"/>
          </a:xfrm>
          <a:prstGeom prst="rect">
            <a:avLst/>
          </a:prstGeom>
          <a:noFill/>
          <a:ln/>
        </p:spPr>
        <p:txBody>
          <a:bodyPr wrap="square" lIns="0" tIns="0" rIns="0" bIns="0" rtlCol="0" anchor="t">
            <a:normAutofit/>
          </a:bodyPr>
          <a:lstStyle/>
          <a:p>
            <a:pPr marL="228600" indent="-228600">
              <a:spcAft>
                <a:spcPts val="800"/>
              </a:spcAft>
              <a:buSzPct val="100000"/>
              <a:buChar char="•"/>
            </a:pPr>
            <a:r>
              <a:rPr lang="en-US" sz="1350" b="1" dirty="0">
                <a:solidFill>
                  <a:srgbClr val="1B2A38"/>
                </a:solidFill>
                <a:latin typeface="Calibri" pitchFamily="34" charset="0"/>
                <a:ea typeface="Calibri" pitchFamily="34" charset="-122"/>
                <a:cs typeface="Calibri" pitchFamily="34" charset="-120"/>
              </a:rPr>
              <a:t>NV0103</a:t>
            </a:r>
            <a:pPr indent="0" marL="0">
              <a:buNone/>
            </a:pPr>
            <a:r>
              <a:rPr lang="en-US" sz="1350" dirty="0">
                <a:solidFill>
                  <a:srgbClr val="1B2A38"/>
                </a:solidFill>
                <a:latin typeface="Calibri" pitchFamily="34" charset="0"/>
                <a:ea typeface="Calibri" pitchFamily="34" charset="-122"/>
                <a:cs typeface="Calibri" pitchFamily="34" charset="-120"/>
              </a:rPr>
              <a:t> gọi nhiều nhất (28,4; TB TS-BH 23,7) — hạng 1 → hạng 11 khi đổi thước đo.</a:t>
            </a:r>
            <a:endParaRPr lang="en-US" sz="1350" dirty="0"/>
          </a:p>
          <a:p>
            <a:pPr marL="228600" indent="-228600">
              <a:spcAft>
                <a:spcPts val="800"/>
              </a:spcAft>
              <a:buSzPct val="100000"/>
              <a:buChar char="•"/>
            </a:pPr>
            <a:r>
              <a:rPr lang="en-US" sz="1350" b="1" dirty="0">
                <a:solidFill>
                  <a:srgbClr val="1B2A38"/>
                </a:solidFill>
                <a:latin typeface="Calibri" pitchFamily="34" charset="0"/>
                <a:ea typeface="Calibri" pitchFamily="34" charset="-122"/>
                <a:cs typeface="Calibri" pitchFamily="34" charset="-120"/>
              </a:rPr>
              <a:t>TC/giờ 0,54</a:t>
            </a:r>
            <a:pPr indent="0" marL="0">
              <a:buNone/>
            </a:pPr>
            <a:r>
              <a:rPr lang="en-US" sz="1350" dirty="0">
                <a:solidFill>
                  <a:srgbClr val="1B2A38"/>
                </a:solidFill>
                <a:latin typeface="Calibri" pitchFamily="34" charset="0"/>
                <a:ea typeface="Calibri" pitchFamily="34" charset="-122"/>
                <a:cs typeface="Calibri" pitchFamily="34" charset="-120"/>
              </a:rPr>
              <a:t> — dưới mức hợp đồng 0,6. Chốt 3,8% so với 13,2% của NV0105.</a:t>
            </a:r>
            <a:endParaRPr lang="en-US" sz="1350" dirty="0"/>
          </a:p>
          <a:p>
            <a:pPr marL="228600" indent="-228600">
              <a:spcAft>
                <a:spcPts val="800"/>
              </a:spcAft>
              <a:buSzPct val="100000"/>
              <a:buChar char="•"/>
            </a:pPr>
            <a:r>
              <a:rPr lang="en-US" sz="1350" b="1" dirty="0">
                <a:solidFill>
                  <a:srgbClr val="1B2A38"/>
                </a:solidFill>
                <a:latin typeface="Calibri" pitchFamily="34" charset="0"/>
                <a:ea typeface="Calibri" pitchFamily="34" charset="-122"/>
                <a:cs typeface="Calibri" pitchFamily="34" charset="-120"/>
              </a:rPr>
              <a:t>Cái giá:</a:t>
            </a:r>
            <a:pPr indent="0" marL="0">
              <a:buNone/>
            </a:pPr>
            <a:r>
              <a:rPr lang="en-US" sz="1350" dirty="0">
                <a:solidFill>
                  <a:srgbClr val="1B2A38"/>
                </a:solidFill>
                <a:latin typeface="Calibri" pitchFamily="34" charset="0"/>
                <a:ea typeface="Calibri" pitchFamily="34" charset="-122"/>
                <a:cs typeface="Calibri" pitchFamily="34" charset="-120"/>
              </a:rPr>
              <a:t> chốt như 4 người còn lại TS-A (11,6%) → ≈ 160 thay vì 53 thành công.</a:t>
            </a:r>
            <a:endParaRPr lang="en-US" sz="1350" dirty="0"/>
          </a:p>
          <a:p>
            <a:pPr marL="228600" indent="-228600">
              <a:spcAft>
                <a:spcPts val="800"/>
              </a:spcAft>
              <a:buSzPct val="100000"/>
              <a:buChar char="•"/>
            </a:pPr>
            <a:r>
              <a:rPr lang="en-US" sz="1350" b="1" dirty="0">
                <a:solidFill>
                  <a:srgbClr val="1B2A38"/>
                </a:solidFill>
                <a:latin typeface="Calibri" pitchFamily="34" charset="0"/>
                <a:ea typeface="Calibri" pitchFamily="34" charset="-122"/>
                <a:cs typeface="Calibri" pitchFamily="34" charset="-120"/>
              </a:rPr>
              <a:t>Ngược lại:</a:t>
            </a:r>
            <a:pPr indent="0" marL="0">
              <a:buNone/>
            </a:pPr>
            <a:r>
              <a:rPr lang="en-US" sz="1350" dirty="0">
                <a:solidFill>
                  <a:srgbClr val="1B2A38"/>
                </a:solidFill>
                <a:latin typeface="Calibri" pitchFamily="34" charset="0"/>
                <a:ea typeface="Calibri" pitchFamily="34" charset="-122"/>
                <a:cs typeface="Calibri" pitchFamily="34" charset="-120"/>
              </a:rPr>
              <a:t> NV0109 hạng 9 → 2, NV0106 hạng 10 → 4.</a:t>
            </a:r>
            <a:endParaRPr lang="en-US" sz="13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982980" cy="292608"/>
          </a:xfrm>
          <a:prstGeom prst="roundRect">
            <a:avLst>
              <a:gd name="adj" fmla="val 50000"/>
            </a:avLst>
          </a:prstGeom>
          <a:solidFill>
            <a:srgbClr val="FBE7DA"/>
          </a:solidFill>
          <a:ln w="12700">
            <a:solidFill>
              <a:srgbClr val="FBE7DA"/>
            </a:solidFill>
            <a:prstDash val="solid"/>
          </a:ln>
        </p:spPr>
      </p:sp>
      <p:sp>
        <p:nvSpPr>
          <p:cNvPr id="3" name="Text 1"/>
          <p:cNvSpPr txBox="1"/>
          <p:nvPr/>
        </p:nvSpPr>
        <p:spPr>
          <a:xfrm>
            <a:off x="548640" y="384048"/>
            <a:ext cx="982980" cy="292608"/>
          </a:xfrm>
          <a:prstGeom prst="rect">
            <a:avLst/>
          </a:prstGeom>
          <a:noFill/>
          <a:ln/>
        </p:spPr>
        <p:txBody>
          <a:bodyPr wrap="square" lIns="0" tIns="0" rIns="0" bIns="0" rtlCol="0" anchor="ctr"/>
          <a:lstStyle/>
          <a:p>
            <a:pPr algn="ctr" indent="0" marL="0">
              <a:buNone/>
            </a:pPr>
            <a:r>
              <a:rPr lang="en-US" sz="1050" b="1" spc="150" kern="0" dirty="0">
                <a:solidFill>
                  <a:srgbClr val="D9773A"/>
                </a:solidFill>
                <a:latin typeface="Calibri" pitchFamily="34" charset="0"/>
                <a:ea typeface="Calibri" pitchFamily="34" charset="-122"/>
                <a:cs typeface="Calibri" pitchFamily="34" charset="-120"/>
              </a:rPr>
              <a:t>KIẾN THỨC</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Cặp chỉ số đối trọng: mỗi chỉ số số lượng cần một “cái phanh”</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4 · KPI năng suất &amp; dashboard</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750681"/>
                <a:gridCol w="4034333"/>
                <a:gridCol w="4309401"/>
              </a:tblGrid>
              <a:tr h="474345">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Chỉ số dễ bị ép</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Đối trọng</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Dấu hiệu bị “lách” (dữ liệu mẫu)</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r>
              <a:tr h="474345">
                <a:tc>
                  <a:txBody>
                    <a:bodyPr/>
                    <a:lstStyle/>
                    <a:p>
                      <a:pPr indent="0" marL="0">
                        <a:buNone/>
                      </a:pPr>
                      <a:r>
                        <a:rPr lang="en-US" sz="1350" b="1" dirty="0">
                          <a:solidFill>
                            <a:srgbClr val="1B2A38"/>
                          </a:solidFill>
                          <a:latin typeface="Calibri" pitchFamily="34" charset="0"/>
                          <a:ea typeface="Calibri" pitchFamily="34" charset="-122"/>
                          <a:cs typeface="Calibri" pitchFamily="34" charset="-120"/>
                        </a:rPr>
                        <a:t>Cuộc / giờ công</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Tỷ lệ chốt → gộp thành TC / giờ công</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Cuộc/giờ cao, chốt thấp (NV0103)</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474345">
                <a:tc>
                  <a:txBody>
                    <a:bodyPr/>
                    <a:lstStyle/>
                    <a:p>
                      <a:pPr indent="0" marL="0">
                        <a:buNone/>
                      </a:pPr>
                      <a:r>
                        <a:rPr lang="en-US" sz="1350" b="1" dirty="0">
                          <a:solidFill>
                            <a:srgbClr val="1B2A38"/>
                          </a:solidFill>
                          <a:latin typeface="Calibri" pitchFamily="34" charset="0"/>
                          <a:ea typeface="Calibri" pitchFamily="34" charset="-122"/>
                          <a:cs typeface="Calibri" pitchFamily="34" charset="-120"/>
                        </a:rPr>
                        <a:t>AHT thấp</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Tỷ lệ chốt; inbound: khách gọi lại, điểm QA</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AHT thấp bất thường so với team (NV0103: 161 giây)</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74345">
                <a:tc>
                  <a:txBody>
                    <a:bodyPr/>
                    <a:lstStyle/>
                    <a:p>
                      <a:pPr indent="0" marL="0">
                        <a:buNone/>
                      </a:pPr>
                      <a:r>
                        <a:rPr lang="en-US" sz="1350" b="1" dirty="0">
                          <a:solidFill>
                            <a:srgbClr val="1B2A38"/>
                          </a:solidFill>
                          <a:latin typeface="Calibri" pitchFamily="34" charset="0"/>
                          <a:ea typeface="Calibri" pitchFamily="34" charset="-122"/>
                          <a:cs typeface="Calibri" pitchFamily="34" charset="-120"/>
                        </a:rPr>
                        <a:t>Occupancy cao</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Tỷ lệ bỏ máy, tỷ lệ nghỉ việc</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Occupancy &gt; 90% kéo dài</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474345">
                <a:tc>
                  <a:txBody>
                    <a:bodyPr/>
                    <a:lstStyle/>
                    <a:p>
                      <a:pPr indent="0" marL="0">
                        <a:buNone/>
                      </a:pPr>
                      <a:r>
                        <a:rPr lang="en-US" sz="1350" b="1" dirty="0">
                          <a:solidFill>
                            <a:srgbClr val="1B2A38"/>
                          </a:solidFill>
                          <a:latin typeface="Calibri" pitchFamily="34" charset="0"/>
                          <a:ea typeface="Calibri" pitchFamily="34" charset="-122"/>
                          <a:cs typeface="Calibri" pitchFamily="34" charset="-120"/>
                        </a:rPr>
                        <a:t>Tỷ lệ nghe máy</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AHT, chất lượng giải quyết</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Nghe nhanh rồi chuyển hoặc cúp</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74345">
                <a:tc>
                  <a:txBody>
                    <a:bodyPr/>
                    <a:lstStyle/>
                    <a:p>
                      <a:pPr indent="0" marL="0">
                        <a:buNone/>
                      </a:pPr>
                      <a:r>
                        <a:rPr lang="en-US" sz="1350" b="1" dirty="0">
                          <a:solidFill>
                            <a:srgbClr val="1B2A38"/>
                          </a:solidFill>
                          <a:latin typeface="Calibri" pitchFamily="34" charset="0"/>
                          <a:ea typeface="Calibri" pitchFamily="34" charset="-122"/>
                          <a:cs typeface="Calibri" pitchFamily="34" charset="-120"/>
                        </a:rPr>
                        <a:t>Tỷ lệ đăng nhập</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Tỷ lệ sản xuất</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NV0108: đăng nhập 98%, sản xuất 45%</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474345">
                <a:tc>
                  <a:txBody>
                    <a:bodyPr/>
                    <a:lstStyle/>
                    <a:p>
                      <a:pPr indent="0" marL="0">
                        <a:buNone/>
                      </a:pPr>
                      <a:r>
                        <a:rPr lang="en-US" sz="1350" b="1" dirty="0">
                          <a:solidFill>
                            <a:srgbClr val="1B2A38"/>
                          </a:solidFill>
                          <a:latin typeface="Calibri" pitchFamily="34" charset="0"/>
                          <a:ea typeface="Calibri" pitchFamily="34" charset="-122"/>
                          <a:cs typeface="Calibri" pitchFamily="34" charset="-120"/>
                        </a:rPr>
                        <a:t>Giờ công lãng phí thấp</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OT không đăng ký, shrinkage âm</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Ở lại ngoài giờ không được ghi nhận (NV0112)</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74345">
                <a:tc>
                  <a:txBody>
                    <a:bodyPr/>
                    <a:lstStyle/>
                    <a:p>
                      <a:pPr indent="0" marL="0">
                        <a:buNone/>
                      </a:pPr>
                      <a:r>
                        <a:rPr lang="en-US" sz="1350" b="1" dirty="0">
                          <a:solidFill>
                            <a:srgbClr val="1B2A38"/>
                          </a:solidFill>
                          <a:latin typeface="Calibri" pitchFamily="34" charset="0"/>
                          <a:ea typeface="Calibri" pitchFamily="34" charset="-122"/>
                          <a:cs typeface="Calibri" pitchFamily="34" charset="-120"/>
                        </a:rPr>
                        <a:t>Số cuộc “Thành công”</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Tỷ lệ hủy / khiếu nại từ đối tác</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Ghi “Thành công” cho cuộc 0 giây đàm thoại</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bl>
          </a:graphicData>
        </a:graphic>
      </p:graphicFrame>
      <p:sp>
        <p:nvSpPr>
          <p:cNvPr id="8" name="Shape 4"/>
          <p:cNvSpPr/>
          <p:nvPr/>
        </p:nvSpPr>
        <p:spPr>
          <a:xfrm>
            <a:off x="548640" y="5669280"/>
            <a:ext cx="11094415" cy="594360"/>
          </a:xfrm>
          <a:prstGeom prst="roundRect">
            <a:avLst>
              <a:gd name="adj" fmla="val 12308"/>
            </a:avLst>
          </a:prstGeom>
          <a:solidFill>
            <a:srgbClr val="FBE7DA"/>
          </a:solidFill>
          <a:ln w="12700">
            <a:solidFill>
              <a:srgbClr val="FBE7DA"/>
            </a:solidFill>
            <a:prstDash val="solid"/>
          </a:ln>
        </p:spPr>
      </p:sp>
      <p:sp>
        <p:nvSpPr>
          <p:cNvPr id="9" name="Text 5"/>
          <p:cNvSpPr txBox="1"/>
          <p:nvPr/>
        </p:nvSpPr>
        <p:spPr>
          <a:xfrm>
            <a:off x="777240" y="5669280"/>
            <a:ext cx="10637215" cy="594360"/>
          </a:xfrm>
          <a:prstGeom prst="rect">
            <a:avLst/>
          </a:prstGeom>
          <a:noFill/>
          <a:ln/>
        </p:spPr>
        <p:txBody>
          <a:bodyPr wrap="square" lIns="0" tIns="0" rIns="0" bIns="0" rtlCol="0" anchor="ctr">
            <a:normAutofit/>
          </a:bodyPr>
          <a:lstStyle/>
          <a:p>
            <a:pPr indent="0" marL="0">
              <a:buNone/>
            </a:pPr>
            <a:r>
              <a:rPr lang="en-US" sz="1350" dirty="0">
                <a:solidFill>
                  <a:srgbClr val="1B2A38"/>
                </a:solidFill>
                <a:latin typeface="Calibri" pitchFamily="34" charset="0"/>
                <a:ea typeface="Calibri" pitchFamily="34" charset="-122"/>
                <a:cs typeface="Calibri" pitchFamily="34" charset="-120"/>
              </a:rPr>
              <a:t>Cuộc/giờ công để CHẨN ĐOÁN (trọng số 10% trong scorecard), TC/giờ công để thưởng (35%) — trọng số chính là thông điệp.</a:t>
            </a:r>
            <a:endParaRPr lang="en-US" sz="13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982980" cy="292608"/>
          </a:xfrm>
          <a:prstGeom prst="roundRect">
            <a:avLst>
              <a:gd name="adj" fmla="val 50000"/>
            </a:avLst>
          </a:prstGeom>
          <a:solidFill>
            <a:srgbClr val="FBE7DA"/>
          </a:solidFill>
          <a:ln w="12700">
            <a:solidFill>
              <a:srgbClr val="FBE7DA"/>
            </a:solidFill>
            <a:prstDash val="solid"/>
          </a:ln>
        </p:spPr>
      </p:sp>
      <p:sp>
        <p:nvSpPr>
          <p:cNvPr id="3" name="Text 1"/>
          <p:cNvSpPr txBox="1"/>
          <p:nvPr/>
        </p:nvSpPr>
        <p:spPr>
          <a:xfrm>
            <a:off x="548640" y="384048"/>
            <a:ext cx="982980" cy="292608"/>
          </a:xfrm>
          <a:prstGeom prst="rect">
            <a:avLst/>
          </a:prstGeom>
          <a:noFill/>
          <a:ln/>
        </p:spPr>
        <p:txBody>
          <a:bodyPr wrap="square" lIns="0" tIns="0" rIns="0" bIns="0" rtlCol="0" anchor="ctr"/>
          <a:lstStyle/>
          <a:p>
            <a:pPr algn="ctr" indent="0" marL="0">
              <a:buNone/>
            </a:pPr>
            <a:r>
              <a:rPr lang="en-US" sz="1050" b="1" spc="150" kern="0" dirty="0">
                <a:solidFill>
                  <a:srgbClr val="D9773A"/>
                </a:solidFill>
                <a:latin typeface="Calibri" pitchFamily="34" charset="0"/>
                <a:ea typeface="Calibri" pitchFamily="34" charset="-122"/>
                <a:cs typeface="Calibri" pitchFamily="34" charset="-120"/>
              </a:rPr>
              <a:t>KIẾN THỨC</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Scorecard agent công bằng: trọng số, trần, nhóm so sánh</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4 · KPI năng suất &amp; dashboard</a:t>
            </a:r>
            <a:endParaRPr lang="en-US" sz="1000" dirty="0"/>
          </a:p>
        </p:txBody>
      </p:sp>
      <p:sp>
        <p:nvSpPr>
          <p:cNvPr id="7" name="Shape 4"/>
          <p:cNvSpPr/>
          <p:nvPr/>
        </p:nvSpPr>
        <p:spPr>
          <a:xfrm>
            <a:off x="548640" y="1691640"/>
            <a:ext cx="5063956" cy="4572000"/>
          </a:xfrm>
          <a:prstGeom prst="roundRect">
            <a:avLst>
              <a:gd name="adj" fmla="val 2000"/>
            </a:avLst>
          </a:prstGeom>
          <a:solidFill>
            <a:srgbClr val="F2F4F6"/>
          </a:solidFill>
          <a:ln w="12700">
            <a:solidFill>
              <a:srgbClr val="F2F4F6"/>
            </a:solidFill>
            <a:prstDash val="solid"/>
          </a:ln>
        </p:spPr>
      </p:sp>
      <p:sp>
        <p:nvSpPr>
          <p:cNvPr id="8" name="Shape 5"/>
          <p:cNvSpPr/>
          <p:nvPr/>
        </p:nvSpPr>
        <p:spPr>
          <a:xfrm>
            <a:off x="777240" y="1920240"/>
            <a:ext cx="457200" cy="457200"/>
          </a:xfrm>
          <a:prstGeom prst="roundRect">
            <a:avLst>
              <a:gd name="adj" fmla="val 22000"/>
            </a:avLst>
          </a:prstGeom>
          <a:solidFill>
            <a:srgbClr val="2B3E50"/>
          </a:solidFill>
          <a:ln w="12700">
            <a:solidFill>
              <a:srgbClr val="2B3E50"/>
            </a:solidFill>
            <a:prstDash val="solid"/>
          </a:ln>
        </p:spPr>
      </p:sp>
      <p:pic>
        <p:nvPicPr>
          <p:cNvPr id="9" name="Image 0" descr="preencoded.png">    </p:cNvPr>
          <p:cNvPicPr>
            <a:picLocks noChangeAspect="1"/>
          </p:cNvPicPr>
          <p:nvPr/>
        </p:nvPicPr>
        <p:blipFill>
          <a:blip r:embed="rId1"/>
          <a:stretch>
            <a:fillRect/>
          </a:stretch>
        </p:blipFill>
        <p:spPr>
          <a:xfrm>
            <a:off x="886968" y="2029968"/>
            <a:ext cx="237744" cy="237744"/>
          </a:xfrm>
          <a:prstGeom prst="rect">
            <a:avLst/>
          </a:prstGeom>
        </p:spPr>
      </p:pic>
      <p:sp>
        <p:nvSpPr>
          <p:cNvPr id="10" name="Text 6"/>
          <p:cNvSpPr txBox="1"/>
          <p:nvPr/>
        </p:nvSpPr>
        <p:spPr>
          <a:xfrm>
            <a:off x="1417320" y="1920240"/>
            <a:ext cx="3966676" cy="457200"/>
          </a:xfrm>
          <a:prstGeom prst="rect">
            <a:avLst/>
          </a:prstGeom>
          <a:noFill/>
          <a:ln/>
        </p:spPr>
        <p:txBody>
          <a:bodyPr wrap="square" lIns="0" tIns="0" rIns="0" bIns="0" rtlCol="0" anchor="ctr"/>
          <a:lstStyle/>
          <a:p>
            <a:pPr indent="0" marL="0">
              <a:buNone/>
            </a:pPr>
            <a:r>
              <a:rPr lang="en-US" sz="1800" b="1" dirty="0">
                <a:solidFill>
                  <a:srgbClr val="1B2A38"/>
                </a:solidFill>
                <a:latin typeface="Calibri" pitchFamily="34" charset="0"/>
                <a:ea typeface="Calibri" pitchFamily="34" charset="-122"/>
                <a:cs typeface="Calibri" pitchFamily="34" charset="-120"/>
              </a:rPr>
              <a:t>Trọng số: TS-BH 6 KPI · CS-VT 5 KPI</a:t>
            </a:r>
            <a:endParaRPr lang="en-US" sz="1800" dirty="0"/>
          </a:p>
        </p:txBody>
      </p:sp>
      <p:sp>
        <p:nvSpPr>
          <p:cNvPr id="11" name="Text 7"/>
          <p:cNvSpPr txBox="1"/>
          <p:nvPr/>
        </p:nvSpPr>
        <p:spPr>
          <a:xfrm>
            <a:off x="822960" y="2560320"/>
            <a:ext cx="4515316" cy="3520440"/>
          </a:xfrm>
          <a:prstGeom prst="rect">
            <a:avLst/>
          </a:prstGeom>
          <a:noFill/>
          <a:ln/>
        </p:spPr>
        <p:txBody>
          <a:bodyPr wrap="square" lIns="0" tIns="0" rIns="0" bIns="0" rtlCol="0" anchor="t">
            <a:normAutofit/>
          </a:bodyPr>
          <a:lstStyle/>
          <a:p>
            <a:pPr marL="228600" indent="-228600">
              <a:spcAft>
                <a:spcPts val="700"/>
              </a:spcAft>
              <a:buSzPct val="100000"/>
              <a:buChar char="•"/>
            </a:pPr>
            <a:r>
              <a:rPr lang="en-US" sz="1450" b="1" dirty="0">
                <a:solidFill>
                  <a:srgbClr val="1B2A38"/>
                </a:solidFill>
                <a:latin typeface="Calibri" pitchFamily="34" charset="0"/>
                <a:ea typeface="Calibri" pitchFamily="34" charset="-122"/>
                <a:cs typeface="Calibri" pitchFamily="34" charset="-120"/>
              </a:rPr>
              <a:t>TC / giờ công 35%</a:t>
            </a:r>
            <a:pPr indent="0" marL="0">
              <a:buNone/>
            </a:pPr>
            <a:r>
              <a:rPr lang="en-US" sz="1450" dirty="0">
                <a:solidFill>
                  <a:srgbClr val="1B2A38"/>
                </a:solidFill>
                <a:latin typeface="Calibri" pitchFamily="34" charset="0"/>
                <a:ea typeface="Calibri" pitchFamily="34" charset="-122"/>
                <a:cs typeface="Calibri" pitchFamily="34" charset="-120"/>
              </a:rPr>
              <a:t> — mục tiêu 1,3</a:t>
            </a:r>
            <a:endParaRPr lang="en-US" sz="1450" dirty="0"/>
          </a:p>
          <a:p>
            <a:pPr marL="228600" indent="-228600">
              <a:spcAft>
                <a:spcPts val="700"/>
              </a:spcAft>
              <a:buSzPct val="100000"/>
              <a:buChar char="•"/>
            </a:pPr>
            <a:r>
              <a:rPr lang="en-US" sz="1450" b="1" dirty="0">
                <a:solidFill>
                  <a:srgbClr val="1B2A38"/>
                </a:solidFill>
                <a:latin typeface="Calibri" pitchFamily="34" charset="0"/>
                <a:ea typeface="Calibri" pitchFamily="34" charset="-122"/>
                <a:cs typeface="Calibri" pitchFamily="34" charset="-120"/>
              </a:rPr>
              <a:t>Tỷ lệ sản xuất 20%</a:t>
            </a:r>
            <a:pPr indent="0" marL="0">
              <a:buNone/>
            </a:pPr>
            <a:r>
              <a:rPr lang="en-US" sz="1450" dirty="0">
                <a:solidFill>
                  <a:srgbClr val="1B2A38"/>
                </a:solidFill>
                <a:latin typeface="Calibri" pitchFamily="34" charset="0"/>
                <a:ea typeface="Calibri" pitchFamily="34" charset="-122"/>
                <a:cs typeface="Calibri" pitchFamily="34" charset="-120"/>
              </a:rPr>
              <a:t> — 60%</a:t>
            </a:r>
            <a:endParaRPr lang="en-US" sz="1450" dirty="0"/>
          </a:p>
          <a:p>
            <a:pPr marL="228600" indent="-228600">
              <a:spcAft>
                <a:spcPts val="700"/>
              </a:spcAft>
              <a:buSzPct val="100000"/>
              <a:buChar char="•"/>
            </a:pPr>
            <a:r>
              <a:rPr lang="en-US" sz="1450" b="1" dirty="0">
                <a:solidFill>
                  <a:srgbClr val="1B2A38"/>
                </a:solidFill>
                <a:latin typeface="Calibri" pitchFamily="34" charset="0"/>
                <a:ea typeface="Calibri" pitchFamily="34" charset="-122"/>
                <a:cs typeface="Calibri" pitchFamily="34" charset="-120"/>
              </a:rPr>
              <a:t>Tỷ lệ chốt 15%</a:t>
            </a:r>
            <a:pPr indent="0" marL="0">
              <a:buNone/>
            </a:pPr>
            <a:r>
              <a:rPr lang="en-US" sz="1450" dirty="0">
                <a:solidFill>
                  <a:srgbClr val="1B2A38"/>
                </a:solidFill>
                <a:latin typeface="Calibri" pitchFamily="34" charset="0"/>
                <a:ea typeface="Calibri" pitchFamily="34" charset="-122"/>
                <a:cs typeface="Calibri" pitchFamily="34" charset="-120"/>
              </a:rPr>
              <a:t> — 11% (đối trọng chất lượng)</a:t>
            </a:r>
            <a:endParaRPr lang="en-US" sz="1450" dirty="0"/>
          </a:p>
          <a:p>
            <a:pPr marL="228600" indent="-228600">
              <a:spcAft>
                <a:spcPts val="700"/>
              </a:spcAft>
              <a:buSzPct val="100000"/>
              <a:buChar char="•"/>
            </a:pPr>
            <a:r>
              <a:rPr lang="en-US" sz="1450" b="1" dirty="0">
                <a:solidFill>
                  <a:srgbClr val="1B2A38"/>
                </a:solidFill>
                <a:latin typeface="Calibri" pitchFamily="34" charset="0"/>
                <a:ea typeface="Calibri" pitchFamily="34" charset="-122"/>
                <a:cs typeface="Calibri" pitchFamily="34" charset="-120"/>
              </a:rPr>
              <a:t>Cuộc / giờ công 10%</a:t>
            </a:r>
            <a:pPr indent="0" marL="0">
              <a:buNone/>
            </a:pPr>
            <a:r>
              <a:rPr lang="en-US" sz="1450" dirty="0">
                <a:solidFill>
                  <a:srgbClr val="1B2A38"/>
                </a:solidFill>
                <a:latin typeface="Calibri" pitchFamily="34" charset="0"/>
                <a:ea typeface="Calibri" pitchFamily="34" charset="-122"/>
                <a:cs typeface="Calibri" pitchFamily="34" charset="-120"/>
              </a:rPr>
              <a:t> — 24 (chỉ để chẩn đoán)</a:t>
            </a:r>
            <a:endParaRPr lang="en-US" sz="1450" dirty="0"/>
          </a:p>
          <a:p>
            <a:pPr marL="228600" indent="-228600">
              <a:spcAft>
                <a:spcPts val="700"/>
              </a:spcAft>
              <a:buSzPct val="100000"/>
              <a:buChar char="•"/>
            </a:pPr>
            <a:r>
              <a:rPr lang="en-US" sz="1450" b="1" dirty="0">
                <a:solidFill>
                  <a:srgbClr val="1B2A38"/>
                </a:solidFill>
                <a:latin typeface="Calibri" pitchFamily="34" charset="0"/>
                <a:ea typeface="Calibri" pitchFamily="34" charset="-122"/>
                <a:cs typeface="Calibri" pitchFamily="34" charset="-120"/>
              </a:rPr>
              <a:t>Adherence 10% · Chuyên cần 10%</a:t>
            </a:r>
            <a:pPr indent="0" marL="0">
              <a:buNone/>
            </a:pPr>
            <a:r>
              <a:rPr lang="en-US" sz="1450" dirty="0">
                <a:solidFill>
                  <a:srgbClr val="1B2A38"/>
                </a:solidFill>
                <a:latin typeface="Calibri" pitchFamily="34" charset="0"/>
                <a:ea typeface="Calibri" pitchFamily="34" charset="-122"/>
                <a:cs typeface="Calibri" pitchFamily="34" charset="-120"/>
              </a:rPr>
              <a:t> — 95% · 100%</a:t>
            </a:r>
            <a:endParaRPr lang="en-US" sz="1450" dirty="0"/>
          </a:p>
          <a:p>
            <a:pPr marL="228600" indent="-228600">
              <a:spcAft>
                <a:spcPts val="700"/>
              </a:spcAft>
              <a:buSzPct val="100000"/>
              <a:buChar char="•"/>
            </a:pPr>
            <a:r>
              <a:rPr lang="en-US" sz="1450" b="1" dirty="0">
                <a:solidFill>
                  <a:srgbClr val="1B2A38"/>
                </a:solidFill>
                <a:latin typeface="Calibri" pitchFamily="34" charset="0"/>
                <a:ea typeface="Calibri" pitchFamily="34" charset="-122"/>
                <a:cs typeface="Calibri" pitchFamily="34" charset="-120"/>
              </a:rPr>
              <a:t>CS-VT 5 KPI:</a:t>
            </a:r>
            <a:pPr indent="0" marL="0">
              <a:buNone/>
            </a:pPr>
            <a:r>
              <a:rPr lang="en-US" sz="1450" dirty="0">
                <a:solidFill>
                  <a:srgbClr val="1B2A38"/>
                </a:solidFill>
                <a:latin typeface="Calibri" pitchFamily="34" charset="0"/>
                <a:ea typeface="Calibri" pitchFamily="34" charset="-122"/>
                <a:cs typeface="Calibri" pitchFamily="34" charset="-120"/>
              </a:rPr>
              <a:t> cuộc/giờ 25%, sản xuất 25%, adherence 20%, đăng nhập 15%, chuyên cần 15%; AHT &gt; 360 giây chỉ gắn cờ</a:t>
            </a:r>
            <a:endParaRPr lang="en-US" sz="1450" dirty="0"/>
          </a:p>
        </p:txBody>
      </p:sp>
      <p:sp>
        <p:nvSpPr>
          <p:cNvPr id="12" name="Shape 8"/>
          <p:cNvSpPr/>
          <p:nvPr/>
        </p:nvSpPr>
        <p:spPr>
          <a:xfrm>
            <a:off x="5932636" y="1691640"/>
            <a:ext cx="5710419" cy="4572000"/>
          </a:xfrm>
          <a:prstGeom prst="roundRect">
            <a:avLst>
              <a:gd name="adj" fmla="val 2000"/>
            </a:avLst>
          </a:prstGeom>
          <a:solidFill>
            <a:srgbClr val="DDF1E5"/>
          </a:solidFill>
          <a:ln w="12700">
            <a:solidFill>
              <a:srgbClr val="DDF1E5"/>
            </a:solidFill>
            <a:prstDash val="solid"/>
          </a:ln>
        </p:spPr>
      </p:sp>
      <p:sp>
        <p:nvSpPr>
          <p:cNvPr id="13" name="Shape 9"/>
          <p:cNvSpPr/>
          <p:nvPr/>
        </p:nvSpPr>
        <p:spPr>
          <a:xfrm>
            <a:off x="6161236" y="1920240"/>
            <a:ext cx="457200" cy="457200"/>
          </a:xfrm>
          <a:prstGeom prst="roundRect">
            <a:avLst>
              <a:gd name="adj" fmla="val 22000"/>
            </a:avLst>
          </a:prstGeom>
          <a:solidFill>
            <a:srgbClr val="2E8B57"/>
          </a:solidFill>
          <a:ln w="12700">
            <a:solidFill>
              <a:srgbClr val="2E8B57"/>
            </a:solidFill>
            <a:prstDash val="solid"/>
          </a:ln>
        </p:spPr>
      </p:sp>
      <p:pic>
        <p:nvPicPr>
          <p:cNvPr id="14" name="Image 1" descr="preencoded.png">    </p:cNvPr>
          <p:cNvPicPr>
            <a:picLocks noChangeAspect="1"/>
          </p:cNvPicPr>
          <p:nvPr/>
        </p:nvPicPr>
        <p:blipFill>
          <a:blip r:embed="rId2"/>
          <a:stretch>
            <a:fillRect/>
          </a:stretch>
        </p:blipFill>
        <p:spPr>
          <a:xfrm>
            <a:off x="6270964" y="2029968"/>
            <a:ext cx="237744" cy="237744"/>
          </a:xfrm>
          <a:prstGeom prst="rect">
            <a:avLst/>
          </a:prstGeom>
        </p:spPr>
      </p:pic>
      <p:sp>
        <p:nvSpPr>
          <p:cNvPr id="15" name="Text 10"/>
          <p:cNvSpPr txBox="1"/>
          <p:nvPr/>
        </p:nvSpPr>
        <p:spPr>
          <a:xfrm>
            <a:off x="6801316" y="1920240"/>
            <a:ext cx="4613139" cy="4572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Quy tắc công bằng v1</a:t>
            </a:r>
            <a:endParaRPr lang="en-US" sz="1800" dirty="0"/>
          </a:p>
        </p:txBody>
      </p:sp>
      <p:sp>
        <p:nvSpPr>
          <p:cNvPr id="16" name="Text 11"/>
          <p:cNvSpPr txBox="1"/>
          <p:nvPr/>
        </p:nvSpPr>
        <p:spPr>
          <a:xfrm>
            <a:off x="6206956" y="2560320"/>
            <a:ext cx="5161779" cy="3520440"/>
          </a:xfrm>
          <a:prstGeom prst="rect">
            <a:avLst/>
          </a:prstGeom>
          <a:noFill/>
          <a:ln/>
        </p:spPr>
        <p:txBody>
          <a:bodyPr wrap="square" lIns="0" tIns="0" rIns="0" bIns="0" rtlCol="0" anchor="t">
            <a:normAutofit/>
          </a:bodyPr>
          <a:lstStyle/>
          <a:p>
            <a:pPr marL="228600" indent="-228600">
              <a:spcAft>
                <a:spcPts val="700"/>
              </a:spcAft>
              <a:buSzPct val="100000"/>
              <a:buChar char="•"/>
            </a:pPr>
            <a:r>
              <a:rPr lang="en-US" sz="1450" b="1" dirty="0">
                <a:solidFill>
                  <a:srgbClr val="1B2A38"/>
                </a:solidFill>
                <a:latin typeface="Calibri" pitchFamily="34" charset="0"/>
                <a:ea typeface="Calibri" pitchFamily="34" charset="-122"/>
                <a:cs typeface="Calibri" pitchFamily="34" charset="-120"/>
              </a:rPr>
              <a:t>Điểm KPI</a:t>
            </a:r>
            <a:pPr indent="0" marL="0">
              <a:buNone/>
            </a:pPr>
            <a:r>
              <a:rPr lang="en-US" sz="1450" dirty="0">
                <a:solidFill>
                  <a:srgbClr val="1B2A38"/>
                </a:solidFill>
                <a:latin typeface="Calibri" pitchFamily="34" charset="0"/>
                <a:ea typeface="Calibri" pitchFamily="34" charset="-122"/>
                <a:cs typeface="Calibri" pitchFamily="34" charset="-120"/>
              </a:rPr>
              <a:t> = MIN(trần; thực tế / mục tiêu) × 100 — trần 120 (kết quả), 100 (kỷ luật)</a:t>
            </a:r>
            <a:endParaRPr lang="en-US" sz="1450" dirty="0"/>
          </a:p>
          <a:p>
            <a:pPr marL="228600" indent="-228600">
              <a:spcAft>
                <a:spcPts val="700"/>
              </a:spcAft>
              <a:buSzPct val="100000"/>
              <a:buChar char="•"/>
            </a:pPr>
            <a:r>
              <a:rPr lang="en-US" sz="1450" b="1" dirty="0">
                <a:solidFill>
                  <a:srgbClr val="1B2A38"/>
                </a:solidFill>
                <a:latin typeface="Calibri" pitchFamily="34" charset="0"/>
                <a:ea typeface="Calibri" pitchFamily="34" charset="-122"/>
                <a:cs typeface="Calibri" pitchFamily="34" charset="-120"/>
              </a:rPr>
              <a:t>Chỉ xếp hạng trong team / dự án</a:t>
            </a:r>
            <a:pPr indent="0" marL="0">
              <a:buNone/>
            </a:pPr>
            <a:r>
              <a:rPr lang="en-US" sz="1450" dirty="0">
                <a:solidFill>
                  <a:srgbClr val="1B2A38"/>
                </a:solidFill>
                <a:latin typeface="Calibri" pitchFamily="34" charset="0"/>
                <a:ea typeface="Calibri" pitchFamily="34" charset="-122"/>
                <a:cs typeface="Calibri" pitchFamily="34" charset="-120"/>
              </a:rPr>
              <a:t> — không so 24 cuộc/giờ outbound với 7 inbound</a:t>
            </a:r>
            <a:endParaRPr lang="en-US" sz="1450" dirty="0"/>
          </a:p>
          <a:p>
            <a:pPr marL="228600" indent="-228600">
              <a:spcAft>
                <a:spcPts val="700"/>
              </a:spcAft>
              <a:buSzPct val="100000"/>
              <a:buChar char="•"/>
            </a:pPr>
            <a:r>
              <a:rPr lang="en-US" sz="1450" b="1" dirty="0">
                <a:solidFill>
                  <a:srgbClr val="1B2A38"/>
                </a:solidFill>
                <a:latin typeface="Calibri" pitchFamily="34" charset="0"/>
                <a:ea typeface="Calibri" pitchFamily="34" charset="-122"/>
                <a:cs typeface="Calibri" pitchFamily="34" charset="-120"/>
              </a:rPr>
              <a:t>NV0111 bán thời gian:</a:t>
            </a:r>
            <a:pPr indent="0" marL="0">
              <a:buNone/>
            </a:pPr>
            <a:r>
              <a:rPr lang="en-US" sz="1450" dirty="0">
                <a:solidFill>
                  <a:srgbClr val="1B2A38"/>
                </a:solidFill>
                <a:latin typeface="Calibri" pitchFamily="34" charset="0"/>
                <a:ea typeface="Calibri" pitchFamily="34" charset="-122"/>
                <a:cs typeface="Calibri" pitchFamily="34" charset="-120"/>
              </a:rPr>
              <a:t> chỉ dùng tỷ lệ /giờ công (24,1 cuộc/giờ, 1,30 TC/giờ)</a:t>
            </a:r>
            <a:endParaRPr lang="en-US" sz="1450" dirty="0"/>
          </a:p>
          <a:p>
            <a:pPr marL="228600" indent="-228600">
              <a:spcAft>
                <a:spcPts val="700"/>
              </a:spcAft>
              <a:buSzPct val="100000"/>
              <a:buChar char="•"/>
            </a:pPr>
            <a:r>
              <a:rPr lang="en-US" sz="1450" b="1" dirty="0">
                <a:solidFill>
                  <a:srgbClr val="1B2A38"/>
                </a:solidFill>
                <a:latin typeface="Calibri" pitchFamily="34" charset="0"/>
                <a:ea typeface="Calibri" pitchFamily="34" charset="-122"/>
                <a:cs typeface="Calibri" pitchFamily="34" charset="-120"/>
              </a:rPr>
              <a:t>NV0118 mới (6 ca):</a:t>
            </a:r>
            <a:pPr indent="0" marL="0">
              <a:buNone/>
            </a:pPr>
            <a:r>
              <a:rPr lang="en-US" sz="1450" dirty="0">
                <a:solidFill>
                  <a:srgbClr val="1B2A38"/>
                </a:solidFill>
                <a:latin typeface="Calibri" pitchFamily="34" charset="0"/>
                <a:ea typeface="Calibri" pitchFamily="34" charset="-122"/>
                <a:cs typeface="Calibri" pitchFamily="34" charset="-120"/>
              </a:rPr>
              <a:t> nhãn “đang hội nhập” — dưới 8 ca chưa xếp hạng</a:t>
            </a:r>
            <a:endParaRPr lang="en-US" sz="1450" dirty="0"/>
          </a:p>
          <a:p>
            <a:pPr marL="228600" indent="-228600">
              <a:spcAft>
                <a:spcPts val="700"/>
              </a:spcAft>
              <a:buSzPct val="100000"/>
              <a:buChar char="•"/>
            </a:pPr>
            <a:r>
              <a:rPr lang="en-US" sz="1450" b="1" dirty="0">
                <a:solidFill>
                  <a:srgbClr val="1B2A38"/>
                </a:solidFill>
                <a:latin typeface="Calibri" pitchFamily="34" charset="0"/>
                <a:ea typeface="Calibri" pitchFamily="34" charset="-122"/>
                <a:cs typeface="Calibri" pitchFamily="34" charset="-120"/>
              </a:rPr>
              <a:t>NV0116 cờ dữ liệu:</a:t>
            </a:r>
            <a:pPr indent="0" marL="0">
              <a:buNone/>
            </a:pPr>
            <a:r>
              <a:rPr lang="en-US" sz="1450" dirty="0">
                <a:solidFill>
                  <a:srgbClr val="1B2A38"/>
                </a:solidFill>
                <a:latin typeface="Calibri" pitchFamily="34" charset="0"/>
                <a:ea typeface="Calibri" pitchFamily="34" charset="-122"/>
                <a:cs typeface="Calibri" pitchFamily="34" charset="-120"/>
              </a:rPr>
              <a:t> không xếp hạng; cùng tập ngày còn 6,9 cuộc/giờ</a:t>
            </a:r>
            <a:endParaRPr lang="en-US" sz="1450" dirty="0"/>
          </a:p>
          <a:p>
            <a:pPr marL="228600" indent="-228600">
              <a:spcAft>
                <a:spcPts val="700"/>
              </a:spcAft>
              <a:buSzPct val="100000"/>
              <a:buChar char="•"/>
            </a:pPr>
            <a:r>
              <a:rPr lang="en-US" sz="1450" b="1" dirty="0">
                <a:solidFill>
                  <a:srgbClr val="1B2A38"/>
                </a:solidFill>
                <a:latin typeface="Calibri" pitchFamily="34" charset="0"/>
                <a:ea typeface="Calibri" pitchFamily="34" charset="-122"/>
                <a:cs typeface="Calibri" pitchFamily="34" charset="-120"/>
              </a:rPr>
              <a:t>Xu hướng tuần</a:t>
            </a:r>
            <a:pPr indent="0" marL="0">
              <a:buNone/>
            </a:pPr>
            <a:r>
              <a:rPr lang="en-US" sz="1450" dirty="0">
                <a:solidFill>
                  <a:srgbClr val="1B2A38"/>
                </a:solidFill>
                <a:latin typeface="Calibri" pitchFamily="34" charset="0"/>
                <a:ea typeface="Calibri" pitchFamily="34" charset="-122"/>
                <a:cs typeface="Calibri" pitchFamily="34" charset="-120"/>
              </a:rPr>
              <a:t> đọc cùng bối cảnh đổi ca (tuần 2 TS-A sang ca C)</a:t>
            </a:r>
            <a:endParaRPr lang="en-US" sz="14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982980" cy="292608"/>
          </a:xfrm>
          <a:prstGeom prst="roundRect">
            <a:avLst>
              <a:gd name="adj" fmla="val 50000"/>
            </a:avLst>
          </a:prstGeom>
          <a:solidFill>
            <a:srgbClr val="FBE7DA"/>
          </a:solidFill>
          <a:ln w="12700">
            <a:solidFill>
              <a:srgbClr val="FBE7DA"/>
            </a:solidFill>
            <a:prstDash val="solid"/>
          </a:ln>
        </p:spPr>
      </p:sp>
      <p:sp>
        <p:nvSpPr>
          <p:cNvPr id="3" name="Text 1"/>
          <p:cNvSpPr txBox="1"/>
          <p:nvPr/>
        </p:nvSpPr>
        <p:spPr>
          <a:xfrm>
            <a:off x="548640" y="384048"/>
            <a:ext cx="982980" cy="292608"/>
          </a:xfrm>
          <a:prstGeom prst="rect">
            <a:avLst/>
          </a:prstGeom>
          <a:noFill/>
          <a:ln/>
        </p:spPr>
        <p:txBody>
          <a:bodyPr wrap="square" lIns="0" tIns="0" rIns="0" bIns="0" rtlCol="0" anchor="ctr"/>
          <a:lstStyle/>
          <a:p>
            <a:pPr algn="ctr" indent="0" marL="0">
              <a:buNone/>
            </a:pPr>
            <a:r>
              <a:rPr lang="en-US" sz="1050" b="1" spc="150" kern="0" dirty="0">
                <a:solidFill>
                  <a:srgbClr val="D9773A"/>
                </a:solidFill>
                <a:latin typeface="Calibri" pitchFamily="34" charset="0"/>
                <a:ea typeface="Calibri" pitchFamily="34" charset="-122"/>
                <a:cs typeface="Calibri" pitchFamily="34" charset="-120"/>
              </a:rPr>
              <a:t>KIẾN THỨC</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Dashboard: một nguồn số liệu, ba góc nhìn</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4 · KPI năng suất &amp; dashboard</a:t>
            </a:r>
            <a:endParaRPr lang="en-US" sz="1000" dirty="0"/>
          </a:p>
        </p:txBody>
      </p:sp>
      <p:sp>
        <p:nvSpPr>
          <p:cNvPr id="7" name="Shape 4"/>
          <p:cNvSpPr/>
          <p:nvPr/>
        </p:nvSpPr>
        <p:spPr>
          <a:xfrm>
            <a:off x="548640" y="1691640"/>
            <a:ext cx="2485568" cy="731520"/>
          </a:xfrm>
          <a:prstGeom prst="roundRect">
            <a:avLst>
              <a:gd name="adj" fmla="val 10000"/>
            </a:avLst>
          </a:prstGeom>
          <a:solidFill>
            <a:srgbClr val="F2F4F6"/>
          </a:solidFill>
          <a:ln w="12700">
            <a:solidFill>
              <a:srgbClr val="F2F4F6"/>
            </a:solidFill>
            <a:prstDash val="solid"/>
          </a:ln>
        </p:spPr>
      </p:sp>
      <p:sp>
        <p:nvSpPr>
          <p:cNvPr id="8" name="Text 5"/>
          <p:cNvSpPr txBox="1"/>
          <p:nvPr/>
        </p:nvSpPr>
        <p:spPr>
          <a:xfrm>
            <a:off x="731520" y="1764792"/>
            <a:ext cx="2119808" cy="292608"/>
          </a:xfrm>
          <a:prstGeom prst="rect">
            <a:avLst/>
          </a:prstGeom>
          <a:noFill/>
          <a:ln/>
        </p:spPr>
        <p:txBody>
          <a:bodyPr wrap="square" lIns="0" tIns="0" rIns="0" bIns="0" rtlCol="0" anchor="ctr"/>
          <a:lstStyle/>
          <a:p>
            <a:pPr indent="0" marL="0">
              <a:buNone/>
            </a:pPr>
            <a:r>
              <a:rPr lang="en-US" sz="1400" b="1" dirty="0">
                <a:solidFill>
                  <a:srgbClr val="1B2A38"/>
                </a:solidFill>
                <a:latin typeface="Calibri" pitchFamily="34" charset="0"/>
                <a:ea typeface="Calibri" pitchFamily="34" charset="-122"/>
                <a:cs typeface="Calibri" pitchFamily="34" charset="-120"/>
              </a:rPr>
              <a:t>Dữ liệu gốc</a:t>
            </a:r>
            <a:endParaRPr lang="en-US" sz="1400" dirty="0"/>
          </a:p>
        </p:txBody>
      </p:sp>
      <p:sp>
        <p:nvSpPr>
          <p:cNvPr id="9" name="Text 6"/>
          <p:cNvSpPr txBox="1"/>
          <p:nvPr/>
        </p:nvSpPr>
        <p:spPr>
          <a:xfrm>
            <a:off x="731520" y="2057400"/>
            <a:ext cx="2119808" cy="310896"/>
          </a:xfrm>
          <a:prstGeom prst="rect">
            <a:avLst/>
          </a:prstGeom>
          <a:noFill/>
          <a:ln/>
        </p:spPr>
        <p:txBody>
          <a:bodyPr wrap="square" lIns="0" tIns="0" rIns="0" bIns="0" rtlCol="0" anchor="ctr">
            <a:normAutofit/>
          </a:bodyPr>
          <a:lstStyle/>
          <a:p>
            <a:pPr indent="0" marL="0">
              <a:buNone/>
            </a:pPr>
            <a:r>
              <a:rPr lang="en-US" sz="1150" dirty="0">
                <a:solidFill>
                  <a:srgbClr val="6B7785"/>
                </a:solidFill>
                <a:latin typeface="Calibri" pitchFamily="34" charset="0"/>
                <a:ea typeface="Calibri" pitchFamily="34" charset="-122"/>
                <a:cs typeface="Calibri" pitchFamily="34" charset="-120"/>
              </a:rPr>
              <a:t>call log · trạng thái agent · chấm công · lịch ca · đơn phép</a:t>
            </a:r>
            <a:endParaRPr lang="en-US" sz="1150" dirty="0"/>
          </a:p>
        </p:txBody>
      </p:sp>
      <p:pic>
        <p:nvPicPr>
          <p:cNvPr id="10" name="Image 0" descr="preencoded.png">    </p:cNvPr>
          <p:cNvPicPr>
            <a:picLocks noChangeAspect="1"/>
          </p:cNvPicPr>
          <p:nvPr/>
        </p:nvPicPr>
        <p:blipFill>
          <a:blip r:embed="rId1"/>
          <a:stretch>
            <a:fillRect/>
          </a:stretch>
        </p:blipFill>
        <p:spPr>
          <a:xfrm>
            <a:off x="3116504" y="1947672"/>
            <a:ext cx="219456" cy="219456"/>
          </a:xfrm>
          <a:prstGeom prst="rect">
            <a:avLst/>
          </a:prstGeom>
        </p:spPr>
      </p:pic>
      <p:sp>
        <p:nvSpPr>
          <p:cNvPr id="11" name="Shape 7"/>
          <p:cNvSpPr/>
          <p:nvPr/>
        </p:nvSpPr>
        <p:spPr>
          <a:xfrm>
            <a:off x="3418256" y="1691640"/>
            <a:ext cx="2485568" cy="731520"/>
          </a:xfrm>
          <a:prstGeom prst="roundRect">
            <a:avLst>
              <a:gd name="adj" fmla="val 10000"/>
            </a:avLst>
          </a:prstGeom>
          <a:solidFill>
            <a:srgbClr val="F2F4F6"/>
          </a:solidFill>
          <a:ln w="12700">
            <a:solidFill>
              <a:srgbClr val="F2F4F6"/>
            </a:solidFill>
            <a:prstDash val="solid"/>
          </a:ln>
        </p:spPr>
      </p:sp>
      <p:sp>
        <p:nvSpPr>
          <p:cNvPr id="12" name="Text 8"/>
          <p:cNvSpPr txBox="1"/>
          <p:nvPr/>
        </p:nvSpPr>
        <p:spPr>
          <a:xfrm>
            <a:off x="3601136" y="1764792"/>
            <a:ext cx="2119808" cy="292608"/>
          </a:xfrm>
          <a:prstGeom prst="rect">
            <a:avLst/>
          </a:prstGeom>
          <a:noFill/>
          <a:ln/>
        </p:spPr>
        <p:txBody>
          <a:bodyPr wrap="square" lIns="0" tIns="0" rIns="0" bIns="0" rtlCol="0" anchor="ctr"/>
          <a:lstStyle/>
          <a:p>
            <a:pPr indent="0" marL="0">
              <a:buNone/>
            </a:pPr>
            <a:r>
              <a:rPr lang="en-US" sz="1400" b="1" dirty="0">
                <a:solidFill>
                  <a:srgbClr val="1B2A38"/>
                </a:solidFill>
                <a:latin typeface="Calibri" pitchFamily="34" charset="0"/>
                <a:ea typeface="Calibri" pitchFamily="34" charset="-122"/>
                <a:cs typeface="Calibri" pitchFamily="34" charset="-120"/>
              </a:rPr>
              <a:t>Bảng sạch</a:t>
            </a:r>
            <a:endParaRPr lang="en-US" sz="1400" dirty="0"/>
          </a:p>
        </p:txBody>
      </p:sp>
      <p:sp>
        <p:nvSpPr>
          <p:cNvPr id="13" name="Text 9"/>
          <p:cNvSpPr txBox="1"/>
          <p:nvPr/>
        </p:nvSpPr>
        <p:spPr>
          <a:xfrm>
            <a:off x="3601136" y="2057400"/>
            <a:ext cx="2119808" cy="310896"/>
          </a:xfrm>
          <a:prstGeom prst="rect">
            <a:avLst/>
          </a:prstGeom>
          <a:noFill/>
          <a:ln/>
        </p:spPr>
        <p:txBody>
          <a:bodyPr wrap="square" lIns="0" tIns="0" rIns="0" bIns="0" rtlCol="0" anchor="ctr">
            <a:normAutofit/>
          </a:bodyPr>
          <a:lstStyle/>
          <a:p>
            <a:pPr indent="0" marL="0">
              <a:buNone/>
            </a:pPr>
            <a:r>
              <a:rPr lang="en-US" sz="1150" dirty="0">
                <a:solidFill>
                  <a:srgbClr val="6B7785"/>
                </a:solidFill>
                <a:latin typeface="Calibri" pitchFamily="34" charset="0"/>
                <a:ea typeface="Calibri" pitchFamily="34" charset="-122"/>
                <a:cs typeface="Calibri" pitchFamily="34" charset="-120"/>
              </a:rPr>
              <a:t>sản lượng (buổi 2) + công đã đối soát (buổi 3)</a:t>
            </a:r>
            <a:endParaRPr lang="en-US" sz="1150" dirty="0"/>
          </a:p>
        </p:txBody>
      </p:sp>
      <p:pic>
        <p:nvPicPr>
          <p:cNvPr id="14" name="Image 1" descr="preencoded.png">    </p:cNvPr>
          <p:cNvPicPr>
            <a:picLocks noChangeAspect="1"/>
          </p:cNvPicPr>
          <p:nvPr/>
        </p:nvPicPr>
        <p:blipFill>
          <a:blip r:embed="rId2"/>
          <a:stretch>
            <a:fillRect/>
          </a:stretch>
        </p:blipFill>
        <p:spPr>
          <a:xfrm>
            <a:off x="5986120" y="1947672"/>
            <a:ext cx="219456" cy="219456"/>
          </a:xfrm>
          <a:prstGeom prst="rect">
            <a:avLst/>
          </a:prstGeom>
        </p:spPr>
      </p:pic>
      <p:sp>
        <p:nvSpPr>
          <p:cNvPr id="15" name="Shape 10"/>
          <p:cNvSpPr/>
          <p:nvPr/>
        </p:nvSpPr>
        <p:spPr>
          <a:xfrm>
            <a:off x="6287872" y="1691640"/>
            <a:ext cx="2485568" cy="731520"/>
          </a:xfrm>
          <a:prstGeom prst="roundRect">
            <a:avLst>
              <a:gd name="adj" fmla="val 10000"/>
            </a:avLst>
          </a:prstGeom>
          <a:solidFill>
            <a:srgbClr val="F2F4F6"/>
          </a:solidFill>
          <a:ln w="12700">
            <a:solidFill>
              <a:srgbClr val="F2F4F6"/>
            </a:solidFill>
            <a:prstDash val="solid"/>
          </a:ln>
        </p:spPr>
      </p:sp>
      <p:sp>
        <p:nvSpPr>
          <p:cNvPr id="16" name="Text 11"/>
          <p:cNvSpPr txBox="1"/>
          <p:nvPr/>
        </p:nvSpPr>
        <p:spPr>
          <a:xfrm>
            <a:off x="6470752" y="1764792"/>
            <a:ext cx="2119808" cy="292608"/>
          </a:xfrm>
          <a:prstGeom prst="rect">
            <a:avLst/>
          </a:prstGeom>
          <a:noFill/>
          <a:ln/>
        </p:spPr>
        <p:txBody>
          <a:bodyPr wrap="square" lIns="0" tIns="0" rIns="0" bIns="0" rtlCol="0" anchor="ctr"/>
          <a:lstStyle/>
          <a:p>
            <a:pPr indent="0" marL="0">
              <a:buNone/>
            </a:pPr>
            <a:r>
              <a:rPr lang="en-US" sz="1400" b="1" dirty="0">
                <a:solidFill>
                  <a:srgbClr val="1B2A38"/>
                </a:solidFill>
                <a:latin typeface="Calibri" pitchFamily="34" charset="0"/>
                <a:ea typeface="Calibri" pitchFamily="34" charset="-122"/>
                <a:cs typeface="Calibri" pitchFamily="34" charset="-120"/>
              </a:rPr>
              <a:t>Một định nghĩa</a:t>
            </a:r>
            <a:endParaRPr lang="en-US" sz="1400" dirty="0"/>
          </a:p>
        </p:txBody>
      </p:sp>
      <p:sp>
        <p:nvSpPr>
          <p:cNvPr id="17" name="Text 12"/>
          <p:cNvSpPr txBox="1"/>
          <p:nvPr/>
        </p:nvSpPr>
        <p:spPr>
          <a:xfrm>
            <a:off x="6470752" y="2057400"/>
            <a:ext cx="2119808" cy="310896"/>
          </a:xfrm>
          <a:prstGeom prst="rect">
            <a:avLst/>
          </a:prstGeom>
          <a:noFill/>
          <a:ln/>
        </p:spPr>
        <p:txBody>
          <a:bodyPr wrap="square" lIns="0" tIns="0" rIns="0" bIns="0" rtlCol="0" anchor="ctr">
            <a:normAutofit/>
          </a:bodyPr>
          <a:lstStyle/>
          <a:p>
            <a:pPr indent="0" marL="0">
              <a:buNone/>
            </a:pPr>
            <a:r>
              <a:rPr lang="en-US" sz="1150" dirty="0">
                <a:solidFill>
                  <a:srgbClr val="6B7785"/>
                </a:solidFill>
                <a:latin typeface="Calibri" pitchFamily="34" charset="0"/>
                <a:ea typeface="Calibri" pitchFamily="34" charset="-122"/>
                <a:cs typeface="Calibri" pitchFamily="34" charset="-120"/>
              </a:rPr>
              <a:t>Tu_dien_chi_so_v1: tử số, mẫu số, ngưỡng</a:t>
            </a:r>
            <a:endParaRPr lang="en-US" sz="1150" dirty="0"/>
          </a:p>
        </p:txBody>
      </p:sp>
      <p:pic>
        <p:nvPicPr>
          <p:cNvPr id="18" name="Image 2" descr="preencoded.png">    </p:cNvPr>
          <p:cNvPicPr>
            <a:picLocks noChangeAspect="1"/>
          </p:cNvPicPr>
          <p:nvPr/>
        </p:nvPicPr>
        <p:blipFill>
          <a:blip r:embed="rId3"/>
          <a:stretch>
            <a:fillRect/>
          </a:stretch>
        </p:blipFill>
        <p:spPr>
          <a:xfrm>
            <a:off x="8855735" y="1947672"/>
            <a:ext cx="219456" cy="219456"/>
          </a:xfrm>
          <a:prstGeom prst="rect">
            <a:avLst/>
          </a:prstGeom>
        </p:spPr>
      </p:pic>
      <p:sp>
        <p:nvSpPr>
          <p:cNvPr id="19" name="Shape 13"/>
          <p:cNvSpPr/>
          <p:nvPr/>
        </p:nvSpPr>
        <p:spPr>
          <a:xfrm>
            <a:off x="9157487" y="1691640"/>
            <a:ext cx="2485568" cy="731520"/>
          </a:xfrm>
          <a:prstGeom prst="roundRect">
            <a:avLst>
              <a:gd name="adj" fmla="val 10000"/>
            </a:avLst>
          </a:prstGeom>
          <a:solidFill>
            <a:srgbClr val="FBE7DA"/>
          </a:solidFill>
          <a:ln w="12700">
            <a:solidFill>
              <a:srgbClr val="FBE7DA"/>
            </a:solidFill>
            <a:prstDash val="solid"/>
          </a:ln>
        </p:spPr>
      </p:sp>
      <p:sp>
        <p:nvSpPr>
          <p:cNvPr id="20" name="Text 14"/>
          <p:cNvSpPr txBox="1"/>
          <p:nvPr/>
        </p:nvSpPr>
        <p:spPr>
          <a:xfrm>
            <a:off x="9340367" y="1764792"/>
            <a:ext cx="2119808" cy="292608"/>
          </a:xfrm>
          <a:prstGeom prst="rect">
            <a:avLst/>
          </a:prstGeom>
          <a:noFill/>
          <a:ln/>
        </p:spPr>
        <p:txBody>
          <a:bodyPr wrap="square" lIns="0" tIns="0" rIns="0" bIns="0" rtlCol="0" anchor="ctr"/>
          <a:lstStyle/>
          <a:p>
            <a:pPr indent="0" marL="0">
              <a:buNone/>
            </a:pPr>
            <a:r>
              <a:rPr lang="en-US" sz="1400" b="1" dirty="0">
                <a:solidFill>
                  <a:srgbClr val="D9773A"/>
                </a:solidFill>
                <a:latin typeface="Calibri" pitchFamily="34" charset="0"/>
                <a:ea typeface="Calibri" pitchFamily="34" charset="-122"/>
                <a:cs typeface="Calibri" pitchFamily="34" charset="-120"/>
              </a:rPr>
              <a:t>3 tab dùng chung</a:t>
            </a:r>
            <a:endParaRPr lang="en-US" sz="1400" dirty="0"/>
          </a:p>
        </p:txBody>
      </p:sp>
      <p:sp>
        <p:nvSpPr>
          <p:cNvPr id="21" name="Text 15"/>
          <p:cNvSpPr txBox="1"/>
          <p:nvPr/>
        </p:nvSpPr>
        <p:spPr>
          <a:xfrm>
            <a:off x="9340367" y="2057400"/>
            <a:ext cx="2119808" cy="310896"/>
          </a:xfrm>
          <a:prstGeom prst="rect">
            <a:avLst/>
          </a:prstGeom>
          <a:noFill/>
          <a:ln/>
        </p:spPr>
        <p:txBody>
          <a:bodyPr wrap="square" lIns="0" tIns="0" rIns="0" bIns="0" rtlCol="0" anchor="ctr">
            <a:normAutofit/>
          </a:bodyPr>
          <a:lstStyle/>
          <a:p>
            <a:pPr indent="0" marL="0">
              <a:buNone/>
            </a:pPr>
            <a:r>
              <a:rPr lang="en-US" sz="1150" dirty="0">
                <a:solidFill>
                  <a:srgbClr val="6B7785"/>
                </a:solidFill>
                <a:latin typeface="Calibri" pitchFamily="34" charset="0"/>
                <a:ea typeface="Calibri" pitchFamily="34" charset="-122"/>
                <a:cs typeface="Calibri" pitchFamily="34" charset="-120"/>
              </a:rPr>
              <a:t>Trưởng ca · HR · CEO — không phòng nào làm riêng</a:t>
            </a:r>
            <a:endParaRPr lang="en-US" sz="11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697480"/>
          <a:ext cx="11094415" cy="914400"/>
        </p:xfrm>
        <a:graphic>
          <a:graphicData uri="http://schemas.openxmlformats.org/drawingml/2006/table">
            <a:tbl>
              <a:tblPr/>
              <a:tblGrid>
                <a:gridCol w="1909694"/>
                <a:gridCol w="2546259"/>
                <a:gridCol w="3000948"/>
                <a:gridCol w="1818757"/>
                <a:gridCol w="1818757"/>
              </a:tblGrid>
              <a:tr h="548640">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Vai trò</a:t>
                      </a:r>
                      <a:endParaRPr lang="en-US" sz="15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Câu hỏi chính</a:t>
                      </a:r>
                      <a:endParaRPr lang="en-US" sz="15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Cần thấy</a:t>
                      </a:r>
                      <a:endParaRPr lang="en-US" sz="15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Khi nào · thiết bị</a:t>
                      </a:r>
                      <a:endParaRPr lang="en-US" sz="15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Hành động</a:t>
                      </a:r>
                      <a:endParaRPr lang="en-US" sz="15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r>
              <a:tr h="548640">
                <a:tc>
                  <a:txBody>
                    <a:bodyPr/>
                    <a:lstStyle/>
                    <a:p>
                      <a:pPr indent="0" marL="0">
                        <a:buNone/>
                      </a:pPr>
                      <a:r>
                        <a:rPr lang="en-US" sz="1500" b="1" dirty="0">
                          <a:solidFill>
                            <a:srgbClr val="1B2A38"/>
                          </a:solidFill>
                          <a:latin typeface="Calibri" pitchFamily="34" charset="0"/>
                          <a:ea typeface="Calibri" pitchFamily="34" charset="-122"/>
                          <a:cs typeface="Calibri" pitchFamily="34" charset="-120"/>
                        </a:rPr>
                        <a:t>Trưởng ca (anh Tùng)</a:t>
                      </a:r>
                      <a:endParaRPr lang="en-US" sz="15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500" dirty="0">
                          <a:solidFill>
                            <a:srgbClr val="1B2A38"/>
                          </a:solidFill>
                          <a:latin typeface="Calibri" pitchFamily="34" charset="0"/>
                          <a:ea typeface="Calibri" pitchFamily="34" charset="-122"/>
                          <a:cs typeface="Calibri" pitchFamily="34" charset="-120"/>
                        </a:rPr>
                        <a:t>Ca của tôi chạy thế nào? Ai cần hỗ trợ ngay?</a:t>
                      </a:r>
                      <a:endParaRPr lang="en-US" sz="15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500" dirty="0">
                          <a:solidFill>
                            <a:srgbClr val="1B2A38"/>
                          </a:solidFill>
                          <a:latin typeface="Calibri" pitchFamily="34" charset="0"/>
                          <a:ea typeface="Calibri" pitchFamily="34" charset="-122"/>
                          <a:cs typeface="Calibri" pitchFamily="34" charset="-120"/>
                        </a:rPr>
                        <a:t>Sản lượng theo khung giờ; bảng agent: cuộc/giờ, TC, AHT, tỷ lệ SX</a:t>
                      </a:r>
                      <a:endParaRPr lang="en-US" sz="15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500" dirty="0">
                          <a:solidFill>
                            <a:srgbClr val="1B2A38"/>
                          </a:solidFill>
                          <a:latin typeface="Calibri" pitchFamily="34" charset="0"/>
                          <a:ea typeface="Calibri" pitchFamily="34" charset="-122"/>
                          <a:cs typeface="Calibri" pitchFamily="34" charset="-120"/>
                        </a:rPr>
                        <a:t>Nhiều lần trong ca · máy tính tại sàn</a:t>
                      </a:r>
                      <a:endParaRPr lang="en-US" sz="15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500" dirty="0">
                          <a:solidFill>
                            <a:srgbClr val="1B2A38"/>
                          </a:solidFill>
                          <a:latin typeface="Calibri" pitchFamily="34" charset="0"/>
                          <a:ea typeface="Calibri" pitchFamily="34" charset="-122"/>
                          <a:cs typeface="Calibri" pitchFamily="34" charset="-120"/>
                        </a:rPr>
                        <a:t>Nhắc đăng nhập, kèm cặp tại chỗ</a:t>
                      </a:r>
                      <a:endParaRPr lang="en-US" sz="15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548640">
                <a:tc>
                  <a:txBody>
                    <a:bodyPr/>
                    <a:lstStyle/>
                    <a:p>
                      <a:pPr indent="0" marL="0">
                        <a:buNone/>
                      </a:pPr>
                      <a:r>
                        <a:rPr lang="en-US" sz="1500" b="1" dirty="0">
                          <a:solidFill>
                            <a:srgbClr val="1B2A38"/>
                          </a:solidFill>
                          <a:latin typeface="Calibri" pitchFamily="34" charset="0"/>
                          <a:ea typeface="Calibri" pitchFamily="34" charset="-122"/>
                          <a:cs typeface="Calibri" pitchFamily="34" charset="-120"/>
                        </a:rPr>
                        <a:t>HR/C&amp;B (chị Mai)</a:t>
                      </a:r>
                      <a:endParaRPr lang="en-US" sz="15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500" dirty="0">
                          <a:solidFill>
                            <a:srgbClr val="1B2A38"/>
                          </a:solidFill>
                          <a:latin typeface="Calibri" pitchFamily="34" charset="0"/>
                          <a:ea typeface="Calibri" pitchFamily="34" charset="-122"/>
                          <a:cs typeface="Calibri" pitchFamily="34" charset="-120"/>
                        </a:rPr>
                        <a:t>Ai đi muộn, vắng, OT? Công lệch ở đâu?</a:t>
                      </a:r>
                      <a:endParaRPr lang="en-US" sz="15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500" dirty="0">
                          <a:solidFill>
                            <a:srgbClr val="1B2A38"/>
                          </a:solidFill>
                          <a:latin typeface="Calibri" pitchFamily="34" charset="0"/>
                          <a:ea typeface="Calibri" pitchFamily="34" charset="-122"/>
                          <a:cs typeface="Calibri" pitchFamily="34" charset="-120"/>
                        </a:rPr>
                        <a:t>Tỷ lệ muộn, vắng, OT theo team; chênh lệch công &gt; 60 phút</a:t>
                      </a:r>
                      <a:endParaRPr lang="en-US" sz="15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500" dirty="0">
                          <a:solidFill>
                            <a:srgbClr val="1B2A38"/>
                          </a:solidFill>
                          <a:latin typeface="Calibri" pitchFamily="34" charset="0"/>
                          <a:ea typeface="Calibri" pitchFamily="34" charset="-122"/>
                          <a:cs typeface="Calibri" pitchFamily="34" charset="-120"/>
                        </a:rPr>
                        <a:t>Hằng ngày + trước chốt công · máy tính</a:t>
                      </a:r>
                      <a:endParaRPr lang="en-US" sz="15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500" dirty="0">
                          <a:solidFill>
                            <a:srgbClr val="1B2A38"/>
                          </a:solidFill>
                          <a:latin typeface="Calibri" pitchFamily="34" charset="0"/>
                          <a:ea typeface="Calibri" pitchFamily="34" charset="-122"/>
                          <a:cs typeface="Calibri" pitchFamily="34" charset="-120"/>
                        </a:rPr>
                        <a:t>Xác minh, bổ sung đơn, chốt công</a:t>
                      </a:r>
                      <a:endParaRPr lang="en-US" sz="15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548640">
                <a:tc>
                  <a:txBody>
                    <a:bodyPr/>
                    <a:lstStyle/>
                    <a:p>
                      <a:pPr indent="0" marL="0">
                        <a:buNone/>
                      </a:pPr>
                      <a:r>
                        <a:rPr lang="en-US" sz="1500" b="1" dirty="0">
                          <a:solidFill>
                            <a:srgbClr val="1B2A38"/>
                          </a:solidFill>
                          <a:latin typeface="Calibri" pitchFamily="34" charset="0"/>
                          <a:ea typeface="Calibri" pitchFamily="34" charset="-122"/>
                          <a:cs typeface="Calibri" pitchFamily="34" charset="-120"/>
                        </a:rPr>
                        <a:t>CEO (anh Phong)</a:t>
                      </a:r>
                      <a:endParaRPr lang="en-US" sz="15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500" dirty="0">
                          <a:solidFill>
                            <a:srgbClr val="1B2A38"/>
                          </a:solidFill>
                          <a:latin typeface="Calibri" pitchFamily="34" charset="0"/>
                          <a:ea typeface="Calibri" pitchFamily="34" charset="-122"/>
                          <a:cs typeface="Calibri" pitchFamily="34" charset="-120"/>
                        </a:rPr>
                        <a:t>Công ty có ổn không? Xu hướng tốt hay xấu?</a:t>
                      </a:r>
                      <a:endParaRPr lang="en-US" sz="15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500" dirty="0">
                          <a:solidFill>
                            <a:srgbClr val="1B2A38"/>
                          </a:solidFill>
                          <a:latin typeface="Calibri" pitchFamily="34" charset="0"/>
                          <a:ea typeface="Calibri" pitchFamily="34" charset="-122"/>
                          <a:cs typeface="Calibri" pitchFamily="34" charset="-120"/>
                        </a:rPr>
                        <a:t>6 thẻ số + xu hướng + so sánh dự án</a:t>
                      </a:r>
                      <a:endParaRPr lang="en-US" sz="15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500" dirty="0">
                          <a:solidFill>
                            <a:srgbClr val="1B2A38"/>
                          </a:solidFill>
                          <a:latin typeface="Calibri" pitchFamily="34" charset="0"/>
                          <a:ea typeface="Calibri" pitchFamily="34" charset="-122"/>
                          <a:cs typeface="Calibri" pitchFamily="34" charset="-120"/>
                        </a:rPr>
                        <a:t>1 lần buổi sáng · điện thoại</a:t>
                      </a:r>
                      <a:endParaRPr lang="en-US" sz="15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500" dirty="0">
                          <a:solidFill>
                            <a:srgbClr val="1B2A38"/>
                          </a:solidFill>
                          <a:latin typeface="Calibri" pitchFamily="34" charset="0"/>
                          <a:ea typeface="Calibri" pitchFamily="34" charset="-122"/>
                          <a:cs typeface="Calibri" pitchFamily="34" charset="-120"/>
                        </a:rPr>
                        <a:t>Hỏi đúng người, quyết định nguồn lực</a:t>
                      </a:r>
                      <a:endParaRPr lang="en-US" sz="15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bl>
          </a:graphicData>
        </a:graphic>
      </p:graphicFrame>
      <p:sp>
        <p:nvSpPr>
          <p:cNvPr id="23" name="Shape 16"/>
          <p:cNvSpPr/>
          <p:nvPr/>
        </p:nvSpPr>
        <p:spPr>
          <a:xfrm>
            <a:off x="548640" y="5669280"/>
            <a:ext cx="11094415" cy="594360"/>
          </a:xfrm>
          <a:prstGeom prst="roundRect">
            <a:avLst>
              <a:gd name="adj" fmla="val 12308"/>
            </a:avLst>
          </a:prstGeom>
          <a:solidFill>
            <a:srgbClr val="FBE7DA"/>
          </a:solidFill>
          <a:ln w="12700">
            <a:solidFill>
              <a:srgbClr val="FBE7DA"/>
            </a:solidFill>
            <a:prstDash val="solid"/>
          </a:ln>
        </p:spPr>
      </p:sp>
      <p:sp>
        <p:nvSpPr>
          <p:cNvPr id="24" name="Text 17"/>
          <p:cNvSpPr txBox="1"/>
          <p:nvPr/>
        </p:nvSpPr>
        <p:spPr>
          <a:xfrm>
            <a:off x="777240" y="5669280"/>
            <a:ext cx="10637215" cy="594360"/>
          </a:xfrm>
          <a:prstGeom prst="rect">
            <a:avLst/>
          </a:prstGeom>
          <a:noFill/>
          <a:ln/>
        </p:spPr>
        <p:txBody>
          <a:bodyPr wrap="square" lIns="0" tIns="0" rIns="0" bIns="0" rtlCol="0" anchor="ctr">
            <a:normAutofit/>
          </a:bodyPr>
          <a:lstStyle/>
          <a:p>
            <a:pPr indent="0" marL="0">
              <a:buNone/>
            </a:pPr>
            <a:r>
              <a:rPr lang="en-US" sz="1350" dirty="0">
                <a:solidFill>
                  <a:srgbClr val="1B2A38"/>
                </a:solidFill>
                <a:latin typeface="Calibri" pitchFamily="34" charset="0"/>
                <a:ea typeface="Calibri" pitchFamily="34" charset="-122"/>
                <a:cs typeface="Calibri" pitchFamily="34" charset="-120"/>
              </a:rPr>
              <a:t>Phép thử “một nguồn”: tổng giờ công tab CEO 1.707,1 giờ = cộng giờ công các team trên tab Trưởng ca và tab HR.</a:t>
            </a:r>
            <a:endParaRPr lang="en-US" sz="13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982980" cy="292608"/>
          </a:xfrm>
          <a:prstGeom prst="roundRect">
            <a:avLst>
              <a:gd name="adj" fmla="val 50000"/>
            </a:avLst>
          </a:prstGeom>
          <a:solidFill>
            <a:srgbClr val="FBE7DA"/>
          </a:solidFill>
          <a:ln w="12700">
            <a:solidFill>
              <a:srgbClr val="FBE7DA"/>
            </a:solidFill>
            <a:prstDash val="solid"/>
          </a:ln>
        </p:spPr>
      </p:sp>
      <p:sp>
        <p:nvSpPr>
          <p:cNvPr id="3" name="Text 1"/>
          <p:cNvSpPr txBox="1"/>
          <p:nvPr/>
        </p:nvSpPr>
        <p:spPr>
          <a:xfrm>
            <a:off x="548640" y="384048"/>
            <a:ext cx="982980" cy="292608"/>
          </a:xfrm>
          <a:prstGeom prst="rect">
            <a:avLst/>
          </a:prstGeom>
          <a:noFill/>
          <a:ln/>
        </p:spPr>
        <p:txBody>
          <a:bodyPr wrap="square" lIns="0" tIns="0" rIns="0" bIns="0" rtlCol="0" anchor="ctr"/>
          <a:lstStyle/>
          <a:p>
            <a:pPr algn="ctr" indent="0" marL="0">
              <a:buNone/>
            </a:pPr>
            <a:r>
              <a:rPr lang="en-US" sz="1050" b="1" spc="150" kern="0" dirty="0">
                <a:solidFill>
                  <a:srgbClr val="D9773A"/>
                </a:solidFill>
                <a:latin typeface="Calibri" pitchFamily="34" charset="0"/>
                <a:ea typeface="Calibri" pitchFamily="34" charset="-122"/>
                <a:cs typeface="Calibri" pitchFamily="34" charset="-120"/>
              </a:rPr>
              <a:t>KIẾN THỨC</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4 nguyên tắc hiển thị để dashboard được tin dùng</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4 · KPI năng suất &amp; dashboard</a:t>
            </a:r>
            <a:endParaRPr lang="en-US" sz="1000" dirty="0"/>
          </a:p>
        </p:txBody>
      </p:sp>
      <p:sp>
        <p:nvSpPr>
          <p:cNvPr id="7" name="Shape 4"/>
          <p:cNvSpPr/>
          <p:nvPr/>
        </p:nvSpPr>
        <p:spPr>
          <a:xfrm>
            <a:off x="548640" y="1691640"/>
            <a:ext cx="5410048" cy="2148840"/>
          </a:xfrm>
          <a:prstGeom prst="roundRect">
            <a:avLst>
              <a:gd name="adj" fmla="val 4255"/>
            </a:avLst>
          </a:prstGeom>
          <a:solidFill>
            <a:srgbClr val="FBE7DA"/>
          </a:solidFill>
          <a:ln w="12700">
            <a:solidFill>
              <a:srgbClr val="FBE7DA"/>
            </a:solidFill>
            <a:prstDash val="solid"/>
          </a:ln>
        </p:spPr>
      </p:sp>
      <p:sp>
        <p:nvSpPr>
          <p:cNvPr id="8" name="Shape 5"/>
          <p:cNvSpPr/>
          <p:nvPr/>
        </p:nvSpPr>
        <p:spPr>
          <a:xfrm>
            <a:off x="777240" y="1920240"/>
            <a:ext cx="566928" cy="566928"/>
          </a:xfrm>
          <a:prstGeom prst="roundRect">
            <a:avLst>
              <a:gd name="adj" fmla="val 22000"/>
            </a:avLst>
          </a:prstGeom>
          <a:solidFill>
            <a:srgbClr val="D9773A"/>
          </a:solidFill>
          <a:ln w="12700">
            <a:solidFill>
              <a:srgbClr val="D9773A"/>
            </a:solidFill>
            <a:prstDash val="solid"/>
          </a:ln>
        </p:spPr>
      </p:sp>
      <p:pic>
        <p:nvPicPr>
          <p:cNvPr id="9" name="Image 0" descr="preencoded.png">    </p:cNvPr>
          <p:cNvPicPr>
            <a:picLocks noChangeAspect="1"/>
          </p:cNvPicPr>
          <p:nvPr/>
        </p:nvPicPr>
        <p:blipFill>
          <a:blip r:embed="rId1"/>
          <a:stretch>
            <a:fillRect/>
          </a:stretch>
        </p:blipFill>
        <p:spPr>
          <a:xfrm>
            <a:off x="913303" y="2056303"/>
            <a:ext cx="294803" cy="294803"/>
          </a:xfrm>
          <a:prstGeom prst="rect">
            <a:avLst/>
          </a:prstGeom>
        </p:spPr>
      </p:pic>
      <p:sp>
        <p:nvSpPr>
          <p:cNvPr id="10" name="Text 6"/>
          <p:cNvSpPr txBox="1"/>
          <p:nvPr/>
        </p:nvSpPr>
        <p:spPr>
          <a:xfrm>
            <a:off x="1527048" y="1920240"/>
            <a:ext cx="4203040" cy="566928"/>
          </a:xfrm>
          <a:prstGeom prst="rect">
            <a:avLst/>
          </a:prstGeom>
          <a:noFill/>
          <a:ln/>
        </p:spPr>
        <p:txBody>
          <a:bodyPr wrap="square" lIns="0" tIns="0" rIns="0" bIns="0" rtlCol="0" anchor="ctr">
            <a:normAutofit/>
          </a:bodyPr>
          <a:lstStyle/>
          <a:p>
            <a:pPr indent="0" marL="0">
              <a:buNone/>
            </a:pPr>
            <a:r>
              <a:rPr lang="en-US" sz="1800" b="1" dirty="0">
                <a:solidFill>
                  <a:srgbClr val="1B2A38"/>
                </a:solidFill>
                <a:latin typeface="Calibri" pitchFamily="34" charset="0"/>
                <a:ea typeface="Calibri" pitchFamily="34" charset="-122"/>
                <a:cs typeface="Calibri" pitchFamily="34" charset="-120"/>
              </a:rPr>
              <a:t>Xanh / vàng / đỏ theo ngưỡng</a:t>
            </a:r>
            <a:endParaRPr lang="en-US" sz="1800" dirty="0"/>
          </a:p>
        </p:txBody>
      </p:sp>
      <p:sp>
        <p:nvSpPr>
          <p:cNvPr id="11" name="Text 7"/>
          <p:cNvSpPr txBox="1"/>
          <p:nvPr/>
        </p:nvSpPr>
        <p:spPr>
          <a:xfrm>
            <a:off x="777240" y="2651760"/>
            <a:ext cx="4952848" cy="1033272"/>
          </a:xfrm>
          <a:prstGeom prst="rect">
            <a:avLst/>
          </a:prstGeom>
          <a:noFill/>
          <a:ln/>
        </p:spPr>
        <p:txBody>
          <a:bodyPr wrap="square" lIns="0" tIns="0" rIns="0" bIns="0" rtlCol="0" anchor="t">
            <a:normAutofit/>
          </a:bodyPr>
          <a:lstStyle/>
          <a:p>
            <a:pPr indent="0" marL="0">
              <a:buNone/>
            </a:pPr>
            <a:r>
              <a:rPr lang="en-US" sz="1600" dirty="0">
                <a:solidFill>
                  <a:srgbClr val="1B2A38"/>
                </a:solidFill>
                <a:latin typeface="Calibri" pitchFamily="34" charset="0"/>
                <a:ea typeface="Calibri" pitchFamily="34" charset="-122"/>
                <a:cs typeface="Calibri" pitchFamily="34" charset="-120"/>
              </a:rPr>
              <a:t>Chỉ tô màu chỉ số có ngưỡng trong từ điển, ngưỡng theo từng dự án. Thêm XÁM “kiểm tra dữ liệu” cho tỷ lệ &gt; 100% (NV0116: 1,18). Kèm ký hiệu, không chỉ dùng màu.</a:t>
            </a:r>
            <a:endParaRPr lang="en-US" sz="1600" dirty="0"/>
          </a:p>
        </p:txBody>
      </p:sp>
      <p:sp>
        <p:nvSpPr>
          <p:cNvPr id="12" name="Shape 8"/>
          <p:cNvSpPr/>
          <p:nvPr/>
        </p:nvSpPr>
        <p:spPr>
          <a:xfrm>
            <a:off x="6233008" y="1691640"/>
            <a:ext cx="5410048" cy="2148840"/>
          </a:xfrm>
          <a:prstGeom prst="roundRect">
            <a:avLst>
              <a:gd name="adj" fmla="val 4255"/>
            </a:avLst>
          </a:prstGeom>
          <a:solidFill>
            <a:srgbClr val="F2F4F6"/>
          </a:solidFill>
          <a:ln w="12700">
            <a:solidFill>
              <a:srgbClr val="F2F4F6"/>
            </a:solidFill>
            <a:prstDash val="solid"/>
          </a:ln>
        </p:spPr>
      </p:sp>
      <p:sp>
        <p:nvSpPr>
          <p:cNvPr id="13" name="Shape 9"/>
          <p:cNvSpPr/>
          <p:nvPr/>
        </p:nvSpPr>
        <p:spPr>
          <a:xfrm>
            <a:off x="6461608" y="1920240"/>
            <a:ext cx="566928" cy="566928"/>
          </a:xfrm>
          <a:prstGeom prst="roundRect">
            <a:avLst>
              <a:gd name="adj" fmla="val 22000"/>
            </a:avLst>
          </a:prstGeom>
          <a:solidFill>
            <a:srgbClr val="2B3E50"/>
          </a:solidFill>
          <a:ln w="12700">
            <a:solidFill>
              <a:srgbClr val="2B3E50"/>
            </a:solidFill>
            <a:prstDash val="solid"/>
          </a:ln>
        </p:spPr>
      </p:sp>
      <p:pic>
        <p:nvPicPr>
          <p:cNvPr id="14" name="Image 1" descr="preencoded.png">    </p:cNvPr>
          <p:cNvPicPr>
            <a:picLocks noChangeAspect="1"/>
          </p:cNvPicPr>
          <p:nvPr/>
        </p:nvPicPr>
        <p:blipFill>
          <a:blip r:embed="rId2"/>
          <a:stretch>
            <a:fillRect/>
          </a:stretch>
        </p:blipFill>
        <p:spPr>
          <a:xfrm>
            <a:off x="6597670" y="2056303"/>
            <a:ext cx="294803" cy="294803"/>
          </a:xfrm>
          <a:prstGeom prst="rect">
            <a:avLst/>
          </a:prstGeom>
        </p:spPr>
      </p:pic>
      <p:sp>
        <p:nvSpPr>
          <p:cNvPr id="15" name="Text 10"/>
          <p:cNvSpPr txBox="1"/>
          <p:nvPr/>
        </p:nvSpPr>
        <p:spPr>
          <a:xfrm>
            <a:off x="7211416" y="1920240"/>
            <a:ext cx="4203040" cy="566928"/>
          </a:xfrm>
          <a:prstGeom prst="rect">
            <a:avLst/>
          </a:prstGeom>
          <a:noFill/>
          <a:ln/>
        </p:spPr>
        <p:txBody>
          <a:bodyPr wrap="square" lIns="0" tIns="0" rIns="0" bIns="0" rtlCol="0" anchor="ctr">
            <a:normAutofit/>
          </a:bodyPr>
          <a:lstStyle/>
          <a:p>
            <a:pPr indent="0" marL="0">
              <a:buNone/>
            </a:pPr>
            <a:r>
              <a:rPr lang="en-US" sz="1800" b="1" dirty="0">
                <a:solidFill>
                  <a:srgbClr val="1B2A38"/>
                </a:solidFill>
                <a:latin typeface="Calibri" pitchFamily="34" charset="0"/>
                <a:ea typeface="Calibri" pitchFamily="34" charset="-122"/>
                <a:cs typeface="Calibri" pitchFamily="34" charset="-120"/>
              </a:rPr>
              <a:t>Ghi nguồn + thời điểm cập nhật</a:t>
            </a:r>
            <a:endParaRPr lang="en-US" sz="1800" dirty="0"/>
          </a:p>
        </p:txBody>
      </p:sp>
      <p:sp>
        <p:nvSpPr>
          <p:cNvPr id="16" name="Text 11"/>
          <p:cNvSpPr txBox="1"/>
          <p:nvPr/>
        </p:nvSpPr>
        <p:spPr>
          <a:xfrm>
            <a:off x="6461608" y="2651760"/>
            <a:ext cx="4952848" cy="1033272"/>
          </a:xfrm>
          <a:prstGeom prst="rect">
            <a:avLst/>
          </a:prstGeom>
          <a:noFill/>
          <a:ln/>
        </p:spPr>
        <p:txBody>
          <a:bodyPr wrap="square" lIns="0" tIns="0" rIns="0" bIns="0" rtlCol="0" anchor="t">
            <a:normAutofit/>
          </a:bodyPr>
          <a:lstStyle/>
          <a:p>
            <a:pPr indent="0" marL="0">
              <a:buNone/>
            </a:pPr>
            <a:r>
              <a:rPr lang="en-US" sz="1600" dirty="0">
                <a:solidFill>
                  <a:srgbClr val="1B2A38"/>
                </a:solidFill>
                <a:latin typeface="Calibri" pitchFamily="34" charset="0"/>
                <a:ea typeface="Calibri" pitchFamily="34" charset="-122"/>
                <a:cs typeface="Calibri" pitchFamily="34" charset="-120"/>
              </a:rPr>
              <a:t>Cuối mỗi tab: file nguồn (dữ liệu đến ngày/giờ nào), lúc cập nhật, phần loại trừ (63 dòng trùng, 48 chặng chuyển tiếp, EXT2099).</a:t>
            </a:r>
            <a:endParaRPr lang="en-US" sz="1600" dirty="0"/>
          </a:p>
        </p:txBody>
      </p:sp>
      <p:sp>
        <p:nvSpPr>
          <p:cNvPr id="17" name="Shape 12"/>
          <p:cNvSpPr/>
          <p:nvPr/>
        </p:nvSpPr>
        <p:spPr>
          <a:xfrm>
            <a:off x="548640" y="4114800"/>
            <a:ext cx="5410048" cy="2148840"/>
          </a:xfrm>
          <a:prstGeom prst="roundRect">
            <a:avLst>
              <a:gd name="adj" fmla="val 4255"/>
            </a:avLst>
          </a:prstGeom>
          <a:solidFill>
            <a:srgbClr val="F2F4F6"/>
          </a:solidFill>
          <a:ln w="12700">
            <a:solidFill>
              <a:srgbClr val="F2F4F6"/>
            </a:solidFill>
            <a:prstDash val="solid"/>
          </a:ln>
        </p:spPr>
      </p:sp>
      <p:sp>
        <p:nvSpPr>
          <p:cNvPr id="18" name="Shape 13"/>
          <p:cNvSpPr/>
          <p:nvPr/>
        </p:nvSpPr>
        <p:spPr>
          <a:xfrm>
            <a:off x="777240" y="4343400"/>
            <a:ext cx="566928" cy="566928"/>
          </a:xfrm>
          <a:prstGeom prst="roundRect">
            <a:avLst>
              <a:gd name="adj" fmla="val 22000"/>
            </a:avLst>
          </a:prstGeom>
          <a:solidFill>
            <a:srgbClr val="2B3E50"/>
          </a:solidFill>
          <a:ln w="12700">
            <a:solidFill>
              <a:srgbClr val="2B3E50"/>
            </a:solidFill>
            <a:prstDash val="solid"/>
          </a:ln>
        </p:spPr>
      </p:sp>
      <p:pic>
        <p:nvPicPr>
          <p:cNvPr id="19" name="Image 2" descr="preencoded.png">    </p:cNvPr>
          <p:cNvPicPr>
            <a:picLocks noChangeAspect="1"/>
          </p:cNvPicPr>
          <p:nvPr/>
        </p:nvPicPr>
        <p:blipFill>
          <a:blip r:embed="rId3"/>
          <a:stretch>
            <a:fillRect/>
          </a:stretch>
        </p:blipFill>
        <p:spPr>
          <a:xfrm>
            <a:off x="913303" y="4479463"/>
            <a:ext cx="294803" cy="294803"/>
          </a:xfrm>
          <a:prstGeom prst="rect">
            <a:avLst/>
          </a:prstGeom>
        </p:spPr>
      </p:pic>
      <p:sp>
        <p:nvSpPr>
          <p:cNvPr id="20" name="Text 14"/>
          <p:cNvSpPr txBox="1"/>
          <p:nvPr/>
        </p:nvSpPr>
        <p:spPr>
          <a:xfrm>
            <a:off x="1527048" y="4343400"/>
            <a:ext cx="4203040" cy="566928"/>
          </a:xfrm>
          <a:prstGeom prst="rect">
            <a:avLst/>
          </a:prstGeom>
          <a:noFill/>
          <a:ln/>
        </p:spPr>
        <p:txBody>
          <a:bodyPr wrap="square" lIns="0" tIns="0" rIns="0" bIns="0" rtlCol="0" anchor="ctr">
            <a:normAutofit/>
          </a:bodyPr>
          <a:lstStyle/>
          <a:p>
            <a:pPr indent="0" marL="0">
              <a:buNone/>
            </a:pPr>
            <a:r>
              <a:rPr lang="en-US" sz="1800" b="1" dirty="0">
                <a:solidFill>
                  <a:srgbClr val="1B2A38"/>
                </a:solidFill>
                <a:latin typeface="Calibri" pitchFamily="34" charset="0"/>
                <a:ea typeface="Calibri" pitchFamily="34" charset="-122"/>
                <a:cs typeface="Calibri" pitchFamily="34" charset="-120"/>
              </a:rPr>
              <a:t>Thiết kế cho điện thoại</a:t>
            </a:r>
            <a:endParaRPr lang="en-US" sz="1800" dirty="0"/>
          </a:p>
        </p:txBody>
      </p:sp>
      <p:sp>
        <p:nvSpPr>
          <p:cNvPr id="21" name="Text 15"/>
          <p:cNvSpPr txBox="1"/>
          <p:nvPr/>
        </p:nvSpPr>
        <p:spPr>
          <a:xfrm>
            <a:off x="777240" y="5074920"/>
            <a:ext cx="4952848" cy="1033272"/>
          </a:xfrm>
          <a:prstGeom prst="rect">
            <a:avLst/>
          </a:prstGeom>
          <a:noFill/>
          <a:ln/>
        </p:spPr>
        <p:txBody>
          <a:bodyPr wrap="square" lIns="0" tIns="0" rIns="0" bIns="0" rtlCol="0" anchor="t">
            <a:normAutofit/>
          </a:bodyPr>
          <a:lstStyle/>
          <a:p>
            <a:pPr indent="0" marL="0">
              <a:buNone/>
            </a:pPr>
            <a:r>
              <a:rPr lang="en-US" sz="1600" dirty="0">
                <a:solidFill>
                  <a:srgbClr val="1B2A38"/>
                </a:solidFill>
                <a:latin typeface="Calibri" pitchFamily="34" charset="0"/>
                <a:ea typeface="Calibri" pitchFamily="34" charset="-122"/>
                <a:cs typeface="Calibri" pitchFamily="34" charset="-120"/>
              </a:rPr>
              <a:t>CEO xem lúc 7h sáng: thẻ số 2 cột, chữ số ≥ 24px; bảng agent chỉ 3–4 cột chính; không để thông tin chỉ hiện khi rê chuột.</a:t>
            </a:r>
            <a:endParaRPr lang="en-US" sz="1600" dirty="0"/>
          </a:p>
        </p:txBody>
      </p:sp>
      <p:sp>
        <p:nvSpPr>
          <p:cNvPr id="22" name="Shape 16"/>
          <p:cNvSpPr/>
          <p:nvPr/>
        </p:nvSpPr>
        <p:spPr>
          <a:xfrm>
            <a:off x="6233008" y="4114800"/>
            <a:ext cx="5410048" cy="2148840"/>
          </a:xfrm>
          <a:prstGeom prst="roundRect">
            <a:avLst>
              <a:gd name="adj" fmla="val 4255"/>
            </a:avLst>
          </a:prstGeom>
          <a:solidFill>
            <a:srgbClr val="F2F4F6"/>
          </a:solidFill>
          <a:ln w="12700">
            <a:solidFill>
              <a:srgbClr val="F2F4F6"/>
            </a:solidFill>
            <a:prstDash val="solid"/>
          </a:ln>
        </p:spPr>
      </p:sp>
      <p:sp>
        <p:nvSpPr>
          <p:cNvPr id="23" name="Shape 17"/>
          <p:cNvSpPr/>
          <p:nvPr/>
        </p:nvSpPr>
        <p:spPr>
          <a:xfrm>
            <a:off x="6461608" y="4343400"/>
            <a:ext cx="566928" cy="566928"/>
          </a:xfrm>
          <a:prstGeom prst="roundRect">
            <a:avLst>
              <a:gd name="adj" fmla="val 22000"/>
            </a:avLst>
          </a:prstGeom>
          <a:solidFill>
            <a:srgbClr val="2B3E50"/>
          </a:solidFill>
          <a:ln w="12700">
            <a:solidFill>
              <a:srgbClr val="2B3E50"/>
            </a:solidFill>
            <a:prstDash val="solid"/>
          </a:ln>
        </p:spPr>
      </p:sp>
      <p:pic>
        <p:nvPicPr>
          <p:cNvPr id="24" name="Image 3" descr="preencoded.png">    </p:cNvPr>
          <p:cNvPicPr>
            <a:picLocks noChangeAspect="1"/>
          </p:cNvPicPr>
          <p:nvPr/>
        </p:nvPicPr>
        <p:blipFill>
          <a:blip r:embed="rId4"/>
          <a:stretch>
            <a:fillRect/>
          </a:stretch>
        </p:blipFill>
        <p:spPr>
          <a:xfrm>
            <a:off x="6597670" y="4479463"/>
            <a:ext cx="294803" cy="294803"/>
          </a:xfrm>
          <a:prstGeom prst="rect">
            <a:avLst/>
          </a:prstGeom>
        </p:spPr>
      </p:pic>
      <p:sp>
        <p:nvSpPr>
          <p:cNvPr id="25" name="Text 18"/>
          <p:cNvSpPr txBox="1"/>
          <p:nvPr/>
        </p:nvSpPr>
        <p:spPr>
          <a:xfrm>
            <a:off x="7211416" y="4343400"/>
            <a:ext cx="4203040" cy="566928"/>
          </a:xfrm>
          <a:prstGeom prst="rect">
            <a:avLst/>
          </a:prstGeom>
          <a:noFill/>
          <a:ln/>
        </p:spPr>
        <p:txBody>
          <a:bodyPr wrap="square" lIns="0" tIns="0" rIns="0" bIns="0" rtlCol="0" anchor="ctr">
            <a:normAutofit/>
          </a:bodyPr>
          <a:lstStyle/>
          <a:p>
            <a:pPr indent="0" marL="0">
              <a:buNone/>
            </a:pPr>
            <a:r>
              <a:rPr lang="en-US" sz="1800" b="1" dirty="0">
                <a:solidFill>
                  <a:srgbClr val="1B2A38"/>
                </a:solidFill>
                <a:latin typeface="Calibri" pitchFamily="34" charset="0"/>
                <a:ea typeface="Calibri" pitchFamily="34" charset="-122"/>
                <a:cs typeface="Calibri" pitchFamily="34" charset="-120"/>
              </a:rPr>
              <a:t>Phác wireframe trước khi dựng</a:t>
            </a:r>
            <a:endParaRPr lang="en-US" sz="1800" dirty="0"/>
          </a:p>
        </p:txBody>
      </p:sp>
      <p:sp>
        <p:nvSpPr>
          <p:cNvPr id="26" name="Text 19"/>
          <p:cNvSpPr txBox="1"/>
          <p:nvPr/>
        </p:nvSpPr>
        <p:spPr>
          <a:xfrm>
            <a:off x="6461608" y="5074920"/>
            <a:ext cx="4952848" cy="1033272"/>
          </a:xfrm>
          <a:prstGeom prst="rect">
            <a:avLst/>
          </a:prstGeom>
          <a:noFill/>
          <a:ln/>
        </p:spPr>
        <p:txBody>
          <a:bodyPr wrap="square" lIns="0" tIns="0" rIns="0" bIns="0" rtlCol="0" anchor="t">
            <a:normAutofit/>
          </a:bodyPr>
          <a:lstStyle/>
          <a:p>
            <a:pPr indent="0" marL="0">
              <a:buNone/>
            </a:pPr>
            <a:r>
              <a:rPr lang="en-US" sz="1600" dirty="0">
                <a:solidFill>
                  <a:srgbClr val="1B2A38"/>
                </a:solidFill>
                <a:latin typeface="Calibri" pitchFamily="34" charset="0"/>
                <a:ea typeface="Calibri" pitchFamily="34" charset="-122"/>
                <a:cs typeface="Calibri" pitchFamily="34" charset="-120"/>
              </a:rPr>
              <a:t>Viết bố cục bằng bảng chữ (vùng – nội dung – câu hỏi được trả lời), thống nhất với người dùng rồi mới nhờ Claude dựng. Mỗi tab trả lời 1–2 câu hỏi.</a:t>
            </a:r>
            <a:endParaRPr lang="en-US" sz="16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417320" cy="292608"/>
          </a:xfrm>
          <a:prstGeom prst="roundRect">
            <a:avLst>
              <a:gd name="adj" fmla="val 50000"/>
            </a:avLst>
          </a:prstGeom>
          <a:solidFill>
            <a:srgbClr val="ECE6F5"/>
          </a:solidFill>
          <a:ln w="12700">
            <a:solidFill>
              <a:srgbClr val="ECE6F5"/>
            </a:solidFill>
            <a:prstDash val="solid"/>
          </a:ln>
        </p:spPr>
      </p:sp>
      <p:sp>
        <p:nvSpPr>
          <p:cNvPr id="3" name="Text 1"/>
          <p:cNvSpPr txBox="1"/>
          <p:nvPr/>
        </p:nvSpPr>
        <p:spPr>
          <a:xfrm>
            <a:off x="548640" y="384048"/>
            <a:ext cx="1417320" cy="292608"/>
          </a:xfrm>
          <a:prstGeom prst="rect">
            <a:avLst/>
          </a:prstGeom>
          <a:noFill/>
          <a:ln/>
        </p:spPr>
        <p:txBody>
          <a:bodyPr wrap="square" lIns="0" tIns="0" rIns="0" bIns="0" rtlCol="0" anchor="ctr"/>
          <a:lstStyle/>
          <a:p>
            <a:pPr algn="ctr" indent="0" marL="0">
              <a:buNone/>
            </a:pPr>
            <a:r>
              <a:rPr lang="en-US" sz="1050" b="1" spc="150" kern="0" dirty="0">
                <a:solidFill>
                  <a:srgbClr val="6E4E9E"/>
                </a:solidFill>
                <a:latin typeface="Calibri" pitchFamily="34" charset="0"/>
                <a:ea typeface="Calibri" pitchFamily="34" charset="-122"/>
                <a:cs typeface="Calibri" pitchFamily="34" charset="-120"/>
              </a:rPr>
              <a:t>KIỂM TRA NHANH</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Câu hỏi nhanh — dashboard</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4 · KPI năng suất &amp; dashboard</a:t>
            </a:r>
            <a:endParaRPr lang="en-US" sz="1000" dirty="0"/>
          </a:p>
        </p:txBody>
      </p:sp>
      <p:sp>
        <p:nvSpPr>
          <p:cNvPr id="7" name="Shape 4"/>
          <p:cNvSpPr/>
          <p:nvPr/>
        </p:nvSpPr>
        <p:spPr>
          <a:xfrm>
            <a:off x="548640" y="1691640"/>
            <a:ext cx="11094415" cy="1234440"/>
          </a:xfrm>
          <a:prstGeom prst="roundRect">
            <a:avLst>
              <a:gd name="adj" fmla="val 7407"/>
            </a:avLst>
          </a:prstGeom>
          <a:solidFill>
            <a:srgbClr val="ECE6F5"/>
          </a:solidFill>
          <a:ln w="12700">
            <a:solidFill>
              <a:srgbClr val="ECE6F5"/>
            </a:solidFill>
            <a:prstDash val="solid"/>
          </a:ln>
        </p:spPr>
      </p:sp>
      <p:sp>
        <p:nvSpPr>
          <p:cNvPr id="8" name="Shape 5"/>
          <p:cNvSpPr/>
          <p:nvPr/>
        </p:nvSpPr>
        <p:spPr>
          <a:xfrm>
            <a:off x="777240" y="1993392"/>
            <a:ext cx="640080" cy="640080"/>
          </a:xfrm>
          <a:prstGeom prst="roundRect">
            <a:avLst>
              <a:gd name="adj" fmla="val 22000"/>
            </a:avLst>
          </a:prstGeom>
          <a:solidFill>
            <a:srgbClr val="6E4E9E"/>
          </a:solidFill>
          <a:ln w="12700">
            <a:solidFill>
              <a:srgbClr val="6E4E9E"/>
            </a:solidFill>
            <a:prstDash val="solid"/>
          </a:ln>
        </p:spPr>
      </p:sp>
      <p:pic>
        <p:nvPicPr>
          <p:cNvPr id="9" name="Image 0" descr="preencoded.png">    </p:cNvPr>
          <p:cNvPicPr>
            <a:picLocks noChangeAspect="1"/>
          </p:cNvPicPr>
          <p:nvPr/>
        </p:nvPicPr>
        <p:blipFill>
          <a:blip r:embed="rId1"/>
          <a:stretch>
            <a:fillRect/>
          </a:stretch>
        </p:blipFill>
        <p:spPr>
          <a:xfrm>
            <a:off x="930859" y="2147011"/>
            <a:ext cx="332842" cy="332842"/>
          </a:xfrm>
          <a:prstGeom prst="rect">
            <a:avLst/>
          </a:prstGeom>
        </p:spPr>
      </p:pic>
      <p:sp>
        <p:nvSpPr>
          <p:cNvPr id="10" name="Text 6"/>
          <p:cNvSpPr txBox="1"/>
          <p:nvPr/>
        </p:nvSpPr>
        <p:spPr>
          <a:xfrm>
            <a:off x="1645920" y="1801368"/>
            <a:ext cx="9768535" cy="1005840"/>
          </a:xfrm>
          <a:prstGeom prst="rect">
            <a:avLst/>
          </a:prstGeom>
          <a:noFill/>
          <a:ln/>
        </p:spPr>
        <p:txBody>
          <a:bodyPr wrap="square" lIns="0" tIns="0" rIns="0" bIns="0" rtlCol="0" anchor="ctr">
            <a:normAutofit/>
          </a:bodyPr>
          <a:lstStyle/>
          <a:p>
            <a:pPr indent="0" marL="0">
              <a:buNone/>
            </a:pPr>
            <a:r>
              <a:rPr lang="en-US" sz="1800" b="1" dirty="0">
                <a:solidFill>
                  <a:srgbClr val="1B2A38"/>
                </a:solidFill>
                <a:latin typeface="Calibri" pitchFamily="34" charset="0"/>
                <a:ea typeface="Calibri" pitchFamily="34" charset="-122"/>
                <a:cs typeface="Calibri" pitchFamily="34" charset="-120"/>
              </a:rPr>
              <a:t>Tab CEO ghi “Tổng giờ công: 1.707,1 giờ”. Cộng giờ công các team trên tab Trưởng ca chỉ ra 1.663,1 giờ. Nhiều khả năng điều gì đã xảy ra?</a:t>
            </a:r>
            <a:endParaRPr lang="en-US" sz="1800" dirty="0"/>
          </a:p>
        </p:txBody>
      </p:sp>
      <p:sp>
        <p:nvSpPr>
          <p:cNvPr id="11" name="Shape 7"/>
          <p:cNvSpPr/>
          <p:nvPr/>
        </p:nvSpPr>
        <p:spPr>
          <a:xfrm>
            <a:off x="548640" y="3154680"/>
            <a:ext cx="5432908" cy="1440180"/>
          </a:xfrm>
          <a:prstGeom prst="roundRect">
            <a:avLst>
              <a:gd name="adj" fmla="val 6349"/>
            </a:avLst>
          </a:prstGeom>
          <a:solidFill>
            <a:srgbClr val="FFFFFF"/>
          </a:solidFill>
          <a:ln w="15875">
            <a:solidFill>
              <a:srgbClr val="D5DAE0"/>
            </a:solidFill>
            <a:prstDash val="solid"/>
          </a:ln>
        </p:spPr>
      </p:sp>
      <p:sp>
        <p:nvSpPr>
          <p:cNvPr id="12" name="Shape 8"/>
          <p:cNvSpPr/>
          <p:nvPr/>
        </p:nvSpPr>
        <p:spPr>
          <a:xfrm>
            <a:off x="749808" y="3623310"/>
            <a:ext cx="502920" cy="502920"/>
          </a:xfrm>
          <a:prstGeom prst="ellipse">
            <a:avLst/>
          </a:prstGeom>
          <a:solidFill>
            <a:srgbClr val="6E4E9E"/>
          </a:solidFill>
          <a:ln w="12700">
            <a:solidFill>
              <a:srgbClr val="6E4E9E"/>
            </a:solidFill>
            <a:prstDash val="solid"/>
          </a:ln>
        </p:spPr>
      </p:sp>
      <p:sp>
        <p:nvSpPr>
          <p:cNvPr id="13" name="Text 9"/>
          <p:cNvSpPr txBox="1"/>
          <p:nvPr/>
        </p:nvSpPr>
        <p:spPr>
          <a:xfrm>
            <a:off x="749808" y="362331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0"/>
          <p:cNvSpPr txBox="1"/>
          <p:nvPr/>
        </p:nvSpPr>
        <p:spPr>
          <a:xfrm>
            <a:off x="1417320" y="3246120"/>
            <a:ext cx="4381348" cy="1257300"/>
          </a:xfrm>
          <a:prstGeom prst="rect">
            <a:avLst/>
          </a:prstGeom>
          <a:noFill/>
          <a:ln/>
        </p:spPr>
        <p:txBody>
          <a:bodyPr wrap="square" lIns="0" tIns="0" rIns="0" bIns="0" rtlCol="0" anchor="ctr">
            <a:normAutofit/>
          </a:bodyPr>
          <a:lstStyle/>
          <a:p>
            <a:pPr indent="0" marL="0">
              <a:buNone/>
            </a:pPr>
            <a:r>
              <a:rPr lang="en-US" sz="1500" dirty="0">
                <a:solidFill>
                  <a:srgbClr val="1B2A38"/>
                </a:solidFill>
                <a:latin typeface="Calibri" pitchFamily="34" charset="0"/>
                <a:ea typeface="Calibri" pitchFamily="34" charset="-122"/>
                <a:cs typeface="Calibri" pitchFamily="34" charset="-120"/>
              </a:rPr>
              <a:t>Tab Trưởng ca đang dùng giờ đăng nhập thay vì giờ có mặt — vi phạm nguyên tắc một nguồn, một định nghĩa</a:t>
            </a:r>
            <a:endParaRPr lang="en-US" sz="1500" dirty="0"/>
          </a:p>
        </p:txBody>
      </p:sp>
      <p:sp>
        <p:nvSpPr>
          <p:cNvPr id="15" name="Shape 11"/>
          <p:cNvSpPr/>
          <p:nvPr/>
        </p:nvSpPr>
        <p:spPr>
          <a:xfrm>
            <a:off x="6210148" y="3154680"/>
            <a:ext cx="5432908" cy="1440180"/>
          </a:xfrm>
          <a:prstGeom prst="roundRect">
            <a:avLst>
              <a:gd name="adj" fmla="val 6349"/>
            </a:avLst>
          </a:prstGeom>
          <a:solidFill>
            <a:srgbClr val="FFFFFF"/>
          </a:solidFill>
          <a:ln w="15875">
            <a:solidFill>
              <a:srgbClr val="D5DAE0"/>
            </a:solidFill>
            <a:prstDash val="solid"/>
          </a:ln>
        </p:spPr>
      </p:sp>
      <p:sp>
        <p:nvSpPr>
          <p:cNvPr id="16" name="Shape 12"/>
          <p:cNvSpPr/>
          <p:nvPr/>
        </p:nvSpPr>
        <p:spPr>
          <a:xfrm>
            <a:off x="6411316" y="3623310"/>
            <a:ext cx="502920" cy="502920"/>
          </a:xfrm>
          <a:prstGeom prst="ellipse">
            <a:avLst/>
          </a:prstGeom>
          <a:solidFill>
            <a:srgbClr val="6E4E9E"/>
          </a:solidFill>
          <a:ln w="12700">
            <a:solidFill>
              <a:srgbClr val="6E4E9E"/>
            </a:solidFill>
            <a:prstDash val="solid"/>
          </a:ln>
        </p:spPr>
      </p:sp>
      <p:sp>
        <p:nvSpPr>
          <p:cNvPr id="17" name="Text 13"/>
          <p:cNvSpPr txBox="1"/>
          <p:nvPr/>
        </p:nvSpPr>
        <p:spPr>
          <a:xfrm>
            <a:off x="6411316" y="362331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8" name="Text 14"/>
          <p:cNvSpPr txBox="1"/>
          <p:nvPr/>
        </p:nvSpPr>
        <p:spPr>
          <a:xfrm>
            <a:off x="7078828" y="3246120"/>
            <a:ext cx="4381348" cy="1257300"/>
          </a:xfrm>
          <a:prstGeom prst="rect">
            <a:avLst/>
          </a:prstGeom>
          <a:noFill/>
          <a:ln/>
        </p:spPr>
        <p:txBody>
          <a:bodyPr wrap="square" lIns="0" tIns="0" rIns="0" bIns="0" rtlCol="0" anchor="ctr">
            <a:normAutofit/>
          </a:bodyPr>
          <a:lstStyle/>
          <a:p>
            <a:pPr indent="0" marL="0">
              <a:buNone/>
            </a:pPr>
            <a:r>
              <a:rPr lang="en-US" sz="1500" dirty="0">
                <a:solidFill>
                  <a:srgbClr val="1B2A38"/>
                </a:solidFill>
                <a:latin typeface="Calibri" pitchFamily="34" charset="0"/>
                <a:ea typeface="Calibri" pitchFamily="34" charset="-122"/>
                <a:cs typeface="Calibri" pitchFamily="34" charset="-120"/>
              </a:rPr>
              <a:t>Bình thường — mỗi tab có thể dùng định nghĩa riêng cho vai trò của mình</a:t>
            </a:r>
            <a:endParaRPr lang="en-US" sz="1500" dirty="0"/>
          </a:p>
        </p:txBody>
      </p:sp>
      <p:sp>
        <p:nvSpPr>
          <p:cNvPr id="19" name="Shape 15"/>
          <p:cNvSpPr/>
          <p:nvPr/>
        </p:nvSpPr>
        <p:spPr>
          <a:xfrm>
            <a:off x="548640" y="4823460"/>
            <a:ext cx="5432908" cy="1440180"/>
          </a:xfrm>
          <a:prstGeom prst="roundRect">
            <a:avLst>
              <a:gd name="adj" fmla="val 6349"/>
            </a:avLst>
          </a:prstGeom>
          <a:solidFill>
            <a:srgbClr val="FFFFFF"/>
          </a:solidFill>
          <a:ln w="15875">
            <a:solidFill>
              <a:srgbClr val="D5DAE0"/>
            </a:solidFill>
            <a:prstDash val="solid"/>
          </a:ln>
        </p:spPr>
      </p:sp>
      <p:sp>
        <p:nvSpPr>
          <p:cNvPr id="20" name="Shape 16"/>
          <p:cNvSpPr/>
          <p:nvPr/>
        </p:nvSpPr>
        <p:spPr>
          <a:xfrm>
            <a:off x="749808" y="5292090"/>
            <a:ext cx="502920" cy="502920"/>
          </a:xfrm>
          <a:prstGeom prst="ellipse">
            <a:avLst/>
          </a:prstGeom>
          <a:solidFill>
            <a:srgbClr val="6E4E9E"/>
          </a:solidFill>
          <a:ln w="12700">
            <a:solidFill>
              <a:srgbClr val="6E4E9E"/>
            </a:solidFill>
            <a:prstDash val="solid"/>
          </a:ln>
        </p:spPr>
      </p:sp>
      <p:sp>
        <p:nvSpPr>
          <p:cNvPr id="21" name="Text 17"/>
          <p:cNvSpPr txBox="1"/>
          <p:nvPr/>
        </p:nvSpPr>
        <p:spPr>
          <a:xfrm>
            <a:off x="749808" y="529209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2" name="Text 18"/>
          <p:cNvSpPr txBox="1"/>
          <p:nvPr/>
        </p:nvSpPr>
        <p:spPr>
          <a:xfrm>
            <a:off x="1417320" y="4914900"/>
            <a:ext cx="4381348" cy="1257300"/>
          </a:xfrm>
          <a:prstGeom prst="rect">
            <a:avLst/>
          </a:prstGeom>
          <a:noFill/>
          <a:ln/>
        </p:spPr>
        <p:txBody>
          <a:bodyPr wrap="square" lIns="0" tIns="0" rIns="0" bIns="0" rtlCol="0" anchor="ctr">
            <a:normAutofit/>
          </a:bodyPr>
          <a:lstStyle/>
          <a:p>
            <a:pPr indent="0" marL="0">
              <a:buNone/>
            </a:pPr>
            <a:r>
              <a:rPr lang="en-US" sz="1500" dirty="0">
                <a:solidFill>
                  <a:srgbClr val="1B2A38"/>
                </a:solidFill>
                <a:latin typeface="Calibri" pitchFamily="34" charset="0"/>
                <a:ea typeface="Calibri" pitchFamily="34" charset="-122"/>
                <a:cs typeface="Calibri" pitchFamily="34" charset="-120"/>
              </a:rPr>
              <a:t>Claude làm tròn số khi vẽ dashboard</a:t>
            </a:r>
            <a:endParaRPr lang="en-US" sz="1500" dirty="0"/>
          </a:p>
        </p:txBody>
      </p:sp>
      <p:sp>
        <p:nvSpPr>
          <p:cNvPr id="23" name="Shape 19"/>
          <p:cNvSpPr/>
          <p:nvPr/>
        </p:nvSpPr>
        <p:spPr>
          <a:xfrm>
            <a:off x="6210148" y="4823460"/>
            <a:ext cx="5432908" cy="1440180"/>
          </a:xfrm>
          <a:prstGeom prst="roundRect">
            <a:avLst>
              <a:gd name="adj" fmla="val 6349"/>
            </a:avLst>
          </a:prstGeom>
          <a:solidFill>
            <a:srgbClr val="FFFFFF"/>
          </a:solidFill>
          <a:ln w="15875">
            <a:solidFill>
              <a:srgbClr val="D5DAE0"/>
            </a:solidFill>
            <a:prstDash val="solid"/>
          </a:ln>
        </p:spPr>
      </p:sp>
      <p:sp>
        <p:nvSpPr>
          <p:cNvPr id="24" name="Shape 20"/>
          <p:cNvSpPr/>
          <p:nvPr/>
        </p:nvSpPr>
        <p:spPr>
          <a:xfrm>
            <a:off x="6411316" y="5292090"/>
            <a:ext cx="502920" cy="502920"/>
          </a:xfrm>
          <a:prstGeom prst="ellipse">
            <a:avLst/>
          </a:prstGeom>
          <a:solidFill>
            <a:srgbClr val="6E4E9E"/>
          </a:solidFill>
          <a:ln w="12700">
            <a:solidFill>
              <a:srgbClr val="6E4E9E"/>
            </a:solidFill>
            <a:prstDash val="solid"/>
          </a:ln>
        </p:spPr>
      </p:sp>
      <p:sp>
        <p:nvSpPr>
          <p:cNvPr id="25" name="Text 21"/>
          <p:cNvSpPr txBox="1"/>
          <p:nvPr/>
        </p:nvSpPr>
        <p:spPr>
          <a:xfrm>
            <a:off x="6411316" y="529209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6" name="Text 22"/>
          <p:cNvSpPr txBox="1"/>
          <p:nvPr/>
        </p:nvSpPr>
        <p:spPr>
          <a:xfrm>
            <a:off x="7078828" y="4914900"/>
            <a:ext cx="4381348" cy="1257300"/>
          </a:xfrm>
          <a:prstGeom prst="rect">
            <a:avLst/>
          </a:prstGeom>
          <a:noFill/>
          <a:ln/>
        </p:spPr>
        <p:txBody>
          <a:bodyPr wrap="square" lIns="0" tIns="0" rIns="0" bIns="0" rtlCol="0" anchor="ctr">
            <a:normAutofit/>
          </a:bodyPr>
          <a:lstStyle/>
          <a:p>
            <a:pPr indent="0" marL="0">
              <a:buNone/>
            </a:pPr>
            <a:r>
              <a:rPr lang="en-US" sz="1500" dirty="0">
                <a:solidFill>
                  <a:srgbClr val="1B2A38"/>
                </a:solidFill>
                <a:latin typeface="Calibri" pitchFamily="34" charset="0"/>
                <a:ea typeface="Calibri" pitchFamily="34" charset="-122"/>
                <a:cs typeface="Calibri" pitchFamily="34" charset="-120"/>
              </a:rPr>
              <a:t>Tab CEO tính cả thực tập sinh EXT2099</a:t>
            </a:r>
            <a:endParaRPr lang="en-US" sz="15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61772" cy="292608"/>
          </a:xfrm>
          <a:prstGeom prst="roundRect">
            <a:avLst>
              <a:gd name="adj" fmla="val 50000"/>
            </a:avLst>
          </a:prstGeom>
          <a:solidFill>
            <a:srgbClr val="DDEFEE"/>
          </a:solidFill>
          <a:ln w="12700">
            <a:solidFill>
              <a:srgbClr val="DDEFEE"/>
            </a:solidFill>
            <a:prstDash val="solid"/>
          </a:ln>
        </p:spPr>
      </p:sp>
      <p:sp>
        <p:nvSpPr>
          <p:cNvPr id="3" name="Text 1"/>
          <p:cNvSpPr txBox="1"/>
          <p:nvPr/>
        </p:nvSpPr>
        <p:spPr>
          <a:xfrm>
            <a:off x="548640" y="384048"/>
            <a:ext cx="461772" cy="292608"/>
          </a:xfrm>
          <a:prstGeom prst="rect">
            <a:avLst/>
          </a:prstGeom>
          <a:noFill/>
          <a:ln/>
        </p:spPr>
        <p:txBody>
          <a:bodyPr wrap="square" lIns="0" tIns="0" rIns="0" bIns="0" rtlCol="0" anchor="ctr"/>
          <a:lstStyle/>
          <a:p>
            <a:pPr algn="ctr" indent="0" marL="0">
              <a:buNone/>
            </a:pPr>
            <a:r>
              <a:rPr lang="en-US" sz="1050" b="1" spc="150" kern="0" dirty="0">
                <a:solidFill>
                  <a:srgbClr val="2E7D7A"/>
                </a:solidFill>
                <a:latin typeface="Calibri" pitchFamily="34" charset="0"/>
                <a:ea typeface="Calibri" pitchFamily="34" charset="-122"/>
                <a:cs typeface="Calibri" pitchFamily="34" charset="-120"/>
              </a:rPr>
              <a:t>LAB</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Lab 4.1 · Từ điển chỉ số v1</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4 · KPI năng suất &amp; dashboard</a:t>
            </a:r>
            <a:endParaRPr lang="en-US" sz="1000" dirty="0"/>
          </a:p>
        </p:txBody>
      </p:sp>
      <p:sp>
        <p:nvSpPr>
          <p:cNvPr id="7" name="Shape 4"/>
          <p:cNvSpPr/>
          <p:nvPr/>
        </p:nvSpPr>
        <p:spPr>
          <a:xfrm>
            <a:off x="548640" y="1691640"/>
            <a:ext cx="3931920" cy="4572000"/>
          </a:xfrm>
          <a:prstGeom prst="roundRect">
            <a:avLst>
              <a:gd name="adj" fmla="val 2326"/>
            </a:avLst>
          </a:prstGeom>
          <a:solidFill>
            <a:srgbClr val="DDEFEE"/>
          </a:solidFill>
          <a:ln w="12700">
            <a:solidFill>
              <a:srgbClr val="DDEFEE"/>
            </a:solidFill>
            <a:prstDash val="solid"/>
          </a:ln>
        </p:spPr>
      </p:sp>
      <p:sp>
        <p:nvSpPr>
          <p:cNvPr id="8" name="Shape 5"/>
          <p:cNvSpPr/>
          <p:nvPr/>
        </p:nvSpPr>
        <p:spPr>
          <a:xfrm>
            <a:off x="777240" y="1920240"/>
            <a:ext cx="502920" cy="502920"/>
          </a:xfrm>
          <a:prstGeom prst="roundRect">
            <a:avLst>
              <a:gd name="adj" fmla="val 22000"/>
            </a:avLst>
          </a:prstGeom>
          <a:solidFill>
            <a:srgbClr val="2E7D7A"/>
          </a:solidFill>
          <a:ln w="12700">
            <a:solidFill>
              <a:srgbClr val="2E7D7A"/>
            </a:solidFill>
            <a:prstDash val="solid"/>
          </a:ln>
        </p:spPr>
      </p:sp>
      <p:pic>
        <p:nvPicPr>
          <p:cNvPr id="9" name="Image 0" descr="preencoded.png">    </p:cNvPr>
          <p:cNvPicPr>
            <a:picLocks noChangeAspect="1"/>
          </p:cNvPicPr>
          <p:nvPr/>
        </p:nvPicPr>
        <p:blipFill>
          <a:blip r:embed="rId1"/>
          <a:stretch>
            <a:fillRect/>
          </a:stretch>
        </p:blipFill>
        <p:spPr>
          <a:xfrm>
            <a:off x="897941" y="2040941"/>
            <a:ext cx="261518" cy="261518"/>
          </a:xfrm>
          <a:prstGeom prst="rect">
            <a:avLst/>
          </a:prstGeom>
        </p:spPr>
      </p:pic>
      <p:sp>
        <p:nvSpPr>
          <p:cNvPr id="10" name="Text 6"/>
          <p:cNvSpPr txBox="1"/>
          <p:nvPr/>
        </p:nvSpPr>
        <p:spPr>
          <a:xfrm>
            <a:off x="1417320" y="1920240"/>
            <a:ext cx="2743200" cy="502920"/>
          </a:xfrm>
          <a:prstGeom prst="rect">
            <a:avLst/>
          </a:prstGeom>
          <a:noFill/>
          <a:ln/>
        </p:spPr>
        <p:txBody>
          <a:bodyPr wrap="square" lIns="0" tIns="0" rIns="0" bIns="0" rtlCol="0" anchor="ctr"/>
          <a:lstStyle/>
          <a:p>
            <a:pPr indent="0" marL="0">
              <a:buNone/>
            </a:pPr>
            <a:r>
              <a:rPr lang="en-US" sz="2200" b="1" dirty="0">
                <a:solidFill>
                  <a:srgbClr val="2E7D7A"/>
                </a:solidFill>
                <a:latin typeface="Cambria" pitchFamily="34" charset="0"/>
                <a:ea typeface="Cambria" pitchFamily="34" charset="-122"/>
                <a:cs typeface="Cambria" pitchFamily="34" charset="-120"/>
              </a:rPr>
              <a:t>15 phút</a:t>
            </a:r>
            <a:endParaRPr lang="en-US" sz="2200" dirty="0"/>
          </a:p>
        </p:txBody>
      </p:sp>
      <p:sp>
        <p:nvSpPr>
          <p:cNvPr id="11" name="Text 7"/>
          <p:cNvSpPr txBox="1"/>
          <p:nvPr/>
        </p:nvSpPr>
        <p:spPr>
          <a:xfrm>
            <a:off x="777240" y="2606040"/>
            <a:ext cx="3474720" cy="1325880"/>
          </a:xfrm>
          <a:prstGeom prst="rect">
            <a:avLst/>
          </a:prstGeom>
          <a:noFill/>
          <a:ln/>
        </p:spPr>
        <p:txBody>
          <a:bodyPr wrap="square" lIns="0" tIns="0" rIns="0" bIns="0" rtlCol="0" anchor="t">
            <a:normAutofit/>
          </a:bodyPr>
          <a:lstStyle/>
          <a:p>
            <a:pPr indent="0" marL="0">
              <a:buNone/>
            </a:pPr>
            <a:r>
              <a:rPr lang="en-US" sz="1400" b="1" dirty="0">
                <a:solidFill>
                  <a:srgbClr val="2E7D7A"/>
                </a:solidFill>
                <a:latin typeface="Calibri" pitchFamily="34" charset="0"/>
                <a:ea typeface="Calibri" pitchFamily="34" charset="-122"/>
                <a:cs typeface="Calibri" pitchFamily="34" charset="-120"/>
              </a:rPr>
              <a:t>Mục tiêu  </a:t>
            </a:r>
            <a:pPr indent="0" marL="0">
              <a:buNone/>
            </a:pPr>
            <a:r>
              <a:rPr lang="en-US" sz="1400" dirty="0">
                <a:solidFill>
                  <a:srgbClr val="1B2A38"/>
                </a:solidFill>
                <a:latin typeface="Calibri" pitchFamily="34" charset="0"/>
                <a:ea typeface="Calibri" pitchFamily="34" charset="-122"/>
                <a:cs typeface="Calibri" pitchFamily="34" charset="-120"/>
              </a:rPr>
              <a:t>Một “luật chơi” cho mọi con số: ai hỏi Claude cũng nhận cùng cách tính, cùng ngưỡng màu.</a:t>
            </a:r>
            <a:endParaRPr lang="en-US" sz="1400" dirty="0"/>
          </a:p>
        </p:txBody>
      </p:sp>
      <p:sp>
        <p:nvSpPr>
          <p:cNvPr id="12" name="Text 8"/>
          <p:cNvSpPr txBox="1"/>
          <p:nvPr/>
        </p:nvSpPr>
        <p:spPr>
          <a:xfrm>
            <a:off x="777240" y="3977640"/>
            <a:ext cx="3474720" cy="274320"/>
          </a:xfrm>
          <a:prstGeom prst="rect">
            <a:avLst/>
          </a:prstGeom>
          <a:noFill/>
          <a:ln/>
        </p:spPr>
        <p:txBody>
          <a:bodyPr wrap="square" lIns="0" tIns="0" rIns="0" bIns="0" rtlCol="0" anchor="t"/>
          <a:lstStyle/>
          <a:p>
            <a:pPr indent="0" marL="0">
              <a:buNone/>
            </a:pPr>
            <a:r>
              <a:rPr lang="en-US" sz="1250" b="1" dirty="0">
                <a:solidFill>
                  <a:srgbClr val="2E7D7A"/>
                </a:solidFill>
                <a:latin typeface="Calibri" pitchFamily="34" charset="0"/>
                <a:ea typeface="Calibri" pitchFamily="34" charset="-122"/>
                <a:cs typeface="Calibri" pitchFamily="34" charset="-120"/>
              </a:rPr>
              <a:t>Dữ liệu dùng</a:t>
            </a:r>
            <a:endParaRPr lang="en-US" sz="1250" dirty="0"/>
          </a:p>
        </p:txBody>
      </p:sp>
      <p:sp>
        <p:nvSpPr>
          <p:cNvPr id="13" name="Text 9"/>
          <p:cNvSpPr txBox="1"/>
          <p:nvPr/>
        </p:nvSpPr>
        <p:spPr>
          <a:xfrm>
            <a:off x="777240" y="4279392"/>
            <a:ext cx="3474720" cy="859536"/>
          </a:xfrm>
          <a:prstGeom prst="rect">
            <a:avLst/>
          </a:prstGeom>
          <a:noFill/>
          <a:ln/>
        </p:spPr>
        <p:txBody>
          <a:bodyPr wrap="square" lIns="0" tIns="0" rIns="0" bIns="0" rtlCol="0" anchor="t">
            <a:normAutofit/>
          </a:bodyPr>
          <a:lstStyle/>
          <a:p>
            <a:pPr indent="0" marL="0">
              <a:buNone/>
            </a:pPr>
            <a:r>
              <a:rPr lang="en-US" sz="1050" dirty="0">
                <a:solidFill>
                  <a:srgbClr val="1B2A38"/>
                </a:solidFill>
                <a:latin typeface="Courier New" pitchFamily="34" charset="0"/>
                <a:ea typeface="Courier New" pitchFamily="34" charset="-122"/>
                <a:cs typeface="Courier New" pitchFamily="34" charset="-120"/>
              </a:rPr>
              <a:t>Phụ lục A — Từ điển chỉ số</a:t>
            </a:r>
            <a:endParaRPr lang="en-US" sz="1050" dirty="0"/>
          </a:p>
          <a:p>
            <a:pPr indent="0" marL="0">
              <a:buNone/>
            </a:pPr>
            <a:r>
              <a:rPr lang="en-US" sz="1050" dirty="0">
                <a:solidFill>
                  <a:srgbClr val="1B2A38"/>
                </a:solidFill>
                <a:latin typeface="Courier New" pitchFamily="34" charset="0"/>
                <a:ea typeface="Courier New" pitchFamily="34" charset="-122"/>
                <a:cs typeface="Courier New" pitchFamily="34" charset="-120"/>
              </a:rPr>
              <a:t>danh_sach_du_an.csv (mục tiêu hợp đồng)</a:t>
            </a:r>
            <a:endParaRPr lang="en-US" sz="1050" dirty="0"/>
          </a:p>
          <a:p>
            <a:pPr indent="0" marL="0">
              <a:buNone/>
            </a:pPr>
            <a:r>
              <a:rPr lang="en-US" sz="1050" dirty="0">
                <a:solidFill>
                  <a:srgbClr val="1B2A38"/>
                </a:solidFill>
                <a:latin typeface="Courier New" pitchFamily="34" charset="0"/>
                <a:ea typeface="Courier New" pitchFamily="34" charset="-122"/>
                <a:cs typeface="Courier New" pitchFamily="34" charset="-120"/>
              </a:rPr>
              <a:t>Bảng KPI 14 ngày theo agent</a:t>
            </a:r>
            <a:endParaRPr lang="en-US" sz="1050" dirty="0"/>
          </a:p>
        </p:txBody>
      </p:sp>
      <p:sp>
        <p:nvSpPr>
          <p:cNvPr id="14" name="Text 10"/>
          <p:cNvSpPr txBox="1"/>
          <p:nvPr/>
        </p:nvSpPr>
        <p:spPr>
          <a:xfrm>
            <a:off x="777240" y="5202936"/>
            <a:ext cx="3474720" cy="274320"/>
          </a:xfrm>
          <a:prstGeom prst="rect">
            <a:avLst/>
          </a:prstGeom>
          <a:noFill/>
          <a:ln/>
        </p:spPr>
        <p:txBody>
          <a:bodyPr wrap="square" lIns="0" tIns="0" rIns="0" bIns="0" rtlCol="0" anchor="t"/>
          <a:lstStyle/>
          <a:p>
            <a:pPr indent="0" marL="0">
              <a:buNone/>
            </a:pPr>
            <a:r>
              <a:rPr lang="en-US" sz="1250" b="1" dirty="0">
                <a:solidFill>
                  <a:srgbClr val="2E7D7A"/>
                </a:solidFill>
                <a:latin typeface="Calibri" pitchFamily="34" charset="0"/>
                <a:ea typeface="Calibri" pitchFamily="34" charset="-122"/>
                <a:cs typeface="Calibri" pitchFamily="34" charset="-120"/>
              </a:rPr>
              <a:t>Sản phẩm</a:t>
            </a:r>
            <a:endParaRPr lang="en-US" sz="1250" dirty="0"/>
          </a:p>
        </p:txBody>
      </p:sp>
      <p:sp>
        <p:nvSpPr>
          <p:cNvPr id="15" name="Text 11"/>
          <p:cNvSpPr txBox="1"/>
          <p:nvPr/>
        </p:nvSpPr>
        <p:spPr>
          <a:xfrm>
            <a:off x="777240" y="5504688"/>
            <a:ext cx="3474720" cy="603504"/>
          </a:xfrm>
          <a:prstGeom prst="rect">
            <a:avLst/>
          </a:prstGeom>
          <a:noFill/>
          <a:ln/>
        </p:spPr>
        <p:txBody>
          <a:bodyPr wrap="square" lIns="0" tIns="0" rIns="0" bIns="0" rtlCol="0" anchor="t">
            <a:normAutofit/>
          </a:bodyPr>
          <a:lstStyle/>
          <a:p>
            <a:pPr indent="0" marL="0">
              <a:buNone/>
            </a:pPr>
            <a:r>
              <a:rPr lang="en-US" sz="1300" dirty="0">
                <a:solidFill>
                  <a:srgbClr val="1B2A38"/>
                </a:solidFill>
                <a:latin typeface="Calibri" pitchFamily="34" charset="0"/>
                <a:ea typeface="Calibri" pitchFamily="34" charset="-122"/>
                <a:cs typeface="Calibri" pitchFamily="34" charset="-120"/>
              </a:rPr>
              <a:t>Tu_dien_chi_so_v1: 15–20 dòng, ngưỡng tách Outbound/Inbound, đã kiểm chứng trên 19 agent.</a:t>
            </a:r>
            <a:endParaRPr lang="en-US" sz="1300" dirty="0"/>
          </a:p>
        </p:txBody>
      </p:sp>
      <p:sp>
        <p:nvSpPr>
          <p:cNvPr id="16" name="Shape 12"/>
          <p:cNvSpPr/>
          <p:nvPr/>
        </p:nvSpPr>
        <p:spPr>
          <a:xfrm>
            <a:off x="4800600" y="1737360"/>
            <a:ext cx="438912" cy="438912"/>
          </a:xfrm>
          <a:prstGeom prst="ellipse">
            <a:avLst/>
          </a:prstGeom>
          <a:solidFill>
            <a:srgbClr val="2E7D7A"/>
          </a:solidFill>
          <a:ln w="12700">
            <a:solidFill>
              <a:srgbClr val="2E7D7A"/>
            </a:solidFill>
            <a:prstDash val="solid"/>
          </a:ln>
        </p:spPr>
      </p:sp>
      <p:sp>
        <p:nvSpPr>
          <p:cNvPr id="17" name="Text 13"/>
          <p:cNvSpPr txBox="1"/>
          <p:nvPr/>
        </p:nvSpPr>
        <p:spPr>
          <a:xfrm>
            <a:off x="4800600" y="173736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8" name="Text 14"/>
          <p:cNvSpPr txBox="1"/>
          <p:nvPr/>
        </p:nvSpPr>
        <p:spPr>
          <a:xfrm>
            <a:off x="5394960" y="1691640"/>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Dựng khung từ điển (4’)</a:t>
            </a:r>
            <a:pPr indent="0" marL="0">
              <a:buNone/>
            </a:pPr>
            <a:r>
              <a:rPr lang="en-US" sz="1450" dirty="0">
                <a:solidFill>
                  <a:srgbClr val="1B2A38"/>
                </a:solidFill>
                <a:latin typeface="Calibri" pitchFamily="34" charset="0"/>
                <a:ea typeface="Calibri" pitchFamily="34" charset="-122"/>
                <a:cs typeface="Calibri" pitchFamily="34" charset="-120"/>
              </a:rPr>
              <a:t> — ghi rõ tử số, mẫu số, nguồn, phạm vi, mục tiêu, ngưỡng vàng/đỏ, người chịu trách nhiệm.</a:t>
            </a:r>
            <a:endParaRPr lang="en-US" sz="1450" dirty="0"/>
          </a:p>
        </p:txBody>
      </p:sp>
      <p:sp>
        <p:nvSpPr>
          <p:cNvPr id="19" name="Shape 15"/>
          <p:cNvSpPr/>
          <p:nvPr/>
        </p:nvSpPr>
        <p:spPr>
          <a:xfrm>
            <a:off x="4800600" y="2677363"/>
            <a:ext cx="438912" cy="438912"/>
          </a:xfrm>
          <a:prstGeom prst="ellipse">
            <a:avLst/>
          </a:prstGeom>
          <a:solidFill>
            <a:srgbClr val="2E7D7A"/>
          </a:solidFill>
          <a:ln w="12700">
            <a:solidFill>
              <a:srgbClr val="2E7D7A"/>
            </a:solidFill>
            <a:prstDash val="solid"/>
          </a:ln>
        </p:spPr>
      </p:sp>
      <p:sp>
        <p:nvSpPr>
          <p:cNvPr id="20" name="Text 16"/>
          <p:cNvSpPr txBox="1"/>
          <p:nvPr/>
        </p:nvSpPr>
        <p:spPr>
          <a:xfrm>
            <a:off x="4800600" y="2677363"/>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1" name="Text 17"/>
          <p:cNvSpPr txBox="1"/>
          <p:nvPr/>
        </p:nvSpPr>
        <p:spPr>
          <a:xfrm>
            <a:off x="5394960" y="2631643"/>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Tách ngưỡng theo dự án (4’)</a:t>
            </a:r>
            <a:pPr indent="0" marL="0">
              <a:buNone/>
            </a:pPr>
            <a:r>
              <a:rPr lang="en-US" sz="1450" dirty="0">
                <a:solidFill>
                  <a:srgbClr val="1B2A38"/>
                </a:solidFill>
                <a:latin typeface="Calibri" pitchFamily="34" charset="0"/>
                <a:ea typeface="Calibri" pitchFamily="34" charset="-122"/>
                <a:cs typeface="Calibri" pitchFamily="34" charset="-120"/>
              </a:rPr>
              <a:t> — cuộc/giờ, tỷ lệ SX, occupancy, AHT có 2 dòng TS-BH / CS-VT; hợp đồng = ngưỡng đỏ.</a:t>
            </a:r>
            <a:endParaRPr lang="en-US" sz="1450" dirty="0"/>
          </a:p>
        </p:txBody>
      </p:sp>
      <p:sp>
        <p:nvSpPr>
          <p:cNvPr id="22" name="Shape 18"/>
          <p:cNvSpPr/>
          <p:nvPr/>
        </p:nvSpPr>
        <p:spPr>
          <a:xfrm>
            <a:off x="4800600" y="3617366"/>
            <a:ext cx="438912" cy="438912"/>
          </a:xfrm>
          <a:prstGeom prst="ellipse">
            <a:avLst/>
          </a:prstGeom>
          <a:solidFill>
            <a:srgbClr val="2E7D7A"/>
          </a:solidFill>
          <a:ln w="12700">
            <a:solidFill>
              <a:srgbClr val="2E7D7A"/>
            </a:solidFill>
            <a:prstDash val="solid"/>
          </a:ln>
        </p:spPr>
      </p:sp>
      <p:sp>
        <p:nvSpPr>
          <p:cNvPr id="23" name="Text 19"/>
          <p:cNvSpPr txBox="1"/>
          <p:nvPr/>
        </p:nvSpPr>
        <p:spPr>
          <a:xfrm>
            <a:off x="4800600" y="3617366"/>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4" name="Text 20"/>
          <p:cNvSpPr txBox="1"/>
          <p:nvPr/>
        </p:nvSpPr>
        <p:spPr>
          <a:xfrm>
            <a:off x="5394960" y="3571646"/>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Kiểm chứng bằng dữ liệu thật (4’)</a:t>
            </a:r>
            <a:pPr indent="0" marL="0">
              <a:buNone/>
            </a:pPr>
            <a:r>
              <a:rPr lang="en-US" sz="1450" dirty="0">
                <a:solidFill>
                  <a:srgbClr val="1B2A38"/>
                </a:solidFill>
                <a:latin typeface="Calibri" pitchFamily="34" charset="0"/>
                <a:ea typeface="Calibri" pitchFamily="34" charset="-122"/>
                <a:cs typeface="Calibri" pitchFamily="34" charset="-120"/>
              </a:rPr>
              <a:t> — đếm agent xanh/vàng/đỏ; &gt; 50% đỏ hoặc 100% xanh → xem lại ngưỡng.</a:t>
            </a:r>
            <a:endParaRPr lang="en-US" sz="1450" dirty="0"/>
          </a:p>
        </p:txBody>
      </p:sp>
      <p:sp>
        <p:nvSpPr>
          <p:cNvPr id="25" name="Shape 21"/>
          <p:cNvSpPr/>
          <p:nvPr/>
        </p:nvSpPr>
        <p:spPr>
          <a:xfrm>
            <a:off x="4800600" y="4557370"/>
            <a:ext cx="438912" cy="438912"/>
          </a:xfrm>
          <a:prstGeom prst="ellipse">
            <a:avLst/>
          </a:prstGeom>
          <a:solidFill>
            <a:srgbClr val="2E7D7A"/>
          </a:solidFill>
          <a:ln w="12700">
            <a:solidFill>
              <a:srgbClr val="2E7D7A"/>
            </a:solidFill>
            <a:prstDash val="solid"/>
          </a:ln>
        </p:spPr>
      </p:sp>
      <p:sp>
        <p:nvSpPr>
          <p:cNvPr id="26" name="Text 22"/>
          <p:cNvSpPr txBox="1"/>
          <p:nvPr/>
        </p:nvSpPr>
        <p:spPr>
          <a:xfrm>
            <a:off x="4800600" y="455737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7" name="Text 23"/>
          <p:cNvSpPr txBox="1"/>
          <p:nvPr/>
        </p:nvSpPr>
        <p:spPr>
          <a:xfrm>
            <a:off x="5394960" y="4511650"/>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Gán người chịu trách nhiệm (3’)</a:t>
            </a:r>
            <a:pPr indent="0" marL="0">
              <a:buNone/>
            </a:pPr>
            <a:r>
              <a:rPr lang="en-US" sz="1450" dirty="0">
                <a:solidFill>
                  <a:srgbClr val="1B2A38"/>
                </a:solidFill>
                <a:latin typeface="Calibri" pitchFamily="34" charset="0"/>
                <a:ea typeface="Calibri" pitchFamily="34" charset="-122"/>
                <a:cs typeface="Calibri" pitchFamily="34" charset="-120"/>
              </a:rPr>
              <a:t> — người CÓ QUYỀN hành động; tỷ lệ &gt; 100% → xám; ghi “v1 – ngày”.</a:t>
            </a:r>
            <a:endParaRPr lang="en-US" sz="1450" dirty="0"/>
          </a:p>
        </p:txBody>
      </p:sp>
      <p:sp>
        <p:nvSpPr>
          <p:cNvPr id="28" name="Shape 24"/>
          <p:cNvSpPr/>
          <p:nvPr/>
        </p:nvSpPr>
        <p:spPr>
          <a:xfrm>
            <a:off x="4800600" y="5497373"/>
            <a:ext cx="438912" cy="438912"/>
          </a:xfrm>
          <a:prstGeom prst="ellipse">
            <a:avLst/>
          </a:prstGeom>
          <a:solidFill>
            <a:srgbClr val="2E7D7A"/>
          </a:solidFill>
          <a:ln w="12700">
            <a:solidFill>
              <a:srgbClr val="2E7D7A"/>
            </a:solidFill>
            <a:prstDash val="solid"/>
          </a:ln>
        </p:spPr>
      </p:sp>
      <p:sp>
        <p:nvSpPr>
          <p:cNvPr id="29" name="Text 25"/>
          <p:cNvSpPr txBox="1"/>
          <p:nvPr/>
        </p:nvSpPr>
        <p:spPr>
          <a:xfrm>
            <a:off x="4800600" y="5497373"/>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0" name="Text 26"/>
          <p:cNvSpPr txBox="1"/>
          <p:nvPr/>
        </p:nvSpPr>
        <p:spPr>
          <a:xfrm>
            <a:off x="5394960" y="5451653"/>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Lưu vào Project</a:t>
            </a:r>
            <a:pPr indent="0" marL="0">
              <a:buNone/>
            </a:pPr>
            <a:r>
              <a:rPr lang="en-US" sz="1450" dirty="0">
                <a:solidFill>
                  <a:srgbClr val="1B2A38"/>
                </a:solidFill>
                <a:latin typeface="Calibri" pitchFamily="34" charset="0"/>
                <a:ea typeface="Calibri" pitchFamily="34" charset="-122"/>
                <a:cs typeface="Calibri" pitchFamily="34" charset="-120"/>
              </a:rPr>
              <a:t> — file Tu_dien_chi_so_v1 + 1 câu dẫn chiếu trong Instructions.</a:t>
            </a:r>
            <a:endParaRPr lang="en-US" sz="14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48640" cy="292608"/>
          </a:xfrm>
          <a:prstGeom prst="roundRect">
            <a:avLst>
              <a:gd name="adj" fmla="val 50000"/>
            </a:avLst>
          </a:prstGeom>
          <a:solidFill>
            <a:srgbClr val="DDEFEE"/>
          </a:solidFill>
          <a:ln w="12700">
            <a:solidFill>
              <a:srgbClr val="DDEFEE"/>
            </a:solidFill>
            <a:prstDash val="solid"/>
          </a:ln>
        </p:spPr>
      </p:sp>
      <p:sp>
        <p:nvSpPr>
          <p:cNvPr id="3" name="Text 1"/>
          <p:cNvSpPr txBox="1"/>
          <p:nvPr/>
        </p:nvSpPr>
        <p:spPr>
          <a:xfrm>
            <a:off x="548640" y="384048"/>
            <a:ext cx="548640" cy="292608"/>
          </a:xfrm>
          <a:prstGeom prst="rect">
            <a:avLst/>
          </a:prstGeom>
          <a:noFill/>
          <a:ln/>
        </p:spPr>
        <p:txBody>
          <a:bodyPr wrap="square" lIns="0" tIns="0" rIns="0" bIns="0" rtlCol="0" anchor="ctr"/>
          <a:lstStyle/>
          <a:p>
            <a:pPr algn="ctr" indent="0" marL="0">
              <a:buNone/>
            </a:pPr>
            <a:r>
              <a:rPr lang="en-US" sz="1050" b="1" spc="150" kern="0" dirty="0">
                <a:solidFill>
                  <a:srgbClr val="2E7D7A"/>
                </a:solidFill>
                <a:latin typeface="Calibri" pitchFamily="34" charset="0"/>
                <a:ea typeface="Calibri" pitchFamily="34" charset="-122"/>
                <a:cs typeface="Calibri" pitchFamily="34" charset="-120"/>
              </a:rPr>
              <a:t>DEMO</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Prompt mẫu — Từ điển chỉ số v1 (bước 1 + 2)</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4 · KPI năng suất &amp; dashboard</a:t>
            </a:r>
            <a:endParaRPr lang="en-US" sz="1000" dirty="0"/>
          </a:p>
        </p:txBody>
      </p:sp>
      <p:sp>
        <p:nvSpPr>
          <p:cNvPr id="7" name="Shape 4"/>
          <p:cNvSpPr/>
          <p:nvPr/>
        </p:nvSpPr>
        <p:spPr>
          <a:xfrm>
            <a:off x="548640" y="1691640"/>
            <a:ext cx="6949440" cy="4572000"/>
          </a:xfrm>
          <a:prstGeom prst="roundRect">
            <a:avLst>
              <a:gd name="adj" fmla="val 1600"/>
            </a:avLst>
          </a:prstGeom>
          <a:solidFill>
            <a:srgbClr val="1B2A38"/>
          </a:solidFill>
          <a:ln w="12700">
            <a:solidFill>
              <a:srgbClr val="1B2A38"/>
            </a:solidFill>
            <a:prstDash val="solid"/>
          </a:ln>
        </p:spPr>
      </p:sp>
      <p:sp>
        <p:nvSpPr>
          <p:cNvPr id="8" name="Shape 5"/>
          <p:cNvSpPr/>
          <p:nvPr/>
        </p:nvSpPr>
        <p:spPr>
          <a:xfrm>
            <a:off x="749808" y="1874520"/>
            <a:ext cx="384048" cy="384048"/>
          </a:xfrm>
          <a:prstGeom prst="roundRect">
            <a:avLst>
              <a:gd name="adj" fmla="val 22000"/>
            </a:avLst>
          </a:prstGeom>
          <a:solidFill>
            <a:srgbClr val="D9773A"/>
          </a:solidFill>
          <a:ln w="12700">
            <a:solidFill>
              <a:srgbClr val="D9773A"/>
            </a:solidFill>
            <a:prstDash val="solid"/>
          </a:ln>
        </p:spPr>
      </p:sp>
      <p:pic>
        <p:nvPicPr>
          <p:cNvPr id="9" name="Image 0" descr="preencoded.png">    </p:cNvPr>
          <p:cNvPicPr>
            <a:picLocks noChangeAspect="1"/>
          </p:cNvPicPr>
          <p:nvPr/>
        </p:nvPicPr>
        <p:blipFill>
          <a:blip r:embed="rId1"/>
          <a:stretch>
            <a:fillRect/>
          </a:stretch>
        </p:blipFill>
        <p:spPr>
          <a:xfrm>
            <a:off x="841980" y="1966692"/>
            <a:ext cx="199705" cy="199705"/>
          </a:xfrm>
          <a:prstGeom prst="rect">
            <a:avLst/>
          </a:prstGeom>
        </p:spPr>
      </p:pic>
      <p:sp>
        <p:nvSpPr>
          <p:cNvPr id="10" name="Text 6"/>
          <p:cNvSpPr txBox="1"/>
          <p:nvPr/>
        </p:nvSpPr>
        <p:spPr>
          <a:xfrm>
            <a:off x="1280160" y="1874520"/>
            <a:ext cx="4572000" cy="384048"/>
          </a:xfrm>
          <a:prstGeom prst="rect">
            <a:avLst/>
          </a:prstGeom>
          <a:noFill/>
          <a:ln/>
        </p:spPr>
        <p:txBody>
          <a:bodyPr wrap="square" lIns="0" tIns="0" rIns="0" bIns="0" rtlCol="0" anchor="ctr"/>
          <a:lstStyle/>
          <a:p>
            <a:pPr indent="0" marL="0">
              <a:buNone/>
            </a:pPr>
            <a:r>
              <a:rPr lang="en-US" sz="1100" b="1" spc="150" kern="0" dirty="0">
                <a:solidFill>
                  <a:srgbClr val="D9773A"/>
                </a:solidFill>
                <a:latin typeface="Calibri" pitchFamily="34" charset="0"/>
                <a:ea typeface="Calibri" pitchFamily="34" charset="-122"/>
                <a:cs typeface="Calibri" pitchFamily="34" charset="-120"/>
              </a:rPr>
              <a:t>PROMPT — dán vào Claude</a:t>
            </a:r>
            <a:endParaRPr lang="en-US" sz="1100" dirty="0"/>
          </a:p>
        </p:txBody>
      </p:sp>
      <p:sp>
        <p:nvSpPr>
          <p:cNvPr id="11" name="Text 7"/>
          <p:cNvSpPr txBox="1"/>
          <p:nvPr/>
        </p:nvSpPr>
        <p:spPr>
          <a:xfrm>
            <a:off x="822960" y="2423160"/>
            <a:ext cx="6400800" cy="3657600"/>
          </a:xfrm>
          <a:prstGeom prst="rect">
            <a:avLst/>
          </a:prstGeom>
          <a:noFill/>
          <a:ln/>
        </p:spPr>
        <p:txBody>
          <a:bodyPr wrap="square" lIns="0" tIns="0" rIns="0" bIns="0" rtlCol="0" anchor="t">
            <a:normAutofit/>
          </a:bodyPr>
          <a:lstStyle/>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Dựa trên Phụ lục A (Từ điển chỉ số) và danh_sach_du_an.csv,</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lập "Từ điển chỉ số v1" cho Sao Việt dạng bảng, các cột:</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Mã | Tên chỉ số | Công thức (ghi rõ TỬ SỐ và MẪU SỐ) |</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Nguồn (file + cột) | Phạm vi (TS-BH / CS-VT / cả hai) |</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Chiều tốt | Mục tiêu | Ngưỡng vàng | Ngưỡng đỏ |</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Người chịu trách nhiệm | Tần suất | Quy tắc loại trừ.</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Tối thiểu: cuộc/giờ công, cuộc thành công/giờ công, tỷ lệ chốt,</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AHT, tỷ lệ đăng nhập, tỷ lệ sản xuất, occupancy, shrinkage,</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adherence, tỷ lệ nghe máy, tỷ lệ đi muộn, vắng không phép,</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chênh lệch công &gt; 60 phút, giờ công lãng phí.</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"Giờ công" = giờ có mặt (máy chấm công − nghỉ giữa ca).</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Để trống ô ngưỡng nếu chưa đủ căn cứ, KHÔNG tự bịa.</a:t>
            </a:r>
            <a:endParaRPr lang="en-US" sz="1250" dirty="0"/>
          </a:p>
          <a:p>
            <a:pPr indent="0" marL="0">
              <a:spcAft>
                <a:spcPts val="200"/>
              </a:spcAft>
              <a:buNone/>
            </a:pP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Bước 2: tách cuộc/giờ công, tỷ lệ sản xuất, occupancy, AHT</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thành 2 dòng TS-BH / CS-VT. Mục tiêu hợp đồng (0,6 TC/giờ;</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nghe máy ≥ 90%; AHT ≤ 360 giây) là NGƯỠNG ĐỎ tối thiểu.</a:t>
            </a:r>
            <a:endParaRPr lang="en-US" sz="1250" dirty="0"/>
          </a:p>
        </p:txBody>
      </p:sp>
      <p:sp>
        <p:nvSpPr>
          <p:cNvPr id="12" name="Text 8"/>
          <p:cNvSpPr txBox="1"/>
          <p:nvPr/>
        </p:nvSpPr>
        <p:spPr>
          <a:xfrm>
            <a:off x="7818120" y="1691640"/>
            <a:ext cx="3824935" cy="411480"/>
          </a:xfrm>
          <a:prstGeom prst="rect">
            <a:avLst/>
          </a:prstGeom>
          <a:noFill/>
          <a:ln/>
        </p:spPr>
        <p:txBody>
          <a:bodyPr wrap="square" lIns="0" tIns="0" rIns="0" bIns="0" rtlCol="0" anchor="t"/>
          <a:lstStyle/>
          <a:p>
            <a:pPr indent="0" marL="0">
              <a:buNone/>
            </a:pPr>
            <a:r>
              <a:rPr lang="en-US" sz="1700" b="1" dirty="0">
                <a:solidFill>
                  <a:srgbClr val="1B2A38"/>
                </a:solidFill>
                <a:latin typeface="Cambria" pitchFamily="34" charset="0"/>
                <a:ea typeface="Cambria" pitchFamily="34" charset="-122"/>
                <a:cs typeface="Cambria" pitchFamily="34" charset="-120"/>
              </a:rPr>
              <a:t>Vì sao viết như vậy?</a:t>
            </a:r>
            <a:endParaRPr lang="en-US" sz="1700" dirty="0"/>
          </a:p>
        </p:txBody>
      </p:sp>
      <p:sp>
        <p:nvSpPr>
          <p:cNvPr id="13" name="Text 9"/>
          <p:cNvSpPr txBox="1"/>
          <p:nvPr/>
        </p:nvSpPr>
        <p:spPr>
          <a:xfrm>
            <a:off x="7818120" y="2240280"/>
            <a:ext cx="3824935" cy="4023360"/>
          </a:xfrm>
          <a:prstGeom prst="rect">
            <a:avLst/>
          </a:prstGeom>
          <a:noFill/>
          <a:ln/>
        </p:spPr>
        <p:txBody>
          <a:bodyPr wrap="square" lIns="0" tIns="0" rIns="0" bIns="0" rtlCol="0" anchor="t">
            <a:normAutofit/>
          </a:bodyPr>
          <a:lstStyle/>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Ghi rõ TỬ SỐ và MẪU SỐ:</a:t>
            </a:r>
            <a:pPr indent="0" marL="0">
              <a:buNone/>
            </a:pPr>
            <a:r>
              <a:rPr lang="en-US" sz="1400" dirty="0">
                <a:solidFill>
                  <a:srgbClr val="1B2A38"/>
                </a:solidFill>
                <a:latin typeface="Calibri" pitchFamily="34" charset="0"/>
                <a:ea typeface="Calibri" pitchFamily="34" charset="-122"/>
                <a:cs typeface="Calibri" pitchFamily="34" charset="-120"/>
              </a:rPr>
              <a:t> phần lớn tranh cãi số liệu nằm ở mẫu số.</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“Giờ công” = giờ có mặt:</a:t>
            </a:r>
            <a:pPr indent="0" marL="0">
              <a:buNone/>
            </a:pPr>
            <a:r>
              <a:rPr lang="en-US" sz="1400" dirty="0">
                <a:solidFill>
                  <a:srgbClr val="1B2A38"/>
                </a:solidFill>
                <a:latin typeface="Calibri" pitchFamily="34" charset="0"/>
                <a:ea typeface="Calibri" pitchFamily="34" charset="-122"/>
                <a:cs typeface="Calibri" pitchFamily="34" charset="-120"/>
              </a:rPr>
              <a:t> chốt một lần, mọi chỉ số “/giờ công” dùng chung.</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Quy tắc loại trừ:</a:t>
            </a:r>
            <a:pPr indent="0" marL="0">
              <a:buNone/>
            </a:pPr>
            <a:r>
              <a:rPr lang="en-US" sz="1400" dirty="0">
                <a:solidFill>
                  <a:srgbClr val="1B2A38"/>
                </a:solidFill>
                <a:latin typeface="Calibri" pitchFamily="34" charset="0"/>
                <a:ea typeface="Calibri" pitchFamily="34" charset="-122"/>
                <a:cs typeface="Calibri" pitchFamily="34" charset="-120"/>
              </a:rPr>
              <a:t> treo line, chặng chuyển tiếp, trạng thái ngoài phiên LOGIN → LOGOUT.</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Không tự bịa ngưỡng:</a:t>
            </a:r>
            <a:pPr indent="0" marL="0">
              <a:buNone/>
            </a:pPr>
            <a:r>
              <a:rPr lang="en-US" sz="1400" dirty="0">
                <a:solidFill>
                  <a:srgbClr val="1B2A38"/>
                </a:solidFill>
                <a:latin typeface="Calibri" pitchFamily="34" charset="0"/>
                <a:ea typeface="Calibri" pitchFamily="34" charset="-122"/>
                <a:cs typeface="Calibri" pitchFamily="34" charset="-120"/>
              </a:rPr>
              <a:t> Claude hay điền “chuẩn ngành” cho mọi ô.</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Hợp đồng = ngưỡng đỏ:</a:t>
            </a:r>
            <a:pPr indent="0" marL="0">
              <a:buNone/>
            </a:pPr>
            <a:r>
              <a:rPr lang="en-US" sz="1400" dirty="0">
                <a:solidFill>
                  <a:srgbClr val="1B2A38"/>
                </a:solidFill>
                <a:latin typeface="Calibri" pitchFamily="34" charset="0"/>
                <a:ea typeface="Calibri" pitchFamily="34" charset="-122"/>
                <a:cs typeface="Calibri" pitchFamily="34" charset="-120"/>
              </a:rPr>
              <a:t> biết có vấn đề TRƯỚC khi vi phạm hợp đồng.</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591056" cy="292608"/>
          </a:xfrm>
          <a:prstGeom prst="roundRect">
            <a:avLst>
              <a:gd name="adj" fmla="val 50000"/>
            </a:avLst>
          </a:prstGeom>
          <a:solidFill>
            <a:srgbClr val="DDF1E5"/>
          </a:solidFill>
          <a:ln w="12700">
            <a:solidFill>
              <a:srgbClr val="DDF1E5"/>
            </a:solidFill>
            <a:prstDash val="solid"/>
          </a:ln>
        </p:spPr>
      </p:sp>
      <p:sp>
        <p:nvSpPr>
          <p:cNvPr id="3" name="Text 1"/>
          <p:cNvSpPr txBox="1"/>
          <p:nvPr/>
        </p:nvSpPr>
        <p:spPr>
          <a:xfrm>
            <a:off x="548640" y="384048"/>
            <a:ext cx="1591056" cy="292608"/>
          </a:xfrm>
          <a:prstGeom prst="rect">
            <a:avLst/>
          </a:prstGeom>
          <a:noFill/>
          <a:ln/>
        </p:spPr>
        <p:txBody>
          <a:bodyPr wrap="square" lIns="0" tIns="0" rIns="0" bIns="0" rtlCol="0" anchor="ctr"/>
          <a:lstStyle/>
          <a:p>
            <a:pPr algn="ctr" indent="0" marL="0">
              <a:buNone/>
            </a:pPr>
            <a:r>
              <a:rPr lang="en-US" sz="1050" b="1" spc="150" kern="0" dirty="0">
                <a:solidFill>
                  <a:srgbClr val="2E8B57"/>
                </a:solidFill>
                <a:latin typeface="Calibri" pitchFamily="34" charset="0"/>
                <a:ea typeface="Calibri" pitchFamily="34" charset="-122"/>
                <a:cs typeface="Calibri" pitchFamily="34" charset="-120"/>
              </a:rPr>
              <a:t>KẾT QUẢ MONG ĐỢI</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Kết quả mong đợi Lab 4.1 — trích Từ điển chỉ số v1</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4 · KPI năng suất &amp; dashboard</a:t>
            </a:r>
            <a:endParaRPr lang="en-US" sz="1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553477"/>
                <a:gridCol w="968560"/>
                <a:gridCol w="1849069"/>
                <a:gridCol w="2113222"/>
                <a:gridCol w="1937120"/>
                <a:gridCol w="1672967"/>
              </a:tblGrid>
              <a:tr h="42164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Chỉ số</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Phạm vi</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Xanh (mục tiêu)</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Vàng</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Đỏ</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Chịu trách nhiệm</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r>
              <a:tr h="421640">
                <a:tc>
                  <a:txBody>
                    <a:bodyPr/>
                    <a:lstStyle/>
                    <a:p>
                      <a:pPr indent="0" marL="0">
                        <a:buNone/>
                      </a:pPr>
                      <a:r>
                        <a:rPr lang="en-US" sz="1300" b="1" dirty="0">
                          <a:solidFill>
                            <a:srgbClr val="1B2A38"/>
                          </a:solidFill>
                          <a:latin typeface="Calibri" pitchFamily="34" charset="0"/>
                          <a:ea typeface="Calibri" pitchFamily="34" charset="-122"/>
                          <a:cs typeface="Calibri" pitchFamily="34" charset="-120"/>
                        </a:rPr>
                        <a:t>Cuộc thành công / giờ công</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TS-BH</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 1,1 (mục tiêu 1,3)</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0,8 – &lt; 1,1</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&lt; 0,8 (hợp đồng 0,6)</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Trưởng ca</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421640">
                <a:tc>
                  <a:txBody>
                    <a:bodyPr/>
                    <a:lstStyle/>
                    <a:p>
                      <a:pPr indent="0" marL="0">
                        <a:buNone/>
                      </a:pPr>
                      <a:r>
                        <a:rPr lang="en-US" sz="1300" b="1" dirty="0">
                          <a:solidFill>
                            <a:srgbClr val="1B2A38"/>
                          </a:solidFill>
                          <a:latin typeface="Calibri" pitchFamily="34" charset="0"/>
                          <a:ea typeface="Calibri" pitchFamily="34" charset="-122"/>
                          <a:cs typeface="Calibri" pitchFamily="34" charset="-120"/>
                        </a:rPr>
                        <a:t>Cuộc / giờ công</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TS-BH</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21 – 27</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18 – &lt; 21 hoặc &gt; 27</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&lt; 18</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Trưởng ca</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21640">
                <a:tc>
                  <a:txBody>
                    <a:bodyPr/>
                    <a:lstStyle/>
                    <a:p>
                      <a:pPr indent="0" marL="0">
                        <a:buNone/>
                      </a:pPr>
                      <a:r>
                        <a:rPr lang="en-US" sz="1300" b="1" dirty="0">
                          <a:solidFill>
                            <a:srgbClr val="1B2A38"/>
                          </a:solidFill>
                          <a:latin typeface="Calibri" pitchFamily="34" charset="0"/>
                          <a:ea typeface="Calibri" pitchFamily="34" charset="-122"/>
                          <a:cs typeface="Calibri" pitchFamily="34" charset="-120"/>
                        </a:rPr>
                        <a:t>Cuộc / giờ công</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CS-VT</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 6,5</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5,5 – &lt; 6,5</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&lt; 5,5</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Trưởng ca</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421640">
                <a:tc>
                  <a:txBody>
                    <a:bodyPr/>
                    <a:lstStyle/>
                    <a:p>
                      <a:pPr indent="0" marL="0">
                        <a:buNone/>
                      </a:pPr>
                      <a:r>
                        <a:rPr lang="en-US" sz="1300" b="1" dirty="0">
                          <a:solidFill>
                            <a:srgbClr val="1B2A38"/>
                          </a:solidFill>
                          <a:latin typeface="Calibri" pitchFamily="34" charset="0"/>
                          <a:ea typeface="Calibri" pitchFamily="34" charset="-122"/>
                          <a:cs typeface="Calibri" pitchFamily="34" charset="-120"/>
                        </a:rPr>
                        <a:t>Tỷ lệ sản xuất</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TS-BH</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 57%</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50 – &lt; 57%</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&lt; 50%</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Trưởng vận hành</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21640">
                <a:tc>
                  <a:txBody>
                    <a:bodyPr/>
                    <a:lstStyle/>
                    <a:p>
                      <a:pPr indent="0" marL="0">
                        <a:buNone/>
                      </a:pPr>
                      <a:r>
                        <a:rPr lang="en-US" sz="1300" b="1" dirty="0">
                          <a:solidFill>
                            <a:srgbClr val="1B2A38"/>
                          </a:solidFill>
                          <a:latin typeface="Calibri" pitchFamily="34" charset="0"/>
                          <a:ea typeface="Calibri" pitchFamily="34" charset="-122"/>
                          <a:cs typeface="Calibri" pitchFamily="34" charset="-120"/>
                        </a:rPr>
                        <a:t>Tỷ lệ sản xuất</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CS-VT</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 60%</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55 – &lt; 60%</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&lt; 55%</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Trưởng vận hành</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421640">
                <a:tc>
                  <a:txBody>
                    <a:bodyPr/>
                    <a:lstStyle/>
                    <a:p>
                      <a:pPr indent="0" marL="0">
                        <a:buNone/>
                      </a:pPr>
                      <a:r>
                        <a:rPr lang="en-US" sz="1300" b="1" dirty="0">
                          <a:solidFill>
                            <a:srgbClr val="1B2A38"/>
                          </a:solidFill>
                          <a:latin typeface="Calibri" pitchFamily="34" charset="0"/>
                          <a:ea typeface="Calibri" pitchFamily="34" charset="-122"/>
                          <a:cs typeface="Calibri" pitchFamily="34" charset="-120"/>
                        </a:rPr>
                        <a:t>Occupancy</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CS-VT</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75 – 85%</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65 – 75% hoặc 85 – 90%</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&lt; 65% hoặc &gt; 90%</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Trưởng vận hành</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21640">
                <a:tc>
                  <a:txBody>
                    <a:bodyPr/>
                    <a:lstStyle/>
                    <a:p>
                      <a:pPr indent="0" marL="0">
                        <a:buNone/>
                      </a:pPr>
                      <a:r>
                        <a:rPr lang="en-US" sz="1300" b="1" dirty="0">
                          <a:solidFill>
                            <a:srgbClr val="1B2A38"/>
                          </a:solidFill>
                          <a:latin typeface="Calibri" pitchFamily="34" charset="0"/>
                          <a:ea typeface="Calibri" pitchFamily="34" charset="-122"/>
                          <a:cs typeface="Calibri" pitchFamily="34" charset="-120"/>
                        </a:rPr>
                        <a:t>AHT</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CS-VT</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 360 giây</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&gt; 360 – 420 giây</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&gt; 420 giây</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Trưởng ca</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421640">
                <a:tc>
                  <a:txBody>
                    <a:bodyPr/>
                    <a:lstStyle/>
                    <a:p>
                      <a:pPr indent="0" marL="0">
                        <a:buNone/>
                      </a:pPr>
                      <a:r>
                        <a:rPr lang="en-US" sz="1300" b="1" dirty="0">
                          <a:solidFill>
                            <a:srgbClr val="1B2A38"/>
                          </a:solidFill>
                          <a:latin typeface="Calibri" pitchFamily="34" charset="0"/>
                          <a:ea typeface="Calibri" pitchFamily="34" charset="-122"/>
                          <a:cs typeface="Calibri" pitchFamily="34" charset="-120"/>
                        </a:rPr>
                        <a:t>Tỷ lệ đăng nhập</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Cả hai</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 95%</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90 – &lt; 95%</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&lt; 90%; &gt; 100% → xám</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Trưởng ca + HR</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bl>
          </a:graphicData>
        </a:graphic>
      </p:graphicFrame>
      <p:sp>
        <p:nvSpPr>
          <p:cNvPr id="8" name="Shape 4"/>
          <p:cNvSpPr/>
          <p:nvPr/>
        </p:nvSpPr>
        <p:spPr>
          <a:xfrm>
            <a:off x="548640" y="5669280"/>
            <a:ext cx="11094415" cy="594360"/>
          </a:xfrm>
          <a:prstGeom prst="roundRect">
            <a:avLst>
              <a:gd name="adj" fmla="val 12308"/>
            </a:avLst>
          </a:prstGeom>
          <a:solidFill>
            <a:srgbClr val="FBE7DA"/>
          </a:solidFill>
          <a:ln w="12700">
            <a:solidFill>
              <a:srgbClr val="FBE7DA"/>
            </a:solidFill>
            <a:prstDash val="solid"/>
          </a:ln>
        </p:spPr>
      </p:sp>
      <p:sp>
        <p:nvSpPr>
          <p:cNvPr id="9" name="Text 5"/>
          <p:cNvSpPr txBox="1"/>
          <p:nvPr/>
        </p:nvSpPr>
        <p:spPr>
          <a:xfrm>
            <a:off x="777240" y="5669280"/>
            <a:ext cx="10637215" cy="594360"/>
          </a:xfrm>
          <a:prstGeom prst="rect">
            <a:avLst/>
          </a:prstGeom>
          <a:noFill/>
          <a:ln/>
        </p:spPr>
        <p:txBody>
          <a:bodyPr wrap="square" lIns="0" tIns="0" rIns="0" bIns="0" rtlCol="0" anchor="ctr">
            <a:normAutofit/>
          </a:bodyPr>
          <a:lstStyle/>
          <a:p>
            <a:pPr indent="0" marL="0">
              <a:buNone/>
            </a:pPr>
            <a:r>
              <a:rPr lang="en-US" sz="1350" dirty="0">
                <a:solidFill>
                  <a:srgbClr val="1B2A38"/>
                </a:solidFill>
                <a:latin typeface="Calibri" pitchFamily="34" charset="0"/>
                <a:ea typeface="Calibri" pitchFamily="34" charset="-122"/>
                <a:cs typeface="Calibri" pitchFamily="34" charset="-120"/>
              </a:rPr>
              <a:t>Áp lên 14 ngày: TC/giờ TS-BH 9 xanh · NV0108 vàng · NV0103 đỏ. Occupancy CS-VT 0 xanh → vấn đề xếp ca theo giờ, không phải cá nhân.</a:t>
            </a:r>
            <a:endParaRPr lang="en-US" sz="13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61772" cy="292608"/>
          </a:xfrm>
          <a:prstGeom prst="roundRect">
            <a:avLst>
              <a:gd name="adj" fmla="val 50000"/>
            </a:avLst>
          </a:prstGeom>
          <a:solidFill>
            <a:srgbClr val="DDEFEE"/>
          </a:solidFill>
          <a:ln w="12700">
            <a:solidFill>
              <a:srgbClr val="DDEFEE"/>
            </a:solidFill>
            <a:prstDash val="solid"/>
          </a:ln>
        </p:spPr>
      </p:sp>
      <p:sp>
        <p:nvSpPr>
          <p:cNvPr id="3" name="Text 1"/>
          <p:cNvSpPr txBox="1"/>
          <p:nvPr/>
        </p:nvSpPr>
        <p:spPr>
          <a:xfrm>
            <a:off x="548640" y="384048"/>
            <a:ext cx="461772" cy="292608"/>
          </a:xfrm>
          <a:prstGeom prst="rect">
            <a:avLst/>
          </a:prstGeom>
          <a:noFill/>
          <a:ln/>
        </p:spPr>
        <p:txBody>
          <a:bodyPr wrap="square" lIns="0" tIns="0" rIns="0" bIns="0" rtlCol="0" anchor="ctr"/>
          <a:lstStyle/>
          <a:p>
            <a:pPr algn="ctr" indent="0" marL="0">
              <a:buNone/>
            </a:pPr>
            <a:r>
              <a:rPr lang="en-US" sz="1050" b="1" spc="150" kern="0" dirty="0">
                <a:solidFill>
                  <a:srgbClr val="2E7D7A"/>
                </a:solidFill>
                <a:latin typeface="Calibri" pitchFamily="34" charset="0"/>
                <a:ea typeface="Calibri" pitchFamily="34" charset="-122"/>
                <a:cs typeface="Calibri" pitchFamily="34" charset="-120"/>
              </a:rPr>
              <a:t>LAB</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Lab 4.2 · Scorecard agent trong Sheets</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4 · KPI năng suất &amp; dashboard</a:t>
            </a:r>
            <a:endParaRPr lang="en-US" sz="1000" dirty="0"/>
          </a:p>
        </p:txBody>
      </p:sp>
      <p:sp>
        <p:nvSpPr>
          <p:cNvPr id="7" name="Shape 4"/>
          <p:cNvSpPr/>
          <p:nvPr/>
        </p:nvSpPr>
        <p:spPr>
          <a:xfrm>
            <a:off x="548640" y="1691640"/>
            <a:ext cx="3931920" cy="4572000"/>
          </a:xfrm>
          <a:prstGeom prst="roundRect">
            <a:avLst>
              <a:gd name="adj" fmla="val 2326"/>
            </a:avLst>
          </a:prstGeom>
          <a:solidFill>
            <a:srgbClr val="DDEFEE"/>
          </a:solidFill>
          <a:ln w="12700">
            <a:solidFill>
              <a:srgbClr val="DDEFEE"/>
            </a:solidFill>
            <a:prstDash val="solid"/>
          </a:ln>
        </p:spPr>
      </p:sp>
      <p:sp>
        <p:nvSpPr>
          <p:cNvPr id="8" name="Shape 5"/>
          <p:cNvSpPr/>
          <p:nvPr/>
        </p:nvSpPr>
        <p:spPr>
          <a:xfrm>
            <a:off x="777240" y="1920240"/>
            <a:ext cx="502920" cy="502920"/>
          </a:xfrm>
          <a:prstGeom prst="roundRect">
            <a:avLst>
              <a:gd name="adj" fmla="val 22000"/>
            </a:avLst>
          </a:prstGeom>
          <a:solidFill>
            <a:srgbClr val="2E7D7A"/>
          </a:solidFill>
          <a:ln w="12700">
            <a:solidFill>
              <a:srgbClr val="2E7D7A"/>
            </a:solidFill>
            <a:prstDash val="solid"/>
          </a:ln>
        </p:spPr>
      </p:sp>
      <p:pic>
        <p:nvPicPr>
          <p:cNvPr id="9" name="Image 0" descr="preencoded.png">    </p:cNvPr>
          <p:cNvPicPr>
            <a:picLocks noChangeAspect="1"/>
          </p:cNvPicPr>
          <p:nvPr/>
        </p:nvPicPr>
        <p:blipFill>
          <a:blip r:embed="rId1"/>
          <a:stretch>
            <a:fillRect/>
          </a:stretch>
        </p:blipFill>
        <p:spPr>
          <a:xfrm>
            <a:off x="897941" y="2040941"/>
            <a:ext cx="261518" cy="261518"/>
          </a:xfrm>
          <a:prstGeom prst="rect">
            <a:avLst/>
          </a:prstGeom>
        </p:spPr>
      </p:pic>
      <p:sp>
        <p:nvSpPr>
          <p:cNvPr id="10" name="Text 6"/>
          <p:cNvSpPr txBox="1"/>
          <p:nvPr/>
        </p:nvSpPr>
        <p:spPr>
          <a:xfrm>
            <a:off x="1417320" y="1920240"/>
            <a:ext cx="2743200" cy="502920"/>
          </a:xfrm>
          <a:prstGeom prst="rect">
            <a:avLst/>
          </a:prstGeom>
          <a:noFill/>
          <a:ln/>
        </p:spPr>
        <p:txBody>
          <a:bodyPr wrap="square" lIns="0" tIns="0" rIns="0" bIns="0" rtlCol="0" anchor="ctr"/>
          <a:lstStyle/>
          <a:p>
            <a:pPr indent="0" marL="0">
              <a:buNone/>
            </a:pPr>
            <a:r>
              <a:rPr lang="en-US" sz="2200" b="1" dirty="0">
                <a:solidFill>
                  <a:srgbClr val="2E7D7A"/>
                </a:solidFill>
                <a:latin typeface="Cambria" pitchFamily="34" charset="0"/>
                <a:ea typeface="Cambria" pitchFamily="34" charset="-122"/>
                <a:cs typeface="Cambria" pitchFamily="34" charset="-120"/>
              </a:rPr>
              <a:t>20 phút</a:t>
            </a:r>
            <a:endParaRPr lang="en-US" sz="2200" dirty="0"/>
          </a:p>
        </p:txBody>
      </p:sp>
      <p:sp>
        <p:nvSpPr>
          <p:cNvPr id="11" name="Text 7"/>
          <p:cNvSpPr txBox="1"/>
          <p:nvPr/>
        </p:nvSpPr>
        <p:spPr>
          <a:xfrm>
            <a:off x="777240" y="2606040"/>
            <a:ext cx="3474720" cy="1325880"/>
          </a:xfrm>
          <a:prstGeom prst="rect">
            <a:avLst/>
          </a:prstGeom>
          <a:noFill/>
          <a:ln/>
        </p:spPr>
        <p:txBody>
          <a:bodyPr wrap="square" lIns="0" tIns="0" rIns="0" bIns="0" rtlCol="0" anchor="t">
            <a:normAutofit/>
          </a:bodyPr>
          <a:lstStyle/>
          <a:p>
            <a:pPr indent="0" marL="0">
              <a:buNone/>
            </a:pPr>
            <a:r>
              <a:rPr lang="en-US" sz="1400" b="1" dirty="0">
                <a:solidFill>
                  <a:srgbClr val="2E7D7A"/>
                </a:solidFill>
                <a:latin typeface="Calibri" pitchFamily="34" charset="0"/>
                <a:ea typeface="Calibri" pitchFamily="34" charset="-122"/>
                <a:cs typeface="Calibri" pitchFamily="34" charset="-120"/>
              </a:rPr>
              <a:t>Mục tiêu  </a:t>
            </a:r>
            <a:pPr indent="0" marL="0">
              <a:buNone/>
            </a:pPr>
            <a:r>
              <a:rPr lang="en-US" sz="1400" dirty="0">
                <a:solidFill>
                  <a:srgbClr val="1B2A38"/>
                </a:solidFill>
                <a:latin typeface="Calibri" pitchFamily="34" charset="0"/>
                <a:ea typeface="Calibri" pitchFamily="34" charset="-122"/>
                <a:cs typeface="Calibri" pitchFamily="34" charset="-120"/>
              </a:rPr>
              <a:t>File scorecard “sống”: dán KPI tuần mới là điểm và hạng tự cập nhật — Trưởng ca biết kèm ai, về khâu nào.</a:t>
            </a:r>
            <a:endParaRPr lang="en-US" sz="1400" dirty="0"/>
          </a:p>
        </p:txBody>
      </p:sp>
      <p:sp>
        <p:nvSpPr>
          <p:cNvPr id="12" name="Text 8"/>
          <p:cNvSpPr txBox="1"/>
          <p:nvPr/>
        </p:nvSpPr>
        <p:spPr>
          <a:xfrm>
            <a:off x="777240" y="3977640"/>
            <a:ext cx="3474720" cy="274320"/>
          </a:xfrm>
          <a:prstGeom prst="rect">
            <a:avLst/>
          </a:prstGeom>
          <a:noFill/>
          <a:ln/>
        </p:spPr>
        <p:txBody>
          <a:bodyPr wrap="square" lIns="0" tIns="0" rIns="0" bIns="0" rtlCol="0" anchor="t"/>
          <a:lstStyle/>
          <a:p>
            <a:pPr indent="0" marL="0">
              <a:buNone/>
            </a:pPr>
            <a:r>
              <a:rPr lang="en-US" sz="1250" b="1" dirty="0">
                <a:solidFill>
                  <a:srgbClr val="2E7D7A"/>
                </a:solidFill>
                <a:latin typeface="Calibri" pitchFamily="34" charset="0"/>
                <a:ea typeface="Calibri" pitchFamily="34" charset="-122"/>
                <a:cs typeface="Calibri" pitchFamily="34" charset="-120"/>
              </a:rPr>
              <a:t>Dữ liệu dùng</a:t>
            </a:r>
            <a:endParaRPr lang="en-US" sz="1250" dirty="0"/>
          </a:p>
        </p:txBody>
      </p:sp>
      <p:sp>
        <p:nvSpPr>
          <p:cNvPr id="13" name="Text 9"/>
          <p:cNvSpPr txBox="1"/>
          <p:nvPr/>
        </p:nvSpPr>
        <p:spPr>
          <a:xfrm>
            <a:off x="777240" y="4279392"/>
            <a:ext cx="3474720" cy="859536"/>
          </a:xfrm>
          <a:prstGeom prst="rect">
            <a:avLst/>
          </a:prstGeom>
          <a:noFill/>
          <a:ln/>
        </p:spPr>
        <p:txBody>
          <a:bodyPr wrap="square" lIns="0" tIns="0" rIns="0" bIns="0" rtlCol="0" anchor="t">
            <a:normAutofit/>
          </a:bodyPr>
          <a:lstStyle/>
          <a:p>
            <a:pPr indent="0" marL="0">
              <a:buNone/>
            </a:pPr>
            <a:r>
              <a:rPr lang="en-US" sz="1050" dirty="0">
                <a:solidFill>
                  <a:srgbClr val="1B2A38"/>
                </a:solidFill>
                <a:latin typeface="Courier New" pitchFamily="34" charset="0"/>
                <a:ea typeface="Courier New" pitchFamily="34" charset="-122"/>
                <a:cs typeface="Courier New" pitchFamily="34" charset="-120"/>
              </a:rPr>
              <a:t>Tu_dien_chi_so_v1 (Lab 4.1)</a:t>
            </a:r>
            <a:endParaRPr lang="en-US" sz="1050" dirty="0"/>
          </a:p>
          <a:p>
            <a:pPr indent="0" marL="0">
              <a:buNone/>
            </a:pPr>
            <a:r>
              <a:rPr lang="en-US" sz="1050" dirty="0">
                <a:solidFill>
                  <a:srgbClr val="1B2A38"/>
                </a:solidFill>
                <a:latin typeface="Courier New" pitchFamily="34" charset="0"/>
                <a:ea typeface="Courier New" pitchFamily="34" charset="-122"/>
                <a:cs typeface="Courier New" pitchFamily="34" charset="-120"/>
              </a:rPr>
              <a:t>call_log · trang_thai_agent · cham_cong</a:t>
            </a:r>
            <a:endParaRPr lang="en-US" sz="1050" dirty="0"/>
          </a:p>
          <a:p>
            <a:pPr indent="0" marL="0">
              <a:buNone/>
            </a:pPr>
            <a:r>
              <a:rPr lang="en-US" sz="1050" dirty="0">
                <a:solidFill>
                  <a:srgbClr val="1B2A38"/>
                </a:solidFill>
                <a:latin typeface="Courier New" pitchFamily="34" charset="0"/>
                <a:ea typeface="Courier New" pitchFamily="34" charset="-122"/>
                <a:cs typeface="Courier New" pitchFamily="34" charset="-120"/>
              </a:rPr>
              <a:t>lich_ca · don_phep_ot · danh_sach_agent</a:t>
            </a:r>
            <a:endParaRPr lang="en-US" sz="1050" dirty="0"/>
          </a:p>
        </p:txBody>
      </p:sp>
      <p:sp>
        <p:nvSpPr>
          <p:cNvPr id="14" name="Text 10"/>
          <p:cNvSpPr txBox="1"/>
          <p:nvPr/>
        </p:nvSpPr>
        <p:spPr>
          <a:xfrm>
            <a:off x="777240" y="5202936"/>
            <a:ext cx="3474720" cy="274320"/>
          </a:xfrm>
          <a:prstGeom prst="rect">
            <a:avLst/>
          </a:prstGeom>
          <a:noFill/>
          <a:ln/>
        </p:spPr>
        <p:txBody>
          <a:bodyPr wrap="square" lIns="0" tIns="0" rIns="0" bIns="0" rtlCol="0" anchor="t"/>
          <a:lstStyle/>
          <a:p>
            <a:pPr indent="0" marL="0">
              <a:buNone/>
            </a:pPr>
            <a:r>
              <a:rPr lang="en-US" sz="1250" b="1" dirty="0">
                <a:solidFill>
                  <a:srgbClr val="2E7D7A"/>
                </a:solidFill>
                <a:latin typeface="Calibri" pitchFamily="34" charset="0"/>
                <a:ea typeface="Calibri" pitchFamily="34" charset="-122"/>
                <a:cs typeface="Calibri" pitchFamily="34" charset="-120"/>
              </a:rPr>
              <a:t>Sản phẩm</a:t>
            </a:r>
            <a:endParaRPr lang="en-US" sz="1250" dirty="0"/>
          </a:p>
        </p:txBody>
      </p:sp>
      <p:sp>
        <p:nvSpPr>
          <p:cNvPr id="15" name="Text 11"/>
          <p:cNvSpPr txBox="1"/>
          <p:nvPr/>
        </p:nvSpPr>
        <p:spPr>
          <a:xfrm>
            <a:off x="777240" y="5504688"/>
            <a:ext cx="3474720" cy="603504"/>
          </a:xfrm>
          <a:prstGeom prst="rect">
            <a:avLst/>
          </a:prstGeom>
          <a:noFill/>
          <a:ln/>
        </p:spPr>
        <p:txBody>
          <a:bodyPr wrap="square" lIns="0" tIns="0" rIns="0" bIns="0" rtlCol="0" anchor="t">
            <a:normAutofit/>
          </a:bodyPr>
          <a:lstStyle/>
          <a:p>
            <a:pPr indent="0" marL="0">
              <a:buNone/>
            </a:pPr>
            <a:r>
              <a:rPr lang="en-US" sz="1300" dirty="0">
                <a:solidFill>
                  <a:srgbClr val="1B2A38"/>
                </a:solidFill>
                <a:latin typeface="Calibri" pitchFamily="34" charset="0"/>
                <a:ea typeface="Calibri" pitchFamily="34" charset="-122"/>
                <a:cs typeface="Calibri" pitchFamily="34" charset="-120"/>
              </a:rPr>
              <a:t>Scorecard 19 agent: sheet KPI + Cau_hinh, cờ dữ liệu, nhãn hội nhập, hạng trong team, xu hướng tuần.</a:t>
            </a:r>
            <a:endParaRPr lang="en-US" sz="1300" dirty="0"/>
          </a:p>
        </p:txBody>
      </p:sp>
      <p:sp>
        <p:nvSpPr>
          <p:cNvPr id="16" name="Shape 12"/>
          <p:cNvSpPr/>
          <p:nvPr/>
        </p:nvSpPr>
        <p:spPr>
          <a:xfrm>
            <a:off x="4800600" y="1737360"/>
            <a:ext cx="438912" cy="438912"/>
          </a:xfrm>
          <a:prstGeom prst="ellipse">
            <a:avLst/>
          </a:prstGeom>
          <a:solidFill>
            <a:srgbClr val="2E7D7A"/>
          </a:solidFill>
          <a:ln w="12700">
            <a:solidFill>
              <a:srgbClr val="2E7D7A"/>
            </a:solidFill>
            <a:prstDash val="solid"/>
          </a:ln>
        </p:spPr>
      </p:sp>
      <p:sp>
        <p:nvSpPr>
          <p:cNvPr id="17" name="Text 13"/>
          <p:cNvSpPr txBox="1"/>
          <p:nvPr/>
        </p:nvSpPr>
        <p:spPr>
          <a:xfrm>
            <a:off x="4800600" y="173736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8" name="Text 14"/>
          <p:cNvSpPr txBox="1"/>
          <p:nvPr/>
        </p:nvSpPr>
        <p:spPr>
          <a:xfrm>
            <a:off x="5394960" y="1691640"/>
            <a:ext cx="6248095" cy="960120"/>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Dựng bảng KPI đầu vào (5’)</a:t>
            </a:r>
            <a:pPr indent="0" marL="0">
              <a:buNone/>
            </a:pPr>
            <a:r>
              <a:rPr lang="en-US" sz="1450" dirty="0">
                <a:solidFill>
                  <a:srgbClr val="1B2A38"/>
                </a:solidFill>
                <a:latin typeface="Calibri" pitchFamily="34" charset="0"/>
                <a:ea typeface="Calibri" pitchFamily="34" charset="-122"/>
                <a:cs typeface="Calibri" pitchFamily="34" charset="-120"/>
              </a:rPr>
              <a:t> — Claude tính 18 cột theo agent, CÙNG TẬP NGÀY; đối chiếu Σ giờ có mặt 995,0 / 712,1.</a:t>
            </a:r>
            <a:endParaRPr lang="en-US" sz="1450" dirty="0"/>
          </a:p>
        </p:txBody>
      </p:sp>
      <p:sp>
        <p:nvSpPr>
          <p:cNvPr id="19" name="Shape 15"/>
          <p:cNvSpPr/>
          <p:nvPr/>
        </p:nvSpPr>
        <p:spPr>
          <a:xfrm>
            <a:off x="4800600" y="2825496"/>
            <a:ext cx="438912" cy="438912"/>
          </a:xfrm>
          <a:prstGeom prst="ellipse">
            <a:avLst/>
          </a:prstGeom>
          <a:solidFill>
            <a:srgbClr val="2E7D7A"/>
          </a:solidFill>
          <a:ln w="12700">
            <a:solidFill>
              <a:srgbClr val="2E7D7A"/>
            </a:solidFill>
            <a:prstDash val="solid"/>
          </a:ln>
        </p:spPr>
      </p:sp>
      <p:sp>
        <p:nvSpPr>
          <p:cNvPr id="20" name="Text 16"/>
          <p:cNvSpPr txBox="1"/>
          <p:nvPr/>
        </p:nvSpPr>
        <p:spPr>
          <a:xfrm>
            <a:off x="4800600" y="2825496"/>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1" name="Text 17"/>
          <p:cNvSpPr txBox="1"/>
          <p:nvPr/>
        </p:nvSpPr>
        <p:spPr>
          <a:xfrm>
            <a:off x="5394960" y="2779776"/>
            <a:ext cx="6248095" cy="960120"/>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Sheet Cau_hinh (3’)</a:t>
            </a:r>
            <a:pPr indent="0" marL="0">
              <a:buNone/>
            </a:pPr>
            <a:r>
              <a:rPr lang="en-US" sz="1450" dirty="0">
                <a:solidFill>
                  <a:srgbClr val="1B2A38"/>
                </a:solidFill>
                <a:latin typeface="Calibri" pitchFamily="34" charset="0"/>
                <a:ea typeface="Calibri" pitchFamily="34" charset="-122"/>
                <a:cs typeface="Calibri" pitchFamily="34" charset="-120"/>
              </a:rPr>
              <a:t> — mục tiêu – trọng số – trần theo dự án; tổng trọng số mỗi dự án = 100%.</a:t>
            </a:r>
            <a:endParaRPr lang="en-US" sz="1450" dirty="0"/>
          </a:p>
        </p:txBody>
      </p:sp>
      <p:sp>
        <p:nvSpPr>
          <p:cNvPr id="22" name="Shape 18"/>
          <p:cNvSpPr/>
          <p:nvPr/>
        </p:nvSpPr>
        <p:spPr>
          <a:xfrm>
            <a:off x="4800600" y="3913632"/>
            <a:ext cx="438912" cy="438912"/>
          </a:xfrm>
          <a:prstGeom prst="ellipse">
            <a:avLst/>
          </a:prstGeom>
          <a:solidFill>
            <a:srgbClr val="2E7D7A"/>
          </a:solidFill>
          <a:ln w="12700">
            <a:solidFill>
              <a:srgbClr val="2E7D7A"/>
            </a:solidFill>
            <a:prstDash val="solid"/>
          </a:ln>
        </p:spPr>
      </p:sp>
      <p:sp>
        <p:nvSpPr>
          <p:cNvPr id="23" name="Text 19"/>
          <p:cNvSpPr txBox="1"/>
          <p:nvPr/>
        </p:nvSpPr>
        <p:spPr>
          <a:xfrm>
            <a:off x="4800600" y="3913632"/>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4" name="Text 20"/>
          <p:cNvSpPr txBox="1"/>
          <p:nvPr/>
        </p:nvSpPr>
        <p:spPr>
          <a:xfrm>
            <a:off x="5394960" y="3867912"/>
            <a:ext cx="6248095" cy="960120"/>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Công thức scorecard (7’)</a:t>
            </a:r>
            <a:pPr indent="0" marL="0">
              <a:buNone/>
            </a:pPr>
            <a:r>
              <a:rPr lang="en-US" sz="1450" dirty="0">
                <a:solidFill>
                  <a:srgbClr val="1B2A38"/>
                </a:solidFill>
                <a:latin typeface="Calibri" pitchFamily="34" charset="0"/>
                <a:ea typeface="Calibri" pitchFamily="34" charset="-122"/>
                <a:cs typeface="Calibri" pitchFamily="34" charset="-120"/>
              </a:rPr>
              <a:t> — Claude viết công thức Sheets: tỷ lệ, điểm KPI, điểm tổng, cờ dữ liệu, nhãn, hạng trong team.</a:t>
            </a:r>
            <a:endParaRPr lang="en-US" sz="1450" dirty="0"/>
          </a:p>
        </p:txBody>
      </p:sp>
      <p:sp>
        <p:nvSpPr>
          <p:cNvPr id="25" name="Shape 21"/>
          <p:cNvSpPr/>
          <p:nvPr/>
        </p:nvSpPr>
        <p:spPr>
          <a:xfrm>
            <a:off x="4800600" y="5001768"/>
            <a:ext cx="438912" cy="438912"/>
          </a:xfrm>
          <a:prstGeom prst="ellipse">
            <a:avLst/>
          </a:prstGeom>
          <a:solidFill>
            <a:srgbClr val="2E7D7A"/>
          </a:solidFill>
          <a:ln w="12700">
            <a:solidFill>
              <a:srgbClr val="2E7D7A"/>
            </a:solidFill>
            <a:prstDash val="solid"/>
          </a:ln>
        </p:spPr>
      </p:sp>
      <p:sp>
        <p:nvSpPr>
          <p:cNvPr id="26" name="Text 22"/>
          <p:cNvSpPr txBox="1"/>
          <p:nvPr/>
        </p:nvSpPr>
        <p:spPr>
          <a:xfrm>
            <a:off x="4800600" y="5001768"/>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7" name="Text 23"/>
          <p:cNvSpPr txBox="1"/>
          <p:nvPr/>
        </p:nvSpPr>
        <p:spPr>
          <a:xfrm>
            <a:off x="5394960" y="4956048"/>
            <a:ext cx="6248095" cy="960120"/>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Soát bằng Claude (5’)</a:t>
            </a:r>
            <a:pPr indent="0" marL="0">
              <a:buNone/>
            </a:pPr>
            <a:r>
              <a:rPr lang="en-US" sz="1450" dirty="0">
                <a:solidFill>
                  <a:srgbClr val="1B2A38"/>
                </a:solidFill>
                <a:latin typeface="Calibri" pitchFamily="34" charset="0"/>
                <a:ea typeface="Calibri" pitchFamily="34" charset="-122"/>
                <a:cs typeface="Calibri" pitchFamily="34" charset="-120"/>
              </a:rPr>
              <a:t> — ai được xếp hạng dù có cờ/nhãn? có trộn TS-BH với CS-VT? ai giảm &gt; 20% giữa 2 tuần?</a:t>
            </a:r>
            <a:endParaRPr lang="en-US" sz="14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48640" cy="292608"/>
          </a:xfrm>
          <a:prstGeom prst="roundRect">
            <a:avLst>
              <a:gd name="adj" fmla="val 50000"/>
            </a:avLst>
          </a:prstGeom>
          <a:solidFill>
            <a:srgbClr val="DDEFEE"/>
          </a:solidFill>
          <a:ln w="12700">
            <a:solidFill>
              <a:srgbClr val="DDEFEE"/>
            </a:solidFill>
            <a:prstDash val="solid"/>
          </a:ln>
        </p:spPr>
      </p:sp>
      <p:sp>
        <p:nvSpPr>
          <p:cNvPr id="3" name="Text 1"/>
          <p:cNvSpPr txBox="1"/>
          <p:nvPr/>
        </p:nvSpPr>
        <p:spPr>
          <a:xfrm>
            <a:off x="548640" y="384048"/>
            <a:ext cx="548640" cy="292608"/>
          </a:xfrm>
          <a:prstGeom prst="rect">
            <a:avLst/>
          </a:prstGeom>
          <a:noFill/>
          <a:ln/>
        </p:spPr>
        <p:txBody>
          <a:bodyPr wrap="square" lIns="0" tIns="0" rIns="0" bIns="0" rtlCol="0" anchor="ctr"/>
          <a:lstStyle/>
          <a:p>
            <a:pPr algn="ctr" indent="0" marL="0">
              <a:buNone/>
            </a:pPr>
            <a:r>
              <a:rPr lang="en-US" sz="1050" b="1" spc="150" kern="0" dirty="0">
                <a:solidFill>
                  <a:srgbClr val="2E7D7A"/>
                </a:solidFill>
                <a:latin typeface="Calibri" pitchFamily="34" charset="0"/>
                <a:ea typeface="Calibri" pitchFamily="34" charset="-122"/>
                <a:cs typeface="Calibri" pitchFamily="34" charset="-120"/>
              </a:rPr>
              <a:t>DEMO</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Prompt mẫu — Công thức scorecard (Lab 4.2, bước 3)</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4 · KPI năng suất &amp; dashboard</a:t>
            </a:r>
            <a:endParaRPr lang="en-US" sz="1000" dirty="0"/>
          </a:p>
        </p:txBody>
      </p:sp>
      <p:sp>
        <p:nvSpPr>
          <p:cNvPr id="7" name="Shape 4"/>
          <p:cNvSpPr/>
          <p:nvPr/>
        </p:nvSpPr>
        <p:spPr>
          <a:xfrm>
            <a:off x="548640" y="1691640"/>
            <a:ext cx="6949440" cy="4572000"/>
          </a:xfrm>
          <a:prstGeom prst="roundRect">
            <a:avLst>
              <a:gd name="adj" fmla="val 1600"/>
            </a:avLst>
          </a:prstGeom>
          <a:solidFill>
            <a:srgbClr val="1B2A38"/>
          </a:solidFill>
          <a:ln w="12700">
            <a:solidFill>
              <a:srgbClr val="1B2A38"/>
            </a:solidFill>
            <a:prstDash val="solid"/>
          </a:ln>
        </p:spPr>
      </p:sp>
      <p:sp>
        <p:nvSpPr>
          <p:cNvPr id="8" name="Shape 5"/>
          <p:cNvSpPr/>
          <p:nvPr/>
        </p:nvSpPr>
        <p:spPr>
          <a:xfrm>
            <a:off x="749808" y="1874520"/>
            <a:ext cx="384048" cy="384048"/>
          </a:xfrm>
          <a:prstGeom prst="roundRect">
            <a:avLst>
              <a:gd name="adj" fmla="val 22000"/>
            </a:avLst>
          </a:prstGeom>
          <a:solidFill>
            <a:srgbClr val="D9773A"/>
          </a:solidFill>
          <a:ln w="12700">
            <a:solidFill>
              <a:srgbClr val="D9773A"/>
            </a:solidFill>
            <a:prstDash val="solid"/>
          </a:ln>
        </p:spPr>
      </p:sp>
      <p:pic>
        <p:nvPicPr>
          <p:cNvPr id="9" name="Image 0" descr="preencoded.png">    </p:cNvPr>
          <p:cNvPicPr>
            <a:picLocks noChangeAspect="1"/>
          </p:cNvPicPr>
          <p:nvPr/>
        </p:nvPicPr>
        <p:blipFill>
          <a:blip r:embed="rId1"/>
          <a:stretch>
            <a:fillRect/>
          </a:stretch>
        </p:blipFill>
        <p:spPr>
          <a:xfrm>
            <a:off x="841980" y="1966692"/>
            <a:ext cx="199705" cy="199705"/>
          </a:xfrm>
          <a:prstGeom prst="rect">
            <a:avLst/>
          </a:prstGeom>
        </p:spPr>
      </p:pic>
      <p:sp>
        <p:nvSpPr>
          <p:cNvPr id="10" name="Text 6"/>
          <p:cNvSpPr txBox="1"/>
          <p:nvPr/>
        </p:nvSpPr>
        <p:spPr>
          <a:xfrm>
            <a:off x="1280160" y="1874520"/>
            <a:ext cx="4572000" cy="384048"/>
          </a:xfrm>
          <a:prstGeom prst="rect">
            <a:avLst/>
          </a:prstGeom>
          <a:noFill/>
          <a:ln/>
        </p:spPr>
        <p:txBody>
          <a:bodyPr wrap="square" lIns="0" tIns="0" rIns="0" bIns="0" rtlCol="0" anchor="ctr"/>
          <a:lstStyle/>
          <a:p>
            <a:pPr indent="0" marL="0">
              <a:buNone/>
            </a:pPr>
            <a:r>
              <a:rPr lang="en-US" sz="1100" b="1" spc="150" kern="0" dirty="0">
                <a:solidFill>
                  <a:srgbClr val="D9773A"/>
                </a:solidFill>
                <a:latin typeface="Calibri" pitchFamily="34" charset="0"/>
                <a:ea typeface="Calibri" pitchFamily="34" charset="-122"/>
                <a:cs typeface="Calibri" pitchFamily="34" charset="-120"/>
              </a:rPr>
              <a:t>PROMPT — dán vào Claude</a:t>
            </a:r>
            <a:endParaRPr lang="en-US" sz="1100" dirty="0"/>
          </a:p>
        </p:txBody>
      </p:sp>
      <p:sp>
        <p:nvSpPr>
          <p:cNvPr id="11" name="Text 7"/>
          <p:cNvSpPr txBox="1"/>
          <p:nvPr/>
        </p:nvSpPr>
        <p:spPr>
          <a:xfrm>
            <a:off x="822960" y="2423160"/>
            <a:ext cx="6400800" cy="3657600"/>
          </a:xfrm>
          <a:prstGeom prst="rect">
            <a:avLst/>
          </a:prstGeom>
          <a:noFill/>
          <a:ln/>
        </p:spPr>
        <p:txBody>
          <a:bodyPr wrap="square" lIns="0" tIns="0" rIns="0" bIns="0" rtlCol="0" anchor="t">
            <a:normAutofit/>
          </a:bodyPr>
          <a:lstStyle/>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Tôi có sheet KPI với các cột A–R như sau:</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[DÁN DÒNG TIÊU ĐỀ].</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Sheet Cau_hinh có cột du_an, kpi, muc_tieu, trong_so, tran.</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Viết công thức Google Sheets (locale Việt Nam, dấu ;) cho:</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 các tỷ lệ S–X;</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 điểm từng KPI = MIN(trần; thực tế/mục tiêu)*100,</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  lấy mục tiêu/trần/trọng số từ Cau_hinh theo du_an;</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 điểm tổng;</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 cờ dữ liệu (tỷ lệ đăng nhập &gt; 1 hoặc có ngày thiếu</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  chấm công);</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 nhãn "Đang hội nhập" nếu so_ca &lt; 8;</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 hạng trong team chỉ xét người không có cờ</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  và không có nhãn.</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Giải thích ngắn từng công thức. Không dùng Apps Script.</a:t>
            </a:r>
            <a:endParaRPr lang="en-US" sz="1300" dirty="0"/>
          </a:p>
        </p:txBody>
      </p:sp>
      <p:sp>
        <p:nvSpPr>
          <p:cNvPr id="12" name="Text 8"/>
          <p:cNvSpPr txBox="1"/>
          <p:nvPr/>
        </p:nvSpPr>
        <p:spPr>
          <a:xfrm>
            <a:off x="7818120" y="1691640"/>
            <a:ext cx="3824935" cy="411480"/>
          </a:xfrm>
          <a:prstGeom prst="rect">
            <a:avLst/>
          </a:prstGeom>
          <a:noFill/>
          <a:ln/>
        </p:spPr>
        <p:txBody>
          <a:bodyPr wrap="square" lIns="0" tIns="0" rIns="0" bIns="0" rtlCol="0" anchor="t"/>
          <a:lstStyle/>
          <a:p>
            <a:pPr indent="0" marL="0">
              <a:buNone/>
            </a:pPr>
            <a:r>
              <a:rPr lang="en-US" sz="1700" b="1" dirty="0">
                <a:solidFill>
                  <a:srgbClr val="1B2A38"/>
                </a:solidFill>
                <a:latin typeface="Cambria" pitchFamily="34" charset="0"/>
                <a:ea typeface="Cambria" pitchFamily="34" charset="-122"/>
                <a:cs typeface="Cambria" pitchFamily="34" charset="-120"/>
              </a:rPr>
              <a:t>Vì sao viết như vậy?</a:t>
            </a:r>
            <a:endParaRPr lang="en-US" sz="1700" dirty="0"/>
          </a:p>
        </p:txBody>
      </p:sp>
      <p:sp>
        <p:nvSpPr>
          <p:cNvPr id="13" name="Text 9"/>
          <p:cNvSpPr txBox="1"/>
          <p:nvPr/>
        </p:nvSpPr>
        <p:spPr>
          <a:xfrm>
            <a:off x="7818120" y="2240280"/>
            <a:ext cx="3824935" cy="4023360"/>
          </a:xfrm>
          <a:prstGeom prst="rect">
            <a:avLst/>
          </a:prstGeom>
          <a:noFill/>
          <a:ln/>
        </p:spPr>
        <p:txBody>
          <a:bodyPr wrap="square" lIns="0" tIns="0" rIns="0" bIns="0" rtlCol="0" anchor="t">
            <a:normAutofit/>
          </a:bodyPr>
          <a:lstStyle/>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Trọng số nằm ở Cau_hinh:</a:t>
            </a:r>
            <a:pPr indent="0" marL="0">
              <a:buNone/>
            </a:pPr>
            <a:r>
              <a:rPr lang="en-US" sz="1400" dirty="0">
                <a:solidFill>
                  <a:srgbClr val="1B2A38"/>
                </a:solidFill>
                <a:latin typeface="Calibri" pitchFamily="34" charset="0"/>
                <a:ea typeface="Calibri" pitchFamily="34" charset="-122"/>
                <a:cs typeface="Calibri" pitchFamily="34" charset="-120"/>
              </a:rPr>
              <a:t> đổi ưu tiên = sửa 1 ô, không sửa công thức 19 dòng.</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TS-BH:</a:t>
            </a:r>
            <a:pPr indent="0" marL="0">
              <a:buNone/>
            </a:pPr>
            <a:r>
              <a:rPr lang="en-US" sz="1400" dirty="0">
                <a:solidFill>
                  <a:srgbClr val="1B2A38"/>
                </a:solidFill>
                <a:latin typeface="Calibri" pitchFamily="34" charset="0"/>
                <a:ea typeface="Calibri" pitchFamily="34" charset="-122"/>
                <a:cs typeface="Calibri" pitchFamily="34" charset="-120"/>
              </a:rPr>
              <a:t> TC/giờ 35% · sản xuất 20% · chốt 15% · cuộc/giờ 10% · adherence 10% · chuyên cần 10%.</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Trần 120 / 100:</a:t>
            </a:r>
            <a:pPr indent="0" marL="0">
              <a:buNone/>
            </a:pPr>
            <a:r>
              <a:rPr lang="en-US" sz="1400" dirty="0">
                <a:solidFill>
                  <a:srgbClr val="1B2A38"/>
                </a:solidFill>
                <a:latin typeface="Calibri" pitchFamily="34" charset="0"/>
                <a:ea typeface="Calibri" pitchFamily="34" charset="-122"/>
                <a:cs typeface="Calibri" pitchFamily="34" charset="-120"/>
              </a:rPr>
              <a:t> một chỉ số vọt lên không gánh cả bảng; đăng nhập 110% là lỗi dữ liệu.</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Hạng bỏ qua cờ/nhãn:</a:t>
            </a:r>
            <a:pPr indent="0" marL="0">
              <a:buNone/>
            </a:pPr>
            <a:r>
              <a:rPr lang="en-US" sz="1400" dirty="0">
                <a:solidFill>
                  <a:srgbClr val="1B2A38"/>
                </a:solidFill>
                <a:latin typeface="Calibri" pitchFamily="34" charset="0"/>
                <a:ea typeface="Calibri" pitchFamily="34" charset="-122"/>
                <a:cs typeface="Calibri" pitchFamily="34" charset="-120"/>
              </a:rPr>
              <a:t> NV0116 không “đứng đầu giả”, NV0118 không bị so với người lâu năm.</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Dấu ; hay ,</a:t>
            </a:r>
            <a:pPr indent="0" marL="0">
              <a:buNone/>
            </a:pPr>
            <a:r>
              <a:rPr lang="en-US" sz="1400" dirty="0">
                <a:solidFill>
                  <a:srgbClr val="1B2A38"/>
                </a:solidFill>
                <a:latin typeface="Calibri" pitchFamily="34" charset="0"/>
                <a:ea typeface="Calibri" pitchFamily="34" charset="-122"/>
                <a:cs typeface="Calibri" pitchFamily="34" charset="-120"/>
              </a:rPr>
              <a:t> tùy locale — báo lỗi phân tích thì đổi.</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591056" cy="292608"/>
          </a:xfrm>
          <a:prstGeom prst="roundRect">
            <a:avLst>
              <a:gd name="adj" fmla="val 50000"/>
            </a:avLst>
          </a:prstGeom>
          <a:solidFill>
            <a:srgbClr val="DDF1E5"/>
          </a:solidFill>
          <a:ln w="12700">
            <a:solidFill>
              <a:srgbClr val="DDF1E5"/>
            </a:solidFill>
            <a:prstDash val="solid"/>
          </a:ln>
        </p:spPr>
      </p:sp>
      <p:sp>
        <p:nvSpPr>
          <p:cNvPr id="3" name="Text 1"/>
          <p:cNvSpPr txBox="1"/>
          <p:nvPr/>
        </p:nvSpPr>
        <p:spPr>
          <a:xfrm>
            <a:off x="548640" y="384048"/>
            <a:ext cx="1591056" cy="292608"/>
          </a:xfrm>
          <a:prstGeom prst="rect">
            <a:avLst/>
          </a:prstGeom>
          <a:noFill/>
          <a:ln/>
        </p:spPr>
        <p:txBody>
          <a:bodyPr wrap="square" lIns="0" tIns="0" rIns="0" bIns="0" rtlCol="0" anchor="ctr"/>
          <a:lstStyle/>
          <a:p>
            <a:pPr algn="ctr" indent="0" marL="0">
              <a:buNone/>
            </a:pPr>
            <a:r>
              <a:rPr lang="en-US" sz="1050" b="1" spc="150" kern="0" dirty="0">
                <a:solidFill>
                  <a:srgbClr val="2E8B57"/>
                </a:solidFill>
                <a:latin typeface="Calibri" pitchFamily="34" charset="0"/>
                <a:ea typeface="Calibri" pitchFamily="34" charset="-122"/>
                <a:cs typeface="Calibri" pitchFamily="34" charset="-120"/>
              </a:rPr>
              <a:t>KẾT QUẢ MONG ĐỢI</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Kết quả mong đợi Lab 4.2 — xếp hạng scorecard theo team</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4 · KPI năng suất &amp; dashboard</a:t>
            </a:r>
            <a:endParaRPr lang="en-US" sz="1000" dirty="0"/>
          </a:p>
        </p:txBody>
      </p:sp>
      <p:sp>
        <p:nvSpPr>
          <p:cNvPr id="7" name="Shape 4"/>
          <p:cNvSpPr/>
          <p:nvPr/>
        </p:nvSpPr>
        <p:spPr>
          <a:xfrm>
            <a:off x="548640" y="1691640"/>
            <a:ext cx="3515258" cy="420624"/>
          </a:xfrm>
          <a:prstGeom prst="roundRect">
            <a:avLst>
              <a:gd name="adj" fmla="val 17391"/>
            </a:avLst>
          </a:prstGeom>
          <a:solidFill>
            <a:srgbClr val="2B3E50"/>
          </a:solidFill>
          <a:ln w="12700">
            <a:solidFill>
              <a:srgbClr val="2B3E50"/>
            </a:solidFill>
            <a:prstDash val="solid"/>
          </a:ln>
        </p:spPr>
      </p:sp>
      <p:sp>
        <p:nvSpPr>
          <p:cNvPr id="8" name="Text 5"/>
          <p:cNvSpPr txBox="1"/>
          <p:nvPr/>
        </p:nvSpPr>
        <p:spPr>
          <a:xfrm>
            <a:off x="731520" y="1691640"/>
            <a:ext cx="1757629" cy="42062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TS-A</a:t>
            </a:r>
            <a:endParaRPr lang="en-US" sz="1500" dirty="0"/>
          </a:p>
        </p:txBody>
      </p:sp>
      <p:sp>
        <p:nvSpPr>
          <p:cNvPr id="9" name="Text 6"/>
          <p:cNvSpPr txBox="1"/>
          <p:nvPr/>
        </p:nvSpPr>
        <p:spPr>
          <a:xfrm>
            <a:off x="1954743" y="1691640"/>
            <a:ext cx="1926275" cy="420624"/>
          </a:xfrm>
          <a:prstGeom prst="rect">
            <a:avLst/>
          </a:prstGeom>
          <a:noFill/>
          <a:ln/>
        </p:spPr>
        <p:txBody>
          <a:bodyPr wrap="square" lIns="0" tIns="0" rIns="0" bIns="0" rtlCol="0" anchor="ctr"/>
          <a:lstStyle/>
          <a:p>
            <a:pPr algn="r" indent="0" marL="0">
              <a:buNone/>
            </a:pPr>
            <a:r>
              <a:rPr lang="en-US" sz="1250" dirty="0">
                <a:solidFill>
                  <a:srgbClr val="E6ECF1"/>
                </a:solidFill>
                <a:latin typeface="Calibri" pitchFamily="34" charset="0"/>
                <a:ea typeface="Calibri" pitchFamily="34" charset="-122"/>
                <a:cs typeface="Calibri" pitchFamily="34" charset="-120"/>
              </a:rPr>
              <a:t>điểm TB 97,5</a:t>
            </a:r>
            <a:endParaRPr lang="en-US" sz="12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2203704"/>
          <a:ext cx="3515258" cy="914400"/>
        </p:xfrm>
        <a:graphic>
          <a:graphicData uri="http://schemas.openxmlformats.org/drawingml/2006/table">
            <a:tbl>
              <a:tblPr/>
              <a:tblGrid>
                <a:gridCol w="502920"/>
                <a:gridCol w="777240"/>
                <a:gridCol w="640080"/>
                <a:gridCol w="1595018"/>
              </a:tblGrid>
              <a:tr h="36474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Hạng</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Agent</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Điểm</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Ghi chú</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r>
              <a:tr h="364744">
                <a:tc>
                  <a:txBody>
                    <a:bodyPr/>
                    <a:lstStyle/>
                    <a:p>
                      <a:pPr algn="ctr" indent="0" marL="0">
                        <a:buNone/>
                      </a:pPr>
                      <a:r>
                        <a:rPr lang="en-US" sz="1200" b="1" dirty="0">
                          <a:solidFill>
                            <a:srgbClr val="1B2A38"/>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00" b="1" dirty="0">
                          <a:solidFill>
                            <a:srgbClr val="2E8B57"/>
                          </a:solidFill>
                          <a:latin typeface="Calibri" pitchFamily="34" charset="0"/>
                          <a:ea typeface="Calibri" pitchFamily="34" charset="-122"/>
                          <a:cs typeface="Calibri" pitchFamily="34" charset="-120"/>
                        </a:rPr>
                        <a:t>NV0105</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r" indent="0" marL="0">
                        <a:buNone/>
                      </a:pPr>
                      <a:r>
                        <a:rPr lang="en-US" sz="1200" b="1" dirty="0">
                          <a:solidFill>
                            <a:srgbClr val="2E8B57"/>
                          </a:solidFill>
                          <a:latin typeface="Calibri" pitchFamily="34" charset="0"/>
                          <a:ea typeface="Calibri" pitchFamily="34" charset="-122"/>
                          <a:cs typeface="Calibri" pitchFamily="34" charset="-120"/>
                        </a:rPr>
                        <a:t>110,7</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100" dirty="0">
                          <a:solidFill>
                            <a:srgbClr val="2E8B57"/>
                          </a:solidFill>
                          <a:latin typeface="Calibri" pitchFamily="34" charset="0"/>
                          <a:ea typeface="Calibri" pitchFamily="34" charset="-122"/>
                          <a:cs typeface="Calibri" pitchFamily="34" charset="-120"/>
                        </a:rPr>
                        <a:t>TC/giờ 1,54 cao nhất</a:t>
                      </a:r>
                      <a:endParaRPr lang="en-US" sz="11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364744">
                <a:tc>
                  <a:txBody>
                    <a:bodyPr/>
                    <a:lstStyle/>
                    <a:p>
                      <a:pPr algn="ctr" indent="0" marL="0">
                        <a:buNone/>
                      </a:pPr>
                      <a:r>
                        <a:rPr lang="en-US" sz="1200" b="1" dirty="0">
                          <a:solidFill>
                            <a:srgbClr val="1B2A38"/>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b="1" dirty="0">
                          <a:solidFill>
                            <a:srgbClr val="1B2A38"/>
                          </a:solidFill>
                          <a:latin typeface="Calibri" pitchFamily="34" charset="0"/>
                          <a:ea typeface="Calibri" pitchFamily="34" charset="-122"/>
                          <a:cs typeface="Calibri" pitchFamily="34" charset="-120"/>
                        </a:rPr>
                        <a:t>NV0102</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B2A38"/>
                          </a:solidFill>
                          <a:latin typeface="Calibri" pitchFamily="34" charset="0"/>
                          <a:ea typeface="Calibri" pitchFamily="34" charset="-122"/>
                          <a:cs typeface="Calibri" pitchFamily="34" charset="-120"/>
                        </a:rPr>
                        <a:t>101,5</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100" dirty="0">
                          <a:solidFill>
                            <a:srgbClr val="6B7785"/>
                          </a:solidFill>
                          <a:latin typeface="Calibri" pitchFamily="34" charset="0"/>
                          <a:ea typeface="Calibri" pitchFamily="34" charset="-122"/>
                          <a:cs typeface="Calibri" pitchFamily="34" charset="-120"/>
                        </a:rPr>
                        <a:t>TC/giờ 1,57 → 1,05</a:t>
                      </a:r>
                      <a:endParaRPr lang="en-US" sz="11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364744">
                <a:tc>
                  <a:txBody>
                    <a:bodyPr/>
                    <a:lstStyle/>
                    <a:p>
                      <a:pPr algn="ctr" indent="0" marL="0">
                        <a:buNone/>
                      </a:pPr>
                      <a:r>
                        <a:rPr lang="en-US" sz="1200" b="1" dirty="0">
                          <a:solidFill>
                            <a:srgbClr val="1B2A38"/>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00" b="1" dirty="0">
                          <a:solidFill>
                            <a:srgbClr val="1B2A38"/>
                          </a:solidFill>
                          <a:latin typeface="Calibri" pitchFamily="34" charset="0"/>
                          <a:ea typeface="Calibri" pitchFamily="34" charset="-122"/>
                          <a:cs typeface="Calibri" pitchFamily="34" charset="-120"/>
                        </a:rPr>
                        <a:t>NV0101</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r" indent="0" marL="0">
                        <a:buNone/>
                      </a:pPr>
                      <a:r>
                        <a:rPr lang="en-US" sz="1200" b="1" dirty="0">
                          <a:solidFill>
                            <a:srgbClr val="1B2A38"/>
                          </a:solidFill>
                          <a:latin typeface="Calibri" pitchFamily="34" charset="0"/>
                          <a:ea typeface="Calibri" pitchFamily="34" charset="-122"/>
                          <a:cs typeface="Calibri" pitchFamily="34" charset="-120"/>
                        </a:rPr>
                        <a:t>101,2</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endParaRPr lang="en-US" sz="11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364744">
                <a:tc>
                  <a:txBody>
                    <a:bodyPr/>
                    <a:lstStyle/>
                    <a:p>
                      <a:pPr algn="ctr" indent="0" marL="0">
                        <a:buNone/>
                      </a:pPr>
                      <a:r>
                        <a:rPr lang="en-US" sz="1200" b="1" dirty="0">
                          <a:solidFill>
                            <a:srgbClr val="1B2A38"/>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b="1" dirty="0">
                          <a:solidFill>
                            <a:srgbClr val="1B2A38"/>
                          </a:solidFill>
                          <a:latin typeface="Calibri" pitchFamily="34" charset="0"/>
                          <a:ea typeface="Calibri" pitchFamily="34" charset="-122"/>
                          <a:cs typeface="Calibri" pitchFamily="34" charset="-120"/>
                        </a:rPr>
                        <a:t>NV0104</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B2A38"/>
                          </a:solidFill>
                          <a:latin typeface="Calibri" pitchFamily="34" charset="0"/>
                          <a:ea typeface="Calibri" pitchFamily="34" charset="-122"/>
                          <a:cs typeface="Calibri" pitchFamily="34" charset="-120"/>
                        </a:rPr>
                        <a:t>101,0</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100" dirty="0">
                          <a:solidFill>
                            <a:srgbClr val="6B7785"/>
                          </a:solidFill>
                          <a:latin typeface="Calibri" pitchFamily="34" charset="0"/>
                          <a:ea typeface="Calibri" pitchFamily="34" charset="-122"/>
                          <a:cs typeface="Calibri" pitchFamily="34" charset="-120"/>
                        </a:rPr>
                        <a:t>phép có duyệt 10/09</a:t>
                      </a:r>
                      <a:endParaRPr lang="en-US" sz="11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364744">
                <a:tc>
                  <a:txBody>
                    <a:bodyPr/>
                    <a:lstStyle/>
                    <a:p>
                      <a:pPr algn="ctr" indent="0" marL="0">
                        <a:buNone/>
                      </a:pPr>
                      <a:r>
                        <a:rPr lang="en-US" sz="1200" b="1" dirty="0">
                          <a:solidFill>
                            <a:srgbClr val="1B2A38"/>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00" b="1" dirty="0">
                          <a:solidFill>
                            <a:srgbClr val="C0392B"/>
                          </a:solidFill>
                          <a:latin typeface="Calibri" pitchFamily="34" charset="0"/>
                          <a:ea typeface="Calibri" pitchFamily="34" charset="-122"/>
                          <a:cs typeface="Calibri" pitchFamily="34" charset="-120"/>
                        </a:rPr>
                        <a:t>NV0103</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r" indent="0" marL="0">
                        <a:buNone/>
                      </a:pPr>
                      <a:r>
                        <a:rPr lang="en-US" sz="1200" b="1" dirty="0">
                          <a:solidFill>
                            <a:srgbClr val="C0392B"/>
                          </a:solidFill>
                          <a:latin typeface="Calibri" pitchFamily="34" charset="0"/>
                          <a:ea typeface="Calibri" pitchFamily="34" charset="-122"/>
                          <a:cs typeface="Calibri" pitchFamily="34" charset="-120"/>
                        </a:rPr>
                        <a:t>73,1</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100" dirty="0">
                          <a:solidFill>
                            <a:srgbClr val="C0392B"/>
                          </a:solidFill>
                          <a:latin typeface="Calibri" pitchFamily="34" charset="0"/>
                          <a:ea typeface="Calibri" pitchFamily="34" charset="-122"/>
                          <a:cs typeface="Calibri" pitchFamily="34" charset="-120"/>
                        </a:rPr>
                        <a:t>TC/giờ 0,54 · chốt 3,8%</a:t>
                      </a:r>
                      <a:endParaRPr lang="en-US" sz="11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bl>
          </a:graphicData>
        </a:graphic>
      </p:graphicFrame>
      <p:sp>
        <p:nvSpPr>
          <p:cNvPr id="11" name="Shape 7"/>
          <p:cNvSpPr/>
          <p:nvPr/>
        </p:nvSpPr>
        <p:spPr>
          <a:xfrm>
            <a:off x="4338218" y="1691640"/>
            <a:ext cx="3515258" cy="420624"/>
          </a:xfrm>
          <a:prstGeom prst="roundRect">
            <a:avLst>
              <a:gd name="adj" fmla="val 17391"/>
            </a:avLst>
          </a:prstGeom>
          <a:solidFill>
            <a:srgbClr val="2B3E50"/>
          </a:solidFill>
          <a:ln w="12700">
            <a:solidFill>
              <a:srgbClr val="2B3E50"/>
            </a:solidFill>
            <a:prstDash val="solid"/>
          </a:ln>
        </p:spPr>
      </p:sp>
      <p:sp>
        <p:nvSpPr>
          <p:cNvPr id="12" name="Text 8"/>
          <p:cNvSpPr txBox="1"/>
          <p:nvPr/>
        </p:nvSpPr>
        <p:spPr>
          <a:xfrm>
            <a:off x="4521098" y="1691640"/>
            <a:ext cx="1757629" cy="42062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TS-B</a:t>
            </a:r>
            <a:endParaRPr lang="en-US" sz="1500" dirty="0"/>
          </a:p>
        </p:txBody>
      </p:sp>
      <p:sp>
        <p:nvSpPr>
          <p:cNvPr id="13" name="Text 9"/>
          <p:cNvSpPr txBox="1"/>
          <p:nvPr/>
        </p:nvSpPr>
        <p:spPr>
          <a:xfrm>
            <a:off x="5744322" y="1691640"/>
            <a:ext cx="1926275" cy="420624"/>
          </a:xfrm>
          <a:prstGeom prst="rect">
            <a:avLst/>
          </a:prstGeom>
          <a:noFill/>
          <a:ln/>
        </p:spPr>
        <p:txBody>
          <a:bodyPr wrap="square" lIns="0" tIns="0" rIns="0" bIns="0" rtlCol="0" anchor="ctr"/>
          <a:lstStyle/>
          <a:p>
            <a:pPr algn="r" indent="0" marL="0">
              <a:buNone/>
            </a:pPr>
            <a:r>
              <a:rPr lang="en-US" sz="1250" dirty="0">
                <a:solidFill>
                  <a:srgbClr val="E6ECF1"/>
                </a:solidFill>
                <a:latin typeface="Calibri" pitchFamily="34" charset="0"/>
                <a:ea typeface="Calibri" pitchFamily="34" charset="-122"/>
                <a:cs typeface="Calibri" pitchFamily="34" charset="-120"/>
              </a:rPr>
              <a:t>điểm TB 98,6</a:t>
            </a:r>
            <a:endParaRPr lang="en-US" sz="1250" dirty="0"/>
          </a:p>
        </p:txBody>
      </p:sp>
      <p:graphicFrame>
        <p:nvGraphicFramePr>
          <p:cNvPr id="43" name="Table 1"/>
          <p:cNvGraphicFramePr>
            <a:graphicFrameLocks noGrp="1"/>
          </p:cNvGraphicFramePr>
          <p:nvPr>
            <p:extLst>
              <p:ext uri="{D42A27DB-BD31-4B8C-83A1-F6EECF244321}">
                <p14:modId xmlns:p14="http://schemas.microsoft.com/office/powerpoint/2010/main" val="1579011935"/>
              </p:ext>
            </p:extLst>
          </p:nvPr>
        </p:nvGraphicFramePr>
        <p:xfrm>
          <a:off x="4338218" y="2203704"/>
          <a:ext cx="3515258" cy="914400"/>
        </p:xfrm>
        <a:graphic>
          <a:graphicData uri="http://schemas.openxmlformats.org/drawingml/2006/table">
            <a:tbl>
              <a:tblPr/>
              <a:tblGrid>
                <a:gridCol w="502920"/>
                <a:gridCol w="777240"/>
                <a:gridCol w="640080"/>
                <a:gridCol w="1595018"/>
              </a:tblGrid>
              <a:tr h="36474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Hạng</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Agent</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Điểm</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Ghi chú</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r>
              <a:tr h="364744">
                <a:tc>
                  <a:txBody>
                    <a:bodyPr/>
                    <a:lstStyle/>
                    <a:p>
                      <a:pPr algn="ctr" indent="0" marL="0">
                        <a:buNone/>
                      </a:pPr>
                      <a:r>
                        <a:rPr lang="en-US" sz="1200" b="1" dirty="0">
                          <a:solidFill>
                            <a:srgbClr val="1B2A38"/>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00" b="1" dirty="0">
                          <a:solidFill>
                            <a:srgbClr val="1B2A38"/>
                          </a:solidFill>
                          <a:latin typeface="Calibri" pitchFamily="34" charset="0"/>
                          <a:ea typeface="Calibri" pitchFamily="34" charset="-122"/>
                          <a:cs typeface="Calibri" pitchFamily="34" charset="-120"/>
                        </a:rPr>
                        <a:t>NV0110</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r" indent="0" marL="0">
                        <a:buNone/>
                      </a:pPr>
                      <a:r>
                        <a:rPr lang="en-US" sz="1200" b="1" dirty="0">
                          <a:solidFill>
                            <a:srgbClr val="1B2A38"/>
                          </a:solidFill>
                          <a:latin typeface="Calibri" pitchFamily="34" charset="0"/>
                          <a:ea typeface="Calibri" pitchFamily="34" charset="-122"/>
                          <a:cs typeface="Calibri" pitchFamily="34" charset="-120"/>
                        </a:rPr>
                        <a:t>102,2</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100" dirty="0">
                          <a:solidFill>
                            <a:srgbClr val="6B7785"/>
                          </a:solidFill>
                          <a:latin typeface="Calibri" pitchFamily="34" charset="0"/>
                          <a:ea typeface="Calibri" pitchFamily="34" charset="-122"/>
                          <a:cs typeface="Calibri" pitchFamily="34" charset="-120"/>
                        </a:rPr>
                        <a:t>vắng không phép 16/09</a:t>
                      </a:r>
                      <a:endParaRPr lang="en-US" sz="11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364744">
                <a:tc>
                  <a:txBody>
                    <a:bodyPr/>
                    <a:lstStyle/>
                    <a:p>
                      <a:pPr algn="ctr" indent="0" marL="0">
                        <a:buNone/>
                      </a:pPr>
                      <a:r>
                        <a:rPr lang="en-US" sz="1200" b="1" dirty="0">
                          <a:solidFill>
                            <a:srgbClr val="1B2A38"/>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b="1" dirty="0">
                          <a:solidFill>
                            <a:srgbClr val="1B2A38"/>
                          </a:solidFill>
                          <a:latin typeface="Calibri" pitchFamily="34" charset="0"/>
                          <a:ea typeface="Calibri" pitchFamily="34" charset="-122"/>
                          <a:cs typeface="Calibri" pitchFamily="34" charset="-120"/>
                        </a:rPr>
                        <a:t>NV0111</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B2A38"/>
                          </a:solidFill>
                          <a:latin typeface="Calibri" pitchFamily="34" charset="0"/>
                          <a:ea typeface="Calibri" pitchFamily="34" charset="-122"/>
                          <a:cs typeface="Calibri" pitchFamily="34" charset="-120"/>
                        </a:rPr>
                        <a:t>101,2</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100" dirty="0">
                          <a:solidFill>
                            <a:srgbClr val="6B7785"/>
                          </a:solidFill>
                          <a:latin typeface="Calibri" pitchFamily="34" charset="0"/>
                          <a:ea typeface="Calibri" pitchFamily="34" charset="-122"/>
                          <a:cs typeface="Calibri" pitchFamily="34" charset="-120"/>
                        </a:rPr>
                        <a:t>bán thời gian</a:t>
                      </a:r>
                      <a:endParaRPr lang="en-US" sz="11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364744">
                <a:tc>
                  <a:txBody>
                    <a:bodyPr/>
                    <a:lstStyle/>
                    <a:p>
                      <a:pPr algn="ctr" indent="0" marL="0">
                        <a:buNone/>
                      </a:pPr>
                      <a:r>
                        <a:rPr lang="en-US" sz="1200" b="1" dirty="0">
                          <a:solidFill>
                            <a:srgbClr val="1B2A38"/>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00" b="1" dirty="0">
                          <a:solidFill>
                            <a:srgbClr val="1B2A38"/>
                          </a:solidFill>
                          <a:latin typeface="Calibri" pitchFamily="34" charset="0"/>
                          <a:ea typeface="Calibri" pitchFamily="34" charset="-122"/>
                          <a:cs typeface="Calibri" pitchFamily="34" charset="-120"/>
                        </a:rPr>
                        <a:t>NV0106</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r" indent="0" marL="0">
                        <a:buNone/>
                      </a:pPr>
                      <a:r>
                        <a:rPr lang="en-US" sz="1200" b="1" dirty="0">
                          <a:solidFill>
                            <a:srgbClr val="1B2A38"/>
                          </a:solidFill>
                          <a:latin typeface="Calibri" pitchFamily="34" charset="0"/>
                          <a:ea typeface="Calibri" pitchFamily="34" charset="-122"/>
                          <a:cs typeface="Calibri" pitchFamily="34" charset="-120"/>
                        </a:rPr>
                        <a:t>101,1</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100" dirty="0">
                          <a:solidFill>
                            <a:srgbClr val="6B7785"/>
                          </a:solidFill>
                          <a:latin typeface="Calibri" pitchFamily="34" charset="0"/>
                          <a:ea typeface="Calibri" pitchFamily="34" charset="-122"/>
                          <a:cs typeface="Calibri" pitchFamily="34" charset="-120"/>
                        </a:rPr>
                        <a:t>đăng nhập 88,7%</a:t>
                      </a:r>
                      <a:endParaRPr lang="en-US" sz="11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364744">
                <a:tc>
                  <a:txBody>
                    <a:bodyPr/>
                    <a:lstStyle/>
                    <a:p>
                      <a:pPr algn="ctr" indent="0" marL="0">
                        <a:buNone/>
                      </a:pPr>
                      <a:r>
                        <a:rPr lang="en-US" sz="1200" b="1" dirty="0">
                          <a:solidFill>
                            <a:srgbClr val="1B2A38"/>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b="1" dirty="0">
                          <a:solidFill>
                            <a:srgbClr val="1B2A38"/>
                          </a:solidFill>
                          <a:latin typeface="Calibri" pitchFamily="34" charset="0"/>
                          <a:ea typeface="Calibri" pitchFamily="34" charset="-122"/>
                          <a:cs typeface="Calibri" pitchFamily="34" charset="-120"/>
                        </a:rPr>
                        <a:t>NV0107</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B2A38"/>
                          </a:solidFill>
                          <a:latin typeface="Calibri" pitchFamily="34" charset="0"/>
                          <a:ea typeface="Calibri" pitchFamily="34" charset="-122"/>
                          <a:cs typeface="Calibri" pitchFamily="34" charset="-120"/>
                        </a:rPr>
                        <a:t>99,1</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100" dirty="0">
                          <a:solidFill>
                            <a:srgbClr val="6B7785"/>
                          </a:solidFill>
                          <a:latin typeface="Calibri" pitchFamily="34" charset="0"/>
                          <a:ea typeface="Calibri" pitchFamily="34" charset="-122"/>
                          <a:cs typeface="Calibri" pitchFamily="34" charset="-120"/>
                        </a:rPr>
                        <a:t>nghỉ 18/09, chờ duyệt</a:t>
                      </a:r>
                      <a:endParaRPr lang="en-US" sz="11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364744">
                <a:tc>
                  <a:txBody>
                    <a:bodyPr/>
                    <a:lstStyle/>
                    <a:p>
                      <a:pPr algn="ctr" indent="0" marL="0">
                        <a:buNone/>
                      </a:pPr>
                      <a:r>
                        <a:rPr lang="en-US" sz="1200" b="1" dirty="0">
                          <a:solidFill>
                            <a:srgbClr val="1B2A38"/>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00" b="1" dirty="0">
                          <a:solidFill>
                            <a:srgbClr val="1B2A38"/>
                          </a:solidFill>
                          <a:latin typeface="Calibri" pitchFamily="34" charset="0"/>
                          <a:ea typeface="Calibri" pitchFamily="34" charset="-122"/>
                          <a:cs typeface="Calibri" pitchFamily="34" charset="-120"/>
                        </a:rPr>
                        <a:t>NV0109</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r" indent="0" marL="0">
                        <a:buNone/>
                      </a:pPr>
                      <a:r>
                        <a:rPr lang="en-US" sz="1200" b="1" dirty="0">
                          <a:solidFill>
                            <a:srgbClr val="1B2A38"/>
                          </a:solidFill>
                          <a:latin typeface="Calibri" pitchFamily="34" charset="0"/>
                          <a:ea typeface="Calibri" pitchFamily="34" charset="-122"/>
                          <a:cs typeface="Calibri" pitchFamily="34" charset="-120"/>
                        </a:rPr>
                        <a:t>98,6</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100" dirty="0">
                          <a:solidFill>
                            <a:srgbClr val="6B7785"/>
                          </a:solidFill>
                          <a:latin typeface="Calibri" pitchFamily="34" charset="0"/>
                          <a:ea typeface="Calibri" pitchFamily="34" charset="-122"/>
                          <a:cs typeface="Calibri" pitchFamily="34" charset="-120"/>
                        </a:rPr>
                        <a:t>8 lượt đi muộn</a:t>
                      </a:r>
                      <a:endParaRPr lang="en-US" sz="11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364744">
                <a:tc>
                  <a:txBody>
                    <a:bodyPr/>
                    <a:lstStyle/>
                    <a:p>
                      <a:pPr algn="ctr" indent="0" marL="0">
                        <a:buNone/>
                      </a:pPr>
                      <a:r>
                        <a:rPr lang="en-US" sz="1200" b="1" dirty="0">
                          <a:solidFill>
                            <a:srgbClr val="1B2A38"/>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b="1" dirty="0">
                          <a:solidFill>
                            <a:srgbClr val="C0392B"/>
                          </a:solidFill>
                          <a:latin typeface="Calibri" pitchFamily="34" charset="0"/>
                          <a:ea typeface="Calibri" pitchFamily="34" charset="-122"/>
                          <a:cs typeface="Calibri" pitchFamily="34" charset="-120"/>
                        </a:rPr>
                        <a:t>NV0108</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C0392B"/>
                          </a:solidFill>
                          <a:latin typeface="Calibri" pitchFamily="34" charset="0"/>
                          <a:ea typeface="Calibri" pitchFamily="34" charset="-122"/>
                          <a:cs typeface="Calibri" pitchFamily="34" charset="-120"/>
                        </a:rPr>
                        <a:t>89,1</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100" dirty="0">
                          <a:solidFill>
                            <a:srgbClr val="C0392B"/>
                          </a:solidFill>
                          <a:latin typeface="Calibri" pitchFamily="34" charset="0"/>
                          <a:ea typeface="Calibri" pitchFamily="34" charset="-122"/>
                          <a:cs typeface="Calibri" pitchFamily="34" charset="-120"/>
                        </a:rPr>
                        <a:t>tỷ lệ SX 45,3%</a:t>
                      </a:r>
                      <a:endParaRPr lang="en-US" sz="11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bl>
          </a:graphicData>
        </a:graphic>
      </p:graphicFrame>
      <p:sp>
        <p:nvSpPr>
          <p:cNvPr id="15" name="Shape 10"/>
          <p:cNvSpPr/>
          <p:nvPr/>
        </p:nvSpPr>
        <p:spPr>
          <a:xfrm>
            <a:off x="8127797" y="1691640"/>
            <a:ext cx="3515258" cy="420624"/>
          </a:xfrm>
          <a:prstGeom prst="roundRect">
            <a:avLst>
              <a:gd name="adj" fmla="val 17391"/>
            </a:avLst>
          </a:prstGeom>
          <a:solidFill>
            <a:srgbClr val="2B3E50"/>
          </a:solidFill>
          <a:ln w="12700">
            <a:solidFill>
              <a:srgbClr val="2B3E50"/>
            </a:solidFill>
            <a:prstDash val="solid"/>
          </a:ln>
        </p:spPr>
      </p:sp>
      <p:sp>
        <p:nvSpPr>
          <p:cNvPr id="16" name="Text 11"/>
          <p:cNvSpPr txBox="1"/>
          <p:nvPr/>
        </p:nvSpPr>
        <p:spPr>
          <a:xfrm>
            <a:off x="8310677" y="1691640"/>
            <a:ext cx="1757629" cy="42062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CS-A</a:t>
            </a:r>
            <a:endParaRPr lang="en-US" sz="1500" dirty="0"/>
          </a:p>
        </p:txBody>
      </p:sp>
      <p:sp>
        <p:nvSpPr>
          <p:cNvPr id="17" name="Text 12"/>
          <p:cNvSpPr txBox="1"/>
          <p:nvPr/>
        </p:nvSpPr>
        <p:spPr>
          <a:xfrm>
            <a:off x="9533900" y="1691640"/>
            <a:ext cx="1926275" cy="420624"/>
          </a:xfrm>
          <a:prstGeom prst="rect">
            <a:avLst/>
          </a:prstGeom>
          <a:noFill/>
          <a:ln/>
        </p:spPr>
        <p:txBody>
          <a:bodyPr wrap="square" lIns="0" tIns="0" rIns="0" bIns="0" rtlCol="0" anchor="ctr"/>
          <a:lstStyle/>
          <a:p>
            <a:pPr algn="r" indent="0" marL="0">
              <a:buNone/>
            </a:pPr>
            <a:r>
              <a:rPr lang="en-US" sz="1250" dirty="0">
                <a:solidFill>
                  <a:srgbClr val="E6ECF1"/>
                </a:solidFill>
                <a:latin typeface="Calibri" pitchFamily="34" charset="0"/>
                <a:ea typeface="Calibri" pitchFamily="34" charset="-122"/>
                <a:cs typeface="Calibri" pitchFamily="34" charset="-120"/>
              </a:rPr>
              <a:t>điểm TB 98,4</a:t>
            </a:r>
            <a:endParaRPr lang="en-US" sz="1250" dirty="0"/>
          </a:p>
        </p:txBody>
      </p:sp>
      <p:graphicFrame>
        <p:nvGraphicFramePr>
          <p:cNvPr id="64" name="Table 2"/>
          <p:cNvGraphicFramePr>
            <a:graphicFrameLocks noGrp="1"/>
          </p:cNvGraphicFramePr>
          <p:nvPr>
            <p:extLst>
              <p:ext uri="{D42A27DB-BD31-4B8C-83A1-F6EECF244321}">
                <p14:modId xmlns:p14="http://schemas.microsoft.com/office/powerpoint/2010/main" val="1579011935"/>
              </p:ext>
            </p:extLst>
          </p:nvPr>
        </p:nvGraphicFramePr>
        <p:xfrm>
          <a:off x="8127797" y="2203704"/>
          <a:ext cx="3515258" cy="914400"/>
        </p:xfrm>
        <a:graphic>
          <a:graphicData uri="http://schemas.openxmlformats.org/drawingml/2006/table">
            <a:tbl>
              <a:tblPr/>
              <a:tblGrid>
                <a:gridCol w="502920"/>
                <a:gridCol w="777240"/>
                <a:gridCol w="640080"/>
                <a:gridCol w="1595018"/>
              </a:tblGrid>
              <a:tr h="36474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Hạng</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Agent</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Điểm</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Ghi chú</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r>
              <a:tr h="364744">
                <a:tc>
                  <a:txBody>
                    <a:bodyPr/>
                    <a:lstStyle/>
                    <a:p>
                      <a:pPr algn="ctr" indent="0" marL="0">
                        <a:buNone/>
                      </a:pPr>
                      <a:r>
                        <a:rPr lang="en-US" sz="1200" b="1" dirty="0">
                          <a:solidFill>
                            <a:srgbClr val="6B778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00" b="1" dirty="0">
                          <a:solidFill>
                            <a:srgbClr val="6B7785"/>
                          </a:solidFill>
                          <a:latin typeface="Calibri" pitchFamily="34" charset="0"/>
                          <a:ea typeface="Calibri" pitchFamily="34" charset="-122"/>
                          <a:cs typeface="Calibri" pitchFamily="34" charset="-120"/>
                        </a:rPr>
                        <a:t>NV0118</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r" indent="0" marL="0">
                        <a:buNone/>
                      </a:pPr>
                      <a:r>
                        <a:rPr lang="en-US" sz="1200" b="1" dirty="0">
                          <a:solidFill>
                            <a:srgbClr val="6B7785"/>
                          </a:solidFill>
                          <a:latin typeface="Calibri" pitchFamily="34" charset="0"/>
                          <a:ea typeface="Calibri" pitchFamily="34" charset="-122"/>
                          <a:cs typeface="Calibri" pitchFamily="34" charset="-120"/>
                        </a:rPr>
                        <a:t>102,0</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100" dirty="0">
                          <a:solidFill>
                            <a:srgbClr val="6B7785"/>
                          </a:solidFill>
                          <a:latin typeface="Calibri" pitchFamily="34" charset="0"/>
                          <a:ea typeface="Calibri" pitchFamily="34" charset="-122"/>
                          <a:cs typeface="Calibri" pitchFamily="34" charset="-120"/>
                        </a:rPr>
                        <a:t>đang hội nhập (6 ca)</a:t>
                      </a:r>
                      <a:endParaRPr lang="en-US" sz="11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364744">
                <a:tc>
                  <a:txBody>
                    <a:bodyPr/>
                    <a:lstStyle/>
                    <a:p>
                      <a:pPr algn="ctr" indent="0" marL="0">
                        <a:buNone/>
                      </a:pPr>
                      <a:r>
                        <a:rPr lang="en-US" sz="1200" b="1" dirty="0">
                          <a:solidFill>
                            <a:srgbClr val="1B2A38"/>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b="1" dirty="0">
                          <a:solidFill>
                            <a:srgbClr val="1B2A38"/>
                          </a:solidFill>
                          <a:latin typeface="Calibri" pitchFamily="34" charset="0"/>
                          <a:ea typeface="Calibri" pitchFamily="34" charset="-122"/>
                          <a:cs typeface="Calibri" pitchFamily="34" charset="-120"/>
                        </a:rPr>
                        <a:t>NV0117</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B2A38"/>
                          </a:solidFill>
                          <a:latin typeface="Calibri" pitchFamily="34" charset="0"/>
                          <a:ea typeface="Calibri" pitchFamily="34" charset="-122"/>
                          <a:cs typeface="Calibri" pitchFamily="34" charset="-120"/>
                        </a:rPr>
                        <a:t>101,0</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364744">
                <a:tc>
                  <a:txBody>
                    <a:bodyPr/>
                    <a:lstStyle/>
                    <a:p>
                      <a:pPr algn="ctr" indent="0" marL="0">
                        <a:buNone/>
                      </a:pPr>
                      <a:r>
                        <a:rPr lang="en-US" sz="1200" b="1" dirty="0">
                          <a:solidFill>
                            <a:srgbClr val="1B2A38"/>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00" b="1" dirty="0">
                          <a:solidFill>
                            <a:srgbClr val="1B2A38"/>
                          </a:solidFill>
                          <a:latin typeface="Calibri" pitchFamily="34" charset="0"/>
                          <a:ea typeface="Calibri" pitchFamily="34" charset="-122"/>
                          <a:cs typeface="Calibri" pitchFamily="34" charset="-120"/>
                        </a:rPr>
                        <a:t>NV0113</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r" indent="0" marL="0">
                        <a:buNone/>
                      </a:pPr>
                      <a:r>
                        <a:rPr lang="en-US" sz="1200" b="1" dirty="0">
                          <a:solidFill>
                            <a:srgbClr val="1B2A38"/>
                          </a:solidFill>
                          <a:latin typeface="Calibri" pitchFamily="34" charset="0"/>
                          <a:ea typeface="Calibri" pitchFamily="34" charset="-122"/>
                          <a:cs typeface="Calibri" pitchFamily="34" charset="-120"/>
                        </a:rPr>
                        <a:t>100,6</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100" dirty="0">
                          <a:solidFill>
                            <a:srgbClr val="6B7785"/>
                          </a:solidFill>
                          <a:latin typeface="Calibri" pitchFamily="34" charset="0"/>
                          <a:ea typeface="Calibri" pitchFamily="34" charset="-122"/>
                          <a:cs typeface="Calibri" pitchFamily="34" charset="-120"/>
                        </a:rPr>
                        <a:t>tính cùng tập ngày</a:t>
                      </a:r>
                      <a:endParaRPr lang="en-US" sz="11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364744">
                <a:tc>
                  <a:txBody>
                    <a:bodyPr/>
                    <a:lstStyle/>
                    <a:p>
                      <a:pPr algn="ctr" indent="0" marL="0">
                        <a:buNone/>
                      </a:pPr>
                      <a:r>
                        <a:rPr lang="en-US" sz="1200" b="1" dirty="0">
                          <a:solidFill>
                            <a:srgbClr val="1B2A38"/>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b="1" dirty="0">
                          <a:solidFill>
                            <a:srgbClr val="1B2A38"/>
                          </a:solidFill>
                          <a:latin typeface="Calibri" pitchFamily="34" charset="0"/>
                          <a:ea typeface="Calibri" pitchFamily="34" charset="-122"/>
                          <a:cs typeface="Calibri" pitchFamily="34" charset="-120"/>
                        </a:rPr>
                        <a:t>NV0112</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B2A38"/>
                          </a:solidFill>
                          <a:latin typeface="Calibri" pitchFamily="34" charset="0"/>
                          <a:ea typeface="Calibri" pitchFamily="34" charset="-122"/>
                          <a:cs typeface="Calibri" pitchFamily="34" charset="-120"/>
                        </a:rPr>
                        <a:t>100,2</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100" dirty="0">
                          <a:solidFill>
                            <a:srgbClr val="6B7785"/>
                          </a:solidFill>
                          <a:latin typeface="Calibri" pitchFamily="34" charset="0"/>
                          <a:ea typeface="Calibri" pitchFamily="34" charset="-122"/>
                          <a:cs typeface="Calibri" pitchFamily="34" charset="-120"/>
                        </a:rPr>
                        <a:t>ở lại không đơn OT</a:t>
                      </a:r>
                      <a:endParaRPr lang="en-US" sz="11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364744">
                <a:tc>
                  <a:txBody>
                    <a:bodyPr/>
                    <a:lstStyle/>
                    <a:p>
                      <a:pPr algn="ctr" indent="0" marL="0">
                        <a:buNone/>
                      </a:pPr>
                      <a:r>
                        <a:rPr lang="en-US" sz="1200" b="1" dirty="0">
                          <a:solidFill>
                            <a:srgbClr val="1B2A38"/>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00" b="1" dirty="0">
                          <a:solidFill>
                            <a:srgbClr val="1B2A38"/>
                          </a:solidFill>
                          <a:latin typeface="Calibri" pitchFamily="34" charset="0"/>
                          <a:ea typeface="Calibri" pitchFamily="34" charset="-122"/>
                          <a:cs typeface="Calibri" pitchFamily="34" charset="-120"/>
                        </a:rPr>
                        <a:t>NV0119</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r" indent="0" marL="0">
                        <a:buNone/>
                      </a:pPr>
                      <a:r>
                        <a:rPr lang="en-US" sz="1200" b="1" dirty="0">
                          <a:solidFill>
                            <a:srgbClr val="1B2A38"/>
                          </a:solidFill>
                          <a:latin typeface="Calibri" pitchFamily="34" charset="0"/>
                          <a:ea typeface="Calibri" pitchFamily="34" charset="-122"/>
                          <a:cs typeface="Calibri" pitchFamily="34" charset="-120"/>
                        </a:rPr>
                        <a:t>98,7</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endParaRPr lang="en-US" sz="11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364744">
                <a:tc>
                  <a:txBody>
                    <a:bodyPr/>
                    <a:lstStyle/>
                    <a:p>
                      <a:pPr algn="ctr" indent="0" marL="0">
                        <a:buNone/>
                      </a:pPr>
                      <a:r>
                        <a:rPr lang="en-US" sz="1200" b="1" dirty="0">
                          <a:solidFill>
                            <a:srgbClr val="1B2A38"/>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b="1" dirty="0">
                          <a:solidFill>
                            <a:srgbClr val="1B2A38"/>
                          </a:solidFill>
                          <a:latin typeface="Calibri" pitchFamily="34" charset="0"/>
                          <a:ea typeface="Calibri" pitchFamily="34" charset="-122"/>
                          <a:cs typeface="Calibri" pitchFamily="34" charset="-120"/>
                        </a:rPr>
                        <a:t>NV0115</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B2A38"/>
                          </a:solidFill>
                          <a:latin typeface="Calibri" pitchFamily="34" charset="0"/>
                          <a:ea typeface="Calibri" pitchFamily="34" charset="-122"/>
                          <a:cs typeface="Calibri" pitchFamily="34" charset="-120"/>
                        </a:rPr>
                        <a:t>98,4</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364744">
                <a:tc>
                  <a:txBody>
                    <a:bodyPr/>
                    <a:lstStyle/>
                    <a:p>
                      <a:pPr algn="ctr" indent="0" marL="0">
                        <a:buNone/>
                      </a:pPr>
                      <a:r>
                        <a:rPr lang="en-US" sz="1200" b="1" dirty="0">
                          <a:solidFill>
                            <a:srgbClr val="6B778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00" b="1" dirty="0">
                          <a:solidFill>
                            <a:srgbClr val="6B7785"/>
                          </a:solidFill>
                          <a:latin typeface="Calibri" pitchFamily="34" charset="0"/>
                          <a:ea typeface="Calibri" pitchFamily="34" charset="-122"/>
                          <a:cs typeface="Calibri" pitchFamily="34" charset="-120"/>
                        </a:rPr>
                        <a:t>NV0116</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r" indent="0" marL="0">
                        <a:buNone/>
                      </a:pPr>
                      <a:r>
                        <a:rPr lang="en-US" sz="1200" b="1" dirty="0">
                          <a:solidFill>
                            <a:srgbClr val="6B7785"/>
                          </a:solidFill>
                          <a:latin typeface="Calibri" pitchFamily="34" charset="0"/>
                          <a:ea typeface="Calibri" pitchFamily="34" charset="-122"/>
                          <a:cs typeface="Calibri" pitchFamily="34" charset="-120"/>
                        </a:rPr>
                        <a:t>98,4</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100" dirty="0">
                          <a:solidFill>
                            <a:srgbClr val="6B7785"/>
                          </a:solidFill>
                          <a:latin typeface="Calibri" pitchFamily="34" charset="0"/>
                          <a:ea typeface="Calibri" pitchFamily="34" charset="-122"/>
                          <a:cs typeface="Calibri" pitchFamily="34" charset="-120"/>
                        </a:rPr>
                        <a:t>cờ dữ liệu (xám)</a:t>
                      </a:r>
                      <a:endParaRPr lang="en-US" sz="11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364744">
                <a:tc>
                  <a:txBody>
                    <a:bodyPr/>
                    <a:lstStyle/>
                    <a:p>
                      <a:pPr algn="ctr" indent="0" marL="0">
                        <a:buNone/>
                      </a:pPr>
                      <a:r>
                        <a:rPr lang="en-US" sz="1200" b="1" dirty="0">
                          <a:solidFill>
                            <a:srgbClr val="1B2A38"/>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b="1" dirty="0">
                          <a:solidFill>
                            <a:srgbClr val="C0392B"/>
                          </a:solidFill>
                          <a:latin typeface="Calibri" pitchFamily="34" charset="0"/>
                          <a:ea typeface="Calibri" pitchFamily="34" charset="-122"/>
                          <a:cs typeface="Calibri" pitchFamily="34" charset="-120"/>
                        </a:rPr>
                        <a:t>NV0114</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C0392B"/>
                          </a:solidFill>
                          <a:latin typeface="Calibri" pitchFamily="34" charset="0"/>
                          <a:ea typeface="Calibri" pitchFamily="34" charset="-122"/>
                          <a:cs typeface="Calibri" pitchFamily="34" charset="-120"/>
                        </a:rPr>
                        <a:t>88,2</a:t>
                      </a:r>
                      <a:endParaRPr lang="en-US" sz="12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100" dirty="0">
                          <a:solidFill>
                            <a:srgbClr val="C0392B"/>
                          </a:solidFill>
                          <a:latin typeface="Calibri" pitchFamily="34" charset="0"/>
                          <a:ea typeface="Calibri" pitchFamily="34" charset="-122"/>
                          <a:cs typeface="Calibri" pitchFamily="34" charset="-120"/>
                        </a:rPr>
                        <a:t>adherence 82,6%</a:t>
                      </a:r>
                      <a:endParaRPr lang="en-US" sz="1100" dirty="0">
                        <a:latin typeface="Calibri" charset="0"/>
                        <a:ea typeface="Calibri" charset="0"/>
                        <a:cs typeface="Calibri" charset="0"/>
                      </a:endParaRPr>
                    </a:p>
                  </a:txBody>
                  <a:tcPr marL="63500" marR="635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bl>
          </a:graphicData>
        </a:graphic>
      </p:graphicFrame>
      <p:sp>
        <p:nvSpPr>
          <p:cNvPr id="19" name="Shape 13"/>
          <p:cNvSpPr/>
          <p:nvPr/>
        </p:nvSpPr>
        <p:spPr>
          <a:xfrm>
            <a:off x="548640" y="5669280"/>
            <a:ext cx="11094415" cy="594360"/>
          </a:xfrm>
          <a:prstGeom prst="roundRect">
            <a:avLst>
              <a:gd name="adj" fmla="val 12308"/>
            </a:avLst>
          </a:prstGeom>
          <a:solidFill>
            <a:srgbClr val="FBE7DA"/>
          </a:solidFill>
          <a:ln w="12700">
            <a:solidFill>
              <a:srgbClr val="FBE7DA"/>
            </a:solidFill>
            <a:prstDash val="solid"/>
          </a:ln>
        </p:spPr>
      </p:sp>
      <p:sp>
        <p:nvSpPr>
          <p:cNvPr id="20" name="Text 14"/>
          <p:cNvSpPr txBox="1"/>
          <p:nvPr/>
        </p:nvSpPr>
        <p:spPr>
          <a:xfrm>
            <a:off x="777240" y="5669280"/>
            <a:ext cx="10637215" cy="594360"/>
          </a:xfrm>
          <a:prstGeom prst="rect">
            <a:avLst/>
          </a:prstGeom>
          <a:noFill/>
          <a:ln/>
        </p:spPr>
        <p:txBody>
          <a:bodyPr wrap="square" lIns="0" tIns="0" rIns="0" bIns="0" rtlCol="0" anchor="ctr">
            <a:normAutofit/>
          </a:bodyPr>
          <a:lstStyle/>
          <a:p>
            <a:pPr indent="0" marL="0">
              <a:buNone/>
            </a:pPr>
            <a:r>
              <a:rPr lang="en-US" sz="1350" dirty="0">
                <a:solidFill>
                  <a:srgbClr val="1B2A38"/>
                </a:solidFill>
                <a:latin typeface="Calibri" pitchFamily="34" charset="0"/>
                <a:ea typeface="Calibri" pitchFamily="34" charset="-122"/>
                <a:cs typeface="Calibri" pitchFamily="34" charset="-120"/>
              </a:rPr>
              <a:t>TS-A có người giỏi nhất nhưng điểm TB thấp nhất — vì một người: kèm NV0103, không phải “cả team kém”. Không so điểm thô TS-BH với CS-VT.</a:t>
            </a:r>
            <a:endParaRPr lang="en-US" sz="13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61772" cy="292608"/>
          </a:xfrm>
          <a:prstGeom prst="roundRect">
            <a:avLst>
              <a:gd name="adj" fmla="val 50000"/>
            </a:avLst>
          </a:prstGeom>
          <a:solidFill>
            <a:srgbClr val="DDEFEE"/>
          </a:solidFill>
          <a:ln w="12700">
            <a:solidFill>
              <a:srgbClr val="DDEFEE"/>
            </a:solidFill>
            <a:prstDash val="solid"/>
          </a:ln>
        </p:spPr>
      </p:sp>
      <p:sp>
        <p:nvSpPr>
          <p:cNvPr id="3" name="Text 1"/>
          <p:cNvSpPr txBox="1"/>
          <p:nvPr/>
        </p:nvSpPr>
        <p:spPr>
          <a:xfrm>
            <a:off x="548640" y="384048"/>
            <a:ext cx="461772" cy="292608"/>
          </a:xfrm>
          <a:prstGeom prst="rect">
            <a:avLst/>
          </a:prstGeom>
          <a:noFill/>
          <a:ln/>
        </p:spPr>
        <p:txBody>
          <a:bodyPr wrap="square" lIns="0" tIns="0" rIns="0" bIns="0" rtlCol="0" anchor="ctr"/>
          <a:lstStyle/>
          <a:p>
            <a:pPr algn="ctr" indent="0" marL="0">
              <a:buNone/>
            </a:pPr>
            <a:r>
              <a:rPr lang="en-US" sz="1050" b="1" spc="150" kern="0" dirty="0">
                <a:solidFill>
                  <a:srgbClr val="2E7D7A"/>
                </a:solidFill>
                <a:latin typeface="Calibri" pitchFamily="34" charset="0"/>
                <a:ea typeface="Calibri" pitchFamily="34" charset="-122"/>
                <a:cs typeface="Calibri" pitchFamily="34" charset="-120"/>
              </a:rPr>
              <a:t>LAB</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Lab 4.3 · Dashboard 3 tab bằng Artifact</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4 · KPI năng suất &amp; dashboard</a:t>
            </a:r>
            <a:endParaRPr lang="en-US" sz="1000" dirty="0"/>
          </a:p>
        </p:txBody>
      </p:sp>
      <p:sp>
        <p:nvSpPr>
          <p:cNvPr id="7" name="Shape 4"/>
          <p:cNvSpPr/>
          <p:nvPr/>
        </p:nvSpPr>
        <p:spPr>
          <a:xfrm>
            <a:off x="548640" y="1691640"/>
            <a:ext cx="3931920" cy="4572000"/>
          </a:xfrm>
          <a:prstGeom prst="roundRect">
            <a:avLst>
              <a:gd name="adj" fmla="val 2326"/>
            </a:avLst>
          </a:prstGeom>
          <a:solidFill>
            <a:srgbClr val="DDEFEE"/>
          </a:solidFill>
          <a:ln w="12700">
            <a:solidFill>
              <a:srgbClr val="DDEFEE"/>
            </a:solidFill>
            <a:prstDash val="solid"/>
          </a:ln>
        </p:spPr>
      </p:sp>
      <p:sp>
        <p:nvSpPr>
          <p:cNvPr id="8" name="Shape 5"/>
          <p:cNvSpPr/>
          <p:nvPr/>
        </p:nvSpPr>
        <p:spPr>
          <a:xfrm>
            <a:off x="777240" y="1920240"/>
            <a:ext cx="502920" cy="502920"/>
          </a:xfrm>
          <a:prstGeom prst="roundRect">
            <a:avLst>
              <a:gd name="adj" fmla="val 22000"/>
            </a:avLst>
          </a:prstGeom>
          <a:solidFill>
            <a:srgbClr val="2E7D7A"/>
          </a:solidFill>
          <a:ln w="12700">
            <a:solidFill>
              <a:srgbClr val="2E7D7A"/>
            </a:solidFill>
            <a:prstDash val="solid"/>
          </a:ln>
        </p:spPr>
      </p:sp>
      <p:pic>
        <p:nvPicPr>
          <p:cNvPr id="9" name="Image 0" descr="preencoded.png">    </p:cNvPr>
          <p:cNvPicPr>
            <a:picLocks noChangeAspect="1"/>
          </p:cNvPicPr>
          <p:nvPr/>
        </p:nvPicPr>
        <p:blipFill>
          <a:blip r:embed="rId1"/>
          <a:stretch>
            <a:fillRect/>
          </a:stretch>
        </p:blipFill>
        <p:spPr>
          <a:xfrm>
            <a:off x="897941" y="2040941"/>
            <a:ext cx="261518" cy="261518"/>
          </a:xfrm>
          <a:prstGeom prst="rect">
            <a:avLst/>
          </a:prstGeom>
        </p:spPr>
      </p:pic>
      <p:sp>
        <p:nvSpPr>
          <p:cNvPr id="10" name="Text 6"/>
          <p:cNvSpPr txBox="1"/>
          <p:nvPr/>
        </p:nvSpPr>
        <p:spPr>
          <a:xfrm>
            <a:off x="1417320" y="1920240"/>
            <a:ext cx="2743200" cy="502920"/>
          </a:xfrm>
          <a:prstGeom prst="rect">
            <a:avLst/>
          </a:prstGeom>
          <a:noFill/>
          <a:ln/>
        </p:spPr>
        <p:txBody>
          <a:bodyPr wrap="square" lIns="0" tIns="0" rIns="0" bIns="0" rtlCol="0" anchor="ctr"/>
          <a:lstStyle/>
          <a:p>
            <a:pPr indent="0" marL="0">
              <a:buNone/>
            </a:pPr>
            <a:r>
              <a:rPr lang="en-US" sz="2200" b="1" dirty="0">
                <a:solidFill>
                  <a:srgbClr val="2E7D7A"/>
                </a:solidFill>
                <a:latin typeface="Cambria" pitchFamily="34" charset="0"/>
                <a:ea typeface="Cambria" pitchFamily="34" charset="-122"/>
                <a:cs typeface="Cambria" pitchFamily="34" charset="-120"/>
              </a:rPr>
              <a:t>30 phút</a:t>
            </a:r>
            <a:endParaRPr lang="en-US" sz="2200" dirty="0"/>
          </a:p>
        </p:txBody>
      </p:sp>
      <p:sp>
        <p:nvSpPr>
          <p:cNvPr id="11" name="Text 7"/>
          <p:cNvSpPr txBox="1"/>
          <p:nvPr/>
        </p:nvSpPr>
        <p:spPr>
          <a:xfrm>
            <a:off x="777240" y="2606040"/>
            <a:ext cx="3474720" cy="1325880"/>
          </a:xfrm>
          <a:prstGeom prst="rect">
            <a:avLst/>
          </a:prstGeom>
          <a:noFill/>
          <a:ln/>
        </p:spPr>
        <p:txBody>
          <a:bodyPr wrap="square" lIns="0" tIns="0" rIns="0" bIns="0" rtlCol="0" anchor="t">
            <a:normAutofit/>
          </a:bodyPr>
          <a:lstStyle/>
          <a:p>
            <a:pPr indent="0" marL="0">
              <a:buNone/>
            </a:pPr>
            <a:r>
              <a:rPr lang="en-US" sz="1400" b="1" dirty="0">
                <a:solidFill>
                  <a:srgbClr val="2E7D7A"/>
                </a:solidFill>
                <a:latin typeface="Calibri" pitchFamily="34" charset="0"/>
                <a:ea typeface="Calibri" pitchFamily="34" charset="-122"/>
                <a:cs typeface="Calibri" pitchFamily="34" charset="-120"/>
              </a:rPr>
              <a:t>Mục tiêu  </a:t>
            </a:r>
            <a:pPr indent="0" marL="0">
              <a:buNone/>
            </a:pPr>
            <a:r>
              <a:rPr lang="en-US" sz="1400" dirty="0">
                <a:solidFill>
                  <a:srgbClr val="1B2A38"/>
                </a:solidFill>
                <a:latin typeface="Calibri" pitchFamily="34" charset="0"/>
                <a:ea typeface="Calibri" pitchFamily="34" charset="-122"/>
                <a:cs typeface="Calibri" pitchFamily="34" charset="-120"/>
              </a:rPr>
              <a:t>Dashboard v1 mở được trên máy tính và điện thoại; 3 tab cùng đọc một nguồn và một từ điển chỉ số.</a:t>
            </a:r>
            <a:endParaRPr lang="en-US" sz="1400" dirty="0"/>
          </a:p>
        </p:txBody>
      </p:sp>
      <p:sp>
        <p:nvSpPr>
          <p:cNvPr id="12" name="Text 8"/>
          <p:cNvSpPr txBox="1"/>
          <p:nvPr/>
        </p:nvSpPr>
        <p:spPr>
          <a:xfrm>
            <a:off x="777240" y="3977640"/>
            <a:ext cx="3474720" cy="274320"/>
          </a:xfrm>
          <a:prstGeom prst="rect">
            <a:avLst/>
          </a:prstGeom>
          <a:noFill/>
          <a:ln/>
        </p:spPr>
        <p:txBody>
          <a:bodyPr wrap="square" lIns="0" tIns="0" rIns="0" bIns="0" rtlCol="0" anchor="t"/>
          <a:lstStyle/>
          <a:p>
            <a:pPr indent="0" marL="0">
              <a:buNone/>
            </a:pPr>
            <a:r>
              <a:rPr lang="en-US" sz="1250" b="1" dirty="0">
                <a:solidFill>
                  <a:srgbClr val="2E7D7A"/>
                </a:solidFill>
                <a:latin typeface="Calibri" pitchFamily="34" charset="0"/>
                <a:ea typeface="Calibri" pitchFamily="34" charset="-122"/>
                <a:cs typeface="Calibri" pitchFamily="34" charset="-120"/>
              </a:rPr>
              <a:t>Dữ liệu dùng</a:t>
            </a:r>
            <a:endParaRPr lang="en-US" sz="1250" dirty="0"/>
          </a:p>
        </p:txBody>
      </p:sp>
      <p:sp>
        <p:nvSpPr>
          <p:cNvPr id="13" name="Text 9"/>
          <p:cNvSpPr txBox="1"/>
          <p:nvPr/>
        </p:nvSpPr>
        <p:spPr>
          <a:xfrm>
            <a:off x="777240" y="4279392"/>
            <a:ext cx="3474720" cy="859536"/>
          </a:xfrm>
          <a:prstGeom prst="rect">
            <a:avLst/>
          </a:prstGeom>
          <a:noFill/>
          <a:ln/>
        </p:spPr>
        <p:txBody>
          <a:bodyPr wrap="square" lIns="0" tIns="0" rIns="0" bIns="0" rtlCol="0" anchor="t">
            <a:normAutofit/>
          </a:bodyPr>
          <a:lstStyle/>
          <a:p>
            <a:pPr indent="0" marL="0">
              <a:buNone/>
            </a:pPr>
            <a:r>
              <a:rPr lang="en-US" sz="1050" dirty="0">
                <a:solidFill>
                  <a:srgbClr val="1B2A38"/>
                </a:solidFill>
                <a:latin typeface="Courier New" pitchFamily="34" charset="0"/>
                <a:ea typeface="Courier New" pitchFamily="34" charset="-122"/>
                <a:cs typeface="Courier New" pitchFamily="34" charset="-120"/>
              </a:rPr>
              <a:t>san_luong_agent_ngay.csv (file 1)</a:t>
            </a:r>
            <a:endParaRPr lang="en-US" sz="1050" dirty="0"/>
          </a:p>
          <a:p>
            <a:pPr indent="0" marL="0">
              <a:buNone/>
            </a:pPr>
            <a:r>
              <a:rPr lang="en-US" sz="1050" dirty="0">
                <a:solidFill>
                  <a:srgbClr val="1B2A38"/>
                </a:solidFill>
                <a:latin typeface="Courier New" pitchFamily="34" charset="0"/>
                <a:ea typeface="Courier New" pitchFamily="34" charset="-122"/>
                <a:cs typeface="Courier New" pitchFamily="34" charset="-120"/>
              </a:rPr>
              <a:t>cong_agent_ngay.csv (file 2)</a:t>
            </a:r>
            <a:endParaRPr lang="en-US" sz="1050" dirty="0"/>
          </a:p>
          <a:p>
            <a:pPr indent="0" marL="0">
              <a:buNone/>
            </a:pPr>
            <a:r>
              <a:rPr lang="en-US" sz="1050" dirty="0">
                <a:solidFill>
                  <a:srgbClr val="1B2A38"/>
                </a:solidFill>
                <a:latin typeface="Courier New" pitchFamily="34" charset="0"/>
                <a:ea typeface="Courier New" pitchFamily="34" charset="-122"/>
                <a:cs typeface="Courier New" pitchFamily="34" charset="-120"/>
              </a:rPr>
              <a:t>Tu_dien_chi_so_v1 · wireframe bài 08</a:t>
            </a:r>
            <a:endParaRPr lang="en-US" sz="1050" dirty="0"/>
          </a:p>
        </p:txBody>
      </p:sp>
      <p:sp>
        <p:nvSpPr>
          <p:cNvPr id="14" name="Text 10"/>
          <p:cNvSpPr txBox="1"/>
          <p:nvPr/>
        </p:nvSpPr>
        <p:spPr>
          <a:xfrm>
            <a:off x="777240" y="5202936"/>
            <a:ext cx="3474720" cy="274320"/>
          </a:xfrm>
          <a:prstGeom prst="rect">
            <a:avLst/>
          </a:prstGeom>
          <a:noFill/>
          <a:ln/>
        </p:spPr>
        <p:txBody>
          <a:bodyPr wrap="square" lIns="0" tIns="0" rIns="0" bIns="0" rtlCol="0" anchor="t"/>
          <a:lstStyle/>
          <a:p>
            <a:pPr indent="0" marL="0">
              <a:buNone/>
            </a:pPr>
            <a:r>
              <a:rPr lang="en-US" sz="1250" b="1" dirty="0">
                <a:solidFill>
                  <a:srgbClr val="2E7D7A"/>
                </a:solidFill>
                <a:latin typeface="Calibri" pitchFamily="34" charset="0"/>
                <a:ea typeface="Calibri" pitchFamily="34" charset="-122"/>
                <a:cs typeface="Calibri" pitchFamily="34" charset="-120"/>
              </a:rPr>
              <a:t>Sản phẩm</a:t>
            </a:r>
            <a:endParaRPr lang="en-US" sz="1250" dirty="0"/>
          </a:p>
        </p:txBody>
      </p:sp>
      <p:sp>
        <p:nvSpPr>
          <p:cNvPr id="15" name="Text 11"/>
          <p:cNvSpPr txBox="1"/>
          <p:nvPr/>
        </p:nvSpPr>
        <p:spPr>
          <a:xfrm>
            <a:off x="777240" y="5504688"/>
            <a:ext cx="3474720" cy="603504"/>
          </a:xfrm>
          <a:prstGeom prst="rect">
            <a:avLst/>
          </a:prstGeom>
          <a:noFill/>
          <a:ln/>
        </p:spPr>
        <p:txBody>
          <a:bodyPr wrap="square" lIns="0" tIns="0" rIns="0" bIns="0" rtlCol="0" anchor="t">
            <a:normAutofit/>
          </a:bodyPr>
          <a:lstStyle/>
          <a:p>
            <a:pPr indent="0" marL="0">
              <a:buNone/>
            </a:pPr>
            <a:r>
              <a:rPr lang="en-US" sz="1300" dirty="0">
                <a:solidFill>
                  <a:srgbClr val="1B2A38"/>
                </a:solidFill>
                <a:latin typeface="Calibri" pitchFamily="34" charset="0"/>
                <a:ea typeface="Calibri" pitchFamily="34" charset="-122"/>
                <a:cs typeface="Calibri" pitchFamily="34" charset="-120"/>
              </a:rPr>
              <a:t>Dashboard 3 tab Trưởng ca – HR – CEO, số khớp bảng đối chiếu. Sau này có thể chuyển sang Looker Studio / Power BI.</a:t>
            </a:r>
            <a:endParaRPr lang="en-US" sz="1300" dirty="0"/>
          </a:p>
        </p:txBody>
      </p:sp>
      <p:sp>
        <p:nvSpPr>
          <p:cNvPr id="16" name="Shape 12"/>
          <p:cNvSpPr/>
          <p:nvPr/>
        </p:nvSpPr>
        <p:spPr>
          <a:xfrm>
            <a:off x="4800600" y="1737360"/>
            <a:ext cx="438912" cy="438912"/>
          </a:xfrm>
          <a:prstGeom prst="ellipse">
            <a:avLst/>
          </a:prstGeom>
          <a:solidFill>
            <a:srgbClr val="2E7D7A"/>
          </a:solidFill>
          <a:ln w="12700">
            <a:solidFill>
              <a:srgbClr val="2E7D7A"/>
            </a:solidFill>
            <a:prstDash val="solid"/>
          </a:ln>
        </p:spPr>
      </p:sp>
      <p:sp>
        <p:nvSpPr>
          <p:cNvPr id="17" name="Text 13"/>
          <p:cNvSpPr txBox="1"/>
          <p:nvPr/>
        </p:nvSpPr>
        <p:spPr>
          <a:xfrm>
            <a:off x="4800600" y="173736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8" name="Text 14"/>
          <p:cNvSpPr txBox="1"/>
          <p:nvPr/>
        </p:nvSpPr>
        <p:spPr>
          <a:xfrm>
            <a:off x="5394960" y="1691640"/>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Chuẩn bị 2 file nguồn (5’)</a:t>
            </a:r>
            <a:pPr indent="0" marL="0">
              <a:buNone/>
            </a:pPr>
            <a:r>
              <a:rPr lang="en-US" sz="1450" dirty="0">
                <a:solidFill>
                  <a:srgbClr val="1B2A38"/>
                </a:solidFill>
                <a:latin typeface="Calibri" pitchFamily="34" charset="0"/>
                <a:ea typeface="Calibri" pitchFamily="34" charset="-122"/>
                <a:cs typeface="Calibri" pitchFamily="34" charset="-120"/>
              </a:rPr>
              <a:t> — sản lượng theo ngày × giờ × agent; công theo agent/ngày; giữ dòng “(chưa gán)”.</a:t>
            </a:r>
            <a:endParaRPr lang="en-US" sz="1450" dirty="0"/>
          </a:p>
        </p:txBody>
      </p:sp>
      <p:sp>
        <p:nvSpPr>
          <p:cNvPr id="19" name="Shape 15"/>
          <p:cNvSpPr/>
          <p:nvPr/>
        </p:nvSpPr>
        <p:spPr>
          <a:xfrm>
            <a:off x="4800600" y="2677363"/>
            <a:ext cx="438912" cy="438912"/>
          </a:xfrm>
          <a:prstGeom prst="ellipse">
            <a:avLst/>
          </a:prstGeom>
          <a:solidFill>
            <a:srgbClr val="2E7D7A"/>
          </a:solidFill>
          <a:ln w="12700">
            <a:solidFill>
              <a:srgbClr val="2E7D7A"/>
            </a:solidFill>
            <a:prstDash val="solid"/>
          </a:ln>
        </p:spPr>
      </p:sp>
      <p:sp>
        <p:nvSpPr>
          <p:cNvPr id="20" name="Text 16"/>
          <p:cNvSpPr txBox="1"/>
          <p:nvPr/>
        </p:nvSpPr>
        <p:spPr>
          <a:xfrm>
            <a:off x="4800600" y="2677363"/>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1" name="Text 17"/>
          <p:cNvSpPr txBox="1"/>
          <p:nvPr/>
        </p:nvSpPr>
        <p:spPr>
          <a:xfrm>
            <a:off x="5394960" y="2631643"/>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Prompt tạo dashboard (10’)</a:t>
            </a:r>
            <a:pPr indent="0" marL="0">
              <a:buNone/>
            </a:pPr>
            <a:r>
              <a:rPr lang="en-US" sz="1450" dirty="0">
                <a:solidFill>
                  <a:srgbClr val="1B2A38"/>
                </a:solidFill>
                <a:latin typeface="Calibri" pitchFamily="34" charset="0"/>
                <a:ea typeface="Calibri" pitchFamily="34" charset="-122"/>
                <a:cs typeface="Calibri" pitchFamily="34" charset="-120"/>
              </a:rPr>
              <a:t> — prompt 3 tab của syllabus + khối ngưỡng màu điền sẵn từ từ điển v1.</a:t>
            </a:r>
            <a:endParaRPr lang="en-US" sz="1450" dirty="0"/>
          </a:p>
        </p:txBody>
      </p:sp>
      <p:sp>
        <p:nvSpPr>
          <p:cNvPr id="22" name="Shape 18"/>
          <p:cNvSpPr/>
          <p:nvPr/>
        </p:nvSpPr>
        <p:spPr>
          <a:xfrm>
            <a:off x="4800600" y="3617366"/>
            <a:ext cx="438912" cy="438912"/>
          </a:xfrm>
          <a:prstGeom prst="ellipse">
            <a:avLst/>
          </a:prstGeom>
          <a:solidFill>
            <a:srgbClr val="2E7D7A"/>
          </a:solidFill>
          <a:ln w="12700">
            <a:solidFill>
              <a:srgbClr val="2E7D7A"/>
            </a:solidFill>
            <a:prstDash val="solid"/>
          </a:ln>
        </p:spPr>
      </p:sp>
      <p:sp>
        <p:nvSpPr>
          <p:cNvPr id="23" name="Text 19"/>
          <p:cNvSpPr txBox="1"/>
          <p:nvPr/>
        </p:nvSpPr>
        <p:spPr>
          <a:xfrm>
            <a:off x="4800600" y="3617366"/>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4" name="Text 20"/>
          <p:cNvSpPr txBox="1"/>
          <p:nvPr/>
        </p:nvSpPr>
        <p:spPr>
          <a:xfrm>
            <a:off x="5394960" y="3571646"/>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Kiểm chứng số (5’)</a:t>
            </a:r>
            <a:pPr indent="0" marL="0">
              <a:buNone/>
            </a:pPr>
            <a:r>
              <a:rPr lang="en-US" sz="1450" dirty="0">
                <a:solidFill>
                  <a:srgbClr val="1B2A38"/>
                </a:solidFill>
                <a:latin typeface="Calibri" pitchFamily="34" charset="0"/>
                <a:ea typeface="Calibri" pitchFamily="34" charset="-122"/>
                <a:cs typeface="Calibri" pitchFamily="34" charset="-120"/>
              </a:rPr>
              <a:t> — Claude in bảng đối chiếu: mỗi thẻ CEO có tử số, mẫu số, file + cột nguồn.</a:t>
            </a:r>
            <a:endParaRPr lang="en-US" sz="1450" dirty="0"/>
          </a:p>
        </p:txBody>
      </p:sp>
      <p:sp>
        <p:nvSpPr>
          <p:cNvPr id="25" name="Shape 21"/>
          <p:cNvSpPr/>
          <p:nvPr/>
        </p:nvSpPr>
        <p:spPr>
          <a:xfrm>
            <a:off x="4800600" y="4557370"/>
            <a:ext cx="438912" cy="438912"/>
          </a:xfrm>
          <a:prstGeom prst="ellipse">
            <a:avLst/>
          </a:prstGeom>
          <a:solidFill>
            <a:srgbClr val="2E7D7A"/>
          </a:solidFill>
          <a:ln w="12700">
            <a:solidFill>
              <a:srgbClr val="2E7D7A"/>
            </a:solidFill>
            <a:prstDash val="solid"/>
          </a:ln>
        </p:spPr>
      </p:sp>
      <p:sp>
        <p:nvSpPr>
          <p:cNvPr id="26" name="Text 22"/>
          <p:cNvSpPr txBox="1"/>
          <p:nvPr/>
        </p:nvSpPr>
        <p:spPr>
          <a:xfrm>
            <a:off x="4800600" y="455737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7" name="Text 23"/>
          <p:cNvSpPr txBox="1"/>
          <p:nvPr/>
        </p:nvSpPr>
        <p:spPr>
          <a:xfrm>
            <a:off x="5394960" y="4511650"/>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Chỉnh từng vòng (5’)</a:t>
            </a:r>
            <a:pPr indent="0" marL="0">
              <a:buNone/>
            </a:pPr>
            <a:r>
              <a:rPr lang="en-US" sz="1450" dirty="0">
                <a:solidFill>
                  <a:srgbClr val="1B2A38"/>
                </a:solidFill>
                <a:latin typeface="Calibri" pitchFamily="34" charset="0"/>
                <a:ea typeface="Calibri" pitchFamily="34" charset="-122"/>
                <a:cs typeface="Calibri" pitchFamily="34" charset="-120"/>
              </a:rPr>
              <a:t> — đúng số → đúng vai trò → điện thoại → minh bạch; mỗi vòng một loại, “giữ nguyên phần khác”.</a:t>
            </a:r>
            <a:endParaRPr lang="en-US" sz="1450" dirty="0"/>
          </a:p>
        </p:txBody>
      </p:sp>
      <p:sp>
        <p:nvSpPr>
          <p:cNvPr id="28" name="Shape 24"/>
          <p:cNvSpPr/>
          <p:nvPr/>
        </p:nvSpPr>
        <p:spPr>
          <a:xfrm>
            <a:off x="4800600" y="5497373"/>
            <a:ext cx="438912" cy="438912"/>
          </a:xfrm>
          <a:prstGeom prst="ellipse">
            <a:avLst/>
          </a:prstGeom>
          <a:solidFill>
            <a:srgbClr val="2E7D7A"/>
          </a:solidFill>
          <a:ln w="12700">
            <a:solidFill>
              <a:srgbClr val="2E7D7A"/>
            </a:solidFill>
            <a:prstDash val="solid"/>
          </a:ln>
        </p:spPr>
      </p:sp>
      <p:sp>
        <p:nvSpPr>
          <p:cNvPr id="29" name="Text 25"/>
          <p:cNvSpPr txBox="1"/>
          <p:nvPr/>
        </p:nvSpPr>
        <p:spPr>
          <a:xfrm>
            <a:off x="4800600" y="5497373"/>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0" name="Text 26"/>
          <p:cNvSpPr txBox="1"/>
          <p:nvPr/>
        </p:nvSpPr>
        <p:spPr>
          <a:xfrm>
            <a:off x="5394960" y="5451653"/>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Lưu &amp; chia sẻ (5’)</a:t>
            </a:r>
            <a:pPr indent="0" marL="0">
              <a:buNone/>
            </a:pPr>
            <a:r>
              <a:rPr lang="en-US" sz="1450" dirty="0">
                <a:solidFill>
                  <a:srgbClr val="1B2A38"/>
                </a:solidFill>
                <a:latin typeface="Calibri" pitchFamily="34" charset="0"/>
                <a:ea typeface="Calibri" pitchFamily="34" charset="-122"/>
                <a:cs typeface="Calibri" pitchFamily="34" charset="-120"/>
              </a:rPr>
              <a:t> — Dashboard_v1_[ngày] trong nhóm được phân quyền; lưu Prompt_dashboard_v1 vào Project.</a:t>
            </a:r>
            <a:endParaRPr lang="en-US" sz="14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48640" cy="292608"/>
          </a:xfrm>
          <a:prstGeom prst="roundRect">
            <a:avLst>
              <a:gd name="adj" fmla="val 50000"/>
            </a:avLst>
          </a:prstGeom>
          <a:solidFill>
            <a:srgbClr val="DDEFEE"/>
          </a:solidFill>
          <a:ln w="12700">
            <a:solidFill>
              <a:srgbClr val="DDEFEE"/>
            </a:solidFill>
            <a:prstDash val="solid"/>
          </a:ln>
        </p:spPr>
      </p:sp>
      <p:sp>
        <p:nvSpPr>
          <p:cNvPr id="3" name="Text 1"/>
          <p:cNvSpPr txBox="1"/>
          <p:nvPr/>
        </p:nvSpPr>
        <p:spPr>
          <a:xfrm>
            <a:off x="548640" y="384048"/>
            <a:ext cx="548640" cy="292608"/>
          </a:xfrm>
          <a:prstGeom prst="rect">
            <a:avLst/>
          </a:prstGeom>
          <a:noFill/>
          <a:ln/>
        </p:spPr>
        <p:txBody>
          <a:bodyPr wrap="square" lIns="0" tIns="0" rIns="0" bIns="0" rtlCol="0" anchor="ctr"/>
          <a:lstStyle/>
          <a:p>
            <a:pPr algn="ctr" indent="0" marL="0">
              <a:buNone/>
            </a:pPr>
            <a:r>
              <a:rPr lang="en-US" sz="1050" b="1" spc="150" kern="0" dirty="0">
                <a:solidFill>
                  <a:srgbClr val="2E7D7A"/>
                </a:solidFill>
                <a:latin typeface="Calibri" pitchFamily="34" charset="0"/>
                <a:ea typeface="Calibri" pitchFamily="34" charset="-122"/>
                <a:cs typeface="Calibri" pitchFamily="34" charset="-120"/>
              </a:rPr>
              <a:t>DEMO</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Prompt mẫu — Dashboard 3 tab (syllabus)</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4 · KPI năng suất &amp; dashboard</a:t>
            </a:r>
            <a:endParaRPr lang="en-US" sz="1000" dirty="0"/>
          </a:p>
        </p:txBody>
      </p:sp>
      <p:sp>
        <p:nvSpPr>
          <p:cNvPr id="7" name="Shape 4"/>
          <p:cNvSpPr/>
          <p:nvPr/>
        </p:nvSpPr>
        <p:spPr>
          <a:xfrm>
            <a:off x="548640" y="1691640"/>
            <a:ext cx="6949440" cy="4572000"/>
          </a:xfrm>
          <a:prstGeom prst="roundRect">
            <a:avLst>
              <a:gd name="adj" fmla="val 1600"/>
            </a:avLst>
          </a:prstGeom>
          <a:solidFill>
            <a:srgbClr val="1B2A38"/>
          </a:solidFill>
          <a:ln w="12700">
            <a:solidFill>
              <a:srgbClr val="1B2A38"/>
            </a:solidFill>
            <a:prstDash val="solid"/>
          </a:ln>
        </p:spPr>
      </p:sp>
      <p:sp>
        <p:nvSpPr>
          <p:cNvPr id="8" name="Shape 5"/>
          <p:cNvSpPr/>
          <p:nvPr/>
        </p:nvSpPr>
        <p:spPr>
          <a:xfrm>
            <a:off x="749808" y="1874520"/>
            <a:ext cx="384048" cy="384048"/>
          </a:xfrm>
          <a:prstGeom prst="roundRect">
            <a:avLst>
              <a:gd name="adj" fmla="val 22000"/>
            </a:avLst>
          </a:prstGeom>
          <a:solidFill>
            <a:srgbClr val="D9773A"/>
          </a:solidFill>
          <a:ln w="12700">
            <a:solidFill>
              <a:srgbClr val="D9773A"/>
            </a:solidFill>
            <a:prstDash val="solid"/>
          </a:ln>
        </p:spPr>
      </p:sp>
      <p:pic>
        <p:nvPicPr>
          <p:cNvPr id="9" name="Image 0" descr="preencoded.png">    </p:cNvPr>
          <p:cNvPicPr>
            <a:picLocks noChangeAspect="1"/>
          </p:cNvPicPr>
          <p:nvPr/>
        </p:nvPicPr>
        <p:blipFill>
          <a:blip r:embed="rId1"/>
          <a:stretch>
            <a:fillRect/>
          </a:stretch>
        </p:blipFill>
        <p:spPr>
          <a:xfrm>
            <a:off x="841980" y="1966692"/>
            <a:ext cx="199705" cy="199705"/>
          </a:xfrm>
          <a:prstGeom prst="rect">
            <a:avLst/>
          </a:prstGeom>
        </p:spPr>
      </p:pic>
      <p:sp>
        <p:nvSpPr>
          <p:cNvPr id="10" name="Text 6"/>
          <p:cNvSpPr txBox="1"/>
          <p:nvPr/>
        </p:nvSpPr>
        <p:spPr>
          <a:xfrm>
            <a:off x="1280160" y="1874520"/>
            <a:ext cx="4572000" cy="384048"/>
          </a:xfrm>
          <a:prstGeom prst="rect">
            <a:avLst/>
          </a:prstGeom>
          <a:noFill/>
          <a:ln/>
        </p:spPr>
        <p:txBody>
          <a:bodyPr wrap="square" lIns="0" tIns="0" rIns="0" bIns="0" rtlCol="0" anchor="ctr"/>
          <a:lstStyle/>
          <a:p>
            <a:pPr indent="0" marL="0">
              <a:buNone/>
            </a:pPr>
            <a:r>
              <a:rPr lang="en-US" sz="1100" b="1" spc="150" kern="0" dirty="0">
                <a:solidFill>
                  <a:srgbClr val="D9773A"/>
                </a:solidFill>
                <a:latin typeface="Calibri" pitchFamily="34" charset="0"/>
                <a:ea typeface="Calibri" pitchFamily="34" charset="-122"/>
                <a:cs typeface="Calibri" pitchFamily="34" charset="-120"/>
              </a:rPr>
              <a:t>PROMPT — dán vào Claude</a:t>
            </a:r>
            <a:endParaRPr lang="en-US" sz="1100" dirty="0"/>
          </a:p>
        </p:txBody>
      </p:sp>
      <p:sp>
        <p:nvSpPr>
          <p:cNvPr id="11" name="Text 7"/>
          <p:cNvSpPr txBox="1"/>
          <p:nvPr/>
        </p:nvSpPr>
        <p:spPr>
          <a:xfrm>
            <a:off x="822960" y="2423160"/>
            <a:ext cx="6400800" cy="3657600"/>
          </a:xfrm>
          <a:prstGeom prst="rect">
            <a:avLst/>
          </a:prstGeom>
          <a:noFill/>
          <a:ln/>
        </p:spPr>
        <p:txBody>
          <a:bodyPr wrap="square" lIns="0" tIns="0" rIns="0" bIns="0" rtlCol="0" anchor="t">
            <a:normAutofit/>
          </a:bodyPr>
          <a:lstStyle/>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Tạo dashboard HTML (Artifact) tiếng Việt từ 2 file đính kèm:</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sản lượng theo agent/ngày và công theo agent/ngày.</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Dùng định nghĩa trong "Tu_dien_chi_so" của Project.</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Tab 1 – Trưởng ca: sản lượng theo khung giờ (cột), bảng agent:</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cuộc/giờ công, tỷ lệ thành công, AHT, tỷ lệ sản xuất;</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tô đỏ agent dưới ngưỡng.</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Tab 2 – HR: tỷ lệ đi muộn, vắng mặt, tổng OT theo team,</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danh sách chênh lệch công &gt; 60 phút.</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Tab 3 – CEO: 6 thẻ số: tổng cuộc gọi, cuộc thành công,</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tổng giờ công, cuộc thành công/giờ công, tỷ lệ sản xuất,</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giờ công lãng phí; đường xu hướng 30 ngày;</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so sánh các dự án.</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Bộ lọc: ngày, dự án, team.</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Ngưỡng màu: [DÁN KHỐI NGƯỠNG — slide sau].</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Cuối mỗi tab ghi nguồn dữ liệu và thời điểm cập nhật.</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Hiển thị tốt trên điện thoại.</a:t>
            </a:r>
            <a:endParaRPr lang="en-US" sz="1250" dirty="0"/>
          </a:p>
        </p:txBody>
      </p:sp>
      <p:sp>
        <p:nvSpPr>
          <p:cNvPr id="12" name="Text 8"/>
          <p:cNvSpPr txBox="1"/>
          <p:nvPr/>
        </p:nvSpPr>
        <p:spPr>
          <a:xfrm>
            <a:off x="7818120" y="1691640"/>
            <a:ext cx="3824935" cy="411480"/>
          </a:xfrm>
          <a:prstGeom prst="rect">
            <a:avLst/>
          </a:prstGeom>
          <a:noFill/>
          <a:ln/>
        </p:spPr>
        <p:txBody>
          <a:bodyPr wrap="square" lIns="0" tIns="0" rIns="0" bIns="0" rtlCol="0" anchor="t"/>
          <a:lstStyle/>
          <a:p>
            <a:pPr indent="0" marL="0">
              <a:buNone/>
            </a:pPr>
            <a:r>
              <a:rPr lang="en-US" sz="1700" b="1" dirty="0">
                <a:solidFill>
                  <a:srgbClr val="1B2A38"/>
                </a:solidFill>
                <a:latin typeface="Cambria" pitchFamily="34" charset="0"/>
                <a:ea typeface="Cambria" pitchFamily="34" charset="-122"/>
                <a:cs typeface="Cambria" pitchFamily="34" charset="-120"/>
              </a:rPr>
              <a:t>Vì sao viết như vậy?</a:t>
            </a:r>
            <a:endParaRPr lang="en-US" sz="1700" dirty="0"/>
          </a:p>
        </p:txBody>
      </p:sp>
      <p:sp>
        <p:nvSpPr>
          <p:cNvPr id="13" name="Text 9"/>
          <p:cNvSpPr txBox="1"/>
          <p:nvPr/>
        </p:nvSpPr>
        <p:spPr>
          <a:xfrm>
            <a:off x="7818120" y="2240280"/>
            <a:ext cx="3824935" cy="4023360"/>
          </a:xfrm>
          <a:prstGeom prst="rect">
            <a:avLst/>
          </a:prstGeom>
          <a:noFill/>
          <a:ln/>
        </p:spPr>
        <p:txBody>
          <a:bodyPr wrap="square" lIns="0" tIns="0" rIns="0" bIns="0" rtlCol="0" anchor="t">
            <a:normAutofit/>
          </a:bodyPr>
          <a:lstStyle/>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Định nghĩa từ Project:</a:t>
            </a:r>
            <a:pPr indent="0" marL="0">
              <a:buNone/>
            </a:pPr>
            <a:r>
              <a:rPr lang="en-US" sz="1400" dirty="0">
                <a:solidFill>
                  <a:srgbClr val="1B2A38"/>
                </a:solidFill>
                <a:latin typeface="Calibri" pitchFamily="34" charset="0"/>
                <a:ea typeface="Calibri" pitchFamily="34" charset="-122"/>
                <a:cs typeface="Calibri" pitchFamily="34" charset="-120"/>
              </a:rPr>
              <a:t> 3 tab cùng một từ điển — không mỗi lần chạy một mẫu số.</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Mỗi tab một vai trò:</a:t>
            </a:r>
            <a:pPr indent="0" marL="0">
              <a:buNone/>
            </a:pPr>
            <a:r>
              <a:rPr lang="en-US" sz="1400" dirty="0">
                <a:solidFill>
                  <a:srgbClr val="1B2A38"/>
                </a:solidFill>
                <a:latin typeface="Calibri" pitchFamily="34" charset="0"/>
                <a:ea typeface="Calibri" pitchFamily="34" charset="-122"/>
                <a:cs typeface="Calibri" pitchFamily="34" charset="-120"/>
              </a:rPr>
              <a:t> chỉ đưa thứ người đó cần để hành động.</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Ngưỡng điền thẳng vào prompt:</a:t>
            </a:r>
            <a:pPr indent="0" marL="0">
              <a:buNone/>
            </a:pPr>
            <a:r>
              <a:rPr lang="en-US" sz="1400" dirty="0">
                <a:solidFill>
                  <a:srgbClr val="1B2A38"/>
                </a:solidFill>
                <a:latin typeface="Calibri" pitchFamily="34" charset="0"/>
                <a:ea typeface="Calibri" pitchFamily="34" charset="-122"/>
                <a:cs typeface="Calibri" pitchFamily="34" charset="-120"/>
              </a:rPr>
              <a:t> Claude có thể đọc lướt tài liệu dài; ngưỡng trong prompt chắc chắn được dùng.</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Nguồn + thời điểm:</a:t>
            </a:r>
            <a:pPr indent="0" marL="0">
              <a:buNone/>
            </a:pPr>
            <a:r>
              <a:rPr lang="en-US" sz="1400" dirty="0">
                <a:solidFill>
                  <a:srgbClr val="1B2A38"/>
                </a:solidFill>
                <a:latin typeface="Calibri" pitchFamily="34" charset="0"/>
                <a:ea typeface="Calibri" pitchFamily="34" charset="-122"/>
                <a:cs typeface="Calibri" pitchFamily="34" charset="-120"/>
              </a:rPr>
              <a:t> người xem biết số đã cũ hay chưa.</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Điện thoại:</a:t>
            </a:r>
            <a:pPr indent="0" marL="0">
              <a:buNone/>
            </a:pPr>
            <a:r>
              <a:rPr lang="en-US" sz="1400" dirty="0">
                <a:solidFill>
                  <a:srgbClr val="1B2A38"/>
                </a:solidFill>
                <a:latin typeface="Calibri" pitchFamily="34" charset="0"/>
                <a:ea typeface="Calibri" pitchFamily="34" charset="-122"/>
                <a:cs typeface="Calibri" pitchFamily="34" charset="-120"/>
              </a:rPr>
              <a:t> CEO mở dashboard lúc 7h sáng.</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48640" cy="292608"/>
          </a:xfrm>
          <a:prstGeom prst="roundRect">
            <a:avLst>
              <a:gd name="adj" fmla="val 50000"/>
            </a:avLst>
          </a:prstGeom>
          <a:solidFill>
            <a:srgbClr val="DDEFEE"/>
          </a:solidFill>
          <a:ln w="12700">
            <a:solidFill>
              <a:srgbClr val="DDEFEE"/>
            </a:solidFill>
            <a:prstDash val="solid"/>
          </a:ln>
        </p:spPr>
      </p:sp>
      <p:sp>
        <p:nvSpPr>
          <p:cNvPr id="3" name="Text 1"/>
          <p:cNvSpPr txBox="1"/>
          <p:nvPr/>
        </p:nvSpPr>
        <p:spPr>
          <a:xfrm>
            <a:off x="548640" y="384048"/>
            <a:ext cx="548640" cy="292608"/>
          </a:xfrm>
          <a:prstGeom prst="rect">
            <a:avLst/>
          </a:prstGeom>
          <a:noFill/>
          <a:ln/>
        </p:spPr>
        <p:txBody>
          <a:bodyPr wrap="square" lIns="0" tIns="0" rIns="0" bIns="0" rtlCol="0" anchor="ctr"/>
          <a:lstStyle/>
          <a:p>
            <a:pPr algn="ctr" indent="0" marL="0">
              <a:buNone/>
            </a:pPr>
            <a:r>
              <a:rPr lang="en-US" sz="1050" b="1" spc="150" kern="0" dirty="0">
                <a:solidFill>
                  <a:srgbClr val="2E7D7A"/>
                </a:solidFill>
                <a:latin typeface="Calibri" pitchFamily="34" charset="0"/>
                <a:ea typeface="Calibri" pitchFamily="34" charset="-122"/>
                <a:cs typeface="Calibri" pitchFamily="34" charset="-120"/>
              </a:rPr>
              <a:t>DEMO</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Khối ngưỡng màu — dán vào chỗ “Ngưỡng màu”</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4 · KPI năng suất &amp; dashboard</a:t>
            </a:r>
            <a:endParaRPr lang="en-US" sz="1000" dirty="0"/>
          </a:p>
        </p:txBody>
      </p:sp>
      <p:sp>
        <p:nvSpPr>
          <p:cNvPr id="7" name="Shape 4"/>
          <p:cNvSpPr/>
          <p:nvPr/>
        </p:nvSpPr>
        <p:spPr>
          <a:xfrm>
            <a:off x="548640" y="1691640"/>
            <a:ext cx="11094415" cy="4572000"/>
          </a:xfrm>
          <a:prstGeom prst="roundRect">
            <a:avLst>
              <a:gd name="adj" fmla="val 1600"/>
            </a:avLst>
          </a:prstGeom>
          <a:solidFill>
            <a:srgbClr val="1B2A38"/>
          </a:solidFill>
          <a:ln w="12700">
            <a:solidFill>
              <a:srgbClr val="1B2A38"/>
            </a:solidFill>
            <a:prstDash val="solid"/>
          </a:ln>
        </p:spPr>
      </p:sp>
      <p:sp>
        <p:nvSpPr>
          <p:cNvPr id="8" name="Shape 5"/>
          <p:cNvSpPr/>
          <p:nvPr/>
        </p:nvSpPr>
        <p:spPr>
          <a:xfrm>
            <a:off x="749808" y="1874520"/>
            <a:ext cx="384048" cy="384048"/>
          </a:xfrm>
          <a:prstGeom prst="roundRect">
            <a:avLst>
              <a:gd name="adj" fmla="val 22000"/>
            </a:avLst>
          </a:prstGeom>
          <a:solidFill>
            <a:srgbClr val="D9773A"/>
          </a:solidFill>
          <a:ln w="12700">
            <a:solidFill>
              <a:srgbClr val="D9773A"/>
            </a:solidFill>
            <a:prstDash val="solid"/>
          </a:ln>
        </p:spPr>
      </p:sp>
      <p:pic>
        <p:nvPicPr>
          <p:cNvPr id="9" name="Image 0" descr="preencoded.png">    </p:cNvPr>
          <p:cNvPicPr>
            <a:picLocks noChangeAspect="1"/>
          </p:cNvPicPr>
          <p:nvPr/>
        </p:nvPicPr>
        <p:blipFill>
          <a:blip r:embed="rId1"/>
          <a:stretch>
            <a:fillRect/>
          </a:stretch>
        </p:blipFill>
        <p:spPr>
          <a:xfrm>
            <a:off x="841980" y="1966692"/>
            <a:ext cx="199705" cy="199705"/>
          </a:xfrm>
          <a:prstGeom prst="rect">
            <a:avLst/>
          </a:prstGeom>
        </p:spPr>
      </p:pic>
      <p:sp>
        <p:nvSpPr>
          <p:cNvPr id="10" name="Text 6"/>
          <p:cNvSpPr txBox="1"/>
          <p:nvPr/>
        </p:nvSpPr>
        <p:spPr>
          <a:xfrm>
            <a:off x="1280160" y="1874520"/>
            <a:ext cx="4572000" cy="384048"/>
          </a:xfrm>
          <a:prstGeom prst="rect">
            <a:avLst/>
          </a:prstGeom>
          <a:noFill/>
          <a:ln/>
        </p:spPr>
        <p:txBody>
          <a:bodyPr wrap="square" lIns="0" tIns="0" rIns="0" bIns="0" rtlCol="0" anchor="ctr"/>
          <a:lstStyle/>
          <a:p>
            <a:pPr indent="0" marL="0">
              <a:buNone/>
            </a:pPr>
            <a:r>
              <a:rPr lang="en-US" sz="1100" b="1" spc="150" kern="0" dirty="0">
                <a:solidFill>
                  <a:srgbClr val="D9773A"/>
                </a:solidFill>
                <a:latin typeface="Calibri" pitchFamily="34" charset="0"/>
                <a:ea typeface="Calibri" pitchFamily="34" charset="-122"/>
                <a:cs typeface="Calibri" pitchFamily="34" charset="-120"/>
              </a:rPr>
              <a:t>PROMPT — dán vào Claude</a:t>
            </a:r>
            <a:endParaRPr lang="en-US" sz="1100" dirty="0"/>
          </a:p>
        </p:txBody>
      </p:sp>
      <p:sp>
        <p:nvSpPr>
          <p:cNvPr id="11" name="Text 7"/>
          <p:cNvSpPr txBox="1"/>
          <p:nvPr/>
        </p:nvSpPr>
        <p:spPr>
          <a:xfrm>
            <a:off x="822960" y="2423160"/>
            <a:ext cx="10545775" cy="3657600"/>
          </a:xfrm>
          <a:prstGeom prst="rect">
            <a:avLst/>
          </a:prstGeom>
          <a:noFill/>
          <a:ln/>
        </p:spPr>
        <p:txBody>
          <a:bodyPr wrap="square" lIns="0" tIns="0" rIns="0" bIns="0" rtlCol="0" anchor="t">
            <a:normAutofit/>
          </a:bodyPr>
          <a:lstStyle/>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Ngưỡng màu (theo Tu_dien_chi_so_v1, tách theo dự án):</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TS-BH (Outbound)</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TC/giờ công     xanh ≥ 1,1 · vàng 0,8–&lt;1,1 · đỏ &lt; 0,8</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Cuộc/giờ công   xanh 21–27 · vàng 18–&lt;21 hoặc &gt; 27 · đỏ &lt; 18</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Tỷ lệ chốt      xanh ≥ 10% · vàng 7–&lt;10% · đỏ &lt; 7%  (TC / liên hệ được)</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Tỷ lệ sản xuất  xanh ≥ 57% · vàng 50–&lt;57% · đỏ &lt; 50%</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AHT             xanh 170–220 giây · vàng 150–&lt;170 hoặc &gt; 220–260 · đỏ &lt; 150 hoặc &gt; 260</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CS-VT (Inbound)</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Cuộc/giờ công   xanh ≥ 6,5 · vàng 5,5–&lt;6,5 · đỏ &lt; 5,5</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Tỷ lệ sản xuất  xanh ≥ 60% · vàng 55–&lt;60% · đỏ &lt; 55%</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AHT xanh ≤ 360 · vàng &gt; 360–420 · đỏ &gt; 420 giây | Nghe máy xanh ≥ 90% · vàng 85–&lt;90% · đỏ &lt; 85%</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Chung</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Tỷ lệ đăng nhập xanh ≥ 95% · vàng 90–&lt;95% · đỏ &lt; 90%; &gt; 100% tô XÁM "kiểm tra dữ liệu"</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Đi muộn/người/kỳ vàng 1–3 · đỏ &gt; 3 | Vắng không phép đỏ ≥ 1 | Chênh lệch công vàng 30–60’, đỏ &gt; 60’</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Giờ công lãng phí = Σ max(0; có mặt − đăng nhập − 15 phút) theo ca; chi phí giờ: [HR XÁC NHẬN]</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TC/giờ công chỉ tính TS-BH; không so sánh chéo TS-BH với CS-VT. Kèm ký hiệu, không chỉ dùng màu.</a:t>
            </a:r>
            <a:endParaRPr lang="en-US" sz="12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591056" cy="292608"/>
          </a:xfrm>
          <a:prstGeom prst="roundRect">
            <a:avLst>
              <a:gd name="adj" fmla="val 50000"/>
            </a:avLst>
          </a:prstGeom>
          <a:solidFill>
            <a:srgbClr val="DDF1E5"/>
          </a:solidFill>
          <a:ln w="12700">
            <a:solidFill>
              <a:srgbClr val="DDF1E5"/>
            </a:solidFill>
            <a:prstDash val="solid"/>
          </a:ln>
        </p:spPr>
      </p:sp>
      <p:sp>
        <p:nvSpPr>
          <p:cNvPr id="3" name="Text 1"/>
          <p:cNvSpPr txBox="1"/>
          <p:nvPr/>
        </p:nvSpPr>
        <p:spPr>
          <a:xfrm>
            <a:off x="548640" y="384048"/>
            <a:ext cx="1591056" cy="292608"/>
          </a:xfrm>
          <a:prstGeom prst="rect">
            <a:avLst/>
          </a:prstGeom>
          <a:noFill/>
          <a:ln/>
        </p:spPr>
        <p:txBody>
          <a:bodyPr wrap="square" lIns="0" tIns="0" rIns="0" bIns="0" rtlCol="0" anchor="ctr"/>
          <a:lstStyle/>
          <a:p>
            <a:pPr algn="ctr" indent="0" marL="0">
              <a:buNone/>
            </a:pPr>
            <a:r>
              <a:rPr lang="en-US" sz="1050" b="1" spc="150" kern="0" dirty="0">
                <a:solidFill>
                  <a:srgbClr val="2E8B57"/>
                </a:solidFill>
                <a:latin typeface="Calibri" pitchFamily="34" charset="0"/>
                <a:ea typeface="Calibri" pitchFamily="34" charset="-122"/>
                <a:cs typeface="Calibri" pitchFamily="34" charset="-120"/>
              </a:rPr>
              <a:t>KẾT QUẢ MONG ĐỢI</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Kết quả mong đợi Lab 4.3 — 6 thẻ số tab CEO (07–20/09)</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4 · KPI năng suất &amp; dashboard</a:t>
            </a:r>
            <a:endParaRPr lang="en-US" sz="1000" dirty="0"/>
          </a:p>
        </p:txBody>
      </p:sp>
      <p:sp>
        <p:nvSpPr>
          <p:cNvPr id="7" name="Shape 4"/>
          <p:cNvSpPr/>
          <p:nvPr/>
        </p:nvSpPr>
        <p:spPr>
          <a:xfrm>
            <a:off x="548640" y="1691640"/>
            <a:ext cx="3515258" cy="1760220"/>
          </a:xfrm>
          <a:prstGeom prst="roundRect">
            <a:avLst>
              <a:gd name="adj" fmla="val 5195"/>
            </a:avLst>
          </a:prstGeom>
          <a:solidFill>
            <a:srgbClr val="F2F4F6"/>
          </a:solidFill>
          <a:ln w="12700">
            <a:solidFill>
              <a:srgbClr val="F2F4F6"/>
            </a:solidFill>
            <a:prstDash val="solid"/>
          </a:ln>
        </p:spPr>
      </p:sp>
      <p:sp>
        <p:nvSpPr>
          <p:cNvPr id="8" name="Text 5"/>
          <p:cNvSpPr txBox="1"/>
          <p:nvPr/>
        </p:nvSpPr>
        <p:spPr>
          <a:xfrm>
            <a:off x="777240" y="1801368"/>
            <a:ext cx="3058058" cy="685800"/>
          </a:xfrm>
          <a:prstGeom prst="rect">
            <a:avLst/>
          </a:prstGeom>
          <a:noFill/>
          <a:ln/>
        </p:spPr>
        <p:txBody>
          <a:bodyPr wrap="square" lIns="0" tIns="0" rIns="0" bIns="0" rtlCol="0" anchor="ctr"/>
          <a:lstStyle/>
          <a:p>
            <a:pPr indent="0" marL="0">
              <a:buNone/>
            </a:pPr>
            <a:r>
              <a:rPr lang="en-US" sz="3200" b="1" dirty="0">
                <a:solidFill>
                  <a:srgbClr val="D9773A"/>
                </a:solidFill>
                <a:latin typeface="Cambria" pitchFamily="34" charset="0"/>
                <a:ea typeface="Cambria" pitchFamily="34" charset="-122"/>
                <a:cs typeface="Cambria" pitchFamily="34" charset="-120"/>
              </a:rPr>
              <a:t>29.404</a:t>
            </a:r>
            <a:endParaRPr lang="en-US" sz="3200" dirty="0"/>
          </a:p>
        </p:txBody>
      </p:sp>
      <p:sp>
        <p:nvSpPr>
          <p:cNvPr id="9" name="Text 6"/>
          <p:cNvSpPr txBox="1"/>
          <p:nvPr/>
        </p:nvSpPr>
        <p:spPr>
          <a:xfrm>
            <a:off x="777240" y="2496312"/>
            <a:ext cx="3058058" cy="329184"/>
          </a:xfrm>
          <a:prstGeom prst="rect">
            <a:avLst/>
          </a:prstGeom>
          <a:noFill/>
          <a:ln/>
        </p:spPr>
        <p:txBody>
          <a:bodyPr wrap="square" lIns="0" tIns="0" rIns="0" bIns="0" rtlCol="0" anchor="ctr"/>
          <a:lstStyle/>
          <a:p>
            <a:pPr indent="0" marL="0">
              <a:buNone/>
            </a:pPr>
            <a:r>
              <a:rPr lang="en-US" sz="1450" b="1" dirty="0">
                <a:solidFill>
                  <a:srgbClr val="1B2A38"/>
                </a:solidFill>
                <a:latin typeface="Calibri" pitchFamily="34" charset="0"/>
                <a:ea typeface="Calibri" pitchFamily="34" charset="-122"/>
                <a:cs typeface="Calibri" pitchFamily="34" charset="-120"/>
              </a:rPr>
              <a:t>Tổng cuộc gọi</a:t>
            </a:r>
            <a:endParaRPr lang="en-US" sz="1450" dirty="0"/>
          </a:p>
        </p:txBody>
      </p:sp>
      <p:sp>
        <p:nvSpPr>
          <p:cNvPr id="10" name="Text 7"/>
          <p:cNvSpPr txBox="1"/>
          <p:nvPr/>
        </p:nvSpPr>
        <p:spPr>
          <a:xfrm>
            <a:off x="777240" y="2852928"/>
            <a:ext cx="3058058" cy="525780"/>
          </a:xfrm>
          <a:prstGeom prst="rect">
            <a:avLst/>
          </a:prstGeom>
          <a:noFill/>
          <a:ln/>
        </p:spPr>
        <p:txBody>
          <a:bodyPr wrap="square" lIns="0" tIns="0" rIns="0" bIns="0" rtlCol="0" anchor="t"/>
          <a:lstStyle/>
          <a:p>
            <a:pPr indent="0" marL="0">
              <a:buNone/>
            </a:pPr>
            <a:r>
              <a:rPr lang="en-US" sz="1200" dirty="0">
                <a:solidFill>
                  <a:srgbClr val="6B7785"/>
                </a:solidFill>
                <a:latin typeface="Calibri" pitchFamily="34" charset="0"/>
                <a:ea typeface="Calibri" pitchFamily="34" charset="-122"/>
                <a:cs typeface="Calibri" pitchFamily="34" charset="-120"/>
              </a:rPr>
              <a:t>TS-BH 23.866 lượt quay số · CS-VT 5.538 cuộc vào. Ra 29.452 → chưa bỏ 48 chặng chuyển tiếp.</a:t>
            </a:r>
            <a:endParaRPr lang="en-US" sz="1200" dirty="0"/>
          </a:p>
        </p:txBody>
      </p:sp>
      <p:sp>
        <p:nvSpPr>
          <p:cNvPr id="11" name="Shape 8"/>
          <p:cNvSpPr/>
          <p:nvPr/>
        </p:nvSpPr>
        <p:spPr>
          <a:xfrm>
            <a:off x="4338218" y="1691640"/>
            <a:ext cx="3515258" cy="1760220"/>
          </a:xfrm>
          <a:prstGeom prst="roundRect">
            <a:avLst>
              <a:gd name="adj" fmla="val 5195"/>
            </a:avLst>
          </a:prstGeom>
          <a:solidFill>
            <a:srgbClr val="F2F4F6"/>
          </a:solidFill>
          <a:ln w="12700">
            <a:solidFill>
              <a:srgbClr val="F2F4F6"/>
            </a:solidFill>
            <a:prstDash val="solid"/>
          </a:ln>
        </p:spPr>
      </p:sp>
      <p:sp>
        <p:nvSpPr>
          <p:cNvPr id="12" name="Text 9"/>
          <p:cNvSpPr txBox="1"/>
          <p:nvPr/>
        </p:nvSpPr>
        <p:spPr>
          <a:xfrm>
            <a:off x="4566818" y="1801368"/>
            <a:ext cx="3058058" cy="685800"/>
          </a:xfrm>
          <a:prstGeom prst="rect">
            <a:avLst/>
          </a:prstGeom>
          <a:noFill/>
          <a:ln/>
        </p:spPr>
        <p:txBody>
          <a:bodyPr wrap="square" lIns="0" tIns="0" rIns="0" bIns="0" rtlCol="0" anchor="ctr"/>
          <a:lstStyle/>
          <a:p>
            <a:pPr indent="0" marL="0">
              <a:buNone/>
            </a:pPr>
            <a:r>
              <a:rPr lang="en-US" sz="3200" b="1" dirty="0">
                <a:solidFill>
                  <a:srgbClr val="D9773A"/>
                </a:solidFill>
                <a:latin typeface="Cambria" pitchFamily="34" charset="0"/>
                <a:ea typeface="Cambria" pitchFamily="34" charset="-122"/>
                <a:cs typeface="Cambria" pitchFamily="34" charset="-120"/>
              </a:rPr>
              <a:t>1.257</a:t>
            </a:r>
            <a:endParaRPr lang="en-US" sz="3200" dirty="0"/>
          </a:p>
        </p:txBody>
      </p:sp>
      <p:sp>
        <p:nvSpPr>
          <p:cNvPr id="13" name="Text 10"/>
          <p:cNvSpPr txBox="1"/>
          <p:nvPr/>
        </p:nvSpPr>
        <p:spPr>
          <a:xfrm>
            <a:off x="4566818" y="2496312"/>
            <a:ext cx="3058058" cy="329184"/>
          </a:xfrm>
          <a:prstGeom prst="rect">
            <a:avLst/>
          </a:prstGeom>
          <a:noFill/>
          <a:ln/>
        </p:spPr>
        <p:txBody>
          <a:bodyPr wrap="square" lIns="0" tIns="0" rIns="0" bIns="0" rtlCol="0" anchor="ctr"/>
          <a:lstStyle/>
          <a:p>
            <a:pPr indent="0" marL="0">
              <a:buNone/>
            </a:pPr>
            <a:r>
              <a:rPr lang="en-US" sz="1450" b="1" dirty="0">
                <a:solidFill>
                  <a:srgbClr val="1B2A38"/>
                </a:solidFill>
                <a:latin typeface="Calibri" pitchFamily="34" charset="0"/>
                <a:ea typeface="Calibri" pitchFamily="34" charset="-122"/>
                <a:cs typeface="Calibri" pitchFamily="34" charset="-120"/>
              </a:rPr>
              <a:t>Cuộc thành công</a:t>
            </a:r>
            <a:endParaRPr lang="en-US" sz="1450" dirty="0"/>
          </a:p>
        </p:txBody>
      </p:sp>
      <p:sp>
        <p:nvSpPr>
          <p:cNvPr id="14" name="Text 11"/>
          <p:cNvSpPr txBox="1"/>
          <p:nvPr/>
        </p:nvSpPr>
        <p:spPr>
          <a:xfrm>
            <a:off x="4566818" y="2852928"/>
            <a:ext cx="3058058" cy="525780"/>
          </a:xfrm>
          <a:prstGeom prst="rect">
            <a:avLst/>
          </a:prstGeom>
          <a:noFill/>
          <a:ln/>
        </p:spPr>
        <p:txBody>
          <a:bodyPr wrap="square" lIns="0" tIns="0" rIns="0" bIns="0" rtlCol="0" anchor="t"/>
          <a:lstStyle/>
          <a:p>
            <a:pPr indent="0" marL="0">
              <a:buNone/>
            </a:pPr>
            <a:r>
              <a:rPr lang="en-US" sz="1200" dirty="0">
                <a:solidFill>
                  <a:srgbClr val="6B7785"/>
                </a:solidFill>
                <a:latin typeface="Calibri" pitchFamily="34" charset="0"/>
                <a:ea typeface="Calibri" pitchFamily="34" charset="-122"/>
                <a:cs typeface="Calibri" pitchFamily="34" charset="-120"/>
              </a:rPr>
              <a:t>1.238 của 11 agent TS-BH + 19 của thực tập sinh EXT2099.</a:t>
            </a:r>
            <a:endParaRPr lang="en-US" sz="1200" dirty="0"/>
          </a:p>
        </p:txBody>
      </p:sp>
      <p:sp>
        <p:nvSpPr>
          <p:cNvPr id="15" name="Shape 12"/>
          <p:cNvSpPr/>
          <p:nvPr/>
        </p:nvSpPr>
        <p:spPr>
          <a:xfrm>
            <a:off x="8127797" y="1691640"/>
            <a:ext cx="3515258" cy="1760220"/>
          </a:xfrm>
          <a:prstGeom prst="roundRect">
            <a:avLst>
              <a:gd name="adj" fmla="val 5195"/>
            </a:avLst>
          </a:prstGeom>
          <a:solidFill>
            <a:srgbClr val="F2F4F6"/>
          </a:solidFill>
          <a:ln w="12700">
            <a:solidFill>
              <a:srgbClr val="F2F4F6"/>
            </a:solidFill>
            <a:prstDash val="solid"/>
          </a:ln>
        </p:spPr>
      </p:sp>
      <p:sp>
        <p:nvSpPr>
          <p:cNvPr id="16" name="Text 13"/>
          <p:cNvSpPr txBox="1"/>
          <p:nvPr/>
        </p:nvSpPr>
        <p:spPr>
          <a:xfrm>
            <a:off x="8356397" y="1801368"/>
            <a:ext cx="3058058" cy="685800"/>
          </a:xfrm>
          <a:prstGeom prst="rect">
            <a:avLst/>
          </a:prstGeom>
          <a:noFill/>
          <a:ln/>
        </p:spPr>
        <p:txBody>
          <a:bodyPr wrap="square" lIns="0" tIns="0" rIns="0" bIns="0" rtlCol="0" anchor="ctr"/>
          <a:lstStyle/>
          <a:p>
            <a:pPr indent="0" marL="0">
              <a:buNone/>
            </a:pPr>
            <a:r>
              <a:rPr lang="en-US" sz="3200" b="1" dirty="0">
                <a:solidFill>
                  <a:srgbClr val="D9773A"/>
                </a:solidFill>
                <a:latin typeface="Cambria" pitchFamily="34" charset="0"/>
                <a:ea typeface="Cambria" pitchFamily="34" charset="-122"/>
                <a:cs typeface="Cambria" pitchFamily="34" charset="-120"/>
              </a:rPr>
              <a:t>1.707,1 h</a:t>
            </a:r>
            <a:endParaRPr lang="en-US" sz="3200" dirty="0"/>
          </a:p>
        </p:txBody>
      </p:sp>
      <p:sp>
        <p:nvSpPr>
          <p:cNvPr id="17" name="Text 14"/>
          <p:cNvSpPr txBox="1"/>
          <p:nvPr/>
        </p:nvSpPr>
        <p:spPr>
          <a:xfrm>
            <a:off x="8356397" y="2496312"/>
            <a:ext cx="3058058" cy="329184"/>
          </a:xfrm>
          <a:prstGeom prst="rect">
            <a:avLst/>
          </a:prstGeom>
          <a:noFill/>
          <a:ln/>
        </p:spPr>
        <p:txBody>
          <a:bodyPr wrap="square" lIns="0" tIns="0" rIns="0" bIns="0" rtlCol="0" anchor="ctr"/>
          <a:lstStyle/>
          <a:p>
            <a:pPr indent="0" marL="0">
              <a:buNone/>
            </a:pPr>
            <a:r>
              <a:rPr lang="en-US" sz="1450" b="1" dirty="0">
                <a:solidFill>
                  <a:srgbClr val="1B2A38"/>
                </a:solidFill>
                <a:latin typeface="Calibri" pitchFamily="34" charset="0"/>
                <a:ea typeface="Calibri" pitchFamily="34" charset="-122"/>
                <a:cs typeface="Calibri" pitchFamily="34" charset="-120"/>
              </a:rPr>
              <a:t>Tổng giờ công (giờ có mặt)</a:t>
            </a:r>
            <a:endParaRPr lang="en-US" sz="1450" dirty="0"/>
          </a:p>
        </p:txBody>
      </p:sp>
      <p:sp>
        <p:nvSpPr>
          <p:cNvPr id="18" name="Text 15"/>
          <p:cNvSpPr txBox="1"/>
          <p:nvPr/>
        </p:nvSpPr>
        <p:spPr>
          <a:xfrm>
            <a:off x="8356397" y="2852928"/>
            <a:ext cx="3058058" cy="525780"/>
          </a:xfrm>
          <a:prstGeom prst="rect">
            <a:avLst/>
          </a:prstGeom>
          <a:noFill/>
          <a:ln/>
        </p:spPr>
        <p:txBody>
          <a:bodyPr wrap="square" lIns="0" tIns="0" rIns="0" bIns="0" rtlCol="0" anchor="t"/>
          <a:lstStyle/>
          <a:p>
            <a:pPr indent="0" marL="0">
              <a:buNone/>
            </a:pPr>
            <a:r>
              <a:rPr lang="en-US" sz="1200" dirty="0">
                <a:solidFill>
                  <a:srgbClr val="6B7785"/>
                </a:solidFill>
                <a:latin typeface="Calibri" pitchFamily="34" charset="0"/>
                <a:ea typeface="Calibri" pitchFamily="34" charset="-122"/>
                <a:cs typeface="Calibri" pitchFamily="34" charset="-120"/>
              </a:rPr>
              <a:t>TS-BH 995,0 · CS-VT 712,1. Ra 1.663,1 → đang dùng giờ đăng nhập.</a:t>
            </a:r>
            <a:endParaRPr lang="en-US" sz="1200" dirty="0"/>
          </a:p>
        </p:txBody>
      </p:sp>
      <p:sp>
        <p:nvSpPr>
          <p:cNvPr id="19" name="Shape 16"/>
          <p:cNvSpPr/>
          <p:nvPr/>
        </p:nvSpPr>
        <p:spPr>
          <a:xfrm>
            <a:off x="548640" y="3726180"/>
            <a:ext cx="3515258" cy="1760220"/>
          </a:xfrm>
          <a:prstGeom prst="roundRect">
            <a:avLst>
              <a:gd name="adj" fmla="val 5195"/>
            </a:avLst>
          </a:prstGeom>
          <a:solidFill>
            <a:srgbClr val="DDF1E5"/>
          </a:solidFill>
          <a:ln w="12700">
            <a:solidFill>
              <a:srgbClr val="DDF1E5"/>
            </a:solidFill>
            <a:prstDash val="solid"/>
          </a:ln>
        </p:spPr>
      </p:sp>
      <p:sp>
        <p:nvSpPr>
          <p:cNvPr id="20" name="Text 17"/>
          <p:cNvSpPr txBox="1"/>
          <p:nvPr/>
        </p:nvSpPr>
        <p:spPr>
          <a:xfrm>
            <a:off x="777240" y="3835908"/>
            <a:ext cx="3058058" cy="685800"/>
          </a:xfrm>
          <a:prstGeom prst="rect">
            <a:avLst/>
          </a:prstGeom>
          <a:noFill/>
          <a:ln/>
        </p:spPr>
        <p:txBody>
          <a:bodyPr wrap="square" lIns="0" tIns="0" rIns="0" bIns="0" rtlCol="0" anchor="ctr"/>
          <a:lstStyle/>
          <a:p>
            <a:pPr indent="0" marL="0">
              <a:buNone/>
            </a:pPr>
            <a:r>
              <a:rPr lang="en-US" sz="3200" b="1" dirty="0">
                <a:solidFill>
                  <a:srgbClr val="2E8B57"/>
                </a:solidFill>
                <a:latin typeface="Cambria" pitchFamily="34" charset="0"/>
                <a:ea typeface="Cambria" pitchFamily="34" charset="-122"/>
                <a:cs typeface="Cambria" pitchFamily="34" charset="-120"/>
              </a:rPr>
              <a:t>1,24</a:t>
            </a:r>
            <a:endParaRPr lang="en-US" sz="3200" dirty="0"/>
          </a:p>
        </p:txBody>
      </p:sp>
      <p:sp>
        <p:nvSpPr>
          <p:cNvPr id="21" name="Text 18"/>
          <p:cNvSpPr txBox="1"/>
          <p:nvPr/>
        </p:nvSpPr>
        <p:spPr>
          <a:xfrm>
            <a:off x="777240" y="4530852"/>
            <a:ext cx="3058058" cy="329184"/>
          </a:xfrm>
          <a:prstGeom prst="rect">
            <a:avLst/>
          </a:prstGeom>
          <a:noFill/>
          <a:ln/>
        </p:spPr>
        <p:txBody>
          <a:bodyPr wrap="square" lIns="0" tIns="0" rIns="0" bIns="0" rtlCol="0" anchor="ctr"/>
          <a:lstStyle/>
          <a:p>
            <a:pPr indent="0" marL="0">
              <a:buNone/>
            </a:pPr>
            <a:r>
              <a:rPr lang="en-US" sz="1450" b="1" dirty="0">
                <a:solidFill>
                  <a:srgbClr val="1B2A38"/>
                </a:solidFill>
                <a:latin typeface="Calibri" pitchFamily="34" charset="0"/>
                <a:ea typeface="Calibri" pitchFamily="34" charset="-122"/>
                <a:cs typeface="Calibri" pitchFamily="34" charset="-120"/>
              </a:rPr>
              <a:t>Cuộc thành công / giờ công (TS-BH)</a:t>
            </a:r>
            <a:endParaRPr lang="en-US" sz="1450" dirty="0"/>
          </a:p>
        </p:txBody>
      </p:sp>
      <p:sp>
        <p:nvSpPr>
          <p:cNvPr id="22" name="Text 19"/>
          <p:cNvSpPr txBox="1"/>
          <p:nvPr/>
        </p:nvSpPr>
        <p:spPr>
          <a:xfrm>
            <a:off x="777240" y="4887468"/>
            <a:ext cx="3058058" cy="525780"/>
          </a:xfrm>
          <a:prstGeom prst="rect">
            <a:avLst/>
          </a:prstGeom>
          <a:noFill/>
          <a:ln/>
        </p:spPr>
        <p:txBody>
          <a:bodyPr wrap="square" lIns="0" tIns="0" rIns="0" bIns="0" rtlCol="0" anchor="t"/>
          <a:lstStyle/>
          <a:p>
            <a:pPr indent="0" marL="0">
              <a:buNone/>
            </a:pPr>
            <a:r>
              <a:rPr lang="en-US" sz="1200" dirty="0">
                <a:solidFill>
                  <a:srgbClr val="6B7785"/>
                </a:solidFill>
                <a:latin typeface="Calibri" pitchFamily="34" charset="0"/>
                <a:ea typeface="Calibri" pitchFamily="34" charset="-122"/>
                <a:cs typeface="Calibri" pitchFamily="34" charset="-120"/>
              </a:rPr>
              <a:t>1.238 / 995,0 — xanh. Ra 0,74 → chia cho giờ công cả 2 dự án.</a:t>
            </a:r>
            <a:endParaRPr lang="en-US" sz="1200" dirty="0"/>
          </a:p>
        </p:txBody>
      </p:sp>
      <p:sp>
        <p:nvSpPr>
          <p:cNvPr id="23" name="Shape 20"/>
          <p:cNvSpPr/>
          <p:nvPr/>
        </p:nvSpPr>
        <p:spPr>
          <a:xfrm>
            <a:off x="4338218" y="3726180"/>
            <a:ext cx="3515258" cy="1760220"/>
          </a:xfrm>
          <a:prstGeom prst="roundRect">
            <a:avLst>
              <a:gd name="adj" fmla="val 5195"/>
            </a:avLst>
          </a:prstGeom>
          <a:solidFill>
            <a:srgbClr val="F2F4F6"/>
          </a:solidFill>
          <a:ln w="12700">
            <a:solidFill>
              <a:srgbClr val="F2F4F6"/>
            </a:solidFill>
            <a:prstDash val="solid"/>
          </a:ln>
        </p:spPr>
      </p:sp>
      <p:sp>
        <p:nvSpPr>
          <p:cNvPr id="24" name="Text 21"/>
          <p:cNvSpPr txBox="1"/>
          <p:nvPr/>
        </p:nvSpPr>
        <p:spPr>
          <a:xfrm>
            <a:off x="4566818" y="3835908"/>
            <a:ext cx="3058058" cy="685800"/>
          </a:xfrm>
          <a:prstGeom prst="rect">
            <a:avLst/>
          </a:prstGeom>
          <a:noFill/>
          <a:ln/>
        </p:spPr>
        <p:txBody>
          <a:bodyPr wrap="square" lIns="0" tIns="0" rIns="0" bIns="0" rtlCol="0" anchor="ctr"/>
          <a:lstStyle/>
          <a:p>
            <a:pPr indent="0" marL="0">
              <a:buNone/>
            </a:pPr>
            <a:r>
              <a:rPr lang="en-US" sz="3200" b="1" dirty="0">
                <a:solidFill>
                  <a:srgbClr val="D9773A"/>
                </a:solidFill>
                <a:latin typeface="Cambria" pitchFamily="34" charset="0"/>
                <a:ea typeface="Cambria" pitchFamily="34" charset="-122"/>
                <a:cs typeface="Cambria" pitchFamily="34" charset="-120"/>
              </a:rPr>
              <a:t>61,5%</a:t>
            </a:r>
            <a:endParaRPr lang="en-US" sz="3200" dirty="0"/>
          </a:p>
        </p:txBody>
      </p:sp>
      <p:sp>
        <p:nvSpPr>
          <p:cNvPr id="25" name="Text 22"/>
          <p:cNvSpPr txBox="1"/>
          <p:nvPr/>
        </p:nvSpPr>
        <p:spPr>
          <a:xfrm>
            <a:off x="4566818" y="4530852"/>
            <a:ext cx="3058058" cy="329184"/>
          </a:xfrm>
          <a:prstGeom prst="rect">
            <a:avLst/>
          </a:prstGeom>
          <a:noFill/>
          <a:ln/>
        </p:spPr>
        <p:txBody>
          <a:bodyPr wrap="square" lIns="0" tIns="0" rIns="0" bIns="0" rtlCol="0" anchor="ctr"/>
          <a:lstStyle/>
          <a:p>
            <a:pPr indent="0" marL="0">
              <a:buNone/>
            </a:pPr>
            <a:r>
              <a:rPr lang="en-US" sz="1450" b="1" dirty="0">
                <a:solidFill>
                  <a:srgbClr val="1B2A38"/>
                </a:solidFill>
                <a:latin typeface="Calibri" pitchFamily="34" charset="0"/>
                <a:ea typeface="Calibri" pitchFamily="34" charset="-122"/>
                <a:cs typeface="Calibri" pitchFamily="34" charset="-120"/>
              </a:rPr>
              <a:t>Tỷ lệ sản xuất</a:t>
            </a:r>
            <a:endParaRPr lang="en-US" sz="1450" dirty="0"/>
          </a:p>
        </p:txBody>
      </p:sp>
      <p:sp>
        <p:nvSpPr>
          <p:cNvPr id="26" name="Text 23"/>
          <p:cNvSpPr txBox="1"/>
          <p:nvPr/>
        </p:nvSpPr>
        <p:spPr>
          <a:xfrm>
            <a:off x="4566818" y="4887468"/>
            <a:ext cx="3058058" cy="525780"/>
          </a:xfrm>
          <a:prstGeom prst="rect">
            <a:avLst/>
          </a:prstGeom>
          <a:noFill/>
          <a:ln/>
        </p:spPr>
        <p:txBody>
          <a:bodyPr wrap="square" lIns="0" tIns="0" rIns="0" bIns="0" rtlCol="0" anchor="t"/>
          <a:lstStyle/>
          <a:p>
            <a:pPr indent="0" marL="0">
              <a:buNone/>
            </a:pPr>
            <a:r>
              <a:rPr lang="en-US" sz="1200" dirty="0">
                <a:solidFill>
                  <a:srgbClr val="6B7785"/>
                </a:solidFill>
                <a:latin typeface="Calibri" pitchFamily="34" charset="0"/>
                <a:ea typeface="Calibri" pitchFamily="34" charset="-122"/>
                <a:cs typeface="Calibri" pitchFamily="34" charset="-120"/>
              </a:rPr>
              <a:t>1.049,2 / 1.707,1 giờ (TS-BH 60,3% · CS-VT 63,0%); 60,8% nếu cùng tập ngày.</a:t>
            </a:r>
            <a:endParaRPr lang="en-US" sz="1200" dirty="0"/>
          </a:p>
        </p:txBody>
      </p:sp>
      <p:sp>
        <p:nvSpPr>
          <p:cNvPr id="27" name="Shape 24"/>
          <p:cNvSpPr/>
          <p:nvPr/>
        </p:nvSpPr>
        <p:spPr>
          <a:xfrm>
            <a:off x="8127797" y="3726180"/>
            <a:ext cx="3515258" cy="1760220"/>
          </a:xfrm>
          <a:prstGeom prst="roundRect">
            <a:avLst>
              <a:gd name="adj" fmla="val 5195"/>
            </a:avLst>
          </a:prstGeom>
          <a:solidFill>
            <a:srgbClr val="FBE7DA"/>
          </a:solidFill>
          <a:ln w="12700">
            <a:solidFill>
              <a:srgbClr val="FBE7DA"/>
            </a:solidFill>
            <a:prstDash val="solid"/>
          </a:ln>
        </p:spPr>
      </p:sp>
      <p:sp>
        <p:nvSpPr>
          <p:cNvPr id="28" name="Text 25"/>
          <p:cNvSpPr txBox="1"/>
          <p:nvPr/>
        </p:nvSpPr>
        <p:spPr>
          <a:xfrm>
            <a:off x="8356397" y="3835908"/>
            <a:ext cx="3058058" cy="685800"/>
          </a:xfrm>
          <a:prstGeom prst="rect">
            <a:avLst/>
          </a:prstGeom>
          <a:noFill/>
          <a:ln/>
        </p:spPr>
        <p:txBody>
          <a:bodyPr wrap="square" lIns="0" tIns="0" rIns="0" bIns="0" rtlCol="0" anchor="ctr"/>
          <a:lstStyle/>
          <a:p>
            <a:pPr indent="0" marL="0">
              <a:buNone/>
            </a:pPr>
            <a:r>
              <a:rPr lang="en-US" sz="3200" b="1" dirty="0">
                <a:solidFill>
                  <a:srgbClr val="D9773A"/>
                </a:solidFill>
                <a:latin typeface="Cambria" pitchFamily="34" charset="0"/>
                <a:ea typeface="Cambria" pitchFamily="34" charset="-122"/>
                <a:cs typeface="Cambria" pitchFamily="34" charset="-120"/>
              </a:rPr>
              <a:t>24,3 h</a:t>
            </a:r>
            <a:endParaRPr lang="en-US" sz="3200" dirty="0"/>
          </a:p>
        </p:txBody>
      </p:sp>
      <p:sp>
        <p:nvSpPr>
          <p:cNvPr id="29" name="Text 26"/>
          <p:cNvSpPr txBox="1"/>
          <p:nvPr/>
        </p:nvSpPr>
        <p:spPr>
          <a:xfrm>
            <a:off x="8356397" y="4530852"/>
            <a:ext cx="3058058" cy="329184"/>
          </a:xfrm>
          <a:prstGeom prst="rect">
            <a:avLst/>
          </a:prstGeom>
          <a:noFill/>
          <a:ln/>
        </p:spPr>
        <p:txBody>
          <a:bodyPr wrap="square" lIns="0" tIns="0" rIns="0" bIns="0" rtlCol="0" anchor="ctr"/>
          <a:lstStyle/>
          <a:p>
            <a:pPr indent="0" marL="0">
              <a:buNone/>
            </a:pPr>
            <a:r>
              <a:rPr lang="en-US" sz="1450" b="1" dirty="0">
                <a:solidFill>
                  <a:srgbClr val="1B2A38"/>
                </a:solidFill>
                <a:latin typeface="Calibri" pitchFamily="34" charset="0"/>
                <a:ea typeface="Calibri" pitchFamily="34" charset="-122"/>
                <a:cs typeface="Calibri" pitchFamily="34" charset="-120"/>
              </a:rPr>
              <a:t>Giờ công lãng phí (ngưỡng 15’/ca)</a:t>
            </a:r>
            <a:endParaRPr lang="en-US" sz="1450" dirty="0"/>
          </a:p>
        </p:txBody>
      </p:sp>
      <p:sp>
        <p:nvSpPr>
          <p:cNvPr id="30" name="Text 27"/>
          <p:cNvSpPr txBox="1"/>
          <p:nvPr/>
        </p:nvSpPr>
        <p:spPr>
          <a:xfrm>
            <a:off x="8356397" y="4887468"/>
            <a:ext cx="3058058" cy="525780"/>
          </a:xfrm>
          <a:prstGeom prst="rect">
            <a:avLst/>
          </a:prstGeom>
          <a:noFill/>
          <a:ln/>
        </p:spPr>
        <p:txBody>
          <a:bodyPr wrap="square" lIns="0" tIns="0" rIns="0" bIns="0" rtlCol="0" anchor="t"/>
          <a:lstStyle/>
          <a:p>
            <a:pPr indent="0" marL="0">
              <a:buNone/>
            </a:pPr>
            <a:r>
              <a:rPr lang="en-US" sz="1200" dirty="0">
                <a:solidFill>
                  <a:srgbClr val="6B7785"/>
                </a:solidFill>
                <a:latin typeface="Calibri" pitchFamily="34" charset="0"/>
                <a:ea typeface="Calibri" pitchFamily="34" charset="-122"/>
                <a:cs typeface="Calibri" pitchFamily="34" charset="-120"/>
              </a:rPr>
              <a:t>NV0114 15,9 giờ · NV0106 8,4 giờ. Ra 62,7 → quên ngưỡng.</a:t>
            </a:r>
            <a:endParaRPr lang="en-US" sz="1200" dirty="0"/>
          </a:p>
        </p:txBody>
      </p:sp>
      <p:sp>
        <p:nvSpPr>
          <p:cNvPr id="31" name="Shape 28"/>
          <p:cNvSpPr/>
          <p:nvPr/>
        </p:nvSpPr>
        <p:spPr>
          <a:xfrm>
            <a:off x="548640" y="5669280"/>
            <a:ext cx="11094415" cy="594360"/>
          </a:xfrm>
          <a:prstGeom prst="roundRect">
            <a:avLst>
              <a:gd name="adj" fmla="val 12308"/>
            </a:avLst>
          </a:prstGeom>
          <a:solidFill>
            <a:srgbClr val="F2F4F6"/>
          </a:solidFill>
          <a:ln w="12700">
            <a:solidFill>
              <a:srgbClr val="F2F4F6"/>
            </a:solidFill>
            <a:prstDash val="solid"/>
          </a:ln>
        </p:spPr>
      </p:sp>
      <p:sp>
        <p:nvSpPr>
          <p:cNvPr id="32" name="Text 29"/>
          <p:cNvSpPr txBox="1"/>
          <p:nvPr/>
        </p:nvSpPr>
        <p:spPr>
          <a:xfrm>
            <a:off x="777240" y="5669280"/>
            <a:ext cx="10637215" cy="594360"/>
          </a:xfrm>
          <a:prstGeom prst="rect">
            <a:avLst/>
          </a:prstGeom>
          <a:noFill/>
          <a:ln/>
        </p:spPr>
        <p:txBody>
          <a:bodyPr wrap="square" lIns="0" tIns="0" rIns="0" bIns="0" rtlCol="0" anchor="ctr">
            <a:normAutofit/>
          </a:bodyPr>
          <a:lstStyle/>
          <a:p>
            <a:pPr indent="0" marL="0">
              <a:buNone/>
            </a:pPr>
            <a:r>
              <a:rPr lang="en-US" sz="1350" dirty="0">
                <a:solidFill>
                  <a:srgbClr val="1B2A38"/>
                </a:solidFill>
                <a:latin typeface="Calibri" pitchFamily="34" charset="0"/>
                <a:ea typeface="Calibri" pitchFamily="34" charset="-122"/>
                <a:cs typeface="Calibri" pitchFamily="34" charset="-120"/>
              </a:rPr>
              <a:t>Xu hướng TC/giờ TS-BH 1,06 (07/09) – 1,40 (10/09) · CS-VT nghe máy 90,3% (sát ngưỡng) · Tab HR: 8 lượt muộn (NV0109), 10 ca lệch &gt; 60’.</a:t>
            </a:r>
            <a:endParaRPr lang="en-US" sz="13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982980" cy="292608"/>
          </a:xfrm>
          <a:prstGeom prst="roundRect">
            <a:avLst>
              <a:gd name="adj" fmla="val 50000"/>
            </a:avLst>
          </a:prstGeom>
          <a:solidFill>
            <a:srgbClr val="ECE6F5"/>
          </a:solidFill>
          <a:ln w="12700">
            <a:solidFill>
              <a:srgbClr val="ECE6F5"/>
            </a:solidFill>
            <a:prstDash val="solid"/>
          </a:ln>
        </p:spPr>
      </p:sp>
      <p:sp>
        <p:nvSpPr>
          <p:cNvPr id="3" name="Text 1"/>
          <p:cNvSpPr txBox="1"/>
          <p:nvPr/>
        </p:nvSpPr>
        <p:spPr>
          <a:xfrm>
            <a:off x="548640" y="384048"/>
            <a:ext cx="982980" cy="292608"/>
          </a:xfrm>
          <a:prstGeom prst="rect">
            <a:avLst/>
          </a:prstGeom>
          <a:noFill/>
          <a:ln/>
        </p:spPr>
        <p:txBody>
          <a:bodyPr wrap="square" lIns="0" tIns="0" rIns="0" bIns="0" rtlCol="0" anchor="ctr"/>
          <a:lstStyle/>
          <a:p>
            <a:pPr algn="ctr" indent="0" marL="0">
              <a:buNone/>
            </a:pPr>
            <a:r>
              <a:rPr lang="en-US" sz="1050" b="1" spc="150" kern="0" dirty="0">
                <a:solidFill>
                  <a:srgbClr val="6E4E9E"/>
                </a:solidFill>
                <a:latin typeface="Calibri" pitchFamily="34" charset="0"/>
                <a:ea typeface="Calibri" pitchFamily="34" charset="-122"/>
                <a:cs typeface="Calibri" pitchFamily="34" charset="-120"/>
              </a:rPr>
              <a:t>TRÌNH BÀY</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Trình bày: mỗi vai trò góp ý dashboard của mình</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4 · KPI năng suất &amp; dashboard</a:t>
            </a:r>
            <a:endParaRPr lang="en-US" sz="1000" dirty="0"/>
          </a:p>
        </p:txBody>
      </p:sp>
      <p:sp>
        <p:nvSpPr>
          <p:cNvPr id="7" name="Text 4"/>
          <p:cNvSpPr txBox="1"/>
          <p:nvPr/>
        </p:nvSpPr>
        <p:spPr>
          <a:xfrm>
            <a:off x="548640" y="1645920"/>
            <a:ext cx="11094415" cy="502920"/>
          </a:xfrm>
          <a:prstGeom prst="rect">
            <a:avLst/>
          </a:prstGeom>
          <a:noFill/>
          <a:ln/>
        </p:spPr>
        <p:txBody>
          <a:bodyPr wrap="square" lIns="0" tIns="0" rIns="0" bIns="0" rtlCol="0" anchor="t"/>
          <a:lstStyle/>
          <a:p>
            <a:pPr indent="0" marL="0">
              <a:buNone/>
            </a:pPr>
            <a:r>
              <a:rPr lang="en-US" sz="1600" i="1" dirty="0">
                <a:solidFill>
                  <a:srgbClr val="6B7785"/>
                </a:solidFill>
                <a:latin typeface="Calibri" pitchFamily="34" charset="0"/>
                <a:ea typeface="Calibri" pitchFamily="34" charset="-122"/>
                <a:cs typeface="Calibri" pitchFamily="34" charset="-120"/>
              </a:rPr>
              <a:t>Mỗi góp ý 1 dòng: tab – vấn đề – ưu tiên (sai số &gt; thiếu thông tin &gt; khó dùng &gt; thẩm mỹ).</a:t>
            </a:r>
            <a:endParaRPr lang="en-US" sz="1600" dirty="0"/>
          </a:p>
        </p:txBody>
      </p:sp>
      <p:sp>
        <p:nvSpPr>
          <p:cNvPr id="8" name="Shape 5"/>
          <p:cNvSpPr/>
          <p:nvPr/>
        </p:nvSpPr>
        <p:spPr>
          <a:xfrm>
            <a:off x="548640" y="2240280"/>
            <a:ext cx="3515258" cy="4023360"/>
          </a:xfrm>
          <a:prstGeom prst="roundRect">
            <a:avLst>
              <a:gd name="adj" fmla="val 2601"/>
            </a:avLst>
          </a:prstGeom>
          <a:solidFill>
            <a:srgbClr val="DDEFEE"/>
          </a:solidFill>
          <a:ln w="12700">
            <a:solidFill>
              <a:srgbClr val="DDEFEE"/>
            </a:solidFill>
            <a:prstDash val="solid"/>
          </a:ln>
        </p:spPr>
      </p:sp>
      <p:sp>
        <p:nvSpPr>
          <p:cNvPr id="9" name="Shape 6"/>
          <p:cNvSpPr/>
          <p:nvPr/>
        </p:nvSpPr>
        <p:spPr>
          <a:xfrm>
            <a:off x="777240" y="2468880"/>
            <a:ext cx="566928" cy="566928"/>
          </a:xfrm>
          <a:prstGeom prst="roundRect">
            <a:avLst>
              <a:gd name="adj" fmla="val 22000"/>
            </a:avLst>
          </a:prstGeom>
          <a:solidFill>
            <a:srgbClr val="2E7D7A"/>
          </a:solidFill>
          <a:ln w="12700">
            <a:solidFill>
              <a:srgbClr val="2E7D7A"/>
            </a:solidFill>
            <a:prstDash val="solid"/>
          </a:ln>
        </p:spPr>
      </p:sp>
      <p:pic>
        <p:nvPicPr>
          <p:cNvPr id="10" name="Image 0" descr="preencoded.png">    </p:cNvPr>
          <p:cNvPicPr>
            <a:picLocks noChangeAspect="1"/>
          </p:cNvPicPr>
          <p:nvPr/>
        </p:nvPicPr>
        <p:blipFill>
          <a:blip r:embed="rId1"/>
          <a:stretch>
            <a:fillRect/>
          </a:stretch>
        </p:blipFill>
        <p:spPr>
          <a:xfrm>
            <a:off x="913303" y="2604943"/>
            <a:ext cx="294803" cy="294803"/>
          </a:xfrm>
          <a:prstGeom prst="rect">
            <a:avLst/>
          </a:prstGeom>
        </p:spPr>
      </p:pic>
      <p:sp>
        <p:nvSpPr>
          <p:cNvPr id="11" name="Text 7"/>
          <p:cNvSpPr txBox="1"/>
          <p:nvPr/>
        </p:nvSpPr>
        <p:spPr>
          <a:xfrm>
            <a:off x="1527048" y="2468880"/>
            <a:ext cx="2308250" cy="566928"/>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Trưởng ca</a:t>
            </a:r>
            <a:endParaRPr lang="en-US" sz="1650" dirty="0"/>
          </a:p>
        </p:txBody>
      </p:sp>
      <p:sp>
        <p:nvSpPr>
          <p:cNvPr id="12" name="Text 8"/>
          <p:cNvSpPr txBox="1"/>
          <p:nvPr/>
        </p:nvSpPr>
        <p:spPr>
          <a:xfrm>
            <a:off x="777240" y="3200400"/>
            <a:ext cx="3058058" cy="2907792"/>
          </a:xfrm>
          <a:prstGeom prst="rect">
            <a:avLst/>
          </a:prstGeom>
          <a:noFill/>
          <a:ln/>
        </p:spPr>
        <p:txBody>
          <a:bodyPr wrap="square" lIns="0" tIns="0" rIns="0" bIns="0" rtlCol="0" anchor="t">
            <a:normAutofit/>
          </a:bodyPr>
          <a:lstStyle/>
          <a:p>
            <a:pPr marL="228600" indent="-228600">
              <a:spcAft>
                <a:spcPts val="500"/>
              </a:spcAft>
              <a:buSzPct val="100000"/>
              <a:buChar char="•"/>
            </a:pPr>
            <a:r>
              <a:rPr lang="en-US" sz="1600" dirty="0">
                <a:solidFill>
                  <a:srgbClr val="1B2A38"/>
                </a:solidFill>
                <a:latin typeface="Calibri" pitchFamily="34" charset="0"/>
                <a:ea typeface="Calibri" pitchFamily="34" charset="-122"/>
                <a:cs typeface="Calibri" pitchFamily="34" charset="-120"/>
              </a:rPr>
              <a:t>Tab có trả lời “ai cần hỗ trợ ngay?” không?</a:t>
            </a:r>
            <a:endParaRPr lang="en-US" sz="1600" dirty="0"/>
          </a:p>
          <a:p>
            <a:pPr marL="228600" indent="-228600">
              <a:spcAft>
                <a:spcPts val="500"/>
              </a:spcAft>
              <a:buSzPct val="100000"/>
              <a:buChar char="•"/>
            </a:pPr>
            <a:r>
              <a:rPr lang="en-US" sz="1600" dirty="0">
                <a:solidFill>
                  <a:srgbClr val="1B2A38"/>
                </a:solidFill>
                <a:latin typeface="Calibri" pitchFamily="34" charset="0"/>
                <a:ea typeface="Calibri" pitchFamily="34" charset="-122"/>
                <a:cs typeface="Calibri" pitchFamily="34" charset="-120"/>
              </a:rPr>
              <a:t>Ô đỏ có đúng: NV0103, NV0108, NV0106, NV0114?</a:t>
            </a:r>
            <a:endParaRPr lang="en-US" sz="1600" dirty="0"/>
          </a:p>
          <a:p>
            <a:pPr marL="228600" indent="-228600">
              <a:spcAft>
                <a:spcPts val="500"/>
              </a:spcAft>
              <a:buSzPct val="100000"/>
              <a:buChar char="•"/>
            </a:pPr>
            <a:r>
              <a:rPr lang="en-US" sz="1600" dirty="0">
                <a:solidFill>
                  <a:srgbClr val="1B2A38"/>
                </a:solidFill>
                <a:latin typeface="Calibri" pitchFamily="34" charset="0"/>
                <a:ea typeface="Calibri" pitchFamily="34" charset="-122"/>
                <a:cs typeface="Calibri" pitchFamily="34" charset="-120"/>
              </a:rPr>
              <a:t>Còn thiếu gì để hành động trong ca (vd lý do NOT_READY)?</a:t>
            </a:r>
            <a:endParaRPr lang="en-US" sz="1600" dirty="0"/>
          </a:p>
          <a:p>
            <a:pPr marL="228600" indent="-228600">
              <a:spcAft>
                <a:spcPts val="500"/>
              </a:spcAft>
              <a:buSzPct val="100000"/>
              <a:buChar char="•"/>
            </a:pPr>
            <a:r>
              <a:rPr lang="en-US" sz="1600" dirty="0">
                <a:solidFill>
                  <a:srgbClr val="1B2A38"/>
                </a:solidFill>
                <a:latin typeface="Calibri" pitchFamily="34" charset="0"/>
                <a:ea typeface="Calibri" pitchFamily="34" charset="-122"/>
                <a:cs typeface="Calibri" pitchFamily="34" charset="-120"/>
              </a:rPr>
              <a:t>Biểu đồ theo giờ có thấy trống 12h, thấp 17h (giao ca)?</a:t>
            </a:r>
            <a:endParaRPr lang="en-US" sz="1600" dirty="0"/>
          </a:p>
        </p:txBody>
      </p:sp>
      <p:sp>
        <p:nvSpPr>
          <p:cNvPr id="13" name="Shape 9"/>
          <p:cNvSpPr/>
          <p:nvPr/>
        </p:nvSpPr>
        <p:spPr>
          <a:xfrm>
            <a:off x="4338218" y="2240280"/>
            <a:ext cx="3515258" cy="4023360"/>
          </a:xfrm>
          <a:prstGeom prst="roundRect">
            <a:avLst>
              <a:gd name="adj" fmla="val 2601"/>
            </a:avLst>
          </a:prstGeom>
          <a:solidFill>
            <a:srgbClr val="FBE7DA"/>
          </a:solidFill>
          <a:ln w="12700">
            <a:solidFill>
              <a:srgbClr val="FBE7DA"/>
            </a:solidFill>
            <a:prstDash val="solid"/>
          </a:ln>
        </p:spPr>
      </p:sp>
      <p:sp>
        <p:nvSpPr>
          <p:cNvPr id="14" name="Shape 10"/>
          <p:cNvSpPr/>
          <p:nvPr/>
        </p:nvSpPr>
        <p:spPr>
          <a:xfrm>
            <a:off x="4566818" y="2468880"/>
            <a:ext cx="566928" cy="566928"/>
          </a:xfrm>
          <a:prstGeom prst="roundRect">
            <a:avLst>
              <a:gd name="adj" fmla="val 22000"/>
            </a:avLst>
          </a:prstGeom>
          <a:solidFill>
            <a:srgbClr val="D9773A"/>
          </a:solidFill>
          <a:ln w="12700">
            <a:solidFill>
              <a:srgbClr val="D9773A"/>
            </a:solidFill>
            <a:prstDash val="solid"/>
          </a:ln>
        </p:spPr>
      </p:sp>
      <p:pic>
        <p:nvPicPr>
          <p:cNvPr id="15" name="Image 1" descr="preencoded.png">    </p:cNvPr>
          <p:cNvPicPr>
            <a:picLocks noChangeAspect="1"/>
          </p:cNvPicPr>
          <p:nvPr/>
        </p:nvPicPr>
        <p:blipFill>
          <a:blip r:embed="rId2"/>
          <a:stretch>
            <a:fillRect/>
          </a:stretch>
        </p:blipFill>
        <p:spPr>
          <a:xfrm>
            <a:off x="4702881" y="2604943"/>
            <a:ext cx="294803" cy="294803"/>
          </a:xfrm>
          <a:prstGeom prst="rect">
            <a:avLst/>
          </a:prstGeom>
        </p:spPr>
      </p:pic>
      <p:sp>
        <p:nvSpPr>
          <p:cNvPr id="16" name="Text 11"/>
          <p:cNvSpPr txBox="1"/>
          <p:nvPr/>
        </p:nvSpPr>
        <p:spPr>
          <a:xfrm>
            <a:off x="5316626" y="2468880"/>
            <a:ext cx="2308250" cy="566928"/>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HR / C&amp;B</a:t>
            </a:r>
            <a:endParaRPr lang="en-US" sz="1650" dirty="0"/>
          </a:p>
        </p:txBody>
      </p:sp>
      <p:sp>
        <p:nvSpPr>
          <p:cNvPr id="17" name="Text 12"/>
          <p:cNvSpPr txBox="1"/>
          <p:nvPr/>
        </p:nvSpPr>
        <p:spPr>
          <a:xfrm>
            <a:off x="4566818" y="3200400"/>
            <a:ext cx="3058058" cy="2907792"/>
          </a:xfrm>
          <a:prstGeom prst="rect">
            <a:avLst/>
          </a:prstGeom>
          <a:noFill/>
          <a:ln/>
        </p:spPr>
        <p:txBody>
          <a:bodyPr wrap="square" lIns="0" tIns="0" rIns="0" bIns="0" rtlCol="0" anchor="t">
            <a:normAutofit/>
          </a:bodyPr>
          <a:lstStyle/>
          <a:p>
            <a:pPr marL="228600" indent="-228600">
              <a:spcAft>
                <a:spcPts val="500"/>
              </a:spcAft>
              <a:buSzPct val="100000"/>
              <a:buChar char="•"/>
            </a:pPr>
            <a:r>
              <a:rPr lang="en-US" sz="1600" dirty="0">
                <a:solidFill>
                  <a:srgbClr val="1B2A38"/>
                </a:solidFill>
                <a:latin typeface="Calibri" pitchFamily="34" charset="0"/>
                <a:ea typeface="Calibri" pitchFamily="34" charset="-122"/>
                <a:cs typeface="Calibri" pitchFamily="34" charset="-120"/>
              </a:rPr>
              <a:t>8 lượt muộn, 1 vắng không phép, 10 ca lệch &gt; 60’ có khớp bảng công?</a:t>
            </a:r>
            <a:endParaRPr lang="en-US" sz="1600" dirty="0"/>
          </a:p>
          <a:p>
            <a:pPr marL="228600" indent="-228600">
              <a:spcAft>
                <a:spcPts val="500"/>
              </a:spcAft>
              <a:buSzPct val="100000"/>
              <a:buChar char="•"/>
            </a:pPr>
            <a:r>
              <a:rPr lang="en-US" sz="1600" dirty="0">
                <a:solidFill>
                  <a:srgbClr val="1B2A38"/>
                </a:solidFill>
                <a:latin typeface="Calibri" pitchFamily="34" charset="0"/>
                <a:ea typeface="Calibri" pitchFamily="34" charset="-122"/>
                <a:cs typeface="Calibri" pitchFamily="34" charset="-120"/>
              </a:rPr>
              <a:t>OT tách đã duyệt / chờ duyệt / không đơn (NV0112)?</a:t>
            </a:r>
            <a:endParaRPr lang="en-US" sz="1600" dirty="0"/>
          </a:p>
          <a:p>
            <a:pPr marL="228600" indent="-228600">
              <a:spcAft>
                <a:spcPts val="500"/>
              </a:spcAft>
              <a:buSzPct val="100000"/>
              <a:buChar char="•"/>
            </a:pPr>
            <a:r>
              <a:rPr lang="en-US" sz="1600" dirty="0">
                <a:solidFill>
                  <a:srgbClr val="1B2A38"/>
                </a:solidFill>
                <a:latin typeface="Calibri" pitchFamily="34" charset="0"/>
                <a:ea typeface="Calibri" pitchFamily="34" charset="-122"/>
                <a:cs typeface="Calibri" pitchFamily="34" charset="-120"/>
              </a:rPr>
              <a:t>Ô xám NV0116 có hiện không?</a:t>
            </a:r>
            <a:endParaRPr lang="en-US" sz="1600" dirty="0"/>
          </a:p>
          <a:p>
            <a:pPr marL="228600" indent="-228600">
              <a:spcAft>
                <a:spcPts val="500"/>
              </a:spcAft>
              <a:buSzPct val="100000"/>
              <a:buChar char="•"/>
            </a:pPr>
            <a:r>
              <a:rPr lang="en-US" sz="1600" dirty="0">
                <a:solidFill>
                  <a:srgbClr val="1B2A38"/>
                </a:solidFill>
                <a:latin typeface="Calibri" pitchFamily="34" charset="0"/>
                <a:ea typeface="Calibri" pitchFamily="34" charset="-122"/>
                <a:cs typeface="Calibri" pitchFamily="34" charset="-120"/>
              </a:rPr>
              <a:t>Giờ công theo team: TS-A 484,1 · TS-B 510,9 · CS-A 712,1?</a:t>
            </a:r>
            <a:endParaRPr lang="en-US" sz="1600" dirty="0"/>
          </a:p>
        </p:txBody>
      </p:sp>
      <p:sp>
        <p:nvSpPr>
          <p:cNvPr id="18" name="Shape 13"/>
          <p:cNvSpPr/>
          <p:nvPr/>
        </p:nvSpPr>
        <p:spPr>
          <a:xfrm>
            <a:off x="8127797" y="2240280"/>
            <a:ext cx="3515258" cy="4023360"/>
          </a:xfrm>
          <a:prstGeom prst="roundRect">
            <a:avLst>
              <a:gd name="adj" fmla="val 2601"/>
            </a:avLst>
          </a:prstGeom>
          <a:solidFill>
            <a:srgbClr val="F2F4F6"/>
          </a:solidFill>
          <a:ln w="12700">
            <a:solidFill>
              <a:srgbClr val="F2F4F6"/>
            </a:solidFill>
            <a:prstDash val="solid"/>
          </a:ln>
        </p:spPr>
      </p:sp>
      <p:sp>
        <p:nvSpPr>
          <p:cNvPr id="19" name="Shape 14"/>
          <p:cNvSpPr/>
          <p:nvPr/>
        </p:nvSpPr>
        <p:spPr>
          <a:xfrm>
            <a:off x="8356397" y="2468880"/>
            <a:ext cx="566928" cy="566928"/>
          </a:xfrm>
          <a:prstGeom prst="roundRect">
            <a:avLst>
              <a:gd name="adj" fmla="val 22000"/>
            </a:avLst>
          </a:prstGeom>
          <a:solidFill>
            <a:srgbClr val="2B3E50"/>
          </a:solidFill>
          <a:ln w="12700">
            <a:solidFill>
              <a:srgbClr val="2B3E50"/>
            </a:solidFill>
            <a:prstDash val="solid"/>
          </a:ln>
        </p:spPr>
      </p:sp>
      <p:pic>
        <p:nvPicPr>
          <p:cNvPr id="20" name="Image 2" descr="preencoded.png">    </p:cNvPr>
          <p:cNvPicPr>
            <a:picLocks noChangeAspect="1"/>
          </p:cNvPicPr>
          <p:nvPr/>
        </p:nvPicPr>
        <p:blipFill>
          <a:blip r:embed="rId3"/>
          <a:stretch>
            <a:fillRect/>
          </a:stretch>
        </p:blipFill>
        <p:spPr>
          <a:xfrm>
            <a:off x="8492460" y="2604943"/>
            <a:ext cx="294803" cy="294803"/>
          </a:xfrm>
          <a:prstGeom prst="rect">
            <a:avLst/>
          </a:prstGeom>
        </p:spPr>
      </p:pic>
      <p:sp>
        <p:nvSpPr>
          <p:cNvPr id="21" name="Text 15"/>
          <p:cNvSpPr txBox="1"/>
          <p:nvPr/>
        </p:nvSpPr>
        <p:spPr>
          <a:xfrm>
            <a:off x="9106205" y="2468880"/>
            <a:ext cx="2308250" cy="566928"/>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CEO</a:t>
            </a:r>
            <a:endParaRPr lang="en-US" sz="1650" dirty="0"/>
          </a:p>
        </p:txBody>
      </p:sp>
      <p:sp>
        <p:nvSpPr>
          <p:cNvPr id="22" name="Text 16"/>
          <p:cNvSpPr txBox="1"/>
          <p:nvPr/>
        </p:nvSpPr>
        <p:spPr>
          <a:xfrm>
            <a:off x="8356397" y="3200400"/>
            <a:ext cx="3058058" cy="2907792"/>
          </a:xfrm>
          <a:prstGeom prst="rect">
            <a:avLst/>
          </a:prstGeom>
          <a:noFill/>
          <a:ln/>
        </p:spPr>
        <p:txBody>
          <a:bodyPr wrap="square" lIns="0" tIns="0" rIns="0" bIns="0" rtlCol="0" anchor="t">
            <a:normAutofit/>
          </a:bodyPr>
          <a:lstStyle/>
          <a:p>
            <a:pPr marL="228600" indent="-228600">
              <a:spcAft>
                <a:spcPts val="500"/>
              </a:spcAft>
              <a:buSzPct val="100000"/>
              <a:buChar char="•"/>
            </a:pPr>
            <a:r>
              <a:rPr lang="en-US" sz="1600" dirty="0">
                <a:solidFill>
                  <a:srgbClr val="1B2A38"/>
                </a:solidFill>
                <a:latin typeface="Calibri" pitchFamily="34" charset="0"/>
                <a:ea typeface="Calibri" pitchFamily="34" charset="-122"/>
                <a:cs typeface="Calibri" pitchFamily="34" charset="-120"/>
              </a:rPr>
              <a:t>Đọc 6 thẻ trên điện thoại trong 1 phút được không?</a:t>
            </a:r>
            <a:endParaRPr lang="en-US" sz="1600" dirty="0"/>
          </a:p>
          <a:p>
            <a:pPr marL="228600" indent="-228600">
              <a:spcAft>
                <a:spcPts val="500"/>
              </a:spcAft>
              <a:buSzPct val="100000"/>
              <a:buChar char="•"/>
            </a:pPr>
            <a:r>
              <a:rPr lang="en-US" sz="1600" dirty="0">
                <a:solidFill>
                  <a:srgbClr val="1B2A38"/>
                </a:solidFill>
                <a:latin typeface="Calibri" pitchFamily="34" charset="0"/>
                <a:ea typeface="Calibri" pitchFamily="34" charset="-122"/>
                <a:cs typeface="Calibri" pitchFamily="34" charset="-120"/>
              </a:rPr>
              <a:t>1,24 TC/giờ công đã ghi rõ mẫu số chưa?</a:t>
            </a:r>
            <a:endParaRPr lang="en-US" sz="1600" dirty="0"/>
          </a:p>
          <a:p>
            <a:pPr marL="228600" indent="-228600">
              <a:spcAft>
                <a:spcPts val="500"/>
              </a:spcAft>
              <a:buSzPct val="100000"/>
              <a:buChar char="•"/>
            </a:pPr>
            <a:r>
              <a:rPr lang="en-US" sz="1600" dirty="0">
                <a:solidFill>
                  <a:srgbClr val="1B2A38"/>
                </a:solidFill>
                <a:latin typeface="Calibri" pitchFamily="34" charset="0"/>
                <a:ea typeface="Calibri" pitchFamily="34" charset="-122"/>
                <a:cs typeface="Calibri" pitchFamily="34" charset="-120"/>
              </a:rPr>
              <a:t>3 con số muốn thấy lúc 8h sáng (cho buổi 5)?</a:t>
            </a:r>
            <a:endParaRPr lang="en-US" sz="1600" dirty="0"/>
          </a:p>
          <a:p>
            <a:pPr marL="228600" indent="-228600">
              <a:spcAft>
                <a:spcPts val="500"/>
              </a:spcAft>
              <a:buSzPct val="100000"/>
              <a:buChar char="•"/>
            </a:pPr>
            <a:r>
              <a:rPr lang="en-US" sz="1600" dirty="0">
                <a:solidFill>
                  <a:srgbClr val="1B2A38"/>
                </a:solidFill>
                <a:latin typeface="Calibri" pitchFamily="34" charset="0"/>
                <a:ea typeface="Calibri" pitchFamily="34" charset="-122"/>
                <a:cs typeface="Calibri" pitchFamily="34" charset="-120"/>
              </a:rPr>
              <a:t>Thẻ nào khiến mình muốn hỏi thêm — và hỏi ai?</a:t>
            </a:r>
            <a:endParaRPr lang="en-US" sz="16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677924" cy="292608"/>
          </a:xfrm>
          <a:prstGeom prst="roundRect">
            <a:avLst>
              <a:gd name="adj" fmla="val 50000"/>
            </a:avLst>
          </a:prstGeom>
          <a:solidFill>
            <a:srgbClr val="FBE7DA"/>
          </a:solidFill>
          <a:ln w="12700">
            <a:solidFill>
              <a:srgbClr val="FBE7DA"/>
            </a:solidFill>
            <a:prstDash val="solid"/>
          </a:ln>
        </p:spPr>
      </p:sp>
      <p:sp>
        <p:nvSpPr>
          <p:cNvPr id="3" name="Text 1"/>
          <p:cNvSpPr txBox="1"/>
          <p:nvPr/>
        </p:nvSpPr>
        <p:spPr>
          <a:xfrm>
            <a:off x="548640" y="384048"/>
            <a:ext cx="1677924" cy="292608"/>
          </a:xfrm>
          <a:prstGeom prst="rect">
            <a:avLst/>
          </a:prstGeom>
          <a:noFill/>
          <a:ln/>
        </p:spPr>
        <p:txBody>
          <a:bodyPr wrap="square" lIns="0" tIns="0" rIns="0" bIns="0" rtlCol="0" anchor="ctr"/>
          <a:lstStyle/>
          <a:p>
            <a:pPr algn="ctr" indent="0" marL="0">
              <a:buNone/>
            </a:pPr>
            <a:r>
              <a:rPr lang="en-US" sz="1050" b="1" spc="150" kern="0" dirty="0">
                <a:solidFill>
                  <a:srgbClr val="D9773A"/>
                </a:solidFill>
                <a:latin typeface="Calibri" pitchFamily="34" charset="0"/>
                <a:ea typeface="Calibri" pitchFamily="34" charset="-122"/>
                <a:cs typeface="Calibri" pitchFamily="34" charset="-120"/>
              </a:rPr>
              <a:t>THỰC HÀNH TẠI NHÀ</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Thực hành tại nhà (1 giờ)</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4 · KPI năng suất &amp; dashboard</a:t>
            </a:r>
            <a:endParaRPr lang="en-US" sz="1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7223760" cy="914400"/>
        </p:xfrm>
        <a:graphic>
          <a:graphicData uri="http://schemas.openxmlformats.org/drawingml/2006/table">
            <a:tbl>
              <a:tblPr/>
              <a:tblGrid>
                <a:gridCol w="731520"/>
                <a:gridCol w="5303520"/>
                <a:gridCol w="1188720"/>
              </a:tblGrid>
              <a:tr h="4114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Bước</a:t>
                      </a:r>
                      <a:endParaRPr lang="en-US" sz="140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D977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Việc làm</a:t>
                      </a:r>
                      <a:endParaRPr lang="en-US" sz="140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D977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Thời gian</a:t>
                      </a:r>
                      <a:endParaRPr lang="en-US" sz="140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D9773A"/>
                    </a:solidFill>
                  </a:tcPr>
                </a:tc>
              </a:tr>
              <a:tr h="411480">
                <a:tc>
                  <a:txBody>
                    <a:bodyPr/>
                    <a:lstStyle/>
                    <a:p>
                      <a:pPr algn="ctr" indent="0" marL="0">
                        <a:buNone/>
                      </a:pPr>
                      <a:r>
                        <a:rPr lang="en-US" sz="1500" b="1" dirty="0">
                          <a:solidFill>
                            <a:srgbClr val="1B2A38"/>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Trưởng ca dùng dashboard trong 3 ca (đầu – giữa – cuối ca); ghi nhật ký mỗi lần phát hiện vấn đề và hành động đã làm.</a:t>
                      </a:r>
                      <a:endParaRPr lang="en-US" sz="135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ctr" indent="0" marL="0">
                        <a:buNone/>
                      </a:pPr>
                      <a:r>
                        <a:rPr lang="en-US" sz="1400" b="1" dirty="0">
                          <a:solidFill>
                            <a:srgbClr val="D9773A"/>
                          </a:solidFill>
                          <a:latin typeface="Calibri" pitchFamily="34" charset="0"/>
                          <a:ea typeface="Calibri" pitchFamily="34" charset="-122"/>
                          <a:cs typeface="Calibri" pitchFamily="34" charset="-120"/>
                        </a:rPr>
                        <a:t>3 × 10’</a:t>
                      </a:r>
                      <a:endParaRPr lang="en-US" sz="140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411480">
                <a:tc>
                  <a:txBody>
                    <a:bodyPr/>
                    <a:lstStyle/>
                    <a:p>
                      <a:pPr algn="ctr" indent="0" marL="0">
                        <a:buNone/>
                      </a:pPr>
                      <a:r>
                        <a:rPr lang="en-US" sz="1500" b="1" dirty="0">
                          <a:solidFill>
                            <a:srgbClr val="1B2A38"/>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HR đối chiếu tab HR với bảng công 5 điểm: đi muộn, vắng, OT theo team, chênh lệch &gt; 60’, giờ công theo team.</a:t>
                      </a:r>
                      <a:endParaRPr lang="en-US" sz="135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D9773A"/>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11480">
                <a:tc>
                  <a:txBody>
                    <a:bodyPr/>
                    <a:lstStyle/>
                    <a:p>
                      <a:pPr algn="ctr" indent="0" marL="0">
                        <a:buNone/>
                      </a:pPr>
                      <a:r>
                        <a:rPr lang="en-US" sz="1500" b="1" dirty="0">
                          <a:solidFill>
                            <a:srgbClr val="1B2A38"/>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Gom góp ý, xếp ưu tiên, gửi Claude chỉnh dashboard v2 kèm mục “Nhật ký thay đổi v2”.</a:t>
                      </a:r>
                      <a:endParaRPr lang="en-US" sz="135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ctr" indent="0" marL="0">
                        <a:buNone/>
                      </a:pPr>
                      <a:r>
                        <a:rPr lang="en-US" sz="1400" b="1" dirty="0">
                          <a:solidFill>
                            <a:srgbClr val="D9773A"/>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bl>
          </a:graphicData>
        </a:graphic>
      </p:graphicFrame>
      <p:sp>
        <p:nvSpPr>
          <p:cNvPr id="8" name="Shape 4"/>
          <p:cNvSpPr/>
          <p:nvPr/>
        </p:nvSpPr>
        <p:spPr>
          <a:xfrm>
            <a:off x="8092440" y="1691640"/>
            <a:ext cx="3550615" cy="2240280"/>
          </a:xfrm>
          <a:prstGeom prst="roundRect">
            <a:avLst>
              <a:gd name="adj" fmla="val 4082"/>
            </a:avLst>
          </a:prstGeom>
          <a:solidFill>
            <a:srgbClr val="1B2A38"/>
          </a:solidFill>
          <a:ln w="12700">
            <a:solidFill>
              <a:srgbClr val="1B2A38"/>
            </a:solidFill>
            <a:prstDash val="solid"/>
          </a:ln>
        </p:spPr>
      </p:sp>
      <p:sp>
        <p:nvSpPr>
          <p:cNvPr id="9" name="Shape 5"/>
          <p:cNvSpPr/>
          <p:nvPr/>
        </p:nvSpPr>
        <p:spPr>
          <a:xfrm>
            <a:off x="8321040" y="1920240"/>
            <a:ext cx="457200" cy="457200"/>
          </a:xfrm>
          <a:prstGeom prst="roundRect">
            <a:avLst>
              <a:gd name="adj" fmla="val 22000"/>
            </a:avLst>
          </a:prstGeom>
          <a:solidFill>
            <a:srgbClr val="D9773A"/>
          </a:solidFill>
          <a:ln w="12700">
            <a:solidFill>
              <a:srgbClr val="D9773A"/>
            </a:solidFill>
            <a:prstDash val="solid"/>
          </a:ln>
        </p:spPr>
      </p:sp>
      <p:pic>
        <p:nvPicPr>
          <p:cNvPr id="10" name="Image 0" descr="preencoded.png">    </p:cNvPr>
          <p:cNvPicPr>
            <a:picLocks noChangeAspect="1"/>
          </p:cNvPicPr>
          <p:nvPr/>
        </p:nvPicPr>
        <p:blipFill>
          <a:blip r:embed="rId1"/>
          <a:stretch>
            <a:fillRect/>
          </a:stretch>
        </p:blipFill>
        <p:spPr>
          <a:xfrm>
            <a:off x="8430768" y="2029968"/>
            <a:ext cx="237744" cy="237744"/>
          </a:xfrm>
          <a:prstGeom prst="rect">
            <a:avLst/>
          </a:prstGeom>
        </p:spPr>
      </p:pic>
      <p:sp>
        <p:nvSpPr>
          <p:cNvPr id="11" name="Text 6"/>
          <p:cNvSpPr txBox="1"/>
          <p:nvPr/>
        </p:nvSpPr>
        <p:spPr>
          <a:xfrm>
            <a:off x="8915400" y="1920240"/>
            <a:ext cx="2544775"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Nộp bài</a:t>
            </a:r>
            <a:endParaRPr lang="en-US" sz="1800" dirty="0"/>
          </a:p>
        </p:txBody>
      </p:sp>
      <p:sp>
        <p:nvSpPr>
          <p:cNvPr id="12" name="Text 7"/>
          <p:cNvSpPr txBox="1"/>
          <p:nvPr/>
        </p:nvSpPr>
        <p:spPr>
          <a:xfrm>
            <a:off x="8321040" y="2514600"/>
            <a:ext cx="3093415" cy="1325880"/>
          </a:xfrm>
          <a:prstGeom prst="rect">
            <a:avLst/>
          </a:prstGeom>
          <a:noFill/>
          <a:ln/>
        </p:spPr>
        <p:txBody>
          <a:bodyPr wrap="square" lIns="0" tIns="0" rIns="0" bIns="0" rtlCol="0" anchor="t">
            <a:normAutofit/>
          </a:bodyPr>
          <a:lstStyle/>
          <a:p>
            <a:pPr indent="0" marL="0">
              <a:buNone/>
            </a:pPr>
            <a:r>
              <a:rPr lang="en-US" sz="1400" dirty="0">
                <a:solidFill>
                  <a:srgbClr val="E6ECF1"/>
                </a:solidFill>
                <a:latin typeface="Calibri" pitchFamily="34" charset="0"/>
                <a:ea typeface="Calibri" pitchFamily="34" charset="-122"/>
                <a:cs typeface="Calibri" pitchFamily="34" charset="-120"/>
              </a:rPr>
              <a:t>Dashboard v2 + nhật ký 3 ca sử dụng (≥ 6 dòng) + biên bản đối chiếu HR + 3–5 câu phản tư.</a:t>
            </a:r>
            <a:endParaRPr lang="en-US" sz="1400" dirty="0"/>
          </a:p>
        </p:txBody>
      </p:sp>
      <p:sp>
        <p:nvSpPr>
          <p:cNvPr id="13" name="Shape 8"/>
          <p:cNvSpPr/>
          <p:nvPr/>
        </p:nvSpPr>
        <p:spPr>
          <a:xfrm>
            <a:off x="8092440" y="4160520"/>
            <a:ext cx="3550615" cy="2103120"/>
          </a:xfrm>
          <a:prstGeom prst="roundRect">
            <a:avLst>
              <a:gd name="adj" fmla="val 4348"/>
            </a:avLst>
          </a:prstGeom>
          <a:solidFill>
            <a:srgbClr val="FBE7DA"/>
          </a:solidFill>
          <a:ln w="12700">
            <a:solidFill>
              <a:srgbClr val="FBE7DA"/>
            </a:solidFill>
            <a:prstDash val="solid"/>
          </a:ln>
        </p:spPr>
      </p:sp>
      <p:sp>
        <p:nvSpPr>
          <p:cNvPr id="14" name="Text 9"/>
          <p:cNvSpPr txBox="1"/>
          <p:nvPr/>
        </p:nvSpPr>
        <p:spPr>
          <a:xfrm>
            <a:off x="8321040" y="4343400"/>
            <a:ext cx="3093415" cy="1737360"/>
          </a:xfrm>
          <a:prstGeom prst="rect">
            <a:avLst/>
          </a:prstGeom>
          <a:noFill/>
          <a:ln/>
        </p:spPr>
        <p:txBody>
          <a:bodyPr wrap="square" lIns="0" tIns="0" rIns="0" bIns="0" rtlCol="0" anchor="t">
            <a:normAutofit/>
          </a:bodyPr>
          <a:lstStyle/>
          <a:p>
            <a:pPr marL="228600" indent="-228600">
              <a:spcAft>
                <a:spcPts val="600"/>
              </a:spcAft>
              <a:buSzPct val="100000"/>
              <a:buChar char="•"/>
            </a:pPr>
            <a:r>
              <a:rPr lang="en-US" sz="1300" b="1" dirty="0">
                <a:solidFill>
                  <a:srgbClr val="1B2A38"/>
                </a:solidFill>
                <a:latin typeface="Calibri" pitchFamily="34" charset="0"/>
                <a:ea typeface="Calibri" pitchFamily="34" charset="-122"/>
                <a:cs typeface="Calibri" pitchFamily="34" charset="-120"/>
              </a:rPr>
              <a:t>Chưa có dữ liệu thật?</a:t>
            </a:r>
            <a:pPr indent="0" marL="0">
              <a:buNone/>
            </a:pPr>
            <a:r>
              <a:rPr lang="en-US" sz="1300" dirty="0">
                <a:solidFill>
                  <a:srgbClr val="1B2A38"/>
                </a:solidFill>
                <a:latin typeface="Calibri" pitchFamily="34" charset="0"/>
                <a:ea typeface="Calibri" pitchFamily="34" charset="-122"/>
                <a:cs typeface="Calibri" pitchFamily="34" charset="-120"/>
              </a:rPr>
              <a:t> Mô phỏng 3 ca bằng call log 17, 18, 19/09 trong /data/call_log_theo_ngay/.</a:t>
            </a:r>
            <a:endParaRPr lang="en-US" sz="1300" dirty="0"/>
          </a:p>
          <a:p>
            <a:pPr marL="228600" indent="-228600">
              <a:spcAft>
                <a:spcPts val="600"/>
              </a:spcAft>
              <a:buSzPct val="100000"/>
              <a:buChar char="•"/>
            </a:pPr>
            <a:r>
              <a:rPr lang="en-US" sz="1300" b="1" dirty="0">
                <a:solidFill>
                  <a:srgbClr val="1B2A38"/>
                </a:solidFill>
                <a:latin typeface="Calibri" pitchFamily="34" charset="0"/>
                <a:ea typeface="Calibri" pitchFamily="34" charset="-122"/>
                <a:cs typeface="Calibri" pitchFamily="34" charset="-120"/>
              </a:rPr>
              <a:t>Nên tự phát hiện:</a:t>
            </a:r>
            <a:pPr indent="0" marL="0">
              <a:buNone/>
            </a:pPr>
            <a:r>
              <a:rPr lang="en-US" sz="1300" dirty="0">
                <a:solidFill>
                  <a:srgbClr val="1B2A38"/>
                </a:solidFill>
                <a:latin typeface="Calibri" pitchFamily="34" charset="0"/>
                <a:ea typeface="Calibri" pitchFamily="34" charset="-122"/>
                <a:cs typeface="Calibri" pitchFamily="34" charset="-120"/>
              </a:rPr>
              <a:t> NV0106 thiếu ~84’ đăng nhập (17/09), NV0109 muộn 27’, NV0107 vắng chờ duyệt (18/09).</a:t>
            </a:r>
            <a:endParaRPr lang="en-US" sz="1300" dirty="0"/>
          </a:p>
          <a:p>
            <a:pPr marL="228600" indent="-228600">
              <a:spcAft>
                <a:spcPts val="600"/>
              </a:spcAft>
              <a:buSzPct val="100000"/>
              <a:buChar char="•"/>
            </a:pPr>
            <a:r>
              <a:rPr lang="en-US" sz="1300" b="1" dirty="0">
                <a:solidFill>
                  <a:srgbClr val="1B2A38"/>
                </a:solidFill>
                <a:latin typeface="Calibri" pitchFamily="34" charset="0"/>
                <a:ea typeface="Calibri" pitchFamily="34" charset="-122"/>
                <a:cs typeface="Calibri" pitchFamily="34" charset="-120"/>
              </a:rPr>
              <a:t>Rubric &amp; mẫu nhật ký:</a:t>
            </a:r>
            <a:pPr indent="0" marL="0">
              <a:buNone/>
            </a:pPr>
            <a:r>
              <a:rPr lang="en-US" sz="1300" dirty="0">
                <a:solidFill>
                  <a:srgbClr val="1B2A38"/>
                </a:solidFill>
                <a:latin typeface="Calibri" pitchFamily="34" charset="0"/>
                <a:ea typeface="Calibri" pitchFamily="34" charset="-122"/>
                <a:cs typeface="Calibri" pitchFamily="34" charset="-120"/>
              </a:rPr>
              <a:t> ebook → Buổi 4 → Thực hành tại nhà.</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B2A38"/>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731520"/>
          </a:xfrm>
          <a:prstGeom prst="rect">
            <a:avLst/>
          </a:prstGeom>
          <a:noFill/>
          <a:ln/>
        </p:spPr>
        <p:txBody>
          <a:bodyPr wrap="square" lIns="0" tIns="0" rIns="0" bIns="0" rtlCol="0" anchor="ctr">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Tổng kết buổi học</a:t>
            </a:r>
            <a:endParaRPr lang="en-US" sz="3000" dirty="0"/>
          </a:p>
        </p:txBody>
      </p:sp>
      <p:sp>
        <p:nvSpPr>
          <p:cNvPr id="4" name="Text 1"/>
          <p:cNvSpPr txBox="1"/>
          <p:nvPr/>
        </p:nvSpPr>
        <p:spPr>
          <a:xfrm>
            <a:off x="548640" y="1417320"/>
            <a:ext cx="6766560" cy="411480"/>
          </a:xfrm>
          <a:prstGeom prst="rect">
            <a:avLst/>
          </a:prstGeom>
          <a:noFill/>
          <a:ln/>
        </p:spPr>
        <p:txBody>
          <a:bodyPr wrap="square" lIns="0" tIns="0" rIns="0" bIns="0" rtlCol="0" anchor="t"/>
          <a:lstStyle/>
          <a:p>
            <a:pPr indent="0" marL="0">
              <a:buNone/>
            </a:pPr>
            <a:r>
              <a:rPr lang="en-US" sz="1500" b="1" spc="100" kern="0" dirty="0">
                <a:solidFill>
                  <a:srgbClr val="D9773A"/>
                </a:solidFill>
                <a:latin typeface="Calibri" pitchFamily="34" charset="0"/>
                <a:ea typeface="Calibri" pitchFamily="34" charset="-122"/>
                <a:cs typeface="Calibri" pitchFamily="34" charset="-120"/>
              </a:rPr>
              <a:t>Hôm nay bạn đã làm được</a:t>
            </a:r>
            <a:endParaRPr lang="en-US" sz="1500" dirty="0"/>
          </a:p>
        </p:txBody>
      </p:sp>
      <p:sp>
        <p:nvSpPr>
          <p:cNvPr id="5" name="Text 2"/>
          <p:cNvSpPr txBox="1"/>
          <p:nvPr/>
        </p:nvSpPr>
        <p:spPr>
          <a:xfrm>
            <a:off x="548640" y="1920240"/>
            <a:ext cx="6766560" cy="4206240"/>
          </a:xfrm>
          <a:prstGeom prst="rect">
            <a:avLst/>
          </a:prstGeom>
          <a:noFill/>
          <a:ln/>
        </p:spPr>
        <p:txBody>
          <a:bodyPr wrap="square" lIns="0" tIns="0" rIns="0" bIns="0" rtlCol="0" anchor="t">
            <a:normAutofit/>
          </a:bodyPr>
          <a:lstStyle/>
          <a:p>
            <a:pPr marL="228600" indent="-228600">
              <a:spcAft>
                <a:spcPts val="900"/>
              </a:spcAft>
              <a:buSzPct val="100000"/>
              <a:buChar char="•"/>
            </a:pPr>
            <a:r>
              <a:rPr lang="en-US" sz="1550" dirty="0">
                <a:solidFill>
                  <a:srgbClr val="E6ECF1"/>
                </a:solidFill>
                <a:latin typeface="Calibri" pitchFamily="34" charset="0"/>
                <a:ea typeface="Calibri" pitchFamily="34" charset="-122"/>
                <a:cs typeface="Calibri" pitchFamily="34" charset="-120"/>
              </a:rPr>
              <a:t>Bộ KPI năng suất nối sản lượng với công — tử số, mẫu số cùng phạm vi, cùng người, cùng ngày</a:t>
            </a:r>
            <a:endParaRPr lang="en-US" sz="1550" dirty="0"/>
          </a:p>
          <a:p>
            <a:pPr marL="228600" indent="-228600">
              <a:spcAft>
                <a:spcPts val="900"/>
              </a:spcAft>
              <a:buSzPct val="100000"/>
              <a:buChar char="•"/>
            </a:pPr>
            <a:r>
              <a:rPr lang="en-US" sz="1550" dirty="0">
                <a:solidFill>
                  <a:srgbClr val="E6ECF1"/>
                </a:solidFill>
                <a:latin typeface="Calibri" pitchFamily="34" charset="0"/>
                <a:ea typeface="Calibri" pitchFamily="34" charset="-122"/>
                <a:cs typeface="Calibri" pitchFamily="34" charset="-120"/>
              </a:rPr>
              <a:t>Occupancy, Shrinkage, Adherence: công thức, mục tiêu tham khảo và số thật của Sao Việt</a:t>
            </a:r>
            <a:endParaRPr lang="en-US" sz="1550" dirty="0"/>
          </a:p>
          <a:p>
            <a:pPr marL="228600" indent="-228600">
              <a:spcAft>
                <a:spcPts val="900"/>
              </a:spcAft>
              <a:buSzPct val="100000"/>
              <a:buChar char="•"/>
            </a:pPr>
            <a:r>
              <a:rPr lang="en-US" sz="1550" dirty="0">
                <a:solidFill>
                  <a:srgbClr val="E6ECF1"/>
                </a:solidFill>
                <a:latin typeface="Calibri" pitchFamily="34" charset="0"/>
                <a:ea typeface="Calibri" pitchFamily="34" charset="-122"/>
                <a:cs typeface="Calibri" pitchFamily="34" charset="-120"/>
              </a:rPr>
              <a:t>Cặp chỉ số đối trọng: NV0103 đầu bảng cuộc/giờ, cuối bảng thành công/giờ</a:t>
            </a:r>
            <a:endParaRPr lang="en-US" sz="1550" dirty="0"/>
          </a:p>
          <a:p>
            <a:pPr marL="228600" indent="-228600">
              <a:spcAft>
                <a:spcPts val="900"/>
              </a:spcAft>
              <a:buSzPct val="100000"/>
              <a:buChar char="•"/>
            </a:pPr>
            <a:r>
              <a:rPr lang="en-US" sz="1550" dirty="0">
                <a:solidFill>
                  <a:srgbClr val="E6ECF1"/>
                </a:solidFill>
                <a:latin typeface="Calibri" pitchFamily="34" charset="0"/>
                <a:ea typeface="Calibri" pitchFamily="34" charset="-122"/>
                <a:cs typeface="Calibri" pitchFamily="34" charset="-120"/>
              </a:rPr>
              <a:t>Từ điển chỉ số v1 và scorecard agent công bằng trong Sheets</a:t>
            </a:r>
            <a:endParaRPr lang="en-US" sz="1550" dirty="0"/>
          </a:p>
          <a:p>
            <a:pPr marL="228600" indent="-228600">
              <a:spcAft>
                <a:spcPts val="900"/>
              </a:spcAft>
              <a:buSzPct val="100000"/>
              <a:buChar char="•"/>
            </a:pPr>
            <a:r>
              <a:rPr lang="en-US" sz="1550" dirty="0">
                <a:solidFill>
                  <a:srgbClr val="E6ECF1"/>
                </a:solidFill>
                <a:latin typeface="Calibri" pitchFamily="34" charset="0"/>
                <a:ea typeface="Calibri" pitchFamily="34" charset="-122"/>
                <a:cs typeface="Calibri" pitchFamily="34" charset="-120"/>
              </a:rPr>
              <a:t>Dashboard 3 tab Trưởng ca – HR – CEO, đã kiểm chứng: 1,24 TC/giờ công · 24,3 giờ lãng phí</a:t>
            </a:r>
            <a:endParaRPr lang="en-US" sz="1550" dirty="0"/>
          </a:p>
        </p:txBody>
      </p:sp>
      <p:sp>
        <p:nvSpPr>
          <p:cNvPr id="6" name="Shape 3"/>
          <p:cNvSpPr/>
          <p:nvPr/>
        </p:nvSpPr>
        <p:spPr>
          <a:xfrm>
            <a:off x="7680960" y="1417320"/>
            <a:ext cx="3962095" cy="4709160"/>
          </a:xfrm>
          <a:prstGeom prst="roundRect">
            <a:avLst>
              <a:gd name="adj" fmla="val 2769"/>
            </a:avLst>
          </a:prstGeom>
          <a:solidFill>
            <a:srgbClr val="2B3E50"/>
          </a:solidFill>
          <a:ln w="12700">
            <a:solidFill>
              <a:srgbClr val="2B3E50"/>
            </a:solidFill>
            <a:prstDash val="solid"/>
          </a:ln>
        </p:spPr>
      </p:sp>
      <p:sp>
        <p:nvSpPr>
          <p:cNvPr id="7" name="Shape 4"/>
          <p:cNvSpPr/>
          <p:nvPr/>
        </p:nvSpPr>
        <p:spPr>
          <a:xfrm>
            <a:off x="7955280" y="1691640"/>
            <a:ext cx="502920" cy="502920"/>
          </a:xfrm>
          <a:prstGeom prst="roundRect">
            <a:avLst>
              <a:gd name="adj" fmla="val 22000"/>
            </a:avLst>
          </a:prstGeom>
          <a:solidFill>
            <a:srgbClr val="D9773A"/>
          </a:solidFill>
          <a:ln w="12700">
            <a:solidFill>
              <a:srgbClr val="D9773A"/>
            </a:solidFill>
            <a:prstDash val="solid"/>
          </a:ln>
        </p:spPr>
      </p:sp>
      <p:pic>
        <p:nvPicPr>
          <p:cNvPr id="8" name="Image 0" descr="preencoded.png">    </p:cNvPr>
          <p:cNvPicPr>
            <a:picLocks noChangeAspect="1"/>
          </p:cNvPicPr>
          <p:nvPr/>
        </p:nvPicPr>
        <p:blipFill>
          <a:blip r:embed="rId1"/>
          <a:stretch>
            <a:fillRect/>
          </a:stretch>
        </p:blipFill>
        <p:spPr>
          <a:xfrm>
            <a:off x="8075981" y="1812341"/>
            <a:ext cx="261518" cy="261518"/>
          </a:xfrm>
          <a:prstGeom prst="rect">
            <a:avLst/>
          </a:prstGeom>
        </p:spPr>
      </p:pic>
      <p:sp>
        <p:nvSpPr>
          <p:cNvPr id="9" name="Text 5"/>
          <p:cNvSpPr txBox="1"/>
          <p:nvPr/>
        </p:nvSpPr>
        <p:spPr>
          <a:xfrm>
            <a:off x="8595360" y="1691640"/>
            <a:ext cx="2864815"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Buổi 5 · Báo cáo &amp; SOP</a:t>
            </a:r>
            <a:endParaRPr lang="en-US" sz="1800" dirty="0"/>
          </a:p>
        </p:txBody>
      </p:sp>
      <p:sp>
        <p:nvSpPr>
          <p:cNvPr id="10" name="Text 6"/>
          <p:cNvSpPr txBox="1"/>
          <p:nvPr/>
        </p:nvSpPr>
        <p:spPr>
          <a:xfrm>
            <a:off x="7955280" y="2423160"/>
            <a:ext cx="3413455" cy="3520440"/>
          </a:xfrm>
          <a:prstGeom prst="rect">
            <a:avLst/>
          </a:prstGeom>
          <a:noFill/>
          <a:ln/>
        </p:spPr>
        <p:txBody>
          <a:bodyPr wrap="square" lIns="0" tIns="0" rIns="0" bIns="0" rtlCol="0" anchor="t">
            <a:normAutofit/>
          </a:bodyPr>
          <a:lstStyle/>
          <a:p>
            <a:pPr marL="228600" indent="-228600">
              <a:spcAft>
                <a:spcPts val="900"/>
              </a:spcAft>
              <a:buSzPct val="100000"/>
              <a:buChar char="•"/>
            </a:pPr>
            <a:r>
              <a:rPr lang="en-US" sz="1450" dirty="0">
                <a:solidFill>
                  <a:srgbClr val="E6ECF1"/>
                </a:solidFill>
                <a:latin typeface="Calibri" pitchFamily="34" charset="0"/>
                <a:ea typeface="Calibri" pitchFamily="34" charset="-122"/>
                <a:cs typeface="Calibri" pitchFamily="34" charset="-120"/>
              </a:rPr>
              <a:t>Skill “Báo cáo ngày” và “Chốt công tháng”</a:t>
            </a:r>
            <a:endParaRPr lang="en-US" sz="1450" dirty="0"/>
          </a:p>
          <a:p>
            <a:pPr marL="228600" indent="-228600">
              <a:spcAft>
                <a:spcPts val="900"/>
              </a:spcAft>
              <a:buSzPct val="100000"/>
              <a:buChar char="•"/>
            </a:pPr>
            <a:r>
              <a:rPr lang="en-US" sz="1450" dirty="0">
                <a:solidFill>
                  <a:srgbClr val="E6ECF1"/>
                </a:solidFill>
                <a:latin typeface="Calibri" pitchFamily="34" charset="0"/>
                <a:ea typeface="Calibri" pitchFamily="34" charset="-122"/>
                <a:cs typeface="Calibri" pitchFamily="34" charset="-120"/>
              </a:rPr>
              <a:t>Báo cáo 1 trang cho CEO lúc 8h sáng</a:t>
            </a:r>
            <a:endParaRPr lang="en-US" sz="1450" dirty="0"/>
          </a:p>
          <a:p>
            <a:pPr marL="228600" indent="-228600">
              <a:spcAft>
                <a:spcPts val="900"/>
              </a:spcAft>
              <a:buSzPct val="100000"/>
              <a:buChar char="•"/>
            </a:pPr>
            <a:r>
              <a:rPr lang="en-US" sz="1450" dirty="0">
                <a:solidFill>
                  <a:srgbClr val="E6ECF1"/>
                </a:solidFill>
                <a:latin typeface="Calibri" pitchFamily="34" charset="0"/>
                <a:ea typeface="Calibri" pitchFamily="34" charset="-122"/>
                <a:cs typeface="Calibri" pitchFamily="34" charset="-120"/>
              </a:rPr>
              <a:t>2 SOP bằng kỹ thuật phỏng vấn + kế hoạch 30 ngày</a:t>
            </a:r>
            <a:endParaRPr lang="en-US" sz="1450" dirty="0"/>
          </a:p>
          <a:p>
            <a:pPr marL="228600" indent="-228600">
              <a:spcAft>
                <a:spcPts val="900"/>
              </a:spcAft>
              <a:buSzPct val="100000"/>
              <a:buChar char="•"/>
            </a:pPr>
            <a:r>
              <a:rPr lang="en-US" sz="1450" b="1" dirty="0">
                <a:solidFill>
                  <a:srgbClr val="E6ECF1"/>
                </a:solidFill>
                <a:latin typeface="Calibri" pitchFamily="34" charset="0"/>
                <a:ea typeface="Calibri" pitchFamily="34" charset="-122"/>
                <a:cs typeface="Calibri" pitchFamily="34" charset="-120"/>
              </a:rPr>
              <a:t>Mang theo:</a:t>
            </a:r>
            <a:pPr indent="0" marL="0">
              <a:buNone/>
            </a:pPr>
            <a:r>
              <a:rPr lang="en-US" sz="1450" dirty="0">
                <a:solidFill>
                  <a:srgbClr val="E6ECF1"/>
                </a:solidFill>
                <a:latin typeface="Calibri" pitchFamily="34" charset="0"/>
                <a:ea typeface="Calibri" pitchFamily="34" charset="-122"/>
                <a:cs typeface="Calibri" pitchFamily="34" charset="-120"/>
              </a:rPr>
              <a:t> dashboard v2, nhật ký 3 ca, Prompt_dashboard_v1, 3 con số CEO muốn thấy</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Sao Việt Contact Center (hư cấu)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Buổi 4 — KPI năng suất &amp; dashboard dùng chung</dc:title>
  <dc:subject>PptxGenJS Presentation</dc:subject>
  <dc:creator>Claude cho Callcenter</dc:creator>
  <cp:lastModifiedBy>Claude cho Callcenter</cp:lastModifiedBy>
  <cp:revision>1</cp:revision>
  <dcterms:created xsi:type="dcterms:W3CDTF">2026-10-01T07:27:05Z</dcterms:created>
  <dcterms:modified xsi:type="dcterms:W3CDTF">2026-10-01T07:27:05Z</dcterms:modified>
</cp:coreProperties>
</file>